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299" r:id="rId2"/>
    <p:sldId id="300" r:id="rId3"/>
    <p:sldId id="301" r:id="rId4"/>
    <p:sldId id="333" r:id="rId5"/>
    <p:sldId id="303" r:id="rId6"/>
    <p:sldId id="304" r:id="rId7"/>
    <p:sldId id="305" r:id="rId8"/>
    <p:sldId id="308" r:id="rId9"/>
    <p:sldId id="309" r:id="rId10"/>
    <p:sldId id="307" r:id="rId11"/>
    <p:sldId id="310" r:id="rId12"/>
    <p:sldId id="311" r:id="rId13"/>
    <p:sldId id="306" r:id="rId14"/>
    <p:sldId id="312" r:id="rId15"/>
    <p:sldId id="313" r:id="rId16"/>
    <p:sldId id="318" r:id="rId17"/>
    <p:sldId id="320" r:id="rId18"/>
    <p:sldId id="321" r:id="rId19"/>
    <p:sldId id="322" r:id="rId20"/>
    <p:sldId id="319" r:id="rId21"/>
    <p:sldId id="338" r:id="rId22"/>
    <p:sldId id="323" r:id="rId23"/>
    <p:sldId id="331" r:id="rId24"/>
    <p:sldId id="332" r:id="rId25"/>
    <p:sldId id="334" r:id="rId26"/>
    <p:sldId id="335" r:id="rId27"/>
    <p:sldId id="336" r:id="rId28"/>
    <p:sldId id="339" r:id="rId29"/>
    <p:sldId id="340" r:id="rId30"/>
    <p:sldId id="341" r:id="rId31"/>
    <p:sldId id="342" r:id="rId32"/>
    <p:sldId id="344" r:id="rId33"/>
    <p:sldId id="345" r:id="rId34"/>
    <p:sldId id="346" r:id="rId35"/>
    <p:sldId id="347" r:id="rId36"/>
    <p:sldId id="348" r:id="rId37"/>
    <p:sldId id="349"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1F4060-6674-48AB-BB44-C74943305F6B}" type="datetimeFigureOut">
              <a:rPr lang="en-US" smtClean="0"/>
              <a:t>9/26/2026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D6119B-1BC7-4EE2-95DA-E726EB7BA94B}" type="slidenum">
              <a:rPr lang="en-US" smtClean="0"/>
              <a:t>‹#›</a:t>
            </a:fld>
            <a:endParaRPr lang="en-US"/>
          </a:p>
        </p:txBody>
      </p:sp>
    </p:spTree>
    <p:extLst>
      <p:ext uri="{BB962C8B-B14F-4D97-AF65-F5344CB8AC3E}">
        <p14:creationId xmlns:p14="http://schemas.microsoft.com/office/powerpoint/2010/main" val="2607689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D6119B-1BC7-4EE2-95DA-E726EB7BA94B}" type="slidenum">
              <a:rPr lang="en-US" smtClean="0"/>
              <a:t>31</a:t>
            </a:fld>
            <a:endParaRPr lang="en-US"/>
          </a:p>
        </p:txBody>
      </p:sp>
    </p:spTree>
    <p:extLst>
      <p:ext uri="{BB962C8B-B14F-4D97-AF65-F5344CB8AC3E}">
        <p14:creationId xmlns:p14="http://schemas.microsoft.com/office/powerpoint/2010/main" val="35441375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ED0A7-B393-D946-DF80-7512615450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1A078A-74A9-98FF-E4C5-115A083C2D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D38764-2AE2-0A1E-326D-00A4E3C309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8E4D10-B65B-36BE-D77C-175FA15A0CE5}"/>
              </a:ext>
            </a:extLst>
          </p:cNvPr>
          <p:cNvSpPr>
            <a:spLocks noGrp="1"/>
          </p:cNvSpPr>
          <p:nvPr>
            <p:ph type="sldNum" sz="quarter" idx="5"/>
          </p:nvPr>
        </p:nvSpPr>
        <p:spPr/>
        <p:txBody>
          <a:bodyPr/>
          <a:lstStyle/>
          <a:p>
            <a:fld id="{E3D6119B-1BC7-4EE2-95DA-E726EB7BA94B}" type="slidenum">
              <a:rPr lang="en-US" smtClean="0"/>
              <a:t>32</a:t>
            </a:fld>
            <a:endParaRPr lang="en-US"/>
          </a:p>
        </p:txBody>
      </p:sp>
    </p:spTree>
    <p:extLst>
      <p:ext uri="{BB962C8B-B14F-4D97-AF65-F5344CB8AC3E}">
        <p14:creationId xmlns:p14="http://schemas.microsoft.com/office/powerpoint/2010/main" val="13367541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F1C35-E496-1721-100E-653B0ACBE7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5439AD-364E-5AA8-E25E-7508DF321E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5CAD40-110E-2DC8-ABC1-DCAD460E37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FF4214-ACF8-C4F4-1FFA-F9A074DE06A8}"/>
              </a:ext>
            </a:extLst>
          </p:cNvPr>
          <p:cNvSpPr>
            <a:spLocks noGrp="1"/>
          </p:cNvSpPr>
          <p:nvPr>
            <p:ph type="sldNum" sz="quarter" idx="5"/>
          </p:nvPr>
        </p:nvSpPr>
        <p:spPr/>
        <p:txBody>
          <a:bodyPr/>
          <a:lstStyle/>
          <a:p>
            <a:fld id="{E3D6119B-1BC7-4EE2-95DA-E726EB7BA94B}" type="slidenum">
              <a:rPr lang="en-US" smtClean="0"/>
              <a:t>33</a:t>
            </a:fld>
            <a:endParaRPr lang="en-US"/>
          </a:p>
        </p:txBody>
      </p:sp>
    </p:spTree>
    <p:extLst>
      <p:ext uri="{BB962C8B-B14F-4D97-AF65-F5344CB8AC3E}">
        <p14:creationId xmlns:p14="http://schemas.microsoft.com/office/powerpoint/2010/main" val="1714704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29EA6-3D02-D787-372B-4E6F12BD22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F2CB6F-0F4F-F8CC-E813-D3509D2AF4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72A9B3-82B6-1FE9-035D-FB050A1710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761B02-BA1A-AAB7-E12C-AE4573955476}"/>
              </a:ext>
            </a:extLst>
          </p:cNvPr>
          <p:cNvSpPr>
            <a:spLocks noGrp="1"/>
          </p:cNvSpPr>
          <p:nvPr>
            <p:ph type="sldNum" sz="quarter" idx="5"/>
          </p:nvPr>
        </p:nvSpPr>
        <p:spPr/>
        <p:txBody>
          <a:bodyPr/>
          <a:lstStyle/>
          <a:p>
            <a:fld id="{E3D6119B-1BC7-4EE2-95DA-E726EB7BA94B}" type="slidenum">
              <a:rPr lang="en-US" smtClean="0"/>
              <a:t>34</a:t>
            </a:fld>
            <a:endParaRPr lang="en-US"/>
          </a:p>
        </p:txBody>
      </p:sp>
    </p:spTree>
    <p:extLst>
      <p:ext uri="{BB962C8B-B14F-4D97-AF65-F5344CB8AC3E}">
        <p14:creationId xmlns:p14="http://schemas.microsoft.com/office/powerpoint/2010/main" val="41447979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6E4A6-2F57-DB78-C4AF-2561D7D716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F2EC0B-2A20-C98E-4E5D-1AAA4F8C2E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A5C3F2-07C3-A054-1332-26D521CD26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97D144-064E-345C-D3C7-F943325693E5}"/>
              </a:ext>
            </a:extLst>
          </p:cNvPr>
          <p:cNvSpPr>
            <a:spLocks noGrp="1"/>
          </p:cNvSpPr>
          <p:nvPr>
            <p:ph type="sldNum" sz="quarter" idx="5"/>
          </p:nvPr>
        </p:nvSpPr>
        <p:spPr/>
        <p:txBody>
          <a:bodyPr/>
          <a:lstStyle/>
          <a:p>
            <a:fld id="{E3D6119B-1BC7-4EE2-95DA-E726EB7BA94B}" type="slidenum">
              <a:rPr lang="en-US" smtClean="0"/>
              <a:t>35</a:t>
            </a:fld>
            <a:endParaRPr lang="en-US"/>
          </a:p>
        </p:txBody>
      </p:sp>
    </p:spTree>
    <p:extLst>
      <p:ext uri="{BB962C8B-B14F-4D97-AF65-F5344CB8AC3E}">
        <p14:creationId xmlns:p14="http://schemas.microsoft.com/office/powerpoint/2010/main" val="20494353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83EB5-7003-172F-CFF8-A4CAF4E3A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06A7E3-9E16-4B4A-856C-DCE72175BA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ABB29D-6050-E7D6-8F66-1557588970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E88193-E965-D8ED-8799-1F49E9ACA96C}"/>
              </a:ext>
            </a:extLst>
          </p:cNvPr>
          <p:cNvSpPr>
            <a:spLocks noGrp="1"/>
          </p:cNvSpPr>
          <p:nvPr>
            <p:ph type="sldNum" sz="quarter" idx="5"/>
          </p:nvPr>
        </p:nvSpPr>
        <p:spPr/>
        <p:txBody>
          <a:bodyPr/>
          <a:lstStyle/>
          <a:p>
            <a:fld id="{E3D6119B-1BC7-4EE2-95DA-E726EB7BA94B}" type="slidenum">
              <a:rPr lang="en-US" smtClean="0"/>
              <a:t>36</a:t>
            </a:fld>
            <a:endParaRPr lang="en-US"/>
          </a:p>
        </p:txBody>
      </p:sp>
    </p:spTree>
    <p:extLst>
      <p:ext uri="{BB962C8B-B14F-4D97-AF65-F5344CB8AC3E}">
        <p14:creationId xmlns:p14="http://schemas.microsoft.com/office/powerpoint/2010/main" val="40584219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3CA5D-6B2E-1BD3-7E18-C9E9020B80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BC773A-4346-5D40-B68E-9E41C36F90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09F8C1-C756-8E56-4D7B-628F8253F9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9D3353-F936-371D-1951-A9446AAF071A}"/>
              </a:ext>
            </a:extLst>
          </p:cNvPr>
          <p:cNvSpPr>
            <a:spLocks noGrp="1"/>
          </p:cNvSpPr>
          <p:nvPr>
            <p:ph type="sldNum" sz="quarter" idx="5"/>
          </p:nvPr>
        </p:nvSpPr>
        <p:spPr/>
        <p:txBody>
          <a:bodyPr/>
          <a:lstStyle/>
          <a:p>
            <a:fld id="{E3D6119B-1BC7-4EE2-95DA-E726EB7BA94B}" type="slidenum">
              <a:rPr lang="en-US" smtClean="0"/>
              <a:t>37</a:t>
            </a:fld>
            <a:endParaRPr lang="en-US"/>
          </a:p>
        </p:txBody>
      </p:sp>
    </p:spTree>
    <p:extLst>
      <p:ext uri="{BB962C8B-B14F-4D97-AF65-F5344CB8AC3E}">
        <p14:creationId xmlns:p14="http://schemas.microsoft.com/office/powerpoint/2010/main" val="504594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BE2C4CB-14E1-43EC-9E25-77CFC75FDBE0}"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E2C4CB-14E1-43EC-9E25-77CFC75FDBE0}"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E2C4CB-14E1-43EC-9E25-77CFC75FDBE0}"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BE2C4CB-14E1-43EC-9E25-77CFC75FDBE0}" type="datetimeFigureOut">
              <a:rPr lang="en-US" smtClean="0"/>
              <a:t>9/26/2026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BE2C4CB-14E1-43EC-9E25-77CFC75FDBE0}" type="datetimeFigureOut">
              <a:rPr lang="en-US" smtClean="0"/>
              <a:t>9/26/2026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E2C4CB-14E1-43EC-9E25-77CFC75FDBE0}" type="datetimeFigureOut">
              <a:rPr lang="en-US" smtClean="0"/>
              <a:t>9/26/2026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E2C4CB-14E1-43EC-9E25-77CFC75FDBE0}"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E2C4CB-14E1-43EC-9E25-77CFC75FDBE0}"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E2C4CB-14E1-43EC-9E25-77CFC75FDBE0}" type="datetimeFigureOut">
              <a:rPr lang="en-US" smtClean="0"/>
              <a:t>9/26/2026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F02EF3-4937-48F5-B6FA-9356B5FF026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3.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7.png"/><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4.bin"/><Relationship Id="rId1" Type="http://schemas.openxmlformats.org/officeDocument/2006/relationships/slideLayout" Target="../slideLayouts/slideLayout1.xml"/><Relationship Id="rId6" Type="http://schemas.openxmlformats.org/officeDocument/2006/relationships/image" Target="../media/image28.wmf"/><Relationship Id="rId5" Type="http://schemas.openxmlformats.org/officeDocument/2006/relationships/oleObject" Target="../embeddings/oleObject5.bin"/><Relationship Id="rId4" Type="http://schemas.openxmlformats.org/officeDocument/2006/relationships/image" Target="../media/image27.jpe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Classification : Decision Tree</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Decision Trees</a:t>
            </a:r>
            <a:r>
              <a:rPr lang="en-US" sz="1800" dirty="0">
                <a:solidFill>
                  <a:schemeClr val="tx1"/>
                </a:solidFill>
                <a:latin typeface="Times New Roman" panose="02020603050405020304" pitchFamily="18" charset="0"/>
                <a:cs typeface="Times New Roman" panose="02020603050405020304" pitchFamily="18" charset="0"/>
              </a:rPr>
              <a:t> are a popular supervised machine learning algorithm used for both </a:t>
            </a:r>
            <a:r>
              <a:rPr lang="en-US" sz="1800" b="1" dirty="0">
                <a:solidFill>
                  <a:schemeClr val="tx1"/>
                </a:solidFill>
                <a:latin typeface="Times New Roman" panose="02020603050405020304" pitchFamily="18" charset="0"/>
                <a:cs typeface="Times New Roman" panose="02020603050405020304" pitchFamily="18" charset="0"/>
              </a:rPr>
              <a:t>classification</a:t>
            </a:r>
            <a:r>
              <a:rPr lang="en-US" sz="1800" dirty="0">
                <a:solidFill>
                  <a:schemeClr val="tx1"/>
                </a:solidFill>
                <a:latin typeface="Times New Roman" panose="02020603050405020304" pitchFamily="18" charset="0"/>
                <a:cs typeface="Times New Roman" panose="02020603050405020304" pitchFamily="18" charset="0"/>
              </a:rPr>
              <a:t> and regression tasks. They work by learning simple decision rules inferred from the data features to predict a target label. </a:t>
            </a:r>
          </a:p>
          <a:p>
            <a:pPr marL="285750" indent="-285750" algn="just">
              <a:lnSpc>
                <a:spcPct val="150000"/>
              </a:lnSpc>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A Decision Tree is structured as a tree where each node represents a decision based on a feature of the data, and each branch represents an outcome of that decision.</a:t>
            </a:r>
          </a:p>
          <a:p>
            <a:pPr marL="285750" indent="-285750" algn="just">
              <a:lnSpc>
                <a:spcPct val="150000"/>
              </a:lnSpc>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The root node is the topmost node, representing the first decision.</a:t>
            </a:r>
          </a:p>
          <a:p>
            <a:pPr marL="285750" indent="-285750" algn="just">
              <a:lnSpc>
                <a:spcPct val="150000"/>
              </a:lnSpc>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The internal nodes are decision points, splitting based on feature values.</a:t>
            </a:r>
          </a:p>
          <a:p>
            <a:pPr marL="285750" indent="-285750" algn="just">
              <a:lnSpc>
                <a:spcPct val="150000"/>
              </a:lnSpc>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Leaf nodes are the endpoints representing the final prediction or output.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Classification : Decision Tree</a:t>
            </a:r>
          </a:p>
        </p:txBody>
      </p:sp>
      <p:graphicFrame>
        <p:nvGraphicFramePr>
          <p:cNvPr id="4" name="Object 1024"/>
          <p:cNvGraphicFramePr/>
          <p:nvPr/>
        </p:nvGraphicFramePr>
        <p:xfrm>
          <a:off x="228600" y="990600"/>
          <a:ext cx="3951287" cy="3429000"/>
        </p:xfrm>
        <a:graphic>
          <a:graphicData uri="http://schemas.openxmlformats.org/presentationml/2006/ole">
            <mc:AlternateContent xmlns:mc="http://schemas.openxmlformats.org/markup-compatibility/2006">
              <mc:Choice xmlns:v="urn:schemas-microsoft-com:vml" Requires="v">
                <p:oleObj name="Worksheet" r:id="rId2" imgW="5441315" imgH="4204335" progId="Excel.Sheet.8">
                  <p:embed/>
                </p:oleObj>
              </mc:Choice>
              <mc:Fallback>
                <p:oleObj name="Worksheet" r:id="rId2" imgW="5441315" imgH="4204335" progId="Excel.Sheet.8">
                  <p:embed/>
                  <p:pic>
                    <p:nvPicPr>
                      <p:cNvPr id="0" name="Object 102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990600"/>
                        <a:ext cx="3951287"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0" name="Picture 29"/>
          <p:cNvPicPr>
            <a:picLocks noChangeAspect="1"/>
          </p:cNvPicPr>
          <p:nvPr/>
        </p:nvPicPr>
        <p:blipFill>
          <a:blip r:embed="rId4"/>
          <a:stretch>
            <a:fillRect/>
          </a:stretch>
        </p:blipFill>
        <p:spPr>
          <a:xfrm>
            <a:off x="2728022" y="3543300"/>
            <a:ext cx="6224555" cy="346282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Classification : Decision Tree</a:t>
            </a:r>
          </a:p>
        </p:txBody>
      </p:sp>
      <p:sp>
        <p:nvSpPr>
          <p:cNvPr id="3" name="Subtitle 2"/>
          <p:cNvSpPr>
            <a:spLocks noGrp="1"/>
          </p:cNvSpPr>
          <p:nvPr>
            <p:ph type="subTitle" idx="1"/>
          </p:nvPr>
        </p:nvSpPr>
        <p:spPr>
          <a:xfrm>
            <a:off x="685800" y="1371600"/>
            <a:ext cx="8229600" cy="25908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Basic algorithm (a greedy algorithm):</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700" dirty="0">
                <a:solidFill>
                  <a:schemeClr val="tx1"/>
                </a:solidFill>
                <a:latin typeface="Times New Roman" panose="02020603050405020304" pitchFamily="18" charset="0"/>
                <a:cs typeface="Times New Roman" panose="02020603050405020304" pitchFamily="18" charset="0"/>
              </a:rPr>
              <a:t>Tree is constructed in a </a:t>
            </a:r>
            <a:r>
              <a:rPr lang="en-US" sz="1700" dirty="0">
                <a:solidFill>
                  <a:srgbClr val="00B050"/>
                </a:solidFill>
                <a:latin typeface="Times New Roman" panose="02020603050405020304" pitchFamily="18" charset="0"/>
                <a:cs typeface="Times New Roman" panose="02020603050405020304" pitchFamily="18" charset="0"/>
              </a:rPr>
              <a:t>top-down recursive divide-and-conquer</a:t>
            </a:r>
            <a:r>
              <a:rPr lang="en-US" sz="1700" dirty="0">
                <a:solidFill>
                  <a:schemeClr val="tx1"/>
                </a:solidFill>
                <a:latin typeface="Times New Roman" panose="02020603050405020304" pitchFamily="18" charset="0"/>
                <a:cs typeface="Times New Roman" panose="02020603050405020304" pitchFamily="18" charset="0"/>
              </a:rPr>
              <a:t> manner</a:t>
            </a:r>
          </a:p>
          <a:p>
            <a:pPr marL="285750" indent="-285750" algn="just">
              <a:buFont typeface="Arial" panose="020B0604020202020204" pitchFamily="34" charset="0"/>
              <a:buChar char="•"/>
            </a:pPr>
            <a:r>
              <a:rPr lang="en-US" sz="1700" dirty="0">
                <a:solidFill>
                  <a:schemeClr val="tx1"/>
                </a:solidFill>
                <a:latin typeface="Times New Roman" panose="02020603050405020304" pitchFamily="18" charset="0"/>
                <a:cs typeface="Times New Roman" panose="02020603050405020304" pitchFamily="18" charset="0"/>
              </a:rPr>
              <a:t>At start, all the training examples are at the root</a:t>
            </a:r>
          </a:p>
          <a:p>
            <a:pPr marL="285750" indent="-285750" algn="just">
              <a:buFont typeface="Arial" panose="020B0604020202020204" pitchFamily="34" charset="0"/>
              <a:buChar char="•"/>
            </a:pPr>
            <a:r>
              <a:rPr lang="en-US" sz="1700" dirty="0">
                <a:solidFill>
                  <a:schemeClr val="tx1"/>
                </a:solidFill>
                <a:latin typeface="Times New Roman" panose="02020603050405020304" pitchFamily="18" charset="0"/>
                <a:cs typeface="Times New Roman" panose="02020603050405020304" pitchFamily="18" charset="0"/>
              </a:rPr>
              <a:t>Attributes are categorical (if continuous-valued, they are discretized in advance)</a:t>
            </a:r>
          </a:p>
          <a:p>
            <a:pPr marL="285750" indent="-285750" algn="just">
              <a:buFont typeface="Arial" panose="020B0604020202020204" pitchFamily="34" charset="0"/>
              <a:buChar char="•"/>
            </a:pPr>
            <a:r>
              <a:rPr lang="en-US" sz="1700" dirty="0">
                <a:solidFill>
                  <a:schemeClr val="tx1"/>
                </a:solidFill>
                <a:latin typeface="Times New Roman" panose="02020603050405020304" pitchFamily="18" charset="0"/>
                <a:cs typeface="Times New Roman" panose="02020603050405020304" pitchFamily="18" charset="0"/>
              </a:rPr>
              <a:t>Examples are partitioned recursively based on selected attributes</a:t>
            </a:r>
          </a:p>
          <a:p>
            <a:pPr marL="285750" indent="-285750" algn="just">
              <a:buFont typeface="Arial" panose="020B0604020202020204" pitchFamily="34" charset="0"/>
              <a:buChar char="•"/>
            </a:pPr>
            <a:r>
              <a:rPr lang="en-US" sz="1700" dirty="0">
                <a:solidFill>
                  <a:schemeClr val="tx1"/>
                </a:solidFill>
                <a:latin typeface="Times New Roman" panose="02020603050405020304" pitchFamily="18" charset="0"/>
                <a:cs typeface="Times New Roman" panose="02020603050405020304" pitchFamily="18" charset="0"/>
              </a:rPr>
              <a:t>Test attributes are selected based on a heuristic or statistical measure (e.g., </a:t>
            </a:r>
            <a:r>
              <a:rPr lang="en-US" sz="1700" dirty="0">
                <a:solidFill>
                  <a:srgbClr val="FF0000"/>
                </a:solidFill>
                <a:latin typeface="Times New Roman" panose="02020603050405020304" pitchFamily="18" charset="0"/>
                <a:cs typeface="Times New Roman" panose="02020603050405020304" pitchFamily="18" charset="0"/>
              </a:rPr>
              <a:t>information gain</a:t>
            </a:r>
            <a:r>
              <a:rPr lang="en-US" sz="1700" dirty="0">
                <a:solidFill>
                  <a:schemeClr val="tx1"/>
                </a:solidFill>
                <a:latin typeface="Times New Roman" panose="02020603050405020304" pitchFamily="18" charset="0"/>
                <a:cs typeface="Times New Roman" panose="02020603050405020304" pitchFamily="18" charset="0"/>
              </a:rPr>
              <a:t>)</a:t>
            </a:r>
          </a:p>
          <a:p>
            <a:pPr algn="just"/>
            <a:endParaRPr lang="en-US" sz="1800" b="1" dirty="0">
              <a:solidFill>
                <a:schemeClr val="tx1"/>
              </a:solidFill>
              <a:latin typeface="Times New Roman" panose="02020603050405020304" pitchFamily="18" charset="0"/>
              <a:cs typeface="Times New Roman" panose="02020603050405020304" pitchFamily="18" charset="0"/>
            </a:endParaRPr>
          </a:p>
        </p:txBody>
      </p:sp>
      <p:pic>
        <p:nvPicPr>
          <p:cNvPr id="30" name="Picture 29"/>
          <p:cNvPicPr>
            <a:picLocks noChangeAspect="1"/>
          </p:cNvPicPr>
          <p:nvPr/>
        </p:nvPicPr>
        <p:blipFill>
          <a:blip r:embed="rId2"/>
          <a:stretch>
            <a:fillRect/>
          </a:stretch>
        </p:blipFill>
        <p:spPr>
          <a:xfrm>
            <a:off x="2209800" y="3810000"/>
            <a:ext cx="5181600" cy="288261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Classification : Decision Tree</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ID3 (Iterative </a:t>
            </a:r>
            <a:r>
              <a:rPr lang="en-US" sz="1800" b="1" dirty="0" err="1">
                <a:solidFill>
                  <a:schemeClr val="tx1"/>
                </a:solidFill>
                <a:latin typeface="Times New Roman" panose="02020603050405020304" pitchFamily="18" charset="0"/>
                <a:cs typeface="Times New Roman" panose="02020603050405020304" pitchFamily="18" charset="0"/>
              </a:rPr>
              <a:t>Dichotomiser</a:t>
            </a:r>
            <a:r>
              <a:rPr lang="en-US" sz="1800" b="1" dirty="0">
                <a:solidFill>
                  <a:schemeClr val="tx1"/>
                </a:solidFill>
                <a:latin typeface="Times New Roman" panose="02020603050405020304" pitchFamily="18" charset="0"/>
                <a:cs typeface="Times New Roman" panose="02020603050405020304" pitchFamily="18" charset="0"/>
              </a:rPr>
              <a:t> 3) </a:t>
            </a:r>
            <a:r>
              <a:rPr lang="en-US" sz="1800" dirty="0">
                <a:solidFill>
                  <a:schemeClr val="tx1"/>
                </a:solidFill>
                <a:latin typeface="Times New Roman" panose="02020603050405020304" pitchFamily="18" charset="0"/>
                <a:cs typeface="Times New Roman" panose="02020603050405020304" pitchFamily="18" charset="0"/>
              </a:rPr>
              <a:t>is a classic algorithm used to construct a Decision Tree, primarily for classification tasks. It was developed by Ross Quinlan and serves as one of the earliest algorithms in Decision Tree-based models. </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D3 aims to create a Decision Tree by selecting the most </a:t>
            </a:r>
            <a:r>
              <a:rPr lang="en-US" sz="1800" b="1" dirty="0">
                <a:solidFill>
                  <a:schemeClr val="tx1"/>
                </a:solidFill>
                <a:latin typeface="Times New Roman" panose="02020603050405020304" pitchFamily="18" charset="0"/>
                <a:cs typeface="Times New Roman" panose="02020603050405020304" pitchFamily="18" charset="0"/>
              </a:rPr>
              <a:t>significant feature </a:t>
            </a:r>
            <a:r>
              <a:rPr lang="en-US" sz="1800" dirty="0">
                <a:solidFill>
                  <a:schemeClr val="tx1"/>
                </a:solidFill>
                <a:latin typeface="Times New Roman" panose="02020603050405020304" pitchFamily="18" charset="0"/>
                <a:cs typeface="Times New Roman" panose="02020603050405020304" pitchFamily="18" charset="0"/>
              </a:rPr>
              <a:t>at each step that best separates the data for classification.</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It does this by using </a:t>
            </a:r>
            <a:r>
              <a:rPr lang="en-US" sz="1800" b="1" dirty="0">
                <a:solidFill>
                  <a:schemeClr val="tx1"/>
                </a:solidFill>
                <a:latin typeface="Times New Roman" panose="02020603050405020304" pitchFamily="18" charset="0"/>
                <a:cs typeface="Times New Roman" panose="02020603050405020304" pitchFamily="18" charset="0"/>
              </a:rPr>
              <a:t>information gain </a:t>
            </a:r>
            <a:r>
              <a:rPr lang="en-US" sz="1800" dirty="0">
                <a:solidFill>
                  <a:schemeClr val="tx1"/>
                </a:solidFill>
                <a:latin typeface="Times New Roman" panose="02020603050405020304" pitchFamily="18" charset="0"/>
                <a:cs typeface="Times New Roman" panose="02020603050405020304" pitchFamily="18" charset="0"/>
              </a:rPr>
              <a:t>(based on entropy) as the criterion to determine the best feature to split on.</a:t>
            </a: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Conditions for stopping partitioning:</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All records have the same target class (pure leaf node).</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No more features to split on (terminate as a leaf node).</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Reaching a specified maximum depth or minimum samples threshold to prevent </a:t>
            </a:r>
            <a:r>
              <a:rPr lang="en-US" sz="1800" dirty="0" err="1">
                <a:solidFill>
                  <a:schemeClr val="tx1"/>
                </a:solidFill>
                <a:latin typeface="Times New Roman" panose="02020603050405020304" pitchFamily="18" charset="0"/>
                <a:cs typeface="Times New Roman" panose="02020603050405020304" pitchFamily="18" charset="0"/>
              </a:rPr>
              <a:t>overfitting</a:t>
            </a:r>
            <a:r>
              <a:rPr lang="en-US" sz="1800" dirty="0">
                <a:solidFill>
                  <a:schemeClr val="tx1"/>
                </a:solidFill>
                <a:latin typeface="Times New Roman" panose="02020603050405020304" pitchFamily="18" charset="0"/>
                <a:cs typeface="Times New Roman" panose="02020603050405020304" pitchFamily="18" charset="0"/>
              </a:rPr>
              <a:t>.</a:t>
            </a:r>
            <a:endParaRPr lang="en-US" sz="1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Classification : Decision Tree</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3951287" cy="52578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Attribute Selection Measure: Information Gain</a:t>
                </a:r>
              </a:p>
              <a:p>
                <a:pPr algn="just"/>
                <a:endParaRPr lang="en-US" sz="1800" b="1" dirty="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r>
                      <a:rPr lang="en-US" sz="1800" b="1" i="1" dirty="0" smtClean="0">
                        <a:solidFill>
                          <a:schemeClr val="tx1"/>
                        </a:solidFill>
                        <a:latin typeface="Cambria Math" panose="02040503050406030204" pitchFamily="18" charset="0"/>
                        <a:cs typeface="Times New Roman" panose="02020603050405020304" pitchFamily="18" charset="0"/>
                      </a:rPr>
                      <m:t>𝑫</m:t>
                    </m:r>
                  </m:oMath>
                </a14:m>
                <a:r>
                  <a:rPr lang="en-US" sz="1800" dirty="0">
                    <a:solidFill>
                      <a:schemeClr val="tx1"/>
                    </a:solidFill>
                    <a:latin typeface="Times New Roman" panose="02020603050405020304" pitchFamily="18" charset="0"/>
                    <a:cs typeface="Times New Roman" panose="02020603050405020304" pitchFamily="18" charset="0"/>
                  </a:rPr>
                  <a:t> = set of data instances</a:t>
                </a:r>
              </a:p>
              <a:p>
                <a:pPr algn="just"/>
                <a14:m>
                  <m:oMath xmlns:m="http://schemas.openxmlformats.org/officeDocument/2006/math">
                    <m:d>
                      <m:dPr>
                        <m:begChr m:val="|"/>
                        <m:endChr m:val="|"/>
                        <m:ctrlPr>
                          <a:rPr lang="en-GB" sz="1800" b="1" i="1" dirty="0" smtClean="0">
                            <a:solidFill>
                              <a:schemeClr val="tx1"/>
                            </a:solidFill>
                            <a:latin typeface="Cambria Math" panose="02040503050406030204" pitchFamily="18" charset="0"/>
                            <a:cs typeface="Times New Roman" panose="02020603050405020304" pitchFamily="18" charset="0"/>
                          </a:rPr>
                        </m:ctrlPr>
                      </m:dPr>
                      <m:e>
                        <m:r>
                          <a:rPr lang="en-GB" sz="1800" b="1" i="1" dirty="0" smtClean="0">
                            <a:solidFill>
                              <a:schemeClr val="tx1"/>
                            </a:solidFill>
                            <a:latin typeface="Cambria Math" panose="02040503050406030204" pitchFamily="18" charset="0"/>
                            <a:cs typeface="Times New Roman" panose="02020603050405020304" pitchFamily="18" charset="0"/>
                          </a:rPr>
                          <m:t>𝑫</m:t>
                        </m:r>
                      </m:e>
                    </m:d>
                  </m:oMath>
                </a14:m>
                <a:r>
                  <a:rPr lang="en-US" sz="1800" b="1" dirty="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 number of data instances (14)</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sSub>
                      <m:sSubPr>
                        <m:ctrlPr>
                          <a:rPr lang="en-GB" sz="1800" b="1" i="1" smtClean="0">
                            <a:solidFill>
                              <a:schemeClr val="tx1"/>
                            </a:solidFill>
                            <a:latin typeface="Cambria Math" panose="02040503050406030204" pitchFamily="18" charset="0"/>
                            <a:cs typeface="Times New Roman" panose="02020603050405020304" pitchFamily="18" charset="0"/>
                          </a:rPr>
                        </m:ctrlPr>
                      </m:sSubPr>
                      <m:e>
                        <m:r>
                          <a:rPr lang="en-GB" sz="1800" b="1" i="1" smtClean="0">
                            <a:solidFill>
                              <a:schemeClr val="tx1"/>
                            </a:solidFill>
                            <a:latin typeface="Cambria Math" panose="02040503050406030204" pitchFamily="18" charset="0"/>
                            <a:cs typeface="Times New Roman" panose="02020603050405020304" pitchFamily="18" charset="0"/>
                          </a:rPr>
                          <m:t>𝒑</m:t>
                        </m:r>
                      </m:e>
                      <m:sub>
                        <m:r>
                          <a:rPr lang="en-GB" sz="1800" b="1" i="1" smtClean="0">
                            <a:solidFill>
                              <a:schemeClr val="tx1"/>
                            </a:solidFill>
                            <a:latin typeface="Cambria Math" panose="02040503050406030204" pitchFamily="18" charset="0"/>
                            <a:cs typeface="Times New Roman" panose="02020603050405020304" pitchFamily="18" charset="0"/>
                          </a:rPr>
                          <m:t>𝒊</m:t>
                        </m:r>
                      </m:sub>
                    </m:sSub>
                  </m:oMath>
                </a14:m>
                <a:r>
                  <a:rPr lang="en-US" sz="1800" dirty="0">
                    <a:solidFill>
                      <a:schemeClr val="tx1"/>
                    </a:solidFill>
                    <a:latin typeface="Times New Roman" panose="02020603050405020304" pitchFamily="18" charset="0"/>
                    <a:cs typeface="Times New Roman" panose="02020603050405020304" pitchFamily="18" charset="0"/>
                  </a:rPr>
                  <a:t>=the probability that an arbitrary tuple in </a:t>
                </a:r>
                <a14:m>
                  <m:oMath xmlns:m="http://schemas.openxmlformats.org/officeDocument/2006/math">
                    <m:r>
                      <a:rPr lang="en-US" sz="1800" b="1" i="1" dirty="0" smtClean="0">
                        <a:solidFill>
                          <a:schemeClr val="tx1"/>
                        </a:solidFill>
                        <a:latin typeface="Cambria Math" panose="02040503050406030204" pitchFamily="18" charset="0"/>
                        <a:cs typeface="Times New Roman" panose="02020603050405020304" pitchFamily="18" charset="0"/>
                      </a:rPr>
                      <m:t>𝑫</m:t>
                    </m:r>
                  </m:oMath>
                </a14:m>
                <a:r>
                  <a:rPr lang="en-US" sz="1800" dirty="0">
                    <a:solidFill>
                      <a:schemeClr val="tx1"/>
                    </a:solidFill>
                    <a:latin typeface="Times New Roman" panose="02020603050405020304" pitchFamily="18" charset="0"/>
                    <a:cs typeface="Times New Roman" panose="02020603050405020304" pitchFamily="18" charset="0"/>
                  </a:rPr>
                  <a:t> belongs to class </a:t>
                </a:r>
                <a14:m>
                  <m:oMath xmlns:m="http://schemas.openxmlformats.org/officeDocument/2006/math">
                    <m:sSub>
                      <m:sSubPr>
                        <m:ctrlPr>
                          <a:rPr lang="en-GB" sz="1800" b="1" i="1" smtClean="0">
                            <a:solidFill>
                              <a:schemeClr val="tx1"/>
                            </a:solidFill>
                            <a:latin typeface="Cambria Math" panose="02040503050406030204" pitchFamily="18" charset="0"/>
                            <a:cs typeface="Times New Roman" panose="02020603050405020304" pitchFamily="18" charset="0"/>
                          </a:rPr>
                        </m:ctrlPr>
                      </m:sSubPr>
                      <m:e>
                        <m:r>
                          <a:rPr lang="en-GB" sz="1800" b="1" i="1" smtClean="0">
                            <a:solidFill>
                              <a:schemeClr val="tx1"/>
                            </a:solidFill>
                            <a:latin typeface="Cambria Math" panose="02040503050406030204" pitchFamily="18" charset="0"/>
                            <a:cs typeface="Times New Roman" panose="02020603050405020304" pitchFamily="18" charset="0"/>
                          </a:rPr>
                          <m:t>𝑪</m:t>
                        </m:r>
                      </m:e>
                      <m:sub>
                        <m:r>
                          <a:rPr lang="en-GB" sz="1800" b="1" i="1" smtClean="0">
                            <a:solidFill>
                              <a:schemeClr val="tx1"/>
                            </a:solidFill>
                            <a:latin typeface="Cambria Math" panose="02040503050406030204" pitchFamily="18" charset="0"/>
                            <a:cs typeface="Times New Roman" panose="02020603050405020304" pitchFamily="18" charset="0"/>
                          </a:rPr>
                          <m:t>𝒊</m:t>
                        </m:r>
                      </m:sub>
                    </m:sSub>
                  </m:oMath>
                </a14:m>
                <a:endParaRPr lang="en-US" sz="1800" b="1"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m:sSub>
                        <m:sSubPr>
                          <m:ctrlPr>
                            <a:rPr lang="en-GB" sz="1800" b="1" i="1" smtClean="0">
                              <a:solidFill>
                                <a:schemeClr val="tx1"/>
                              </a:solidFill>
                              <a:latin typeface="Cambria Math" panose="02040503050406030204" pitchFamily="18" charset="0"/>
                              <a:cs typeface="Times New Roman" panose="02020603050405020304" pitchFamily="18" charset="0"/>
                            </a:rPr>
                          </m:ctrlPr>
                        </m:sSubPr>
                        <m:e>
                          <m:r>
                            <a:rPr lang="en-GB" sz="1800" b="1" i="1" smtClean="0">
                              <a:solidFill>
                                <a:schemeClr val="tx1"/>
                              </a:solidFill>
                              <a:latin typeface="Cambria Math" panose="02040503050406030204" pitchFamily="18" charset="0"/>
                              <a:cs typeface="Times New Roman" panose="02020603050405020304" pitchFamily="18" charset="0"/>
                            </a:rPr>
                            <m:t>𝒑</m:t>
                          </m:r>
                        </m:e>
                        <m:sub>
                          <m:r>
                            <a:rPr lang="en-GB" sz="1800" b="1" i="1" smtClean="0">
                              <a:solidFill>
                                <a:schemeClr val="tx1"/>
                              </a:solidFill>
                              <a:latin typeface="Cambria Math" panose="02040503050406030204" pitchFamily="18" charset="0"/>
                              <a:cs typeface="Times New Roman" panose="02020603050405020304" pitchFamily="18" charset="0"/>
                            </a:rPr>
                            <m:t>𝒊</m:t>
                          </m:r>
                        </m:sub>
                      </m:sSub>
                      <m:r>
                        <a:rPr lang="en-GB" sz="1800" b="1" i="1" smtClean="0">
                          <a:solidFill>
                            <a:schemeClr val="tx1"/>
                          </a:solidFill>
                          <a:latin typeface="Cambria Math" panose="02040503050406030204" pitchFamily="18" charset="0"/>
                          <a:cs typeface="Times New Roman" panose="02020603050405020304" pitchFamily="18" charset="0"/>
                        </a:rPr>
                        <m:t>=</m:t>
                      </m:r>
                      <m:f>
                        <m:fPr>
                          <m:ctrlPr>
                            <a:rPr lang="en-GB" sz="1800" b="1" i="1" smtClean="0">
                              <a:solidFill>
                                <a:schemeClr val="tx1"/>
                              </a:solidFill>
                              <a:latin typeface="Cambria Math" panose="02040503050406030204" pitchFamily="18" charset="0"/>
                              <a:cs typeface="Times New Roman" panose="02020603050405020304" pitchFamily="18" charset="0"/>
                            </a:rPr>
                          </m:ctrlPr>
                        </m:fPr>
                        <m:num>
                          <m:d>
                            <m:dPr>
                              <m:begChr m:val="|"/>
                              <m:endChr m:val="|"/>
                              <m:ctrlPr>
                                <a:rPr lang="en-GB" sz="1800" b="1" i="1" smtClean="0">
                                  <a:solidFill>
                                    <a:schemeClr val="tx1"/>
                                  </a:solidFill>
                                  <a:latin typeface="Cambria Math" panose="02040503050406030204" pitchFamily="18" charset="0"/>
                                  <a:cs typeface="Times New Roman" panose="02020603050405020304" pitchFamily="18" charset="0"/>
                                </a:rPr>
                              </m:ctrlPr>
                            </m:dPr>
                            <m:e>
                              <m:sSub>
                                <m:sSubPr>
                                  <m:ctrlPr>
                                    <a:rPr lang="en-GB" sz="1800" b="1" i="1" smtClean="0">
                                      <a:solidFill>
                                        <a:schemeClr val="tx1"/>
                                      </a:solidFill>
                                      <a:latin typeface="Cambria Math" panose="02040503050406030204" pitchFamily="18" charset="0"/>
                                      <a:cs typeface="Times New Roman" panose="02020603050405020304" pitchFamily="18" charset="0"/>
                                    </a:rPr>
                                  </m:ctrlPr>
                                </m:sSubPr>
                                <m:e>
                                  <m:r>
                                    <a:rPr lang="en-GB" sz="1800" b="1" i="1" smtClean="0">
                                      <a:solidFill>
                                        <a:schemeClr val="tx1"/>
                                      </a:solidFill>
                                      <a:latin typeface="Cambria Math" panose="02040503050406030204" pitchFamily="18" charset="0"/>
                                      <a:cs typeface="Times New Roman" panose="02020603050405020304" pitchFamily="18" charset="0"/>
                                    </a:rPr>
                                    <m:t>𝑪</m:t>
                                  </m:r>
                                </m:e>
                                <m:sub>
                                  <m:r>
                                    <a:rPr lang="en-GB" sz="1800" b="1" i="1" smtClean="0">
                                      <a:solidFill>
                                        <a:schemeClr val="tx1"/>
                                      </a:solidFill>
                                      <a:latin typeface="Cambria Math" panose="02040503050406030204" pitchFamily="18" charset="0"/>
                                      <a:cs typeface="Times New Roman" panose="02020603050405020304" pitchFamily="18" charset="0"/>
                                    </a:rPr>
                                    <m:t>𝒊</m:t>
                                  </m:r>
                                  <m:r>
                                    <a:rPr lang="en-GB" sz="1800" b="1" i="1" smtClean="0">
                                      <a:solidFill>
                                        <a:schemeClr val="tx1"/>
                                      </a:solidFill>
                                      <a:latin typeface="Cambria Math" panose="02040503050406030204" pitchFamily="18" charset="0"/>
                                      <a:cs typeface="Times New Roman" panose="02020603050405020304" pitchFamily="18" charset="0"/>
                                    </a:rPr>
                                    <m:t>,</m:t>
                                  </m:r>
                                  <m:r>
                                    <a:rPr lang="en-GB" sz="1800" b="1" i="1" smtClean="0">
                                      <a:solidFill>
                                        <a:schemeClr val="tx1"/>
                                      </a:solidFill>
                                      <a:latin typeface="Cambria Math" panose="02040503050406030204" pitchFamily="18" charset="0"/>
                                      <a:cs typeface="Times New Roman" panose="02020603050405020304" pitchFamily="18" charset="0"/>
                                    </a:rPr>
                                    <m:t>𝑫</m:t>
                                  </m:r>
                                </m:sub>
                              </m:sSub>
                            </m:e>
                          </m:d>
                        </m:num>
                        <m:den>
                          <m:d>
                            <m:dPr>
                              <m:begChr m:val="|"/>
                              <m:endChr m:val="|"/>
                              <m:ctrlPr>
                                <a:rPr lang="en-GB" sz="1800" b="1" i="1" smtClean="0">
                                  <a:solidFill>
                                    <a:schemeClr val="tx1"/>
                                  </a:solidFill>
                                  <a:latin typeface="Cambria Math" panose="02040503050406030204" pitchFamily="18" charset="0"/>
                                  <a:cs typeface="Times New Roman" panose="02020603050405020304" pitchFamily="18" charset="0"/>
                                </a:rPr>
                              </m:ctrlPr>
                            </m:dPr>
                            <m:e>
                              <m:r>
                                <a:rPr lang="en-GB" sz="1800" b="1" i="1" smtClean="0">
                                  <a:solidFill>
                                    <a:schemeClr val="tx1"/>
                                  </a:solidFill>
                                  <a:latin typeface="Cambria Math" panose="02040503050406030204" pitchFamily="18" charset="0"/>
                                  <a:cs typeface="Times New Roman" panose="02020603050405020304" pitchFamily="18" charset="0"/>
                                </a:rPr>
                                <m:t>𝑫</m:t>
                              </m:r>
                            </m:e>
                          </m:d>
                        </m:den>
                      </m:f>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Example: class yes is 1</a:t>
                </a:r>
              </a:p>
              <a:p>
                <a:pPr algn="just"/>
                <a14:m>
                  <m:oMathPara xmlns:m="http://schemas.openxmlformats.org/officeDocument/2006/math">
                    <m:oMathParaPr>
                      <m:jc m:val="left"/>
                    </m:oMathParaPr>
                    <m:oMath>
                      <m:sSub>
                        <m:sSubPr>
                          <m:ctrlPr>
                            <a:rPr lang="en-GB" sz="1800" b="1" i="1" smtClean="0">
                              <a:solidFill>
                                <a:schemeClr val="tx1"/>
                              </a:solidFill>
                              <a:latin typeface="Cambria Math" panose="02040503050406030204" pitchFamily="18" charset="0"/>
                              <a:cs typeface="Times New Roman" panose="02020603050405020304" pitchFamily="18" charset="0"/>
                            </a:rPr>
                          </m:ctrlPr>
                        </m:sSubPr>
                        <m:e>
                          <m:r>
                            <a:rPr lang="en-GB" sz="1800" b="1" i="1" smtClean="0">
                              <a:solidFill>
                                <a:schemeClr val="tx1"/>
                              </a:solidFill>
                              <a:latin typeface="Cambria Math" panose="02040503050406030204" pitchFamily="18" charset="0"/>
                              <a:cs typeface="Times New Roman" panose="02020603050405020304" pitchFamily="18" charset="0"/>
                            </a:rPr>
                            <m:t>𝒑</m:t>
                          </m:r>
                        </m:e>
                        <m:sub>
                          <m:r>
                            <a:rPr lang="en-GB" sz="1800" b="1" i="1" smtClean="0">
                              <a:solidFill>
                                <a:schemeClr val="tx1"/>
                              </a:solidFill>
                              <a:latin typeface="Cambria Math" panose="02040503050406030204" pitchFamily="18" charset="0"/>
                              <a:cs typeface="Times New Roman" panose="02020603050405020304" pitchFamily="18" charset="0"/>
                            </a:rPr>
                            <m:t>𝟏</m:t>
                          </m:r>
                        </m:sub>
                      </m:sSub>
                      <m:r>
                        <a:rPr lang="en-GB" sz="1800" b="1" i="1" smtClean="0">
                          <a:solidFill>
                            <a:schemeClr val="tx1"/>
                          </a:solidFill>
                          <a:latin typeface="Cambria Math" panose="02040503050406030204" pitchFamily="18" charset="0"/>
                          <a:cs typeface="Times New Roman" panose="02020603050405020304" pitchFamily="18" charset="0"/>
                        </a:rPr>
                        <m:t>=</m:t>
                      </m:r>
                      <m:f>
                        <m:fPr>
                          <m:ctrlPr>
                            <a:rPr lang="en-GB" sz="1800" b="1" i="1" smtClean="0">
                              <a:solidFill>
                                <a:schemeClr val="tx1"/>
                              </a:solidFill>
                              <a:latin typeface="Cambria Math" panose="02040503050406030204" pitchFamily="18" charset="0"/>
                              <a:cs typeface="Times New Roman" panose="02020603050405020304" pitchFamily="18" charset="0"/>
                            </a:rPr>
                          </m:ctrlPr>
                        </m:fPr>
                        <m:num>
                          <m:d>
                            <m:dPr>
                              <m:begChr m:val="|"/>
                              <m:endChr m:val="|"/>
                              <m:ctrlPr>
                                <a:rPr lang="en-GB" sz="1800" b="1" i="1" smtClean="0">
                                  <a:solidFill>
                                    <a:schemeClr val="tx1"/>
                                  </a:solidFill>
                                  <a:latin typeface="Cambria Math" panose="02040503050406030204" pitchFamily="18" charset="0"/>
                                  <a:cs typeface="Times New Roman" panose="02020603050405020304" pitchFamily="18" charset="0"/>
                                </a:rPr>
                              </m:ctrlPr>
                            </m:dPr>
                            <m:e>
                              <m:sSub>
                                <m:sSubPr>
                                  <m:ctrlPr>
                                    <a:rPr lang="en-GB" sz="1800" b="1" i="1" smtClean="0">
                                      <a:solidFill>
                                        <a:schemeClr val="tx1"/>
                                      </a:solidFill>
                                      <a:latin typeface="Cambria Math" panose="02040503050406030204" pitchFamily="18" charset="0"/>
                                      <a:cs typeface="Times New Roman" panose="02020603050405020304" pitchFamily="18" charset="0"/>
                                    </a:rPr>
                                  </m:ctrlPr>
                                </m:sSubPr>
                                <m:e>
                                  <m:r>
                                    <a:rPr lang="en-GB" sz="1800" b="1" i="1" smtClean="0">
                                      <a:solidFill>
                                        <a:schemeClr val="tx1"/>
                                      </a:solidFill>
                                      <a:latin typeface="Cambria Math" panose="02040503050406030204" pitchFamily="18" charset="0"/>
                                      <a:cs typeface="Times New Roman" panose="02020603050405020304" pitchFamily="18" charset="0"/>
                                    </a:rPr>
                                    <m:t>𝑪</m:t>
                                  </m:r>
                                </m:e>
                                <m:sub>
                                  <m:r>
                                    <a:rPr lang="en-GB" sz="1800" b="1" i="1" smtClean="0">
                                      <a:solidFill>
                                        <a:schemeClr val="tx1"/>
                                      </a:solidFill>
                                      <a:latin typeface="Cambria Math" panose="02040503050406030204" pitchFamily="18" charset="0"/>
                                      <a:cs typeface="Times New Roman" panose="02020603050405020304" pitchFamily="18" charset="0"/>
                                    </a:rPr>
                                    <m:t>𝟏</m:t>
                                  </m:r>
                                  <m:r>
                                    <a:rPr lang="en-GB" sz="1800" b="1" i="1" smtClean="0">
                                      <a:solidFill>
                                        <a:schemeClr val="tx1"/>
                                      </a:solidFill>
                                      <a:latin typeface="Cambria Math" panose="02040503050406030204" pitchFamily="18" charset="0"/>
                                      <a:cs typeface="Times New Roman" panose="02020603050405020304" pitchFamily="18" charset="0"/>
                                    </a:rPr>
                                    <m:t>,</m:t>
                                  </m:r>
                                  <m:r>
                                    <a:rPr lang="en-GB" sz="1800" b="1" i="1" smtClean="0">
                                      <a:solidFill>
                                        <a:schemeClr val="tx1"/>
                                      </a:solidFill>
                                      <a:latin typeface="Cambria Math" panose="02040503050406030204" pitchFamily="18" charset="0"/>
                                      <a:cs typeface="Times New Roman" panose="02020603050405020304" pitchFamily="18" charset="0"/>
                                    </a:rPr>
                                    <m:t>𝑫</m:t>
                                  </m:r>
                                </m:sub>
                              </m:sSub>
                            </m:e>
                          </m:d>
                        </m:num>
                        <m:den>
                          <m:d>
                            <m:dPr>
                              <m:begChr m:val="|"/>
                              <m:endChr m:val="|"/>
                              <m:ctrlPr>
                                <a:rPr lang="en-GB" sz="1800" b="1" i="1" smtClean="0">
                                  <a:solidFill>
                                    <a:schemeClr val="tx1"/>
                                  </a:solidFill>
                                  <a:latin typeface="Cambria Math" panose="02040503050406030204" pitchFamily="18" charset="0"/>
                                  <a:cs typeface="Times New Roman" panose="02020603050405020304" pitchFamily="18" charset="0"/>
                                </a:rPr>
                              </m:ctrlPr>
                            </m:dPr>
                            <m:e>
                              <m:r>
                                <a:rPr lang="en-GB" sz="1800" b="1" i="1" smtClean="0">
                                  <a:solidFill>
                                    <a:schemeClr val="tx1"/>
                                  </a:solidFill>
                                  <a:latin typeface="Cambria Math" panose="02040503050406030204" pitchFamily="18" charset="0"/>
                                  <a:cs typeface="Times New Roman" panose="02020603050405020304" pitchFamily="18" charset="0"/>
                                </a:rPr>
                                <m:t>𝑫</m:t>
                              </m:r>
                            </m:e>
                          </m:d>
                        </m:den>
                      </m:f>
                      <m:r>
                        <a:rPr lang="en-GB" sz="1800" b="1" i="1" smtClean="0">
                          <a:solidFill>
                            <a:schemeClr val="tx1"/>
                          </a:solidFill>
                          <a:latin typeface="Cambria Math" panose="02040503050406030204" pitchFamily="18" charset="0"/>
                          <a:cs typeface="Times New Roman" panose="02020603050405020304" pitchFamily="18" charset="0"/>
                        </a:rPr>
                        <m:t>=</m:t>
                      </m:r>
                      <m:f>
                        <m:fPr>
                          <m:ctrlPr>
                            <a:rPr lang="en-GB" sz="1800" b="1" i="1" smtClean="0">
                              <a:solidFill>
                                <a:schemeClr val="tx1"/>
                              </a:solidFill>
                              <a:latin typeface="Cambria Math" panose="02040503050406030204" pitchFamily="18" charset="0"/>
                              <a:cs typeface="Times New Roman" panose="02020603050405020304" pitchFamily="18" charset="0"/>
                            </a:rPr>
                          </m:ctrlPr>
                        </m:fPr>
                        <m:num>
                          <m:r>
                            <a:rPr lang="en-GB" sz="1800" b="1" i="1" smtClean="0">
                              <a:solidFill>
                                <a:schemeClr val="tx1"/>
                              </a:solidFill>
                              <a:latin typeface="Cambria Math" panose="02040503050406030204" pitchFamily="18" charset="0"/>
                              <a:cs typeface="Times New Roman" panose="02020603050405020304" pitchFamily="18" charset="0"/>
                            </a:rPr>
                            <m:t>𝟗</m:t>
                          </m:r>
                        </m:num>
                        <m:den>
                          <m:r>
                            <a:rPr lang="en-GB" sz="1800" b="1" i="1" smtClean="0">
                              <a:solidFill>
                                <a:schemeClr val="tx1"/>
                              </a:solidFill>
                              <a:latin typeface="Cambria Math" panose="02040503050406030204" pitchFamily="18" charset="0"/>
                              <a:cs typeface="Times New Roman" panose="02020603050405020304" pitchFamily="18" charset="0"/>
                            </a:rPr>
                            <m:t>𝟏𝟒</m:t>
                          </m:r>
                        </m:den>
                      </m:f>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m:sSub>
                        <m:sSubPr>
                          <m:ctrlPr>
                            <a:rPr lang="en-GB" sz="1800" b="1" i="1" smtClean="0">
                              <a:solidFill>
                                <a:schemeClr val="tx1"/>
                              </a:solidFill>
                              <a:latin typeface="Cambria Math" panose="02040503050406030204" pitchFamily="18" charset="0"/>
                              <a:cs typeface="Times New Roman" panose="02020603050405020304" pitchFamily="18" charset="0"/>
                            </a:rPr>
                          </m:ctrlPr>
                        </m:sSubPr>
                        <m:e>
                          <m:r>
                            <a:rPr lang="en-GB" sz="1800" b="1" i="1" smtClean="0">
                              <a:solidFill>
                                <a:schemeClr val="tx1"/>
                              </a:solidFill>
                              <a:latin typeface="Cambria Math" panose="02040503050406030204" pitchFamily="18" charset="0"/>
                              <a:cs typeface="Times New Roman" panose="02020603050405020304" pitchFamily="18" charset="0"/>
                            </a:rPr>
                            <m:t>𝒑</m:t>
                          </m:r>
                        </m:e>
                        <m:sub>
                          <m:r>
                            <a:rPr lang="en-GB" sz="1800" b="1" i="1" smtClean="0">
                              <a:solidFill>
                                <a:schemeClr val="tx1"/>
                              </a:solidFill>
                              <a:latin typeface="Cambria Math" panose="02040503050406030204" pitchFamily="18" charset="0"/>
                              <a:cs typeface="Times New Roman" panose="02020603050405020304" pitchFamily="18" charset="0"/>
                            </a:rPr>
                            <m:t>𝟐</m:t>
                          </m:r>
                        </m:sub>
                      </m:sSub>
                      <m:r>
                        <a:rPr lang="en-GB" sz="1800" b="1" i="1" smtClean="0">
                          <a:solidFill>
                            <a:schemeClr val="tx1"/>
                          </a:solidFill>
                          <a:latin typeface="Cambria Math" panose="02040503050406030204" pitchFamily="18" charset="0"/>
                          <a:cs typeface="Times New Roman" panose="02020603050405020304" pitchFamily="18" charset="0"/>
                        </a:rPr>
                        <m:t>=</m:t>
                      </m:r>
                      <m:f>
                        <m:fPr>
                          <m:ctrlPr>
                            <a:rPr lang="en-GB" sz="1800" b="1" i="1" smtClean="0">
                              <a:solidFill>
                                <a:schemeClr val="tx1"/>
                              </a:solidFill>
                              <a:latin typeface="Cambria Math" panose="02040503050406030204" pitchFamily="18" charset="0"/>
                              <a:cs typeface="Times New Roman" panose="02020603050405020304" pitchFamily="18" charset="0"/>
                            </a:rPr>
                          </m:ctrlPr>
                        </m:fPr>
                        <m:num>
                          <m:d>
                            <m:dPr>
                              <m:begChr m:val="|"/>
                              <m:endChr m:val="|"/>
                              <m:ctrlPr>
                                <a:rPr lang="en-GB" sz="1800" b="1" i="1" smtClean="0">
                                  <a:solidFill>
                                    <a:schemeClr val="tx1"/>
                                  </a:solidFill>
                                  <a:latin typeface="Cambria Math" panose="02040503050406030204" pitchFamily="18" charset="0"/>
                                  <a:cs typeface="Times New Roman" panose="02020603050405020304" pitchFamily="18" charset="0"/>
                                </a:rPr>
                              </m:ctrlPr>
                            </m:dPr>
                            <m:e>
                              <m:sSub>
                                <m:sSubPr>
                                  <m:ctrlPr>
                                    <a:rPr lang="en-GB" sz="1800" b="1" i="1" smtClean="0">
                                      <a:solidFill>
                                        <a:schemeClr val="tx1"/>
                                      </a:solidFill>
                                      <a:latin typeface="Cambria Math" panose="02040503050406030204" pitchFamily="18" charset="0"/>
                                      <a:cs typeface="Times New Roman" panose="02020603050405020304" pitchFamily="18" charset="0"/>
                                    </a:rPr>
                                  </m:ctrlPr>
                                </m:sSubPr>
                                <m:e>
                                  <m:r>
                                    <a:rPr lang="en-GB" sz="1800" b="1" i="1" smtClean="0">
                                      <a:solidFill>
                                        <a:schemeClr val="tx1"/>
                                      </a:solidFill>
                                      <a:latin typeface="Cambria Math" panose="02040503050406030204" pitchFamily="18" charset="0"/>
                                      <a:cs typeface="Times New Roman" panose="02020603050405020304" pitchFamily="18" charset="0"/>
                                    </a:rPr>
                                    <m:t>𝑪</m:t>
                                  </m:r>
                                </m:e>
                                <m:sub>
                                  <m:r>
                                    <a:rPr lang="en-GB" sz="1800" b="1" i="1" smtClean="0">
                                      <a:solidFill>
                                        <a:schemeClr val="tx1"/>
                                      </a:solidFill>
                                      <a:latin typeface="Cambria Math" panose="02040503050406030204" pitchFamily="18" charset="0"/>
                                      <a:cs typeface="Times New Roman" panose="02020603050405020304" pitchFamily="18" charset="0"/>
                                    </a:rPr>
                                    <m:t>𝟐</m:t>
                                  </m:r>
                                  <m:r>
                                    <a:rPr lang="en-GB" sz="1800" b="1" i="1" smtClean="0">
                                      <a:solidFill>
                                        <a:schemeClr val="tx1"/>
                                      </a:solidFill>
                                      <a:latin typeface="Cambria Math" panose="02040503050406030204" pitchFamily="18" charset="0"/>
                                      <a:cs typeface="Times New Roman" panose="02020603050405020304" pitchFamily="18" charset="0"/>
                                    </a:rPr>
                                    <m:t>,</m:t>
                                  </m:r>
                                  <m:r>
                                    <a:rPr lang="en-GB" sz="1800" b="1" i="1" smtClean="0">
                                      <a:solidFill>
                                        <a:schemeClr val="tx1"/>
                                      </a:solidFill>
                                      <a:latin typeface="Cambria Math" panose="02040503050406030204" pitchFamily="18" charset="0"/>
                                      <a:cs typeface="Times New Roman" panose="02020603050405020304" pitchFamily="18" charset="0"/>
                                    </a:rPr>
                                    <m:t>𝑫</m:t>
                                  </m:r>
                                </m:sub>
                              </m:sSub>
                            </m:e>
                          </m:d>
                        </m:num>
                        <m:den>
                          <m:d>
                            <m:dPr>
                              <m:begChr m:val="|"/>
                              <m:endChr m:val="|"/>
                              <m:ctrlPr>
                                <a:rPr lang="en-GB" sz="1800" b="1" i="1" smtClean="0">
                                  <a:solidFill>
                                    <a:schemeClr val="tx1"/>
                                  </a:solidFill>
                                  <a:latin typeface="Cambria Math" panose="02040503050406030204" pitchFamily="18" charset="0"/>
                                  <a:cs typeface="Times New Roman" panose="02020603050405020304" pitchFamily="18" charset="0"/>
                                </a:rPr>
                              </m:ctrlPr>
                            </m:dPr>
                            <m:e>
                              <m:r>
                                <a:rPr lang="en-GB" sz="1800" b="1" i="1" smtClean="0">
                                  <a:solidFill>
                                    <a:schemeClr val="tx1"/>
                                  </a:solidFill>
                                  <a:latin typeface="Cambria Math" panose="02040503050406030204" pitchFamily="18" charset="0"/>
                                  <a:cs typeface="Times New Roman" panose="02020603050405020304" pitchFamily="18" charset="0"/>
                                </a:rPr>
                                <m:t>𝑫</m:t>
                              </m:r>
                            </m:e>
                          </m:d>
                        </m:den>
                      </m:f>
                      <m:r>
                        <a:rPr lang="en-GB" sz="1800" b="1" i="1" smtClean="0">
                          <a:solidFill>
                            <a:schemeClr val="tx1"/>
                          </a:solidFill>
                          <a:latin typeface="Cambria Math" panose="02040503050406030204" pitchFamily="18" charset="0"/>
                          <a:cs typeface="Times New Roman" panose="02020603050405020304" pitchFamily="18" charset="0"/>
                        </a:rPr>
                        <m:t>=</m:t>
                      </m:r>
                      <m:f>
                        <m:fPr>
                          <m:ctrlPr>
                            <a:rPr lang="en-GB" sz="1800" b="1" i="1" smtClean="0">
                              <a:solidFill>
                                <a:schemeClr val="tx1"/>
                              </a:solidFill>
                              <a:latin typeface="Cambria Math" panose="02040503050406030204" pitchFamily="18" charset="0"/>
                              <a:cs typeface="Times New Roman" panose="02020603050405020304" pitchFamily="18" charset="0"/>
                            </a:rPr>
                          </m:ctrlPr>
                        </m:fPr>
                        <m:num>
                          <m:r>
                            <a:rPr lang="en-GB" sz="1800" b="1" i="1" smtClean="0">
                              <a:solidFill>
                                <a:schemeClr val="tx1"/>
                              </a:solidFill>
                              <a:latin typeface="Cambria Math" panose="02040503050406030204" pitchFamily="18" charset="0"/>
                              <a:cs typeface="Times New Roman" panose="02020603050405020304" pitchFamily="18" charset="0"/>
                            </a:rPr>
                            <m:t>𝟓</m:t>
                          </m:r>
                        </m:num>
                        <m:den>
                          <m:r>
                            <a:rPr lang="en-GB" sz="1800" b="1" i="1" smtClean="0">
                              <a:solidFill>
                                <a:schemeClr val="tx1"/>
                              </a:solidFill>
                              <a:latin typeface="Cambria Math" panose="02040503050406030204" pitchFamily="18" charset="0"/>
                              <a:cs typeface="Times New Roman" panose="02020603050405020304" pitchFamily="18" charset="0"/>
                            </a:rPr>
                            <m:t>𝟏𝟒</m:t>
                          </m:r>
                        </m:den>
                      </m:f>
                    </m:oMath>
                  </m:oMathPara>
                </a14:m>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3951287" cy="5257800"/>
              </a:xfrm>
              <a:blipFill rotWithShape="1">
                <a:blip r:embed="rId2"/>
                <a:stretch>
                  <a:fillRect r="8"/>
                </a:stretch>
              </a:blipFill>
            </p:spPr>
            <p:txBody>
              <a:bodyPr/>
              <a:lstStyle/>
              <a:p>
                <a:r>
                  <a:rPr lang="en-US" altLang="en-US">
                    <a:noFill/>
                  </a:rPr>
                  <a:t> </a:t>
                </a:r>
              </a:p>
            </p:txBody>
          </p:sp>
        </mc:Fallback>
      </mc:AlternateContent>
      <p:graphicFrame>
        <p:nvGraphicFramePr>
          <p:cNvPr id="5" name="Object 1024"/>
          <p:cNvGraphicFramePr/>
          <p:nvPr/>
        </p:nvGraphicFramePr>
        <p:xfrm>
          <a:off x="4637088" y="1371600"/>
          <a:ext cx="4474256" cy="5105400"/>
        </p:xfrm>
        <a:graphic>
          <a:graphicData uri="http://schemas.openxmlformats.org/presentationml/2006/ole">
            <mc:AlternateContent xmlns:mc="http://schemas.openxmlformats.org/markup-compatibility/2006">
              <mc:Choice xmlns:v="urn:schemas-microsoft-com:vml" Requires="v">
                <p:oleObj name="Worksheet" r:id="rId3" imgW="5441315" imgH="4204335" progId="Excel.Sheet.8">
                  <p:embed/>
                </p:oleObj>
              </mc:Choice>
              <mc:Fallback>
                <p:oleObj name="Worksheet" r:id="rId3" imgW="5441315" imgH="4204335" progId="Excel.Sheet.8">
                  <p:embed/>
                  <p:pic>
                    <p:nvPicPr>
                      <p:cNvPr id="0" name="Object 102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7088" y="1371600"/>
                        <a:ext cx="4474256" cy="5105400"/>
                      </a:xfrm>
                      <a:prstGeom prst="rect">
                        <a:avLst/>
                      </a:prstGeom>
                      <a:noFill/>
                      <a:ln>
                        <a:noFill/>
                      </a:ln>
                    </p:spPr>
                  </p:pic>
                </p:oleObj>
              </mc:Fallback>
            </mc:AlternateContent>
          </a:graphicData>
        </a:graphic>
      </p:graphicFrame>
      <p:graphicFrame>
        <p:nvGraphicFramePr>
          <p:cNvPr id="6" name="Object 1024"/>
          <p:cNvGraphicFramePr/>
          <p:nvPr/>
        </p:nvGraphicFramePr>
        <p:xfrm>
          <a:off x="4637088" y="1371600"/>
          <a:ext cx="4474256" cy="5105400"/>
        </p:xfrm>
        <a:graphic>
          <a:graphicData uri="http://schemas.openxmlformats.org/presentationml/2006/ole">
            <mc:AlternateContent xmlns:mc="http://schemas.openxmlformats.org/markup-compatibility/2006">
              <mc:Choice xmlns:v="urn:schemas-microsoft-com:vml" Requires="v">
                <p:oleObj name="Worksheet" r:id="rId3" imgW="5441315" imgH="4204335" progId="Excel.Sheet.8">
                  <p:embed/>
                </p:oleObj>
              </mc:Choice>
              <mc:Fallback>
                <p:oleObj name="Worksheet" r:id="rId3" imgW="5441315" imgH="4204335" progId="Excel.Sheet.8">
                  <p:embed/>
                  <p:pic>
                    <p:nvPicPr>
                      <p:cNvPr id="0" name="Picture 225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7088" y="1371600"/>
                        <a:ext cx="4474256" cy="5105400"/>
                      </a:xfrm>
                      <a:prstGeom prst="rect">
                        <a:avLst/>
                      </a:prstGeom>
                      <a:noFill/>
                      <a:ln>
                        <a:noFill/>
                      </a:ln>
                    </p:spPr>
                  </p:pic>
                </p:oleObj>
              </mc:Fallback>
            </mc:AlternateContent>
          </a:graphicData>
        </a:graphic>
      </p:graphicFrame>
      <p:sp>
        <p:nvSpPr>
          <p:cNvPr id="7" name="Oval 6"/>
          <p:cNvSpPr/>
          <p:nvPr/>
        </p:nvSpPr>
        <p:spPr>
          <a:xfrm>
            <a:off x="8139023" y="17526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p:cNvSpPr/>
          <p:nvPr/>
        </p:nvSpPr>
        <p:spPr>
          <a:xfrm>
            <a:off x="8153400" y="2119223"/>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8183183" y="34290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p:cNvSpPr/>
          <p:nvPr/>
        </p:nvSpPr>
        <p:spPr>
          <a:xfrm>
            <a:off x="8153400" y="41148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p:cNvSpPr/>
          <p:nvPr/>
        </p:nvSpPr>
        <p:spPr>
          <a:xfrm>
            <a:off x="8153400" y="61722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p:cNvSpPr/>
          <p:nvPr/>
        </p:nvSpPr>
        <p:spPr>
          <a:xfrm>
            <a:off x="8155456" y="2424023"/>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p:cNvSpPr/>
          <p:nvPr/>
        </p:nvSpPr>
        <p:spPr>
          <a:xfrm>
            <a:off x="8139023" y="28194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p:cNvSpPr/>
          <p:nvPr/>
        </p:nvSpPr>
        <p:spPr>
          <a:xfrm>
            <a:off x="8133481" y="31242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p:cNvSpPr/>
          <p:nvPr/>
        </p:nvSpPr>
        <p:spPr>
          <a:xfrm>
            <a:off x="8139023" y="3761117"/>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p:cNvSpPr/>
          <p:nvPr/>
        </p:nvSpPr>
        <p:spPr>
          <a:xfrm>
            <a:off x="8105754" y="4444042"/>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p:cNvSpPr/>
          <p:nvPr/>
        </p:nvSpPr>
        <p:spPr>
          <a:xfrm>
            <a:off x="8155456" y="48006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p:cNvSpPr/>
          <p:nvPr/>
        </p:nvSpPr>
        <p:spPr>
          <a:xfrm>
            <a:off x="8133481" y="51054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8153400" y="54864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p:cNvSpPr/>
          <p:nvPr/>
        </p:nvSpPr>
        <p:spPr>
          <a:xfrm>
            <a:off x="8167986" y="5794076"/>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Classification : Decision Tree</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3951287" cy="52578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Expected information (entropy) needed to classify a tuple in D:</a:t>
                </a:r>
              </a:p>
              <a:p>
                <a:pPr algn="just"/>
                <a:endParaRPr lang="en-US" sz="1800" b="1"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m:r>
                        <a:rPr lang="en-GB" sz="1800" b="1" i="1" dirty="0" smtClean="0">
                          <a:solidFill>
                            <a:schemeClr val="tx1"/>
                          </a:solidFill>
                          <a:latin typeface="Cambria Math" panose="02040503050406030204" pitchFamily="18" charset="0"/>
                          <a:cs typeface="Times New Roman" panose="02020603050405020304" pitchFamily="18" charset="0"/>
                        </a:rPr>
                        <m:t>𝑰𝒏𝒇𝒐</m:t>
                      </m:r>
                      <m:d>
                        <m:dPr>
                          <m:ctrlPr>
                            <a:rPr lang="en-GB" sz="1800" b="1" i="1" dirty="0" smtClean="0">
                              <a:solidFill>
                                <a:schemeClr val="tx1"/>
                              </a:solidFill>
                              <a:latin typeface="Cambria Math" panose="02040503050406030204" pitchFamily="18" charset="0"/>
                              <a:cs typeface="Times New Roman" panose="02020603050405020304" pitchFamily="18" charset="0"/>
                            </a:rPr>
                          </m:ctrlPr>
                        </m:dPr>
                        <m:e>
                          <m:r>
                            <a:rPr lang="en-GB" sz="1800" b="1" i="1" dirty="0" smtClean="0">
                              <a:solidFill>
                                <a:schemeClr val="tx1"/>
                              </a:solidFill>
                              <a:latin typeface="Cambria Math" panose="02040503050406030204" pitchFamily="18" charset="0"/>
                              <a:cs typeface="Times New Roman" panose="02020603050405020304" pitchFamily="18" charset="0"/>
                            </a:rPr>
                            <m:t>𝑫</m:t>
                          </m:r>
                        </m:e>
                      </m:d>
                      <m:r>
                        <a:rPr lang="en-GB" sz="1800" b="1" i="1" dirty="0" smtClean="0">
                          <a:solidFill>
                            <a:schemeClr val="tx1"/>
                          </a:solidFill>
                          <a:latin typeface="Cambria Math" panose="02040503050406030204" pitchFamily="18" charset="0"/>
                          <a:cs typeface="Times New Roman" panose="02020603050405020304" pitchFamily="18" charset="0"/>
                        </a:rPr>
                        <m:t>=−</m:t>
                      </m:r>
                      <m:nary>
                        <m:naryPr>
                          <m:chr m:val="∑"/>
                          <m:ctrlPr>
                            <a:rPr lang="en-GB" sz="1800" b="1" i="1" dirty="0" smtClean="0">
                              <a:solidFill>
                                <a:schemeClr val="tx1"/>
                              </a:solidFill>
                              <a:latin typeface="Cambria Math" panose="02040503050406030204" pitchFamily="18" charset="0"/>
                              <a:cs typeface="Times New Roman" panose="02020603050405020304" pitchFamily="18" charset="0"/>
                            </a:rPr>
                          </m:ctrlPr>
                        </m:naryPr>
                        <m:sub>
                          <m:r>
                            <m:rPr>
                              <m:brk m:alnAt="23"/>
                            </m:rPr>
                            <a:rPr lang="en-GB" sz="1800" b="1" i="1" dirty="0" smtClean="0">
                              <a:solidFill>
                                <a:schemeClr val="tx1"/>
                              </a:solidFill>
                              <a:latin typeface="Cambria Math" panose="02040503050406030204" pitchFamily="18" charset="0"/>
                              <a:cs typeface="Times New Roman" panose="02020603050405020304" pitchFamily="18" charset="0"/>
                            </a:rPr>
                            <m:t>𝒊</m:t>
                          </m:r>
                          <m:r>
                            <a:rPr lang="en-GB" sz="1800" b="1" i="1" dirty="0" smtClean="0">
                              <a:solidFill>
                                <a:schemeClr val="tx1"/>
                              </a:solidFill>
                              <a:latin typeface="Cambria Math" panose="02040503050406030204" pitchFamily="18" charset="0"/>
                              <a:cs typeface="Times New Roman" panose="02020603050405020304" pitchFamily="18" charset="0"/>
                            </a:rPr>
                            <m:t>=</m:t>
                          </m:r>
                          <m:r>
                            <a:rPr lang="en-GB" sz="1800" b="1" i="1" dirty="0" smtClean="0">
                              <a:solidFill>
                                <a:schemeClr val="tx1"/>
                              </a:solidFill>
                              <a:latin typeface="Cambria Math" panose="02040503050406030204" pitchFamily="18" charset="0"/>
                              <a:cs typeface="Times New Roman" panose="02020603050405020304" pitchFamily="18" charset="0"/>
                            </a:rPr>
                            <m:t>𝟏</m:t>
                          </m:r>
                        </m:sub>
                        <m:sup>
                          <m:r>
                            <a:rPr lang="en-GB" sz="1800" b="1" i="1" dirty="0" smtClean="0">
                              <a:solidFill>
                                <a:schemeClr val="tx1"/>
                              </a:solidFill>
                              <a:latin typeface="Cambria Math" panose="02040503050406030204" pitchFamily="18" charset="0"/>
                              <a:cs typeface="Times New Roman" panose="02020603050405020304" pitchFamily="18" charset="0"/>
                            </a:rPr>
                            <m:t>𝒎</m:t>
                          </m:r>
                        </m:sup>
                        <m:e>
                          <m:sSub>
                            <m:sSubPr>
                              <m:ctrlPr>
                                <a:rPr lang="en-GB" sz="1800" b="1" i="1" dirty="0" smtClean="0">
                                  <a:solidFill>
                                    <a:schemeClr val="tx1"/>
                                  </a:solidFill>
                                  <a:latin typeface="Cambria Math" panose="02040503050406030204" pitchFamily="18" charset="0"/>
                                  <a:cs typeface="Times New Roman" panose="02020603050405020304" pitchFamily="18" charset="0"/>
                                </a:rPr>
                              </m:ctrlPr>
                            </m:sSubPr>
                            <m:e>
                              <m:r>
                                <a:rPr lang="en-GB" sz="1800" b="1" i="1" dirty="0" smtClean="0">
                                  <a:solidFill>
                                    <a:schemeClr val="tx1"/>
                                  </a:solidFill>
                                  <a:latin typeface="Cambria Math" panose="02040503050406030204" pitchFamily="18" charset="0"/>
                                  <a:cs typeface="Times New Roman" panose="02020603050405020304" pitchFamily="18" charset="0"/>
                                </a:rPr>
                                <m:t>𝒑</m:t>
                              </m:r>
                            </m:e>
                            <m:sub>
                              <m:r>
                                <a:rPr lang="en-GB" sz="1800" b="1" i="1" dirty="0" smtClean="0">
                                  <a:solidFill>
                                    <a:schemeClr val="tx1"/>
                                  </a:solidFill>
                                  <a:latin typeface="Cambria Math" panose="02040503050406030204" pitchFamily="18" charset="0"/>
                                  <a:cs typeface="Times New Roman" panose="02020603050405020304" pitchFamily="18" charset="0"/>
                                </a:rPr>
                                <m:t>𝒊</m:t>
                              </m:r>
                            </m:sub>
                          </m:sSub>
                          <m:sSub>
                            <m:sSubPr>
                              <m:ctrlPr>
                                <a:rPr lang="en-GB" sz="1800" b="1" i="1" dirty="0" smtClean="0">
                                  <a:solidFill>
                                    <a:schemeClr val="tx1"/>
                                  </a:solidFill>
                                  <a:latin typeface="Cambria Math" panose="02040503050406030204" pitchFamily="18" charset="0"/>
                                  <a:cs typeface="Times New Roman" panose="02020603050405020304" pitchFamily="18" charset="0"/>
                                </a:rPr>
                              </m:ctrlPr>
                            </m:sSubPr>
                            <m:e>
                              <m:r>
                                <a:rPr lang="en-GB" sz="1800" b="1" i="1" dirty="0" smtClean="0">
                                  <a:solidFill>
                                    <a:schemeClr val="tx1"/>
                                  </a:solidFill>
                                  <a:latin typeface="Cambria Math" panose="02040503050406030204" pitchFamily="18" charset="0"/>
                                  <a:cs typeface="Times New Roman" panose="02020603050405020304" pitchFamily="18" charset="0"/>
                                </a:rPr>
                                <m:t>𝒍𝒐𝒈</m:t>
                              </m:r>
                            </m:e>
                            <m:sub>
                              <m:r>
                                <a:rPr lang="en-GB" sz="1800" b="1" i="1" dirty="0" smtClean="0">
                                  <a:solidFill>
                                    <a:schemeClr val="tx1"/>
                                  </a:solidFill>
                                  <a:latin typeface="Cambria Math" panose="02040503050406030204" pitchFamily="18" charset="0"/>
                                  <a:cs typeface="Times New Roman" panose="02020603050405020304" pitchFamily="18" charset="0"/>
                                </a:rPr>
                                <m:t>𝟐</m:t>
                              </m:r>
                            </m:sub>
                          </m:sSub>
                          <m:sSub>
                            <m:sSubPr>
                              <m:ctrlPr>
                                <a:rPr lang="en-GB" sz="1800" b="1" i="1" dirty="0">
                                  <a:solidFill>
                                    <a:schemeClr val="tx1"/>
                                  </a:solidFill>
                                  <a:latin typeface="Cambria Math" panose="02040503050406030204" pitchFamily="18" charset="0"/>
                                  <a:cs typeface="Times New Roman" panose="02020603050405020304" pitchFamily="18" charset="0"/>
                                </a:rPr>
                              </m:ctrlPr>
                            </m:sSubPr>
                            <m:e>
                              <m:r>
                                <a:rPr lang="en-GB" sz="1800" b="1" i="1" dirty="0">
                                  <a:solidFill>
                                    <a:schemeClr val="tx1"/>
                                  </a:solidFill>
                                  <a:latin typeface="Cambria Math" panose="02040503050406030204" pitchFamily="18" charset="0"/>
                                  <a:cs typeface="Times New Roman" panose="02020603050405020304" pitchFamily="18" charset="0"/>
                                </a:rPr>
                                <m:t>𝒑</m:t>
                              </m:r>
                            </m:e>
                            <m:sub>
                              <m:r>
                                <a:rPr lang="en-GB" sz="1800" b="1" i="1" dirty="0">
                                  <a:solidFill>
                                    <a:schemeClr val="tx1"/>
                                  </a:solidFill>
                                  <a:latin typeface="Cambria Math" panose="02040503050406030204" pitchFamily="18" charset="0"/>
                                  <a:cs typeface="Times New Roman" panose="02020603050405020304" pitchFamily="18" charset="0"/>
                                </a:rPr>
                                <m:t>𝒊</m:t>
                              </m:r>
                            </m:sub>
                          </m:sSub>
                        </m:e>
                      </m:nary>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For the given data</a:t>
                </a:r>
              </a:p>
              <a:p>
                <a:pPr algn="just"/>
                <a14:m>
                  <m:oMathPara xmlns:m="http://schemas.openxmlformats.org/officeDocument/2006/math">
                    <m:oMathParaPr>
                      <m:jc m:val="left"/>
                    </m:oMathParaPr>
                    <m:oMath>
                      <m:r>
                        <a:rPr lang="en-GB" sz="1800" b="1" i="1" dirty="0" smtClean="0">
                          <a:solidFill>
                            <a:schemeClr val="tx1"/>
                          </a:solidFill>
                          <a:latin typeface="Cambria Math" panose="02040503050406030204" pitchFamily="18" charset="0"/>
                          <a:cs typeface="Times New Roman" panose="02020603050405020304" pitchFamily="18" charset="0"/>
                        </a:rPr>
                        <m:t>𝑰𝒏𝒇𝒐</m:t>
                      </m:r>
                      <m:d>
                        <m:dPr>
                          <m:ctrlPr>
                            <a:rPr lang="en-GB" sz="1800" b="1" i="1" dirty="0" smtClean="0">
                              <a:solidFill>
                                <a:schemeClr val="tx1"/>
                              </a:solidFill>
                              <a:latin typeface="Cambria Math" panose="02040503050406030204" pitchFamily="18" charset="0"/>
                              <a:cs typeface="Times New Roman" panose="02020603050405020304" pitchFamily="18" charset="0"/>
                            </a:rPr>
                          </m:ctrlPr>
                        </m:dPr>
                        <m:e>
                          <m:r>
                            <a:rPr lang="en-GB" sz="1800" b="1" i="1" dirty="0" smtClean="0">
                              <a:solidFill>
                                <a:schemeClr val="tx1"/>
                              </a:solidFill>
                              <a:latin typeface="Cambria Math" panose="02040503050406030204" pitchFamily="18" charset="0"/>
                              <a:cs typeface="Times New Roman" panose="02020603050405020304" pitchFamily="18" charset="0"/>
                            </a:rPr>
                            <m:t>𝑫</m:t>
                          </m:r>
                        </m:e>
                      </m:d>
                      <m:r>
                        <a:rPr lang="en-GB" sz="1800" b="1" i="1" dirty="0" smtClean="0">
                          <a:solidFill>
                            <a:schemeClr val="tx1"/>
                          </a:solidFill>
                          <a:latin typeface="Cambria Math" panose="02040503050406030204" pitchFamily="18" charset="0"/>
                          <a:cs typeface="Times New Roman" panose="02020603050405020304" pitchFamily="18" charset="0"/>
                        </a:rPr>
                        <m:t>=−</m:t>
                      </m:r>
                      <m:nary>
                        <m:naryPr>
                          <m:chr m:val="∑"/>
                          <m:ctrlPr>
                            <a:rPr lang="en-GB" sz="1800" b="1" i="1" dirty="0" smtClean="0">
                              <a:solidFill>
                                <a:schemeClr val="tx1"/>
                              </a:solidFill>
                              <a:latin typeface="Cambria Math" panose="02040503050406030204" pitchFamily="18" charset="0"/>
                              <a:cs typeface="Times New Roman" panose="02020603050405020304" pitchFamily="18" charset="0"/>
                            </a:rPr>
                          </m:ctrlPr>
                        </m:naryPr>
                        <m:sub>
                          <m:r>
                            <m:rPr>
                              <m:brk m:alnAt="23"/>
                            </m:rPr>
                            <a:rPr lang="en-GB" sz="1800" b="1" i="1" dirty="0" smtClean="0">
                              <a:solidFill>
                                <a:schemeClr val="tx1"/>
                              </a:solidFill>
                              <a:latin typeface="Cambria Math" panose="02040503050406030204" pitchFamily="18" charset="0"/>
                              <a:cs typeface="Times New Roman" panose="02020603050405020304" pitchFamily="18" charset="0"/>
                            </a:rPr>
                            <m:t>𝒊</m:t>
                          </m:r>
                          <m:r>
                            <a:rPr lang="en-GB" sz="1800" b="1" i="1" dirty="0" smtClean="0">
                              <a:solidFill>
                                <a:schemeClr val="tx1"/>
                              </a:solidFill>
                              <a:latin typeface="Cambria Math" panose="02040503050406030204" pitchFamily="18" charset="0"/>
                              <a:cs typeface="Times New Roman" panose="02020603050405020304" pitchFamily="18" charset="0"/>
                            </a:rPr>
                            <m:t>=</m:t>
                          </m:r>
                          <m:r>
                            <a:rPr lang="en-GB" sz="1800" b="1" i="1" dirty="0" smtClean="0">
                              <a:solidFill>
                                <a:schemeClr val="tx1"/>
                              </a:solidFill>
                              <a:latin typeface="Cambria Math" panose="02040503050406030204" pitchFamily="18" charset="0"/>
                              <a:cs typeface="Times New Roman" panose="02020603050405020304" pitchFamily="18" charset="0"/>
                            </a:rPr>
                            <m:t>𝟏</m:t>
                          </m:r>
                        </m:sub>
                        <m:sup>
                          <m:r>
                            <a:rPr lang="en-GB" sz="1800" b="1" i="1" dirty="0" smtClean="0">
                              <a:solidFill>
                                <a:schemeClr val="tx1"/>
                              </a:solidFill>
                              <a:latin typeface="Cambria Math" panose="02040503050406030204" pitchFamily="18" charset="0"/>
                              <a:cs typeface="Times New Roman" panose="02020603050405020304" pitchFamily="18" charset="0"/>
                            </a:rPr>
                            <m:t>𝟐</m:t>
                          </m:r>
                        </m:sup>
                        <m:e>
                          <m:sSub>
                            <m:sSubPr>
                              <m:ctrlPr>
                                <a:rPr lang="en-GB" sz="1800" b="1" i="1" dirty="0" smtClean="0">
                                  <a:solidFill>
                                    <a:schemeClr val="tx1"/>
                                  </a:solidFill>
                                  <a:latin typeface="Cambria Math" panose="02040503050406030204" pitchFamily="18" charset="0"/>
                                  <a:cs typeface="Times New Roman" panose="02020603050405020304" pitchFamily="18" charset="0"/>
                                </a:rPr>
                              </m:ctrlPr>
                            </m:sSubPr>
                            <m:e>
                              <m:r>
                                <a:rPr lang="en-GB" sz="1800" b="1" i="1" dirty="0" smtClean="0">
                                  <a:solidFill>
                                    <a:schemeClr val="tx1"/>
                                  </a:solidFill>
                                  <a:latin typeface="Cambria Math" panose="02040503050406030204" pitchFamily="18" charset="0"/>
                                  <a:cs typeface="Times New Roman" panose="02020603050405020304" pitchFamily="18" charset="0"/>
                                </a:rPr>
                                <m:t>𝒑</m:t>
                              </m:r>
                            </m:e>
                            <m:sub>
                              <m:r>
                                <a:rPr lang="en-GB" sz="1800" b="1" i="1" dirty="0" smtClean="0">
                                  <a:solidFill>
                                    <a:schemeClr val="tx1"/>
                                  </a:solidFill>
                                  <a:latin typeface="Cambria Math" panose="02040503050406030204" pitchFamily="18" charset="0"/>
                                  <a:cs typeface="Times New Roman" panose="02020603050405020304" pitchFamily="18" charset="0"/>
                                </a:rPr>
                                <m:t>𝒊</m:t>
                              </m:r>
                            </m:sub>
                          </m:sSub>
                          <m:sSub>
                            <m:sSubPr>
                              <m:ctrlPr>
                                <a:rPr lang="en-GB" sz="1800" b="1" i="1" dirty="0" smtClean="0">
                                  <a:solidFill>
                                    <a:schemeClr val="tx1"/>
                                  </a:solidFill>
                                  <a:latin typeface="Cambria Math" panose="02040503050406030204" pitchFamily="18" charset="0"/>
                                  <a:cs typeface="Times New Roman" panose="02020603050405020304" pitchFamily="18" charset="0"/>
                                </a:rPr>
                              </m:ctrlPr>
                            </m:sSubPr>
                            <m:e>
                              <m:r>
                                <a:rPr lang="en-GB" sz="1800" b="1" i="1" dirty="0" smtClean="0">
                                  <a:solidFill>
                                    <a:schemeClr val="tx1"/>
                                  </a:solidFill>
                                  <a:latin typeface="Cambria Math" panose="02040503050406030204" pitchFamily="18" charset="0"/>
                                  <a:cs typeface="Times New Roman" panose="02020603050405020304" pitchFamily="18" charset="0"/>
                                </a:rPr>
                                <m:t>𝒍𝒐𝒈</m:t>
                              </m:r>
                            </m:e>
                            <m:sub>
                              <m:r>
                                <a:rPr lang="en-GB" sz="1800" b="1" i="1" dirty="0" smtClean="0">
                                  <a:solidFill>
                                    <a:schemeClr val="tx1"/>
                                  </a:solidFill>
                                  <a:latin typeface="Cambria Math" panose="02040503050406030204" pitchFamily="18" charset="0"/>
                                  <a:cs typeface="Times New Roman" panose="02020603050405020304" pitchFamily="18" charset="0"/>
                                </a:rPr>
                                <m:t>𝟐</m:t>
                              </m:r>
                            </m:sub>
                          </m:sSub>
                          <m:sSub>
                            <m:sSubPr>
                              <m:ctrlPr>
                                <a:rPr lang="en-GB" sz="1800" b="1" i="1" dirty="0">
                                  <a:solidFill>
                                    <a:schemeClr val="tx1"/>
                                  </a:solidFill>
                                  <a:latin typeface="Cambria Math" panose="02040503050406030204" pitchFamily="18" charset="0"/>
                                  <a:cs typeface="Times New Roman" panose="02020603050405020304" pitchFamily="18" charset="0"/>
                                </a:rPr>
                              </m:ctrlPr>
                            </m:sSubPr>
                            <m:e>
                              <m:r>
                                <a:rPr lang="en-GB" sz="1800" b="1" i="1" dirty="0">
                                  <a:solidFill>
                                    <a:schemeClr val="tx1"/>
                                  </a:solidFill>
                                  <a:latin typeface="Cambria Math" panose="02040503050406030204" pitchFamily="18" charset="0"/>
                                  <a:cs typeface="Times New Roman" panose="02020603050405020304" pitchFamily="18" charset="0"/>
                                </a:rPr>
                                <m:t>𝒑</m:t>
                              </m:r>
                            </m:e>
                            <m:sub>
                              <m:r>
                                <a:rPr lang="en-GB" sz="1800" b="1" i="1" dirty="0">
                                  <a:solidFill>
                                    <a:schemeClr val="tx1"/>
                                  </a:solidFill>
                                  <a:latin typeface="Cambria Math" panose="02040503050406030204" pitchFamily="18" charset="0"/>
                                  <a:cs typeface="Times New Roman" panose="02020603050405020304" pitchFamily="18" charset="0"/>
                                </a:rPr>
                                <m:t>𝒊</m:t>
                              </m:r>
                            </m:sub>
                          </m:sSub>
                        </m:e>
                      </m:nary>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GB" sz="1800" b="1" i="1" dirty="0">
                  <a:solidFill>
                    <a:schemeClr val="tx1"/>
                  </a:solidFill>
                  <a:latin typeface="Cambria Math" panose="02040503050406030204" pitchFamily="18" charset="0"/>
                  <a:cs typeface="Times New Roman" panose="02020603050405020304" pitchFamily="18" charset="0"/>
                </a:endParaRPr>
              </a:p>
              <a:p>
                <a:pPr algn="just"/>
                <a14:m>
                  <m:oMathPara xmlns:m="http://schemas.openxmlformats.org/officeDocument/2006/math">
                    <m:oMathParaPr>
                      <m:jc m:val="left"/>
                    </m:oMathParaPr>
                    <m:oMath>
                      <m:sSub>
                        <m:sSubPr>
                          <m:ctrlPr>
                            <a:rPr lang="en-GB" sz="1800" b="1" i="1" dirty="0" smtClean="0">
                              <a:solidFill>
                                <a:schemeClr val="tx1"/>
                              </a:solidFill>
                              <a:latin typeface="Cambria Math" panose="02040503050406030204" pitchFamily="18" charset="0"/>
                              <a:cs typeface="Times New Roman" panose="02020603050405020304" pitchFamily="18" charset="0"/>
                            </a:rPr>
                          </m:ctrlPr>
                        </m:sSubPr>
                        <m:e>
                          <m:r>
                            <a:rPr lang="en-GB" sz="1800" b="1" i="1" dirty="0" smtClean="0">
                              <a:solidFill>
                                <a:schemeClr val="tx1"/>
                              </a:solidFill>
                              <a:latin typeface="Cambria Math" panose="02040503050406030204" pitchFamily="18" charset="0"/>
                              <a:cs typeface="Times New Roman" panose="02020603050405020304" pitchFamily="18" charset="0"/>
                            </a:rPr>
                            <m:t>=</m:t>
                          </m:r>
                          <m:r>
                            <a:rPr lang="en-US" sz="1800" b="1" i="1" dirty="0" smtClean="0">
                              <a:solidFill>
                                <a:schemeClr val="tx1"/>
                              </a:solidFill>
                              <a:latin typeface="Cambria Math" panose="02040503050406030204"/>
                              <a:cs typeface="Times New Roman" panose="02020603050405020304" pitchFamily="18" charset="0"/>
                            </a:rPr>
                            <m:t>−</m:t>
                          </m:r>
                          <m:r>
                            <a:rPr lang="en-GB" sz="1800" b="1" i="1" dirty="0" smtClean="0">
                              <a:solidFill>
                                <a:schemeClr val="tx1"/>
                              </a:solidFill>
                              <a:latin typeface="Cambria Math" panose="02040503050406030204" pitchFamily="18" charset="0"/>
                              <a:cs typeface="Times New Roman" panose="02020603050405020304" pitchFamily="18" charset="0"/>
                            </a:rPr>
                            <m:t>𝒑</m:t>
                          </m:r>
                        </m:e>
                        <m:sub>
                          <m:r>
                            <a:rPr lang="en-GB" sz="1800" b="1" i="1" dirty="0" smtClean="0">
                              <a:solidFill>
                                <a:schemeClr val="tx1"/>
                              </a:solidFill>
                              <a:latin typeface="Cambria Math" panose="02040503050406030204" pitchFamily="18" charset="0"/>
                              <a:cs typeface="Times New Roman" panose="02020603050405020304" pitchFamily="18" charset="0"/>
                            </a:rPr>
                            <m:t>𝟏</m:t>
                          </m:r>
                        </m:sub>
                      </m:sSub>
                      <m:sSub>
                        <m:sSubPr>
                          <m:ctrlPr>
                            <a:rPr lang="en-GB" sz="1800" b="1" i="1" dirty="0" smtClean="0">
                              <a:solidFill>
                                <a:schemeClr val="tx1"/>
                              </a:solidFill>
                              <a:latin typeface="Cambria Math" panose="02040503050406030204" pitchFamily="18" charset="0"/>
                              <a:cs typeface="Times New Roman" panose="02020603050405020304" pitchFamily="18" charset="0"/>
                            </a:rPr>
                          </m:ctrlPr>
                        </m:sSubPr>
                        <m:e>
                          <m:r>
                            <a:rPr lang="en-GB" sz="1800" b="1" i="1" dirty="0" smtClean="0">
                              <a:solidFill>
                                <a:schemeClr val="tx1"/>
                              </a:solidFill>
                              <a:latin typeface="Cambria Math" panose="02040503050406030204" pitchFamily="18" charset="0"/>
                              <a:cs typeface="Times New Roman" panose="02020603050405020304" pitchFamily="18" charset="0"/>
                            </a:rPr>
                            <m:t>𝒍𝒐𝒈</m:t>
                          </m:r>
                        </m:e>
                        <m:sub>
                          <m:r>
                            <a:rPr lang="en-GB" sz="1800" b="1" i="1" dirty="0" smtClean="0">
                              <a:solidFill>
                                <a:schemeClr val="tx1"/>
                              </a:solidFill>
                              <a:latin typeface="Cambria Math" panose="02040503050406030204" pitchFamily="18" charset="0"/>
                              <a:cs typeface="Times New Roman" panose="02020603050405020304" pitchFamily="18" charset="0"/>
                            </a:rPr>
                            <m:t>𝟐</m:t>
                          </m:r>
                        </m:sub>
                      </m:sSub>
                      <m:sSub>
                        <m:sSubPr>
                          <m:ctrlPr>
                            <a:rPr lang="en-GB" sz="1800" b="1" i="1" dirty="0">
                              <a:solidFill>
                                <a:schemeClr val="tx1"/>
                              </a:solidFill>
                              <a:latin typeface="Cambria Math" panose="02040503050406030204" pitchFamily="18" charset="0"/>
                              <a:cs typeface="Times New Roman" panose="02020603050405020304" pitchFamily="18" charset="0"/>
                            </a:rPr>
                          </m:ctrlPr>
                        </m:sSubPr>
                        <m:e>
                          <m:r>
                            <a:rPr lang="en-GB" sz="1800" b="1" i="1" dirty="0">
                              <a:solidFill>
                                <a:schemeClr val="tx1"/>
                              </a:solidFill>
                              <a:latin typeface="Cambria Math" panose="02040503050406030204" pitchFamily="18" charset="0"/>
                              <a:cs typeface="Times New Roman" panose="02020603050405020304" pitchFamily="18" charset="0"/>
                            </a:rPr>
                            <m:t>𝒑</m:t>
                          </m:r>
                        </m:e>
                        <m:sub>
                          <m:r>
                            <a:rPr lang="en-GB" sz="1800" b="1" i="1" dirty="0" smtClean="0">
                              <a:solidFill>
                                <a:schemeClr val="tx1"/>
                              </a:solidFill>
                              <a:latin typeface="Cambria Math" panose="02040503050406030204" pitchFamily="18" charset="0"/>
                              <a:cs typeface="Times New Roman" panose="02020603050405020304" pitchFamily="18" charset="0"/>
                            </a:rPr>
                            <m:t>𝟏</m:t>
                          </m:r>
                        </m:sub>
                      </m:sSub>
                      <m:r>
                        <a:rPr lang="en-US" sz="1800" b="1" i="1" dirty="0" smtClean="0">
                          <a:solidFill>
                            <a:schemeClr val="tx1"/>
                          </a:solidFill>
                          <a:latin typeface="Cambria Math" panose="02040503050406030204"/>
                          <a:cs typeface="Times New Roman" panose="02020603050405020304" pitchFamily="18" charset="0"/>
                        </a:rPr>
                        <m:t>−</m:t>
                      </m:r>
                      <m:sSub>
                        <m:sSubPr>
                          <m:ctrlPr>
                            <a:rPr lang="en-GB" sz="1800" b="1" i="1" dirty="0">
                              <a:solidFill>
                                <a:schemeClr val="tx1"/>
                              </a:solidFill>
                              <a:latin typeface="Cambria Math" panose="02040503050406030204" pitchFamily="18" charset="0"/>
                              <a:cs typeface="Times New Roman" panose="02020603050405020304" pitchFamily="18" charset="0"/>
                            </a:rPr>
                          </m:ctrlPr>
                        </m:sSubPr>
                        <m:e>
                          <m:r>
                            <a:rPr lang="en-GB" sz="1800" b="1" i="1" dirty="0">
                              <a:solidFill>
                                <a:schemeClr val="tx1"/>
                              </a:solidFill>
                              <a:latin typeface="Cambria Math" panose="02040503050406030204" pitchFamily="18" charset="0"/>
                              <a:cs typeface="Times New Roman" panose="02020603050405020304" pitchFamily="18" charset="0"/>
                            </a:rPr>
                            <m:t>𝒑</m:t>
                          </m:r>
                        </m:e>
                        <m:sub>
                          <m:r>
                            <a:rPr lang="en-GB" sz="1800" b="1" i="1" dirty="0" smtClean="0">
                              <a:solidFill>
                                <a:schemeClr val="tx1"/>
                              </a:solidFill>
                              <a:latin typeface="Cambria Math" panose="02040503050406030204" pitchFamily="18" charset="0"/>
                              <a:cs typeface="Times New Roman" panose="02020603050405020304" pitchFamily="18" charset="0"/>
                            </a:rPr>
                            <m:t>𝟐</m:t>
                          </m:r>
                        </m:sub>
                      </m:sSub>
                      <m:sSub>
                        <m:sSubPr>
                          <m:ctrlPr>
                            <a:rPr lang="en-GB" sz="1800" b="1" i="1" dirty="0">
                              <a:solidFill>
                                <a:schemeClr val="tx1"/>
                              </a:solidFill>
                              <a:latin typeface="Cambria Math" panose="02040503050406030204" pitchFamily="18" charset="0"/>
                              <a:cs typeface="Times New Roman" panose="02020603050405020304" pitchFamily="18" charset="0"/>
                            </a:rPr>
                          </m:ctrlPr>
                        </m:sSubPr>
                        <m:e>
                          <m:r>
                            <a:rPr lang="en-GB" sz="1800" b="1" i="1" dirty="0">
                              <a:solidFill>
                                <a:schemeClr val="tx1"/>
                              </a:solidFill>
                              <a:latin typeface="Cambria Math" panose="02040503050406030204" pitchFamily="18" charset="0"/>
                              <a:cs typeface="Times New Roman" panose="02020603050405020304" pitchFamily="18" charset="0"/>
                            </a:rPr>
                            <m:t>𝒍𝒐𝒈</m:t>
                          </m:r>
                        </m:e>
                        <m:sub>
                          <m:r>
                            <a:rPr lang="en-GB" sz="1800" b="1" i="1" dirty="0">
                              <a:solidFill>
                                <a:schemeClr val="tx1"/>
                              </a:solidFill>
                              <a:latin typeface="Cambria Math" panose="02040503050406030204" pitchFamily="18" charset="0"/>
                              <a:cs typeface="Times New Roman" panose="02020603050405020304" pitchFamily="18" charset="0"/>
                            </a:rPr>
                            <m:t>𝟐</m:t>
                          </m:r>
                        </m:sub>
                      </m:sSub>
                      <m:sSub>
                        <m:sSubPr>
                          <m:ctrlPr>
                            <a:rPr lang="en-GB" sz="1800" b="1" i="1" dirty="0">
                              <a:solidFill>
                                <a:schemeClr val="tx1"/>
                              </a:solidFill>
                              <a:latin typeface="Cambria Math" panose="02040503050406030204" pitchFamily="18" charset="0"/>
                              <a:cs typeface="Times New Roman" panose="02020603050405020304" pitchFamily="18" charset="0"/>
                            </a:rPr>
                          </m:ctrlPr>
                        </m:sSubPr>
                        <m:e>
                          <m:r>
                            <a:rPr lang="en-GB" sz="1800" b="1" i="1" dirty="0">
                              <a:solidFill>
                                <a:schemeClr val="tx1"/>
                              </a:solidFill>
                              <a:latin typeface="Cambria Math" panose="02040503050406030204" pitchFamily="18" charset="0"/>
                              <a:cs typeface="Times New Roman" panose="02020603050405020304" pitchFamily="18" charset="0"/>
                            </a:rPr>
                            <m:t>𝒑</m:t>
                          </m:r>
                        </m:e>
                        <m:sub>
                          <m:r>
                            <a:rPr lang="en-GB" sz="1800" b="1" i="1" dirty="0" smtClean="0">
                              <a:solidFill>
                                <a:schemeClr val="tx1"/>
                              </a:solidFill>
                              <a:latin typeface="Cambria Math" panose="02040503050406030204" pitchFamily="18" charset="0"/>
                              <a:cs typeface="Times New Roman" panose="02020603050405020304" pitchFamily="18" charset="0"/>
                            </a:rPr>
                            <m:t>𝟐</m:t>
                          </m:r>
                        </m:sub>
                      </m:sSub>
                    </m:oMath>
                  </m:oMathPara>
                </a14:m>
                <a:endParaRPr lang="en-GB" sz="1800" b="1" dirty="0">
                  <a:solidFill>
                    <a:schemeClr val="tx1"/>
                  </a:solidFill>
                  <a:latin typeface="Times New Roman" panose="02020603050405020304" pitchFamily="18" charset="0"/>
                  <a:cs typeface="Times New Roman" panose="02020603050405020304" pitchFamily="18" charset="0"/>
                </a:endParaRPr>
              </a:p>
              <a:p>
                <a:pPr algn="just"/>
                <a:endParaRPr lang="en-GB" sz="1800" b="0" i="1" dirty="0">
                  <a:solidFill>
                    <a:schemeClr val="tx1"/>
                  </a:solidFill>
                  <a:latin typeface="Cambria Math" panose="02040503050406030204" pitchFamily="18" charset="0"/>
                  <a:cs typeface="Times New Roman" panose="02020603050405020304" pitchFamily="18" charset="0"/>
                </a:endParaRPr>
              </a:p>
              <a:p>
                <a:pPr algn="just"/>
                <a14:m>
                  <m:oMathPara xmlns:m="http://schemas.openxmlformats.org/officeDocument/2006/math">
                    <m:oMathParaPr>
                      <m:jc m:val="left"/>
                    </m:oMathParaPr>
                    <m:oMath>
                      <m:r>
                        <a:rPr lang="en-GB" sz="1800" b="0" i="1" smtClean="0">
                          <a:solidFill>
                            <a:schemeClr val="tx1"/>
                          </a:solidFill>
                          <a:latin typeface="Cambria Math" panose="02040503050406030204" pitchFamily="18" charset="0"/>
                          <a:cs typeface="Times New Roman" panose="02020603050405020304" pitchFamily="18" charset="0"/>
                        </a:rPr>
                        <m:t>=</m:t>
                      </m:r>
                      <m:r>
                        <a:rPr lang="en-US" sz="1800" b="0" i="1" smtClean="0">
                          <a:solidFill>
                            <a:schemeClr val="tx1"/>
                          </a:solidFill>
                          <a:latin typeface="Cambria Math" panose="02040503050406030204"/>
                          <a:cs typeface="Times New Roman" panose="02020603050405020304" pitchFamily="18" charset="0"/>
                        </a:rPr>
                        <m:t>−</m:t>
                      </m:r>
                      <m:f>
                        <m:fPr>
                          <m:ctrlPr>
                            <a:rPr lang="en-GB" sz="1800" b="0" i="1" smtClean="0">
                              <a:solidFill>
                                <a:srgbClr val="00B050"/>
                              </a:solidFill>
                              <a:latin typeface="Cambria Math" panose="02040503050406030204" pitchFamily="18" charset="0"/>
                              <a:cs typeface="Times New Roman" panose="02020603050405020304" pitchFamily="18" charset="0"/>
                            </a:rPr>
                          </m:ctrlPr>
                        </m:fPr>
                        <m:num>
                          <m:r>
                            <a:rPr lang="en-GB" sz="1800" b="0" i="1" smtClean="0">
                              <a:solidFill>
                                <a:srgbClr val="00B050"/>
                              </a:solidFill>
                              <a:latin typeface="Cambria Math" panose="02040503050406030204" pitchFamily="18" charset="0"/>
                              <a:cs typeface="Times New Roman" panose="02020603050405020304" pitchFamily="18" charset="0"/>
                            </a:rPr>
                            <m:t>9</m:t>
                          </m:r>
                        </m:num>
                        <m:den>
                          <m:r>
                            <a:rPr lang="en-GB" sz="1800" b="0" i="1" smtClean="0">
                              <a:solidFill>
                                <a:srgbClr val="00B050"/>
                              </a:solidFill>
                              <a:latin typeface="Cambria Math" panose="02040503050406030204" pitchFamily="18" charset="0"/>
                              <a:cs typeface="Times New Roman" panose="02020603050405020304" pitchFamily="18" charset="0"/>
                            </a:rPr>
                            <m:t>14</m:t>
                          </m:r>
                        </m:den>
                      </m:f>
                      <m:func>
                        <m:funcPr>
                          <m:ctrlPr>
                            <a:rPr lang="en-GB" sz="1800" b="0" i="0" smtClean="0">
                              <a:solidFill>
                                <a:srgbClr val="00B050"/>
                              </a:solidFill>
                              <a:latin typeface="Cambria Math" panose="02040503050406030204" pitchFamily="18" charset="0"/>
                              <a:cs typeface="Times New Roman" panose="02020603050405020304" pitchFamily="18" charset="0"/>
                            </a:rPr>
                          </m:ctrlPr>
                        </m:funcPr>
                        <m:fName>
                          <m:r>
                            <m:rPr>
                              <m:sty m:val="p"/>
                            </m:rPr>
                            <a:rPr lang="en-GB" sz="1800" b="0" i="0" smtClean="0">
                              <a:solidFill>
                                <a:srgbClr val="00B050"/>
                              </a:solidFill>
                              <a:latin typeface="Cambria Math" panose="02040503050406030204" pitchFamily="18" charset="0"/>
                              <a:cs typeface="Times New Roman" panose="02020603050405020304" pitchFamily="18" charset="0"/>
                            </a:rPr>
                            <m:t>log</m:t>
                          </m:r>
                        </m:fName>
                        <m:e>
                          <m:f>
                            <m:fPr>
                              <m:ctrlPr>
                                <a:rPr lang="en-GB" sz="1800" b="0" i="1" smtClean="0">
                                  <a:solidFill>
                                    <a:srgbClr val="00B050"/>
                                  </a:solidFill>
                                  <a:latin typeface="Cambria Math" panose="02040503050406030204" pitchFamily="18" charset="0"/>
                                  <a:cs typeface="Times New Roman" panose="02020603050405020304" pitchFamily="18" charset="0"/>
                                </a:rPr>
                              </m:ctrlPr>
                            </m:fPr>
                            <m:num>
                              <m:r>
                                <a:rPr lang="en-GB" sz="1800" b="0" i="1" smtClean="0">
                                  <a:solidFill>
                                    <a:srgbClr val="00B050"/>
                                  </a:solidFill>
                                  <a:latin typeface="Cambria Math" panose="02040503050406030204" pitchFamily="18" charset="0"/>
                                  <a:cs typeface="Times New Roman" panose="02020603050405020304" pitchFamily="18" charset="0"/>
                                </a:rPr>
                                <m:t>9</m:t>
                              </m:r>
                            </m:num>
                            <m:den>
                              <m:r>
                                <a:rPr lang="en-GB" sz="1800" b="0" i="1" smtClean="0">
                                  <a:solidFill>
                                    <a:srgbClr val="00B050"/>
                                  </a:solidFill>
                                  <a:latin typeface="Cambria Math" panose="02040503050406030204" pitchFamily="18" charset="0"/>
                                  <a:cs typeface="Times New Roman" panose="02020603050405020304" pitchFamily="18" charset="0"/>
                                </a:rPr>
                                <m:t>14</m:t>
                              </m:r>
                            </m:den>
                          </m:f>
                        </m:e>
                      </m:func>
                      <m:r>
                        <a:rPr lang="en-US" sz="1800" b="0" i="1" smtClean="0">
                          <a:solidFill>
                            <a:schemeClr val="tx1"/>
                          </a:solidFill>
                          <a:latin typeface="Cambria Math" panose="02040503050406030204"/>
                          <a:cs typeface="Times New Roman" panose="02020603050405020304" pitchFamily="18" charset="0"/>
                        </a:rPr>
                        <m:t>−</m:t>
                      </m:r>
                      <m:f>
                        <m:fPr>
                          <m:ctrlPr>
                            <a:rPr lang="en-GB" sz="1800" b="0" i="1" smtClean="0">
                              <a:solidFill>
                                <a:srgbClr val="FF0000"/>
                              </a:solidFill>
                              <a:latin typeface="Cambria Math" panose="02040503050406030204" pitchFamily="18" charset="0"/>
                              <a:cs typeface="Times New Roman" panose="02020603050405020304" pitchFamily="18" charset="0"/>
                            </a:rPr>
                          </m:ctrlPr>
                        </m:fPr>
                        <m:num>
                          <m:r>
                            <a:rPr lang="en-GB" sz="1800" b="0" i="1" smtClean="0">
                              <a:solidFill>
                                <a:srgbClr val="FF0000"/>
                              </a:solidFill>
                              <a:latin typeface="Cambria Math" panose="02040503050406030204" pitchFamily="18" charset="0"/>
                              <a:cs typeface="Times New Roman" panose="02020603050405020304" pitchFamily="18" charset="0"/>
                            </a:rPr>
                            <m:t>5</m:t>
                          </m:r>
                        </m:num>
                        <m:den>
                          <m:r>
                            <a:rPr lang="en-GB" sz="1800" i="1">
                              <a:solidFill>
                                <a:srgbClr val="FF0000"/>
                              </a:solidFill>
                              <a:latin typeface="Cambria Math" panose="02040503050406030204" pitchFamily="18" charset="0"/>
                              <a:cs typeface="Times New Roman" panose="02020603050405020304" pitchFamily="18" charset="0"/>
                            </a:rPr>
                            <m:t>14</m:t>
                          </m:r>
                        </m:den>
                      </m:f>
                      <m:func>
                        <m:funcPr>
                          <m:ctrlPr>
                            <a:rPr lang="en-GB" sz="1800">
                              <a:solidFill>
                                <a:srgbClr val="FF0000"/>
                              </a:solidFill>
                              <a:latin typeface="Cambria Math" panose="02040503050406030204" pitchFamily="18" charset="0"/>
                              <a:cs typeface="Times New Roman" panose="02020603050405020304" pitchFamily="18" charset="0"/>
                            </a:rPr>
                          </m:ctrlPr>
                        </m:funcPr>
                        <m:fName>
                          <m:r>
                            <m:rPr>
                              <m:sty m:val="p"/>
                            </m:rPr>
                            <a:rPr lang="en-GB" sz="1800">
                              <a:solidFill>
                                <a:srgbClr val="FF0000"/>
                              </a:solidFill>
                              <a:latin typeface="Cambria Math" panose="02040503050406030204" pitchFamily="18" charset="0"/>
                              <a:cs typeface="Times New Roman" panose="02020603050405020304" pitchFamily="18" charset="0"/>
                            </a:rPr>
                            <m:t>log</m:t>
                          </m:r>
                        </m:fName>
                        <m:e>
                          <m:f>
                            <m:fPr>
                              <m:ctrlPr>
                                <a:rPr lang="en-GB" sz="1800" b="0" i="1" smtClean="0">
                                  <a:solidFill>
                                    <a:srgbClr val="FF0000"/>
                                  </a:solidFill>
                                  <a:latin typeface="Cambria Math" panose="02040503050406030204" pitchFamily="18" charset="0"/>
                                  <a:cs typeface="Times New Roman" panose="02020603050405020304" pitchFamily="18" charset="0"/>
                                </a:rPr>
                              </m:ctrlPr>
                            </m:fPr>
                            <m:num>
                              <m:r>
                                <a:rPr lang="en-GB" sz="1800" b="0" i="1" smtClean="0">
                                  <a:solidFill>
                                    <a:srgbClr val="FF0000"/>
                                  </a:solidFill>
                                  <a:latin typeface="Cambria Math" panose="02040503050406030204" pitchFamily="18" charset="0"/>
                                  <a:cs typeface="Times New Roman" panose="02020603050405020304" pitchFamily="18" charset="0"/>
                                </a:rPr>
                                <m:t>5</m:t>
                              </m:r>
                            </m:num>
                            <m:den>
                              <m:r>
                                <a:rPr lang="en-GB" sz="1800" i="1">
                                  <a:solidFill>
                                    <a:srgbClr val="FF0000"/>
                                  </a:solidFill>
                                  <a:latin typeface="Cambria Math" panose="02040503050406030204" pitchFamily="18" charset="0"/>
                                  <a:cs typeface="Times New Roman" panose="02020603050405020304" pitchFamily="18" charset="0"/>
                                </a:rPr>
                                <m:t>14</m:t>
                              </m:r>
                            </m:den>
                          </m:f>
                        </m:e>
                      </m:func>
                      <m:r>
                        <a:rPr lang="en-GB" sz="1800" b="0" i="1" smtClean="0">
                          <a:solidFill>
                            <a:schemeClr val="tx1"/>
                          </a:solidFill>
                          <a:latin typeface="Cambria Math" panose="02040503050406030204" pitchFamily="18" charset="0"/>
                          <a:cs typeface="Times New Roman" panose="02020603050405020304" pitchFamily="18" charset="0"/>
                        </a:rPr>
                        <m:t>=0.940</m:t>
                      </m:r>
                    </m:oMath>
                  </m:oMathPara>
                </a14:m>
                <a:endParaRPr lang="en-GB" sz="1800" b="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3951287" cy="5257800"/>
              </a:xfrm>
              <a:blipFill rotWithShape="1">
                <a:blip r:embed="rId2"/>
                <a:stretch>
                  <a:fillRect r="8"/>
                </a:stretch>
              </a:blipFill>
            </p:spPr>
            <p:txBody>
              <a:bodyPr/>
              <a:lstStyle/>
              <a:p>
                <a:r>
                  <a:rPr lang="en-US" altLang="en-US">
                    <a:noFill/>
                  </a:rPr>
                  <a:t> </a:t>
                </a:r>
              </a:p>
            </p:txBody>
          </p:sp>
        </mc:Fallback>
      </mc:AlternateContent>
      <p:graphicFrame>
        <p:nvGraphicFramePr>
          <p:cNvPr id="5" name="Object 1024"/>
          <p:cNvGraphicFramePr/>
          <p:nvPr/>
        </p:nvGraphicFramePr>
        <p:xfrm>
          <a:off x="4637088" y="1371600"/>
          <a:ext cx="4474256" cy="5105400"/>
        </p:xfrm>
        <a:graphic>
          <a:graphicData uri="http://schemas.openxmlformats.org/presentationml/2006/ole">
            <mc:AlternateContent xmlns:mc="http://schemas.openxmlformats.org/markup-compatibility/2006">
              <mc:Choice xmlns:v="urn:schemas-microsoft-com:vml" Requires="v">
                <p:oleObj name="Worksheet" r:id="rId3" imgW="5441315" imgH="4204335" progId="Excel.Sheet.8">
                  <p:embed/>
                </p:oleObj>
              </mc:Choice>
              <mc:Fallback>
                <p:oleObj name="Worksheet" r:id="rId3" imgW="5441315" imgH="4204335" progId="Excel.Sheet.8">
                  <p:embed/>
                  <p:pic>
                    <p:nvPicPr>
                      <p:cNvPr id="0" name="Object 102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7088" y="1371600"/>
                        <a:ext cx="4474256" cy="5105400"/>
                      </a:xfrm>
                      <a:prstGeom prst="rect">
                        <a:avLst/>
                      </a:prstGeom>
                      <a:noFill/>
                      <a:ln>
                        <a:noFill/>
                      </a:ln>
                    </p:spPr>
                  </p:pic>
                </p:oleObj>
              </mc:Fallback>
            </mc:AlternateContent>
          </a:graphicData>
        </a:graphic>
      </p:graphicFrame>
      <p:sp>
        <p:nvSpPr>
          <p:cNvPr id="6" name="Oval 5"/>
          <p:cNvSpPr/>
          <p:nvPr/>
        </p:nvSpPr>
        <p:spPr>
          <a:xfrm>
            <a:off x="8139023" y="17526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p:cNvSpPr/>
          <p:nvPr/>
        </p:nvSpPr>
        <p:spPr>
          <a:xfrm>
            <a:off x="8153400" y="2119223"/>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p:cNvSpPr/>
          <p:nvPr/>
        </p:nvSpPr>
        <p:spPr>
          <a:xfrm>
            <a:off x="8183183" y="34290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8153400" y="41148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p:cNvSpPr/>
          <p:nvPr/>
        </p:nvSpPr>
        <p:spPr>
          <a:xfrm>
            <a:off x="8153400" y="61722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p:cNvSpPr/>
          <p:nvPr/>
        </p:nvSpPr>
        <p:spPr>
          <a:xfrm>
            <a:off x="8155456" y="2424023"/>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p:cNvSpPr/>
          <p:nvPr/>
        </p:nvSpPr>
        <p:spPr>
          <a:xfrm>
            <a:off x="8139023" y="28194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p:cNvSpPr/>
          <p:nvPr/>
        </p:nvSpPr>
        <p:spPr>
          <a:xfrm>
            <a:off x="8133481" y="31242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p:cNvSpPr/>
          <p:nvPr/>
        </p:nvSpPr>
        <p:spPr>
          <a:xfrm>
            <a:off x="8139023" y="3761117"/>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p:cNvSpPr/>
          <p:nvPr/>
        </p:nvSpPr>
        <p:spPr>
          <a:xfrm>
            <a:off x="8105754" y="4444042"/>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p:cNvSpPr/>
          <p:nvPr/>
        </p:nvSpPr>
        <p:spPr>
          <a:xfrm>
            <a:off x="8155456" y="48006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p:cNvSpPr/>
          <p:nvPr/>
        </p:nvSpPr>
        <p:spPr>
          <a:xfrm>
            <a:off x="8133481" y="51054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p:cNvSpPr/>
          <p:nvPr/>
        </p:nvSpPr>
        <p:spPr>
          <a:xfrm>
            <a:off x="8153400" y="54864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8167986" y="5794076"/>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Classification : Decision Tree</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3951287" cy="52578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Information needed (after using A to split D into v partitions)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m:sSub>
                        <m:sSubPr>
                          <m:ctrlPr>
                            <a:rPr lang="en-GB" sz="1800" b="0" i="1" smtClean="0">
                              <a:solidFill>
                                <a:schemeClr val="tx1"/>
                              </a:solidFill>
                              <a:latin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cs typeface="Times New Roman" panose="02020603050405020304" pitchFamily="18" charset="0"/>
                            </a:rPr>
                            <m:t>𝐼𝑛𝑓𝑜</m:t>
                          </m:r>
                        </m:e>
                        <m:sub>
                          <m:r>
                            <a:rPr lang="en-GB" sz="1800" b="0" i="1" smtClean="0">
                              <a:solidFill>
                                <a:schemeClr val="tx1"/>
                              </a:solidFill>
                              <a:latin typeface="Cambria Math" panose="02040503050406030204" pitchFamily="18" charset="0"/>
                              <a:cs typeface="Times New Roman" panose="02020603050405020304" pitchFamily="18" charset="0"/>
                            </a:rPr>
                            <m:t>𝐴</m:t>
                          </m:r>
                        </m:sub>
                      </m:sSub>
                      <m:d>
                        <m:dPr>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𝐷</m:t>
                          </m:r>
                        </m:e>
                      </m:d>
                      <m:r>
                        <a:rPr lang="en-GB" sz="1800" b="0" i="1" smtClean="0">
                          <a:solidFill>
                            <a:schemeClr val="tx1"/>
                          </a:solidFill>
                          <a:latin typeface="Cambria Math" panose="02040503050406030204" pitchFamily="18" charset="0"/>
                          <a:cs typeface="Times New Roman" panose="02020603050405020304" pitchFamily="18" charset="0"/>
                        </a:rPr>
                        <m:t>=</m:t>
                      </m:r>
                      <m:nary>
                        <m:naryPr>
                          <m:chr m:val="∑"/>
                          <m:ctrlPr>
                            <a:rPr lang="en-GB" sz="1800" b="0" i="1" smtClean="0">
                              <a:solidFill>
                                <a:schemeClr val="tx1"/>
                              </a:solidFill>
                              <a:latin typeface="Cambria Math" panose="02040503050406030204" pitchFamily="18" charset="0"/>
                              <a:cs typeface="Times New Roman" panose="02020603050405020304" pitchFamily="18" charset="0"/>
                            </a:rPr>
                          </m:ctrlPr>
                        </m:naryPr>
                        <m:sub>
                          <m:r>
                            <m:rPr>
                              <m:brk m:alnAt="23"/>
                            </m:rPr>
                            <a:rPr lang="en-GB" sz="1800" b="0" i="1" smtClean="0">
                              <a:solidFill>
                                <a:schemeClr val="tx1"/>
                              </a:solidFill>
                              <a:latin typeface="Cambria Math" panose="02040503050406030204" pitchFamily="18" charset="0"/>
                              <a:cs typeface="Times New Roman" panose="02020603050405020304" pitchFamily="18" charset="0"/>
                            </a:rPr>
                            <m:t>𝑗</m:t>
                          </m:r>
                          <m:r>
                            <a:rPr lang="en-GB" sz="1800" b="0" i="1" smtClean="0">
                              <a:solidFill>
                                <a:schemeClr val="tx1"/>
                              </a:solidFill>
                              <a:latin typeface="Cambria Math" panose="02040503050406030204" pitchFamily="18" charset="0"/>
                              <a:cs typeface="Times New Roman" panose="02020603050405020304" pitchFamily="18" charset="0"/>
                            </a:rPr>
                            <m:t>=1</m:t>
                          </m:r>
                        </m:sub>
                        <m:sup>
                          <m:r>
                            <a:rPr lang="en-GB" sz="1800" b="0" i="1" smtClean="0">
                              <a:solidFill>
                                <a:schemeClr val="tx1"/>
                              </a:solidFill>
                              <a:latin typeface="Cambria Math" panose="02040503050406030204" pitchFamily="18" charset="0"/>
                              <a:cs typeface="Times New Roman" panose="02020603050405020304" pitchFamily="18" charset="0"/>
                            </a:rPr>
                            <m:t>𝑣</m:t>
                          </m:r>
                        </m:sup>
                        <m:e>
                          <m:f>
                            <m:fPr>
                              <m:ctrlPr>
                                <a:rPr lang="en-GB" sz="1800" b="0" i="1" smtClean="0">
                                  <a:solidFill>
                                    <a:schemeClr val="tx1"/>
                                  </a:solidFill>
                                  <a:latin typeface="Cambria Math" panose="02040503050406030204" pitchFamily="18" charset="0"/>
                                  <a:cs typeface="Times New Roman" panose="02020603050405020304" pitchFamily="18" charset="0"/>
                                </a:rPr>
                              </m:ctrlPr>
                            </m:fPr>
                            <m:num>
                              <m:d>
                                <m:dPr>
                                  <m:begChr m:val="|"/>
                                  <m:endChr m:val="|"/>
                                  <m:ctrlPr>
                                    <a:rPr lang="en-GB" sz="1800" b="0" i="1" smtClean="0">
                                      <a:solidFill>
                                        <a:schemeClr val="tx1"/>
                                      </a:solidFill>
                                      <a:latin typeface="Cambria Math" panose="02040503050406030204" pitchFamily="18" charset="0"/>
                                      <a:cs typeface="Times New Roman" panose="02020603050405020304" pitchFamily="18" charset="0"/>
                                    </a:rPr>
                                  </m:ctrlPr>
                                </m:dPr>
                                <m:e>
                                  <m:sSub>
                                    <m:sSubPr>
                                      <m:ctrlPr>
                                        <a:rPr lang="en-GB" sz="1800" b="0" i="1" smtClean="0">
                                          <a:solidFill>
                                            <a:schemeClr val="tx1"/>
                                          </a:solidFill>
                                          <a:latin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cs typeface="Times New Roman" panose="02020603050405020304" pitchFamily="18" charset="0"/>
                                        </a:rPr>
                                        <m:t>𝐷</m:t>
                                      </m:r>
                                    </m:e>
                                    <m:sub>
                                      <m:r>
                                        <a:rPr lang="en-GB" sz="1800" b="0" i="1" smtClean="0">
                                          <a:solidFill>
                                            <a:schemeClr val="tx1"/>
                                          </a:solidFill>
                                          <a:latin typeface="Cambria Math" panose="02040503050406030204" pitchFamily="18" charset="0"/>
                                          <a:cs typeface="Times New Roman" panose="02020603050405020304" pitchFamily="18" charset="0"/>
                                        </a:rPr>
                                        <m:t>𝑗</m:t>
                                      </m:r>
                                    </m:sub>
                                  </m:sSub>
                                </m:e>
                              </m:d>
                            </m:num>
                            <m:den>
                              <m:d>
                                <m:dPr>
                                  <m:begChr m:val="|"/>
                                  <m:endChr m:val="|"/>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𝐷</m:t>
                                  </m:r>
                                </m:e>
                              </m:d>
                            </m:den>
                          </m:f>
                        </m:e>
                      </m:nary>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𝐼𝑛𝑓𝑜</m:t>
                      </m:r>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𝐷</m:t>
                          </m:r>
                        </m:e>
                        <m:sub>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𝑗</m:t>
                          </m:r>
                        </m:sub>
                      </m:sSub>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GB"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Example</a:t>
                </a:r>
              </a:p>
              <a:p>
                <a:pPr algn="just"/>
                <a14:m>
                  <m:oMathPara xmlns:m="http://schemas.openxmlformats.org/officeDocument/2006/math">
                    <m:oMathParaPr>
                      <m:jc m:val="left"/>
                    </m:oMathParaPr>
                    <m:oMath>
                      <m:sSub>
                        <m:sSubPr>
                          <m:ctrlPr>
                            <a:rPr lang="en-GB" sz="1800" b="0" i="1" smtClean="0">
                              <a:solidFill>
                                <a:schemeClr val="tx1"/>
                              </a:solidFill>
                              <a:latin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cs typeface="Times New Roman" panose="02020603050405020304" pitchFamily="18" charset="0"/>
                            </a:rPr>
                            <m:t>𝐼𝑛𝑓𝑜</m:t>
                          </m:r>
                        </m:e>
                        <m:sub>
                          <m:r>
                            <a:rPr lang="en-GB" sz="1800" b="0" i="1" smtClean="0">
                              <a:solidFill>
                                <a:schemeClr val="tx1"/>
                              </a:solidFill>
                              <a:latin typeface="Cambria Math" panose="02040503050406030204" pitchFamily="18" charset="0"/>
                              <a:cs typeface="Times New Roman" panose="02020603050405020304" pitchFamily="18" charset="0"/>
                            </a:rPr>
                            <m:t>𝑎𝑔𝑒</m:t>
                          </m:r>
                        </m:sub>
                      </m:sSub>
                      <m:d>
                        <m:dPr>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𝐷</m:t>
                          </m:r>
                        </m:e>
                      </m:d>
                      <m:r>
                        <a:rPr lang="en-GB" sz="1800" b="0" i="1" smtClean="0">
                          <a:solidFill>
                            <a:schemeClr val="tx1"/>
                          </a:solidFill>
                          <a:latin typeface="Cambria Math" panose="02040503050406030204" pitchFamily="18" charset="0"/>
                          <a:cs typeface="Times New Roman" panose="02020603050405020304" pitchFamily="18" charset="0"/>
                        </a:rPr>
                        <m:t>=</m:t>
                      </m:r>
                      <m:nary>
                        <m:naryPr>
                          <m:chr m:val="∑"/>
                          <m:ctrlPr>
                            <a:rPr lang="en-GB" sz="1800" b="0" i="1" smtClean="0">
                              <a:solidFill>
                                <a:schemeClr val="tx1"/>
                              </a:solidFill>
                              <a:latin typeface="Cambria Math" panose="02040503050406030204" pitchFamily="18" charset="0"/>
                              <a:cs typeface="Times New Roman" panose="02020603050405020304" pitchFamily="18" charset="0"/>
                            </a:rPr>
                          </m:ctrlPr>
                        </m:naryPr>
                        <m:sub>
                          <m:r>
                            <m:rPr>
                              <m:brk m:alnAt="23"/>
                            </m:rPr>
                            <a:rPr lang="en-GB" sz="1800" b="0" i="1" smtClean="0">
                              <a:solidFill>
                                <a:schemeClr val="tx1"/>
                              </a:solidFill>
                              <a:latin typeface="Cambria Math" panose="02040503050406030204" pitchFamily="18" charset="0"/>
                              <a:cs typeface="Times New Roman" panose="02020603050405020304" pitchFamily="18" charset="0"/>
                            </a:rPr>
                            <m:t>𝑗</m:t>
                          </m:r>
                          <m:r>
                            <a:rPr lang="en-GB" sz="1800" b="0" i="1" smtClean="0">
                              <a:solidFill>
                                <a:schemeClr val="tx1"/>
                              </a:solidFill>
                              <a:latin typeface="Cambria Math" panose="02040503050406030204" pitchFamily="18" charset="0"/>
                              <a:cs typeface="Times New Roman" panose="02020603050405020304" pitchFamily="18" charset="0"/>
                            </a:rPr>
                            <m:t>=1</m:t>
                          </m:r>
                        </m:sub>
                        <m:sup>
                          <m:r>
                            <a:rPr lang="en-GB" sz="1800" b="0" i="1" smtClean="0">
                              <a:solidFill>
                                <a:schemeClr val="tx1"/>
                              </a:solidFill>
                              <a:latin typeface="Cambria Math" panose="02040503050406030204" pitchFamily="18" charset="0"/>
                              <a:cs typeface="Times New Roman" panose="02020603050405020304" pitchFamily="18" charset="0"/>
                            </a:rPr>
                            <m:t>3</m:t>
                          </m:r>
                        </m:sup>
                        <m:e>
                          <m:f>
                            <m:fPr>
                              <m:ctrlPr>
                                <a:rPr lang="en-GB" sz="1800" b="0" i="1" smtClean="0">
                                  <a:solidFill>
                                    <a:schemeClr val="tx1"/>
                                  </a:solidFill>
                                  <a:latin typeface="Cambria Math" panose="02040503050406030204" pitchFamily="18" charset="0"/>
                                  <a:cs typeface="Times New Roman" panose="02020603050405020304" pitchFamily="18" charset="0"/>
                                </a:rPr>
                              </m:ctrlPr>
                            </m:fPr>
                            <m:num>
                              <m:d>
                                <m:dPr>
                                  <m:begChr m:val="|"/>
                                  <m:endChr m:val="|"/>
                                  <m:ctrlPr>
                                    <a:rPr lang="en-GB" sz="1800" b="0" i="1" smtClean="0">
                                      <a:solidFill>
                                        <a:schemeClr val="tx1"/>
                                      </a:solidFill>
                                      <a:latin typeface="Cambria Math" panose="02040503050406030204" pitchFamily="18" charset="0"/>
                                      <a:cs typeface="Times New Roman" panose="02020603050405020304" pitchFamily="18" charset="0"/>
                                    </a:rPr>
                                  </m:ctrlPr>
                                </m:dPr>
                                <m:e>
                                  <m:sSub>
                                    <m:sSubPr>
                                      <m:ctrlPr>
                                        <a:rPr lang="en-GB" sz="1800" b="0" i="1" smtClean="0">
                                          <a:solidFill>
                                            <a:schemeClr val="tx1"/>
                                          </a:solidFill>
                                          <a:latin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cs typeface="Times New Roman" panose="02020603050405020304" pitchFamily="18" charset="0"/>
                                        </a:rPr>
                                        <m:t>𝐷</m:t>
                                      </m:r>
                                    </m:e>
                                    <m:sub>
                                      <m:r>
                                        <a:rPr lang="en-GB" sz="1800" b="0" i="1" smtClean="0">
                                          <a:solidFill>
                                            <a:schemeClr val="tx1"/>
                                          </a:solidFill>
                                          <a:latin typeface="Cambria Math" panose="02040503050406030204" pitchFamily="18" charset="0"/>
                                          <a:cs typeface="Times New Roman" panose="02020603050405020304" pitchFamily="18" charset="0"/>
                                        </a:rPr>
                                        <m:t>𝑗</m:t>
                                      </m:r>
                                    </m:sub>
                                  </m:sSub>
                                </m:e>
                              </m:d>
                            </m:num>
                            <m:den>
                              <m:d>
                                <m:dPr>
                                  <m:begChr m:val="|"/>
                                  <m:endChr m:val="|"/>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𝐷</m:t>
                                  </m:r>
                                </m:e>
                              </m:d>
                            </m:den>
                          </m:f>
                        </m:e>
                      </m:nary>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𝐼𝑛𝑓𝑜</m:t>
                      </m:r>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𝐷</m:t>
                          </m:r>
                        </m:e>
                        <m:sub>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𝑗</m:t>
                          </m:r>
                        </m:sub>
                      </m:sSub>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
                      <m:r>
                        <a:rPr lang="en-GB" sz="1800" b="0" i="1" smtClean="0">
                          <a:solidFill>
                            <a:schemeClr val="tx1"/>
                          </a:solidFill>
                          <a:latin typeface="Cambria Math" panose="02040503050406030204" pitchFamily="18" charset="0"/>
                          <a:cs typeface="Times New Roman" panose="02020603050405020304" pitchFamily="18" charset="0"/>
                        </a:rPr>
                        <m:t>=</m:t>
                      </m:r>
                      <m:f>
                        <m:fPr>
                          <m:ctrlPr>
                            <a:rPr lang="en-GB" sz="1800" i="1" smtClean="0">
                              <a:solidFill>
                                <a:srgbClr val="00B0F0"/>
                              </a:solidFill>
                              <a:latin typeface="Cambria Math" panose="02040503050406030204" pitchFamily="18" charset="0"/>
                              <a:cs typeface="Times New Roman" panose="02020603050405020304" pitchFamily="18" charset="0"/>
                            </a:rPr>
                          </m:ctrlPr>
                        </m:fPr>
                        <m:num>
                          <m:r>
                            <a:rPr lang="en-GB" sz="1800" i="1" smtClean="0">
                              <a:solidFill>
                                <a:srgbClr val="00B0F0"/>
                              </a:solidFill>
                              <a:latin typeface="Cambria Math" panose="02040503050406030204" pitchFamily="18" charset="0"/>
                              <a:cs typeface="Times New Roman" panose="02020603050405020304" pitchFamily="18" charset="0"/>
                            </a:rPr>
                            <m:t>5</m:t>
                          </m:r>
                        </m:num>
                        <m:den>
                          <m:r>
                            <a:rPr lang="en-GB" sz="1800" b="0" i="1" smtClean="0">
                              <a:solidFill>
                                <a:srgbClr val="00B0F0"/>
                              </a:solidFill>
                              <a:latin typeface="Cambria Math" panose="02040503050406030204" pitchFamily="18" charset="0"/>
                              <a:cs typeface="Times New Roman" panose="02020603050405020304" pitchFamily="18" charset="0"/>
                            </a:rPr>
                            <m:t>14</m:t>
                          </m:r>
                        </m:den>
                      </m:f>
                      <m:r>
                        <a:rPr lang="en-GB" sz="18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𝐼</m:t>
                      </m:r>
                      <m:d>
                        <m:dPr>
                          <m:ctrlPr>
                            <a:rPr lang="en-GB" sz="1800"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ctrlPr>
                        </m:dPr>
                        <m:e>
                          <m:r>
                            <a:rPr lang="en-GB" sz="1800"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2,3</m:t>
                          </m:r>
                        </m:e>
                      </m:d>
                      <m:r>
                        <a:rPr lang="en-US" sz="1800" i="1" dirty="0" smtClean="0">
                          <a:solidFill>
                            <a:schemeClr val="tx1"/>
                          </a:solidFill>
                          <a:latin typeface="Cambria Math" panose="02040503050406030204" pitchFamily="18" charset="0"/>
                          <a:cs typeface="Times New Roman" panose="02020603050405020304" pitchFamily="18" charset="0"/>
                        </a:rPr>
                        <m:t>+</m:t>
                      </m:r>
                      <m:f>
                        <m:fPr>
                          <m:ctrlPr>
                            <a:rPr lang="en-GB" sz="1800" b="0" i="1" smtClean="0">
                              <a:solidFill>
                                <a:schemeClr val="tx1"/>
                              </a:solidFill>
                              <a:latin typeface="Cambria Math" panose="02040503050406030204" pitchFamily="18" charset="0"/>
                              <a:cs typeface="Times New Roman" panose="02020603050405020304" pitchFamily="18" charset="0"/>
                            </a:rPr>
                          </m:ctrlPr>
                        </m:fPr>
                        <m:num>
                          <m:r>
                            <a:rPr lang="en-GB" sz="1800" b="0" i="1" smtClean="0">
                              <a:solidFill>
                                <a:schemeClr val="tx1"/>
                              </a:solidFill>
                              <a:latin typeface="Cambria Math" panose="02040503050406030204" pitchFamily="18" charset="0"/>
                              <a:cs typeface="Times New Roman" panose="02020603050405020304" pitchFamily="18" charset="0"/>
                            </a:rPr>
                            <m:t>4</m:t>
                          </m:r>
                        </m:num>
                        <m:den>
                          <m:r>
                            <a:rPr lang="en-GB" sz="1800" i="1">
                              <a:solidFill>
                                <a:schemeClr val="tx1"/>
                              </a:solidFill>
                              <a:latin typeface="Cambria Math" panose="02040503050406030204" pitchFamily="18" charset="0"/>
                              <a:cs typeface="Times New Roman" panose="02020603050405020304" pitchFamily="18" charset="0"/>
                            </a:rPr>
                            <m:t>14</m:t>
                          </m:r>
                        </m:den>
                      </m:f>
                      <m:r>
                        <a:rPr lang="en-GB" sz="18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𝐼</m:t>
                      </m:r>
                      <m:d>
                        <m:dPr>
                          <m:ctrlP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4,0</m:t>
                          </m:r>
                        </m:e>
                      </m:d>
                      <m:r>
                        <a:rPr lang="en-US" sz="1800" i="1" dirty="0" smtClean="0">
                          <a:solidFill>
                            <a:schemeClr val="tx1"/>
                          </a:solidFill>
                          <a:latin typeface="Cambria Math" panose="02040503050406030204" pitchFamily="18" charset="0"/>
                          <a:cs typeface="Times New Roman" panose="02020603050405020304" pitchFamily="18" charset="0"/>
                        </a:rPr>
                        <m:t>+</m:t>
                      </m:r>
                      <m:f>
                        <m:fPr>
                          <m:ctrlPr>
                            <a:rPr lang="en-GB" sz="1800" i="1">
                              <a:solidFill>
                                <a:schemeClr val="tx1"/>
                              </a:solidFill>
                              <a:latin typeface="Cambria Math" panose="02040503050406030204" pitchFamily="18" charset="0"/>
                              <a:cs typeface="Times New Roman" panose="02020603050405020304" pitchFamily="18" charset="0"/>
                            </a:rPr>
                          </m:ctrlPr>
                        </m:fPr>
                        <m:num>
                          <m:r>
                            <a:rPr lang="en-GB" sz="1800" i="1">
                              <a:solidFill>
                                <a:schemeClr val="tx1"/>
                              </a:solidFill>
                              <a:latin typeface="Cambria Math" panose="02040503050406030204" pitchFamily="18" charset="0"/>
                              <a:cs typeface="Times New Roman" panose="02020603050405020304" pitchFamily="18" charset="0"/>
                            </a:rPr>
                            <m:t>5</m:t>
                          </m:r>
                        </m:num>
                        <m:den>
                          <m:r>
                            <a:rPr lang="en-GB" sz="1800" i="1">
                              <a:solidFill>
                                <a:schemeClr val="tx1"/>
                              </a:solidFill>
                              <a:latin typeface="Cambria Math" panose="02040503050406030204" pitchFamily="18" charset="0"/>
                              <a:cs typeface="Times New Roman" panose="02020603050405020304" pitchFamily="18" charset="0"/>
                            </a:rPr>
                            <m:t>14</m:t>
                          </m:r>
                        </m:den>
                      </m:f>
                      <m:r>
                        <a:rPr lang="en-GB" sz="18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𝐼</m:t>
                      </m:r>
                      <m:d>
                        <m:dPr>
                          <m:ctrlPr>
                            <a:rPr lang="en-GB" sz="18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GB" sz="18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2,3</m:t>
                          </m:r>
                        </m:e>
                      </m:d>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=0.694</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f>
                      <m:fPr>
                        <m:ctrlPr>
                          <a:rPr lang="en-GB" sz="1800" b="1" i="1" smtClean="0">
                            <a:solidFill>
                              <a:schemeClr val="tx1"/>
                            </a:solidFill>
                            <a:latin typeface="Cambria Math" panose="02040503050406030204" pitchFamily="18" charset="0"/>
                            <a:cs typeface="Times New Roman" panose="02020603050405020304" pitchFamily="18" charset="0"/>
                          </a:rPr>
                        </m:ctrlPr>
                      </m:fPr>
                      <m:num>
                        <m:r>
                          <a:rPr lang="en-GB" sz="1800" b="1" i="1" smtClean="0">
                            <a:solidFill>
                              <a:schemeClr val="tx1"/>
                            </a:solidFill>
                            <a:latin typeface="Cambria Math" panose="02040503050406030204" pitchFamily="18" charset="0"/>
                            <a:cs typeface="Times New Roman" panose="02020603050405020304" pitchFamily="18" charset="0"/>
                          </a:rPr>
                          <m:t>𝟓</m:t>
                        </m:r>
                      </m:num>
                      <m:den>
                        <m:r>
                          <a:rPr lang="en-GB" sz="1800" b="1" i="1" smtClean="0">
                            <a:solidFill>
                              <a:schemeClr val="tx1"/>
                            </a:solidFill>
                            <a:latin typeface="Cambria Math" panose="02040503050406030204" pitchFamily="18" charset="0"/>
                            <a:cs typeface="Times New Roman" panose="02020603050405020304" pitchFamily="18" charset="0"/>
                          </a:rPr>
                          <m:t>𝟏𝟒</m:t>
                        </m:r>
                      </m:den>
                    </m:f>
                    <m:r>
                      <a:rPr lang="en-GB" sz="1800"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𝑰</m:t>
                    </m:r>
                    <m:r>
                      <a:rPr lang="en-GB" sz="1800"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𝟐</m:t>
                    </m:r>
                    <m:r>
                      <a:rPr lang="en-GB" sz="1800"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𝟑</m:t>
                    </m:r>
                    <m:r>
                      <a:rPr lang="en-GB" sz="1800"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sz="1800" b="1" dirty="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means “age &lt;=30” has 5 out of 14 samples, with 2 yes’es  and 3 no’s. </a:t>
                </a: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3951287" cy="5257800"/>
              </a:xfrm>
              <a:blipFill rotWithShape="1">
                <a:blip r:embed="rId2"/>
                <a:stretch>
                  <a:fillRect r="8"/>
                </a:stretch>
              </a:blipFill>
            </p:spPr>
            <p:txBody>
              <a:bodyPr/>
              <a:lstStyle/>
              <a:p>
                <a:r>
                  <a:rPr lang="en-US" altLang="en-US">
                    <a:noFill/>
                  </a:rPr>
                  <a:t> </a:t>
                </a:r>
              </a:p>
            </p:txBody>
          </p:sp>
        </mc:Fallback>
      </mc:AlternateContent>
      <p:graphicFrame>
        <p:nvGraphicFramePr>
          <p:cNvPr id="5" name="Object 1024"/>
          <p:cNvGraphicFramePr/>
          <p:nvPr/>
        </p:nvGraphicFramePr>
        <p:xfrm>
          <a:off x="4637088" y="1371600"/>
          <a:ext cx="4474256" cy="5105400"/>
        </p:xfrm>
        <a:graphic>
          <a:graphicData uri="http://schemas.openxmlformats.org/presentationml/2006/ole">
            <mc:AlternateContent xmlns:mc="http://schemas.openxmlformats.org/markup-compatibility/2006">
              <mc:Choice xmlns:v="urn:schemas-microsoft-com:vml" Requires="v">
                <p:oleObj name="Worksheet" r:id="rId3" imgW="5441315" imgH="4204335" progId="Excel.Sheet.8">
                  <p:embed/>
                </p:oleObj>
              </mc:Choice>
              <mc:Fallback>
                <p:oleObj name="Worksheet" r:id="rId3" imgW="5441315" imgH="4204335" progId="Excel.Sheet.8">
                  <p:embed/>
                  <p:pic>
                    <p:nvPicPr>
                      <p:cNvPr id="0" name="Object 102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7088" y="1371600"/>
                        <a:ext cx="4474256" cy="5105400"/>
                      </a:xfrm>
                      <a:prstGeom prst="rect">
                        <a:avLst/>
                      </a:prstGeom>
                      <a:noFill/>
                      <a:ln>
                        <a:noFill/>
                      </a:ln>
                    </p:spPr>
                  </p:pic>
                </p:oleObj>
              </mc:Fallback>
            </mc:AlternateContent>
          </a:graphicData>
        </a:graphic>
      </p:graphicFrame>
      <p:sp>
        <p:nvSpPr>
          <p:cNvPr id="4" name="Oval 3"/>
          <p:cNvSpPr/>
          <p:nvPr/>
        </p:nvSpPr>
        <p:spPr>
          <a:xfrm>
            <a:off x="8153400" y="17526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p:cNvSpPr/>
          <p:nvPr/>
        </p:nvSpPr>
        <p:spPr>
          <a:xfrm>
            <a:off x="8142514" y="20574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p:cNvSpPr/>
          <p:nvPr/>
        </p:nvSpPr>
        <p:spPr>
          <a:xfrm>
            <a:off x="8142514" y="4093029"/>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p:cNvSpPr/>
          <p:nvPr/>
        </p:nvSpPr>
        <p:spPr>
          <a:xfrm>
            <a:off x="8142514" y="4430486"/>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8142514" y="5116286"/>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p:cNvSpPr/>
          <p:nvPr/>
        </p:nvSpPr>
        <p:spPr>
          <a:xfrm>
            <a:off x="4648200" y="1752600"/>
            <a:ext cx="533400"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p:cNvSpPr/>
          <p:nvPr/>
        </p:nvSpPr>
        <p:spPr>
          <a:xfrm>
            <a:off x="4648200" y="2068902"/>
            <a:ext cx="533400"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p:cNvSpPr/>
          <p:nvPr/>
        </p:nvSpPr>
        <p:spPr>
          <a:xfrm>
            <a:off x="4635260" y="4125686"/>
            <a:ext cx="533400"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p:cNvSpPr/>
          <p:nvPr/>
        </p:nvSpPr>
        <p:spPr>
          <a:xfrm>
            <a:off x="4630947" y="4430486"/>
            <a:ext cx="533400"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p:cNvSpPr/>
          <p:nvPr/>
        </p:nvSpPr>
        <p:spPr>
          <a:xfrm>
            <a:off x="4630947" y="5116286"/>
            <a:ext cx="533400"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Classification : Decision Tree</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3951287" cy="52578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Information needed (after using A to split D into v partitions)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m:sSub>
                        <m:sSubPr>
                          <m:ctrlPr>
                            <a:rPr lang="en-GB" sz="1800" b="0" i="1" smtClean="0">
                              <a:solidFill>
                                <a:schemeClr val="tx1"/>
                              </a:solidFill>
                              <a:latin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cs typeface="Times New Roman" panose="02020603050405020304" pitchFamily="18" charset="0"/>
                            </a:rPr>
                            <m:t>𝐼𝑛𝑓𝑜</m:t>
                          </m:r>
                        </m:e>
                        <m:sub>
                          <m:r>
                            <a:rPr lang="en-GB" sz="1800" b="0" i="1" smtClean="0">
                              <a:solidFill>
                                <a:schemeClr val="tx1"/>
                              </a:solidFill>
                              <a:latin typeface="Cambria Math" panose="02040503050406030204" pitchFamily="18" charset="0"/>
                              <a:cs typeface="Times New Roman" panose="02020603050405020304" pitchFamily="18" charset="0"/>
                            </a:rPr>
                            <m:t>𝐴</m:t>
                          </m:r>
                        </m:sub>
                      </m:sSub>
                      <m:d>
                        <m:dPr>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𝐷</m:t>
                          </m:r>
                        </m:e>
                      </m:d>
                      <m:r>
                        <a:rPr lang="en-GB" sz="1800" b="0" i="1" smtClean="0">
                          <a:solidFill>
                            <a:schemeClr val="tx1"/>
                          </a:solidFill>
                          <a:latin typeface="Cambria Math" panose="02040503050406030204" pitchFamily="18" charset="0"/>
                          <a:cs typeface="Times New Roman" panose="02020603050405020304" pitchFamily="18" charset="0"/>
                        </a:rPr>
                        <m:t>=</m:t>
                      </m:r>
                      <m:nary>
                        <m:naryPr>
                          <m:chr m:val="∑"/>
                          <m:ctrlPr>
                            <a:rPr lang="en-GB" sz="1800" b="0" i="1" smtClean="0">
                              <a:solidFill>
                                <a:schemeClr val="tx1"/>
                              </a:solidFill>
                              <a:latin typeface="Cambria Math" panose="02040503050406030204" pitchFamily="18" charset="0"/>
                              <a:cs typeface="Times New Roman" panose="02020603050405020304" pitchFamily="18" charset="0"/>
                            </a:rPr>
                          </m:ctrlPr>
                        </m:naryPr>
                        <m:sub>
                          <m:r>
                            <m:rPr>
                              <m:brk m:alnAt="23"/>
                            </m:rPr>
                            <a:rPr lang="en-GB" sz="1800" b="0" i="1" smtClean="0">
                              <a:solidFill>
                                <a:schemeClr val="tx1"/>
                              </a:solidFill>
                              <a:latin typeface="Cambria Math" panose="02040503050406030204" pitchFamily="18" charset="0"/>
                              <a:cs typeface="Times New Roman" panose="02020603050405020304" pitchFamily="18" charset="0"/>
                            </a:rPr>
                            <m:t>𝑗</m:t>
                          </m:r>
                          <m:r>
                            <a:rPr lang="en-GB" sz="1800" b="0" i="1" smtClean="0">
                              <a:solidFill>
                                <a:schemeClr val="tx1"/>
                              </a:solidFill>
                              <a:latin typeface="Cambria Math" panose="02040503050406030204" pitchFamily="18" charset="0"/>
                              <a:cs typeface="Times New Roman" panose="02020603050405020304" pitchFamily="18" charset="0"/>
                            </a:rPr>
                            <m:t>=1</m:t>
                          </m:r>
                        </m:sub>
                        <m:sup>
                          <m:r>
                            <a:rPr lang="en-GB" sz="1800" b="0" i="1" smtClean="0">
                              <a:solidFill>
                                <a:schemeClr val="tx1"/>
                              </a:solidFill>
                              <a:latin typeface="Cambria Math" panose="02040503050406030204" pitchFamily="18" charset="0"/>
                              <a:cs typeface="Times New Roman" panose="02020603050405020304" pitchFamily="18" charset="0"/>
                            </a:rPr>
                            <m:t>𝑣</m:t>
                          </m:r>
                        </m:sup>
                        <m:e>
                          <m:f>
                            <m:fPr>
                              <m:ctrlPr>
                                <a:rPr lang="en-GB" sz="1800" b="0" i="1" smtClean="0">
                                  <a:solidFill>
                                    <a:schemeClr val="tx1"/>
                                  </a:solidFill>
                                  <a:latin typeface="Cambria Math" panose="02040503050406030204" pitchFamily="18" charset="0"/>
                                  <a:cs typeface="Times New Roman" panose="02020603050405020304" pitchFamily="18" charset="0"/>
                                </a:rPr>
                              </m:ctrlPr>
                            </m:fPr>
                            <m:num>
                              <m:d>
                                <m:dPr>
                                  <m:begChr m:val="|"/>
                                  <m:endChr m:val="|"/>
                                  <m:ctrlPr>
                                    <a:rPr lang="en-GB" sz="1800" b="0" i="1" smtClean="0">
                                      <a:solidFill>
                                        <a:schemeClr val="tx1"/>
                                      </a:solidFill>
                                      <a:latin typeface="Cambria Math" panose="02040503050406030204" pitchFamily="18" charset="0"/>
                                      <a:cs typeface="Times New Roman" panose="02020603050405020304" pitchFamily="18" charset="0"/>
                                    </a:rPr>
                                  </m:ctrlPr>
                                </m:dPr>
                                <m:e>
                                  <m:sSub>
                                    <m:sSubPr>
                                      <m:ctrlPr>
                                        <a:rPr lang="en-GB" sz="1800" b="0" i="1" smtClean="0">
                                          <a:solidFill>
                                            <a:schemeClr val="tx1"/>
                                          </a:solidFill>
                                          <a:latin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cs typeface="Times New Roman" panose="02020603050405020304" pitchFamily="18" charset="0"/>
                                        </a:rPr>
                                        <m:t>𝐷</m:t>
                                      </m:r>
                                    </m:e>
                                    <m:sub>
                                      <m:r>
                                        <a:rPr lang="en-GB" sz="1800" b="0" i="1" smtClean="0">
                                          <a:solidFill>
                                            <a:schemeClr val="tx1"/>
                                          </a:solidFill>
                                          <a:latin typeface="Cambria Math" panose="02040503050406030204" pitchFamily="18" charset="0"/>
                                          <a:cs typeface="Times New Roman" panose="02020603050405020304" pitchFamily="18" charset="0"/>
                                        </a:rPr>
                                        <m:t>𝑗</m:t>
                                      </m:r>
                                    </m:sub>
                                  </m:sSub>
                                </m:e>
                              </m:d>
                            </m:num>
                            <m:den>
                              <m:d>
                                <m:dPr>
                                  <m:begChr m:val="|"/>
                                  <m:endChr m:val="|"/>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𝐷</m:t>
                                  </m:r>
                                </m:e>
                              </m:d>
                            </m:den>
                          </m:f>
                        </m:e>
                      </m:nary>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𝐼𝑛𝑓𝑜</m:t>
                      </m:r>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𝐷</m:t>
                          </m:r>
                        </m:e>
                        <m:sub>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𝑗</m:t>
                          </m:r>
                        </m:sub>
                      </m:sSub>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GB"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Example</a:t>
                </a:r>
              </a:p>
              <a:p>
                <a:pPr algn="just"/>
                <a14:m>
                  <m:oMathPara xmlns:m="http://schemas.openxmlformats.org/officeDocument/2006/math">
                    <m:oMathParaPr>
                      <m:jc m:val="left"/>
                    </m:oMathParaPr>
                    <m:oMath>
                      <m:sSub>
                        <m:sSubPr>
                          <m:ctrlPr>
                            <a:rPr lang="en-GB" sz="1800" b="0" i="1" smtClean="0">
                              <a:solidFill>
                                <a:schemeClr val="tx1"/>
                              </a:solidFill>
                              <a:latin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cs typeface="Times New Roman" panose="02020603050405020304" pitchFamily="18" charset="0"/>
                            </a:rPr>
                            <m:t>𝐼𝑛𝑓𝑜</m:t>
                          </m:r>
                        </m:e>
                        <m:sub>
                          <m:r>
                            <a:rPr lang="en-GB" sz="1800" b="0" i="1" smtClean="0">
                              <a:solidFill>
                                <a:schemeClr val="tx1"/>
                              </a:solidFill>
                              <a:latin typeface="Cambria Math" panose="02040503050406030204" pitchFamily="18" charset="0"/>
                              <a:cs typeface="Times New Roman" panose="02020603050405020304" pitchFamily="18" charset="0"/>
                            </a:rPr>
                            <m:t>𝑎𝑔𝑒</m:t>
                          </m:r>
                        </m:sub>
                      </m:sSub>
                      <m:d>
                        <m:dPr>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𝐷</m:t>
                          </m:r>
                        </m:e>
                      </m:d>
                      <m:r>
                        <a:rPr lang="en-GB" sz="1800" b="0" i="1" smtClean="0">
                          <a:solidFill>
                            <a:schemeClr val="tx1"/>
                          </a:solidFill>
                          <a:latin typeface="Cambria Math" panose="02040503050406030204" pitchFamily="18" charset="0"/>
                          <a:cs typeface="Times New Roman" panose="02020603050405020304" pitchFamily="18" charset="0"/>
                        </a:rPr>
                        <m:t>=</m:t>
                      </m:r>
                      <m:nary>
                        <m:naryPr>
                          <m:chr m:val="∑"/>
                          <m:ctrlPr>
                            <a:rPr lang="en-GB" sz="1800" b="0" i="1" smtClean="0">
                              <a:solidFill>
                                <a:schemeClr val="tx1"/>
                              </a:solidFill>
                              <a:latin typeface="Cambria Math" panose="02040503050406030204" pitchFamily="18" charset="0"/>
                              <a:cs typeface="Times New Roman" panose="02020603050405020304" pitchFamily="18" charset="0"/>
                            </a:rPr>
                          </m:ctrlPr>
                        </m:naryPr>
                        <m:sub>
                          <m:r>
                            <m:rPr>
                              <m:brk m:alnAt="23"/>
                            </m:rPr>
                            <a:rPr lang="en-GB" sz="1800" b="0" i="1" smtClean="0">
                              <a:solidFill>
                                <a:schemeClr val="tx1"/>
                              </a:solidFill>
                              <a:latin typeface="Cambria Math" panose="02040503050406030204" pitchFamily="18" charset="0"/>
                              <a:cs typeface="Times New Roman" panose="02020603050405020304" pitchFamily="18" charset="0"/>
                            </a:rPr>
                            <m:t>𝑗</m:t>
                          </m:r>
                          <m:r>
                            <a:rPr lang="en-GB" sz="1800" b="0" i="1" smtClean="0">
                              <a:solidFill>
                                <a:schemeClr val="tx1"/>
                              </a:solidFill>
                              <a:latin typeface="Cambria Math" panose="02040503050406030204" pitchFamily="18" charset="0"/>
                              <a:cs typeface="Times New Roman" panose="02020603050405020304" pitchFamily="18" charset="0"/>
                            </a:rPr>
                            <m:t>=1</m:t>
                          </m:r>
                        </m:sub>
                        <m:sup>
                          <m:r>
                            <a:rPr lang="en-GB" sz="1800" b="0" i="1" smtClean="0">
                              <a:solidFill>
                                <a:schemeClr val="tx1"/>
                              </a:solidFill>
                              <a:latin typeface="Cambria Math" panose="02040503050406030204" pitchFamily="18" charset="0"/>
                              <a:cs typeface="Times New Roman" panose="02020603050405020304" pitchFamily="18" charset="0"/>
                            </a:rPr>
                            <m:t>3</m:t>
                          </m:r>
                        </m:sup>
                        <m:e>
                          <m:f>
                            <m:fPr>
                              <m:ctrlPr>
                                <a:rPr lang="en-GB" sz="1800" b="0" i="1" smtClean="0">
                                  <a:solidFill>
                                    <a:schemeClr val="tx1"/>
                                  </a:solidFill>
                                  <a:latin typeface="Cambria Math" panose="02040503050406030204" pitchFamily="18" charset="0"/>
                                  <a:cs typeface="Times New Roman" panose="02020603050405020304" pitchFamily="18" charset="0"/>
                                </a:rPr>
                              </m:ctrlPr>
                            </m:fPr>
                            <m:num>
                              <m:d>
                                <m:dPr>
                                  <m:begChr m:val="|"/>
                                  <m:endChr m:val="|"/>
                                  <m:ctrlPr>
                                    <a:rPr lang="en-GB" sz="1800" b="0" i="1" smtClean="0">
                                      <a:solidFill>
                                        <a:schemeClr val="tx1"/>
                                      </a:solidFill>
                                      <a:latin typeface="Cambria Math" panose="02040503050406030204" pitchFamily="18" charset="0"/>
                                      <a:cs typeface="Times New Roman" panose="02020603050405020304" pitchFamily="18" charset="0"/>
                                    </a:rPr>
                                  </m:ctrlPr>
                                </m:dPr>
                                <m:e>
                                  <m:sSub>
                                    <m:sSubPr>
                                      <m:ctrlPr>
                                        <a:rPr lang="en-GB" sz="1800" b="0" i="1" smtClean="0">
                                          <a:solidFill>
                                            <a:schemeClr val="tx1"/>
                                          </a:solidFill>
                                          <a:latin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cs typeface="Times New Roman" panose="02020603050405020304" pitchFamily="18" charset="0"/>
                                        </a:rPr>
                                        <m:t>𝐷</m:t>
                                      </m:r>
                                    </m:e>
                                    <m:sub>
                                      <m:r>
                                        <a:rPr lang="en-GB" sz="1800" b="0" i="1" smtClean="0">
                                          <a:solidFill>
                                            <a:schemeClr val="tx1"/>
                                          </a:solidFill>
                                          <a:latin typeface="Cambria Math" panose="02040503050406030204" pitchFamily="18" charset="0"/>
                                          <a:cs typeface="Times New Roman" panose="02020603050405020304" pitchFamily="18" charset="0"/>
                                        </a:rPr>
                                        <m:t>𝑗</m:t>
                                      </m:r>
                                    </m:sub>
                                  </m:sSub>
                                </m:e>
                              </m:d>
                            </m:num>
                            <m:den>
                              <m:d>
                                <m:dPr>
                                  <m:begChr m:val="|"/>
                                  <m:endChr m:val="|"/>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𝐷</m:t>
                                  </m:r>
                                </m:e>
                              </m:d>
                            </m:den>
                          </m:f>
                        </m:e>
                      </m:nary>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𝐼𝑛𝑓𝑜</m:t>
                      </m:r>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𝐷</m:t>
                          </m:r>
                        </m:e>
                        <m:sub>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𝑗</m:t>
                          </m:r>
                        </m:sub>
                      </m:sSub>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
                      <m:r>
                        <a:rPr lang="en-GB" sz="1800" b="0" i="1" smtClean="0">
                          <a:solidFill>
                            <a:schemeClr val="tx1"/>
                          </a:solidFill>
                          <a:latin typeface="Cambria Math" panose="02040503050406030204" pitchFamily="18" charset="0"/>
                          <a:cs typeface="Times New Roman" panose="02020603050405020304" pitchFamily="18" charset="0"/>
                        </a:rPr>
                        <m:t>=</m:t>
                      </m:r>
                      <m:f>
                        <m:fPr>
                          <m:ctrlPr>
                            <a:rPr lang="en-GB" sz="1800" i="1" smtClean="0">
                              <a:solidFill>
                                <a:schemeClr val="tx1"/>
                              </a:solidFill>
                              <a:latin typeface="Cambria Math" panose="02040503050406030204" pitchFamily="18" charset="0"/>
                              <a:cs typeface="Times New Roman" panose="02020603050405020304" pitchFamily="18" charset="0"/>
                            </a:rPr>
                          </m:ctrlPr>
                        </m:fPr>
                        <m:num>
                          <m:r>
                            <a:rPr lang="en-GB" sz="1800" i="1" smtClean="0">
                              <a:solidFill>
                                <a:schemeClr val="tx1"/>
                              </a:solidFill>
                              <a:latin typeface="Cambria Math" panose="02040503050406030204" pitchFamily="18" charset="0"/>
                              <a:cs typeface="Times New Roman" panose="02020603050405020304" pitchFamily="18" charset="0"/>
                            </a:rPr>
                            <m:t>5</m:t>
                          </m:r>
                        </m:num>
                        <m:den>
                          <m:r>
                            <a:rPr lang="en-GB" sz="1800" b="0" i="1" smtClean="0">
                              <a:solidFill>
                                <a:schemeClr val="tx1"/>
                              </a:solidFill>
                              <a:latin typeface="Cambria Math" panose="02040503050406030204" pitchFamily="18" charset="0"/>
                              <a:cs typeface="Times New Roman" panose="02020603050405020304" pitchFamily="18" charset="0"/>
                            </a:rPr>
                            <m:t>14</m:t>
                          </m:r>
                        </m:den>
                      </m:f>
                      <m:r>
                        <a:rPr lang="en-GB" sz="18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𝐼</m:t>
                      </m:r>
                      <m:d>
                        <m:dPr>
                          <m:ctrlP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2,3</m:t>
                          </m:r>
                        </m:e>
                      </m:d>
                      <m:r>
                        <a:rPr lang="en-US" sz="1800" i="1" dirty="0" smtClean="0">
                          <a:solidFill>
                            <a:schemeClr val="tx1"/>
                          </a:solidFill>
                          <a:latin typeface="Cambria Math" panose="02040503050406030204" pitchFamily="18" charset="0"/>
                          <a:cs typeface="Times New Roman" panose="02020603050405020304" pitchFamily="18" charset="0"/>
                        </a:rPr>
                        <m:t>+</m:t>
                      </m:r>
                      <m:f>
                        <m:fPr>
                          <m:ctrlPr>
                            <a:rPr lang="en-GB" sz="1800" b="0" i="1" smtClean="0">
                              <a:solidFill>
                                <a:srgbClr val="00B0F0"/>
                              </a:solidFill>
                              <a:latin typeface="Cambria Math" panose="02040503050406030204" pitchFamily="18" charset="0"/>
                              <a:cs typeface="Times New Roman" panose="02020603050405020304" pitchFamily="18" charset="0"/>
                            </a:rPr>
                          </m:ctrlPr>
                        </m:fPr>
                        <m:num>
                          <m:r>
                            <a:rPr lang="en-GB" sz="1800" b="0" i="1" smtClean="0">
                              <a:solidFill>
                                <a:srgbClr val="00B0F0"/>
                              </a:solidFill>
                              <a:latin typeface="Cambria Math" panose="02040503050406030204" pitchFamily="18" charset="0"/>
                              <a:cs typeface="Times New Roman" panose="02020603050405020304" pitchFamily="18" charset="0"/>
                            </a:rPr>
                            <m:t>4</m:t>
                          </m:r>
                        </m:num>
                        <m:den>
                          <m:r>
                            <a:rPr lang="en-GB" sz="1800" i="1">
                              <a:solidFill>
                                <a:srgbClr val="00B0F0"/>
                              </a:solidFill>
                              <a:latin typeface="Cambria Math" panose="02040503050406030204" pitchFamily="18" charset="0"/>
                              <a:cs typeface="Times New Roman" panose="02020603050405020304" pitchFamily="18" charset="0"/>
                            </a:rPr>
                            <m:t>14</m:t>
                          </m:r>
                        </m:den>
                      </m:f>
                      <m:r>
                        <a:rPr lang="en-GB" sz="18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𝐼</m:t>
                      </m:r>
                      <m:d>
                        <m:dPr>
                          <m:ctrlPr>
                            <a:rPr lang="en-GB" sz="1800"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ctrlPr>
                        </m:dPr>
                        <m:e>
                          <m:r>
                            <a:rPr lang="en-GB" sz="1800"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4,0</m:t>
                          </m:r>
                        </m:e>
                      </m:d>
                      <m:r>
                        <a:rPr lang="en-US" sz="1800" i="1" dirty="0" smtClean="0">
                          <a:solidFill>
                            <a:schemeClr val="tx1"/>
                          </a:solidFill>
                          <a:latin typeface="Cambria Math" panose="02040503050406030204" pitchFamily="18" charset="0"/>
                          <a:cs typeface="Times New Roman" panose="02020603050405020304" pitchFamily="18" charset="0"/>
                        </a:rPr>
                        <m:t>+</m:t>
                      </m:r>
                      <m:f>
                        <m:fPr>
                          <m:ctrlPr>
                            <a:rPr lang="en-GB" sz="1800" i="1">
                              <a:solidFill>
                                <a:schemeClr val="tx1"/>
                              </a:solidFill>
                              <a:latin typeface="Cambria Math" panose="02040503050406030204" pitchFamily="18" charset="0"/>
                              <a:cs typeface="Times New Roman" panose="02020603050405020304" pitchFamily="18" charset="0"/>
                            </a:rPr>
                          </m:ctrlPr>
                        </m:fPr>
                        <m:num>
                          <m:r>
                            <a:rPr lang="en-GB" sz="1800" i="1">
                              <a:solidFill>
                                <a:schemeClr val="tx1"/>
                              </a:solidFill>
                              <a:latin typeface="Cambria Math" panose="02040503050406030204" pitchFamily="18" charset="0"/>
                              <a:cs typeface="Times New Roman" panose="02020603050405020304" pitchFamily="18" charset="0"/>
                            </a:rPr>
                            <m:t>5</m:t>
                          </m:r>
                        </m:num>
                        <m:den>
                          <m:r>
                            <a:rPr lang="en-GB" sz="1800" i="1">
                              <a:solidFill>
                                <a:schemeClr val="tx1"/>
                              </a:solidFill>
                              <a:latin typeface="Cambria Math" panose="02040503050406030204" pitchFamily="18" charset="0"/>
                              <a:cs typeface="Times New Roman" panose="02020603050405020304" pitchFamily="18" charset="0"/>
                            </a:rPr>
                            <m:t>14</m:t>
                          </m:r>
                        </m:den>
                      </m:f>
                      <m:r>
                        <a:rPr lang="en-GB" sz="18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𝐼</m:t>
                      </m:r>
                      <m:d>
                        <m:dPr>
                          <m:ctrlPr>
                            <a:rPr lang="en-GB" sz="18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GB" sz="18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2,3</m:t>
                          </m:r>
                        </m:e>
                      </m:d>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=0.694</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f>
                      <m:fPr>
                        <m:ctrlPr>
                          <a:rPr lang="en-GB" sz="1800" b="1" i="1" smtClean="0">
                            <a:solidFill>
                              <a:schemeClr val="tx1"/>
                            </a:solidFill>
                            <a:latin typeface="Cambria Math" panose="02040503050406030204" pitchFamily="18" charset="0"/>
                            <a:cs typeface="Times New Roman" panose="02020603050405020304" pitchFamily="18" charset="0"/>
                          </a:rPr>
                        </m:ctrlPr>
                      </m:fPr>
                      <m:num>
                        <m:r>
                          <a:rPr lang="en-GB" sz="1800" b="1" i="1" smtClean="0">
                            <a:solidFill>
                              <a:schemeClr val="tx1"/>
                            </a:solidFill>
                            <a:latin typeface="Cambria Math" panose="02040503050406030204" pitchFamily="18" charset="0"/>
                            <a:cs typeface="Times New Roman" panose="02020603050405020304" pitchFamily="18" charset="0"/>
                          </a:rPr>
                          <m:t>𝟓</m:t>
                        </m:r>
                      </m:num>
                      <m:den>
                        <m:r>
                          <a:rPr lang="en-GB" sz="1800" b="1" i="1" smtClean="0">
                            <a:solidFill>
                              <a:schemeClr val="tx1"/>
                            </a:solidFill>
                            <a:latin typeface="Cambria Math" panose="02040503050406030204" pitchFamily="18" charset="0"/>
                            <a:cs typeface="Times New Roman" panose="02020603050405020304" pitchFamily="18" charset="0"/>
                          </a:rPr>
                          <m:t>𝟏𝟒</m:t>
                        </m:r>
                      </m:den>
                    </m:f>
                    <m:r>
                      <a:rPr lang="en-GB" sz="1800"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𝑰</m:t>
                    </m:r>
                    <m:r>
                      <a:rPr lang="en-GB" sz="1800"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𝟐</m:t>
                    </m:r>
                    <m:r>
                      <a:rPr lang="en-GB" sz="1800"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𝟑</m:t>
                    </m:r>
                    <m:r>
                      <a:rPr lang="en-GB" sz="1800"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sz="1800" b="1" dirty="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means “age &lt;=30” has 5 out of 14 samples, with 2 yes’es  and 3 no’s. </a:t>
                </a: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3951287" cy="5257800"/>
              </a:xfrm>
              <a:blipFill rotWithShape="1">
                <a:blip r:embed="rId2"/>
                <a:stretch>
                  <a:fillRect r="8"/>
                </a:stretch>
              </a:blipFill>
            </p:spPr>
            <p:txBody>
              <a:bodyPr/>
              <a:lstStyle/>
              <a:p>
                <a:r>
                  <a:rPr lang="en-US" altLang="en-US">
                    <a:noFill/>
                  </a:rPr>
                  <a:t> </a:t>
                </a:r>
              </a:p>
            </p:txBody>
          </p:sp>
        </mc:Fallback>
      </mc:AlternateContent>
      <p:graphicFrame>
        <p:nvGraphicFramePr>
          <p:cNvPr id="5" name="Object 1024"/>
          <p:cNvGraphicFramePr/>
          <p:nvPr/>
        </p:nvGraphicFramePr>
        <p:xfrm>
          <a:off x="4637088" y="1371600"/>
          <a:ext cx="4474256" cy="5105400"/>
        </p:xfrm>
        <a:graphic>
          <a:graphicData uri="http://schemas.openxmlformats.org/presentationml/2006/ole">
            <mc:AlternateContent xmlns:mc="http://schemas.openxmlformats.org/markup-compatibility/2006">
              <mc:Choice xmlns:v="urn:schemas-microsoft-com:vml" Requires="v">
                <p:oleObj name="Worksheet" r:id="rId3" imgW="5236210" imgH="4045585" progId="Excel.Sheet.8">
                  <p:embed/>
                </p:oleObj>
              </mc:Choice>
              <mc:Fallback>
                <p:oleObj name="Worksheet" r:id="rId3" imgW="5236210" imgH="4045585" progId="Excel.Sheet.8">
                  <p:embed/>
                  <p:pic>
                    <p:nvPicPr>
                      <p:cNvPr id="0" name="Picture 7276"/>
                      <p:cNvPicPr>
                        <a:picLocks noChangeArrowheads="1"/>
                      </p:cNvPicPr>
                      <p:nvPr/>
                    </p:nvPicPr>
                    <p:blipFill>
                      <a:blip r:embed="rId4"/>
                      <a:srcRect/>
                      <a:stretch>
                        <a:fillRect/>
                      </a:stretch>
                    </p:blipFill>
                    <p:spPr bwMode="auto">
                      <a:xfrm>
                        <a:off x="4637088" y="1371600"/>
                        <a:ext cx="4474256" cy="5105400"/>
                      </a:xfrm>
                      <a:prstGeom prst="rect">
                        <a:avLst/>
                      </a:prstGeom>
                      <a:noFill/>
                      <a:ln>
                        <a:noFill/>
                      </a:ln>
                    </p:spPr>
                  </p:pic>
                </p:oleObj>
              </mc:Fallback>
            </mc:AlternateContent>
          </a:graphicData>
        </a:graphic>
      </p:graphicFrame>
      <p:sp>
        <p:nvSpPr>
          <p:cNvPr id="4" name="Oval 3"/>
          <p:cNvSpPr/>
          <p:nvPr/>
        </p:nvSpPr>
        <p:spPr>
          <a:xfrm>
            <a:off x="8142514" y="24384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p:cNvSpPr/>
          <p:nvPr/>
        </p:nvSpPr>
        <p:spPr>
          <a:xfrm>
            <a:off x="8142514" y="3788229"/>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p:cNvSpPr/>
          <p:nvPr/>
        </p:nvSpPr>
        <p:spPr>
          <a:xfrm>
            <a:off x="8135325" y="5457029"/>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8135325" y="57912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p:cNvSpPr/>
          <p:nvPr/>
        </p:nvSpPr>
        <p:spPr>
          <a:xfrm>
            <a:off x="4572000" y="2428336"/>
            <a:ext cx="762000"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p:cNvSpPr/>
          <p:nvPr/>
        </p:nvSpPr>
        <p:spPr>
          <a:xfrm>
            <a:off x="4572000" y="3788229"/>
            <a:ext cx="762000"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p:cNvSpPr/>
          <p:nvPr/>
        </p:nvSpPr>
        <p:spPr>
          <a:xfrm>
            <a:off x="4572000" y="5457029"/>
            <a:ext cx="762000"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p:cNvSpPr/>
          <p:nvPr/>
        </p:nvSpPr>
        <p:spPr>
          <a:xfrm>
            <a:off x="4572000" y="5791200"/>
            <a:ext cx="762000"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Classification : Decision Tree</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3951287" cy="52578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Information needed (after using A to split D into v partitions)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m:sSub>
                        <m:sSubPr>
                          <m:ctrlPr>
                            <a:rPr lang="en-GB" sz="1800" b="0" i="1" smtClean="0">
                              <a:solidFill>
                                <a:schemeClr val="tx1"/>
                              </a:solidFill>
                              <a:latin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cs typeface="Times New Roman" panose="02020603050405020304" pitchFamily="18" charset="0"/>
                            </a:rPr>
                            <m:t>𝐼𝑛𝑓𝑜</m:t>
                          </m:r>
                        </m:e>
                        <m:sub>
                          <m:r>
                            <a:rPr lang="en-GB" sz="1800" b="0" i="1" smtClean="0">
                              <a:solidFill>
                                <a:schemeClr val="tx1"/>
                              </a:solidFill>
                              <a:latin typeface="Cambria Math" panose="02040503050406030204" pitchFamily="18" charset="0"/>
                              <a:cs typeface="Times New Roman" panose="02020603050405020304" pitchFamily="18" charset="0"/>
                            </a:rPr>
                            <m:t>𝐴</m:t>
                          </m:r>
                        </m:sub>
                      </m:sSub>
                      <m:d>
                        <m:dPr>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𝐷</m:t>
                          </m:r>
                        </m:e>
                      </m:d>
                      <m:r>
                        <a:rPr lang="en-GB" sz="1800" b="0" i="1" smtClean="0">
                          <a:solidFill>
                            <a:schemeClr val="tx1"/>
                          </a:solidFill>
                          <a:latin typeface="Cambria Math" panose="02040503050406030204" pitchFamily="18" charset="0"/>
                          <a:cs typeface="Times New Roman" panose="02020603050405020304" pitchFamily="18" charset="0"/>
                        </a:rPr>
                        <m:t>=</m:t>
                      </m:r>
                      <m:nary>
                        <m:naryPr>
                          <m:chr m:val="∑"/>
                          <m:ctrlPr>
                            <a:rPr lang="en-GB" sz="1800" b="0" i="1" smtClean="0">
                              <a:solidFill>
                                <a:schemeClr val="tx1"/>
                              </a:solidFill>
                              <a:latin typeface="Cambria Math" panose="02040503050406030204" pitchFamily="18" charset="0"/>
                              <a:cs typeface="Times New Roman" panose="02020603050405020304" pitchFamily="18" charset="0"/>
                            </a:rPr>
                          </m:ctrlPr>
                        </m:naryPr>
                        <m:sub>
                          <m:r>
                            <m:rPr>
                              <m:brk m:alnAt="23"/>
                            </m:rPr>
                            <a:rPr lang="en-GB" sz="1800" b="0" i="1" smtClean="0">
                              <a:solidFill>
                                <a:schemeClr val="tx1"/>
                              </a:solidFill>
                              <a:latin typeface="Cambria Math" panose="02040503050406030204" pitchFamily="18" charset="0"/>
                              <a:cs typeface="Times New Roman" panose="02020603050405020304" pitchFamily="18" charset="0"/>
                            </a:rPr>
                            <m:t>𝑗</m:t>
                          </m:r>
                          <m:r>
                            <a:rPr lang="en-GB" sz="1800" b="0" i="1" smtClean="0">
                              <a:solidFill>
                                <a:schemeClr val="tx1"/>
                              </a:solidFill>
                              <a:latin typeface="Cambria Math" panose="02040503050406030204" pitchFamily="18" charset="0"/>
                              <a:cs typeface="Times New Roman" panose="02020603050405020304" pitchFamily="18" charset="0"/>
                            </a:rPr>
                            <m:t>=1</m:t>
                          </m:r>
                        </m:sub>
                        <m:sup>
                          <m:r>
                            <a:rPr lang="en-GB" sz="1800" b="0" i="1" smtClean="0">
                              <a:solidFill>
                                <a:schemeClr val="tx1"/>
                              </a:solidFill>
                              <a:latin typeface="Cambria Math" panose="02040503050406030204" pitchFamily="18" charset="0"/>
                              <a:cs typeface="Times New Roman" panose="02020603050405020304" pitchFamily="18" charset="0"/>
                            </a:rPr>
                            <m:t>𝑣</m:t>
                          </m:r>
                        </m:sup>
                        <m:e>
                          <m:f>
                            <m:fPr>
                              <m:ctrlPr>
                                <a:rPr lang="en-GB" sz="1800" b="0" i="1" smtClean="0">
                                  <a:solidFill>
                                    <a:schemeClr val="tx1"/>
                                  </a:solidFill>
                                  <a:latin typeface="Cambria Math" panose="02040503050406030204" pitchFamily="18" charset="0"/>
                                  <a:cs typeface="Times New Roman" panose="02020603050405020304" pitchFamily="18" charset="0"/>
                                </a:rPr>
                              </m:ctrlPr>
                            </m:fPr>
                            <m:num>
                              <m:d>
                                <m:dPr>
                                  <m:begChr m:val="|"/>
                                  <m:endChr m:val="|"/>
                                  <m:ctrlPr>
                                    <a:rPr lang="en-GB" sz="1800" b="0" i="1" smtClean="0">
                                      <a:solidFill>
                                        <a:schemeClr val="tx1"/>
                                      </a:solidFill>
                                      <a:latin typeface="Cambria Math" panose="02040503050406030204" pitchFamily="18" charset="0"/>
                                      <a:cs typeface="Times New Roman" panose="02020603050405020304" pitchFamily="18" charset="0"/>
                                    </a:rPr>
                                  </m:ctrlPr>
                                </m:dPr>
                                <m:e>
                                  <m:sSub>
                                    <m:sSubPr>
                                      <m:ctrlPr>
                                        <a:rPr lang="en-GB" sz="1800" b="0" i="1" smtClean="0">
                                          <a:solidFill>
                                            <a:schemeClr val="tx1"/>
                                          </a:solidFill>
                                          <a:latin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cs typeface="Times New Roman" panose="02020603050405020304" pitchFamily="18" charset="0"/>
                                        </a:rPr>
                                        <m:t>𝐷</m:t>
                                      </m:r>
                                    </m:e>
                                    <m:sub>
                                      <m:r>
                                        <a:rPr lang="en-GB" sz="1800" b="0" i="1" smtClean="0">
                                          <a:solidFill>
                                            <a:schemeClr val="tx1"/>
                                          </a:solidFill>
                                          <a:latin typeface="Cambria Math" panose="02040503050406030204" pitchFamily="18" charset="0"/>
                                          <a:cs typeface="Times New Roman" panose="02020603050405020304" pitchFamily="18" charset="0"/>
                                        </a:rPr>
                                        <m:t>𝑗</m:t>
                                      </m:r>
                                    </m:sub>
                                  </m:sSub>
                                </m:e>
                              </m:d>
                            </m:num>
                            <m:den>
                              <m:d>
                                <m:dPr>
                                  <m:begChr m:val="|"/>
                                  <m:endChr m:val="|"/>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𝐷</m:t>
                                  </m:r>
                                </m:e>
                              </m:d>
                            </m:den>
                          </m:f>
                        </m:e>
                      </m:nary>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𝐼𝑛𝑓𝑜</m:t>
                      </m:r>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𝐷</m:t>
                          </m:r>
                        </m:e>
                        <m:sub>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𝑗</m:t>
                          </m:r>
                        </m:sub>
                      </m:sSub>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GB"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Example</a:t>
                </a:r>
              </a:p>
              <a:p>
                <a:pPr algn="just"/>
                <a14:m>
                  <m:oMathPara xmlns:m="http://schemas.openxmlformats.org/officeDocument/2006/math">
                    <m:oMathParaPr>
                      <m:jc m:val="left"/>
                    </m:oMathParaPr>
                    <m:oMath>
                      <m:sSub>
                        <m:sSubPr>
                          <m:ctrlPr>
                            <a:rPr lang="en-GB" sz="1800" b="0" i="1" smtClean="0">
                              <a:solidFill>
                                <a:schemeClr val="tx1"/>
                              </a:solidFill>
                              <a:latin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cs typeface="Times New Roman" panose="02020603050405020304" pitchFamily="18" charset="0"/>
                            </a:rPr>
                            <m:t>𝐼𝑛𝑓𝑜</m:t>
                          </m:r>
                        </m:e>
                        <m:sub>
                          <m:r>
                            <a:rPr lang="en-GB" sz="1800" b="0" i="1" smtClean="0">
                              <a:solidFill>
                                <a:schemeClr val="tx1"/>
                              </a:solidFill>
                              <a:latin typeface="Cambria Math" panose="02040503050406030204" pitchFamily="18" charset="0"/>
                              <a:cs typeface="Times New Roman" panose="02020603050405020304" pitchFamily="18" charset="0"/>
                            </a:rPr>
                            <m:t>𝑎𝑔𝑒</m:t>
                          </m:r>
                        </m:sub>
                      </m:sSub>
                      <m:d>
                        <m:dPr>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𝐷</m:t>
                          </m:r>
                        </m:e>
                      </m:d>
                      <m:r>
                        <a:rPr lang="en-GB" sz="1800" b="0" i="1" smtClean="0">
                          <a:solidFill>
                            <a:schemeClr val="tx1"/>
                          </a:solidFill>
                          <a:latin typeface="Cambria Math" panose="02040503050406030204" pitchFamily="18" charset="0"/>
                          <a:cs typeface="Times New Roman" panose="02020603050405020304" pitchFamily="18" charset="0"/>
                        </a:rPr>
                        <m:t>=</m:t>
                      </m:r>
                      <m:nary>
                        <m:naryPr>
                          <m:chr m:val="∑"/>
                          <m:ctrlPr>
                            <a:rPr lang="en-GB" sz="1800" b="0" i="1" smtClean="0">
                              <a:solidFill>
                                <a:schemeClr val="tx1"/>
                              </a:solidFill>
                              <a:latin typeface="Cambria Math" panose="02040503050406030204" pitchFamily="18" charset="0"/>
                              <a:cs typeface="Times New Roman" panose="02020603050405020304" pitchFamily="18" charset="0"/>
                            </a:rPr>
                          </m:ctrlPr>
                        </m:naryPr>
                        <m:sub>
                          <m:r>
                            <m:rPr>
                              <m:brk m:alnAt="23"/>
                            </m:rPr>
                            <a:rPr lang="en-GB" sz="1800" b="0" i="1" smtClean="0">
                              <a:solidFill>
                                <a:schemeClr val="tx1"/>
                              </a:solidFill>
                              <a:latin typeface="Cambria Math" panose="02040503050406030204" pitchFamily="18" charset="0"/>
                              <a:cs typeface="Times New Roman" panose="02020603050405020304" pitchFamily="18" charset="0"/>
                            </a:rPr>
                            <m:t>𝑗</m:t>
                          </m:r>
                          <m:r>
                            <a:rPr lang="en-GB" sz="1800" b="0" i="1" smtClean="0">
                              <a:solidFill>
                                <a:schemeClr val="tx1"/>
                              </a:solidFill>
                              <a:latin typeface="Cambria Math" panose="02040503050406030204" pitchFamily="18" charset="0"/>
                              <a:cs typeface="Times New Roman" panose="02020603050405020304" pitchFamily="18" charset="0"/>
                            </a:rPr>
                            <m:t>=1</m:t>
                          </m:r>
                        </m:sub>
                        <m:sup>
                          <m:r>
                            <a:rPr lang="en-GB" sz="1800" b="0" i="1" smtClean="0">
                              <a:solidFill>
                                <a:schemeClr val="tx1"/>
                              </a:solidFill>
                              <a:latin typeface="Cambria Math" panose="02040503050406030204" pitchFamily="18" charset="0"/>
                              <a:cs typeface="Times New Roman" panose="02020603050405020304" pitchFamily="18" charset="0"/>
                            </a:rPr>
                            <m:t>3</m:t>
                          </m:r>
                        </m:sup>
                        <m:e>
                          <m:f>
                            <m:fPr>
                              <m:ctrlPr>
                                <a:rPr lang="en-GB" sz="1800" b="0" i="1" smtClean="0">
                                  <a:solidFill>
                                    <a:schemeClr val="tx1"/>
                                  </a:solidFill>
                                  <a:latin typeface="Cambria Math" panose="02040503050406030204" pitchFamily="18" charset="0"/>
                                  <a:cs typeface="Times New Roman" panose="02020603050405020304" pitchFamily="18" charset="0"/>
                                </a:rPr>
                              </m:ctrlPr>
                            </m:fPr>
                            <m:num>
                              <m:d>
                                <m:dPr>
                                  <m:begChr m:val="|"/>
                                  <m:endChr m:val="|"/>
                                  <m:ctrlPr>
                                    <a:rPr lang="en-GB" sz="1800" b="0" i="1" smtClean="0">
                                      <a:solidFill>
                                        <a:schemeClr val="tx1"/>
                                      </a:solidFill>
                                      <a:latin typeface="Cambria Math" panose="02040503050406030204" pitchFamily="18" charset="0"/>
                                      <a:cs typeface="Times New Roman" panose="02020603050405020304" pitchFamily="18" charset="0"/>
                                    </a:rPr>
                                  </m:ctrlPr>
                                </m:dPr>
                                <m:e>
                                  <m:sSub>
                                    <m:sSubPr>
                                      <m:ctrlPr>
                                        <a:rPr lang="en-GB" sz="1800" b="0" i="1" smtClean="0">
                                          <a:solidFill>
                                            <a:schemeClr val="tx1"/>
                                          </a:solidFill>
                                          <a:latin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cs typeface="Times New Roman" panose="02020603050405020304" pitchFamily="18" charset="0"/>
                                        </a:rPr>
                                        <m:t>𝐷</m:t>
                                      </m:r>
                                    </m:e>
                                    <m:sub>
                                      <m:r>
                                        <a:rPr lang="en-GB" sz="1800" b="0" i="1" smtClean="0">
                                          <a:solidFill>
                                            <a:schemeClr val="tx1"/>
                                          </a:solidFill>
                                          <a:latin typeface="Cambria Math" panose="02040503050406030204" pitchFamily="18" charset="0"/>
                                          <a:cs typeface="Times New Roman" panose="02020603050405020304" pitchFamily="18" charset="0"/>
                                        </a:rPr>
                                        <m:t>𝑗</m:t>
                                      </m:r>
                                    </m:sub>
                                  </m:sSub>
                                </m:e>
                              </m:d>
                            </m:num>
                            <m:den>
                              <m:d>
                                <m:dPr>
                                  <m:begChr m:val="|"/>
                                  <m:endChr m:val="|"/>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𝐷</m:t>
                                  </m:r>
                                </m:e>
                              </m:d>
                            </m:den>
                          </m:f>
                        </m:e>
                      </m:nary>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𝐼𝑛𝑓𝑜</m:t>
                      </m:r>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𝐷</m:t>
                          </m:r>
                        </m:e>
                        <m:sub>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𝑗</m:t>
                          </m:r>
                        </m:sub>
                      </m:sSub>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
                      <m:r>
                        <a:rPr lang="en-GB" sz="1800" b="0" i="1" smtClean="0">
                          <a:solidFill>
                            <a:schemeClr val="tx1"/>
                          </a:solidFill>
                          <a:latin typeface="Cambria Math" panose="02040503050406030204" pitchFamily="18" charset="0"/>
                          <a:cs typeface="Times New Roman" panose="02020603050405020304" pitchFamily="18" charset="0"/>
                        </a:rPr>
                        <m:t>=</m:t>
                      </m:r>
                      <m:f>
                        <m:fPr>
                          <m:ctrlPr>
                            <a:rPr lang="en-GB" sz="1800" i="1" smtClean="0">
                              <a:solidFill>
                                <a:schemeClr val="tx1"/>
                              </a:solidFill>
                              <a:latin typeface="Cambria Math" panose="02040503050406030204" pitchFamily="18" charset="0"/>
                              <a:cs typeface="Times New Roman" panose="02020603050405020304" pitchFamily="18" charset="0"/>
                            </a:rPr>
                          </m:ctrlPr>
                        </m:fPr>
                        <m:num>
                          <m:r>
                            <a:rPr lang="en-GB" sz="1800" i="1" smtClean="0">
                              <a:solidFill>
                                <a:schemeClr val="tx1"/>
                              </a:solidFill>
                              <a:latin typeface="Cambria Math" panose="02040503050406030204" pitchFamily="18" charset="0"/>
                              <a:cs typeface="Times New Roman" panose="02020603050405020304" pitchFamily="18" charset="0"/>
                            </a:rPr>
                            <m:t>5</m:t>
                          </m:r>
                        </m:num>
                        <m:den>
                          <m:r>
                            <a:rPr lang="en-GB" sz="1800" b="0" i="1" smtClean="0">
                              <a:solidFill>
                                <a:schemeClr val="tx1"/>
                              </a:solidFill>
                              <a:latin typeface="Cambria Math" panose="02040503050406030204" pitchFamily="18" charset="0"/>
                              <a:cs typeface="Times New Roman" panose="02020603050405020304" pitchFamily="18" charset="0"/>
                            </a:rPr>
                            <m:t>14</m:t>
                          </m:r>
                        </m:den>
                      </m:f>
                      <m:r>
                        <a:rPr lang="en-GB" sz="18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𝐼</m:t>
                      </m:r>
                      <m:d>
                        <m:dPr>
                          <m:ctrlP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2,3</m:t>
                          </m:r>
                        </m:e>
                      </m:d>
                      <m:r>
                        <a:rPr lang="en-US" sz="1800" i="1" dirty="0" smtClean="0">
                          <a:solidFill>
                            <a:schemeClr val="tx1"/>
                          </a:solidFill>
                          <a:latin typeface="Cambria Math" panose="02040503050406030204" pitchFamily="18" charset="0"/>
                          <a:cs typeface="Times New Roman" panose="02020603050405020304" pitchFamily="18" charset="0"/>
                        </a:rPr>
                        <m:t>+</m:t>
                      </m:r>
                      <m:f>
                        <m:fPr>
                          <m:ctrlPr>
                            <a:rPr lang="en-GB" sz="1800" b="0" i="1" smtClean="0">
                              <a:solidFill>
                                <a:schemeClr val="tx1"/>
                              </a:solidFill>
                              <a:latin typeface="Cambria Math" panose="02040503050406030204" pitchFamily="18" charset="0"/>
                              <a:cs typeface="Times New Roman" panose="02020603050405020304" pitchFamily="18" charset="0"/>
                            </a:rPr>
                          </m:ctrlPr>
                        </m:fPr>
                        <m:num>
                          <m:r>
                            <a:rPr lang="en-GB" sz="1800" b="0" i="1" smtClean="0">
                              <a:solidFill>
                                <a:schemeClr val="tx1"/>
                              </a:solidFill>
                              <a:latin typeface="Cambria Math" panose="02040503050406030204" pitchFamily="18" charset="0"/>
                              <a:cs typeface="Times New Roman" panose="02020603050405020304" pitchFamily="18" charset="0"/>
                            </a:rPr>
                            <m:t>4</m:t>
                          </m:r>
                        </m:num>
                        <m:den>
                          <m:r>
                            <a:rPr lang="en-GB" sz="1800" i="1">
                              <a:solidFill>
                                <a:schemeClr val="tx1"/>
                              </a:solidFill>
                              <a:latin typeface="Cambria Math" panose="02040503050406030204" pitchFamily="18" charset="0"/>
                              <a:cs typeface="Times New Roman" panose="02020603050405020304" pitchFamily="18" charset="0"/>
                            </a:rPr>
                            <m:t>14</m:t>
                          </m:r>
                        </m:den>
                      </m:f>
                      <m:r>
                        <a:rPr lang="en-GB" sz="18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𝐼</m:t>
                      </m:r>
                      <m:d>
                        <m:dPr>
                          <m:ctrlP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4,0</m:t>
                          </m:r>
                        </m:e>
                      </m:d>
                      <m:r>
                        <a:rPr lang="en-US" sz="1800" i="1" dirty="0" smtClean="0">
                          <a:solidFill>
                            <a:schemeClr val="tx1"/>
                          </a:solidFill>
                          <a:latin typeface="Cambria Math" panose="02040503050406030204" pitchFamily="18" charset="0"/>
                          <a:cs typeface="Times New Roman" panose="02020603050405020304" pitchFamily="18" charset="0"/>
                        </a:rPr>
                        <m:t>+</m:t>
                      </m:r>
                      <m:f>
                        <m:fPr>
                          <m:ctrlPr>
                            <a:rPr lang="en-GB" sz="1800" i="1">
                              <a:solidFill>
                                <a:srgbClr val="00B0F0"/>
                              </a:solidFill>
                              <a:latin typeface="Cambria Math" panose="02040503050406030204" pitchFamily="18" charset="0"/>
                              <a:cs typeface="Times New Roman" panose="02020603050405020304" pitchFamily="18" charset="0"/>
                            </a:rPr>
                          </m:ctrlPr>
                        </m:fPr>
                        <m:num>
                          <m:r>
                            <a:rPr lang="en-GB" sz="1800" i="1">
                              <a:solidFill>
                                <a:srgbClr val="00B0F0"/>
                              </a:solidFill>
                              <a:latin typeface="Cambria Math" panose="02040503050406030204" pitchFamily="18" charset="0"/>
                              <a:cs typeface="Times New Roman" panose="02020603050405020304" pitchFamily="18" charset="0"/>
                            </a:rPr>
                            <m:t>5</m:t>
                          </m:r>
                        </m:num>
                        <m:den>
                          <m:r>
                            <a:rPr lang="en-GB" sz="1800" i="1">
                              <a:solidFill>
                                <a:srgbClr val="00B0F0"/>
                              </a:solidFill>
                              <a:latin typeface="Cambria Math" panose="02040503050406030204" pitchFamily="18" charset="0"/>
                              <a:cs typeface="Times New Roman" panose="02020603050405020304" pitchFamily="18" charset="0"/>
                            </a:rPr>
                            <m:t>14</m:t>
                          </m:r>
                        </m:den>
                      </m:f>
                      <m:r>
                        <a:rPr lang="en-GB" sz="18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𝐼</m:t>
                      </m:r>
                      <m:d>
                        <m:dPr>
                          <m:ctrlPr>
                            <a:rPr lang="en-US" sz="1800" b="0" i="1" smtClean="0">
                              <a:solidFill>
                                <a:srgbClr val="00B0F0"/>
                              </a:solidFill>
                              <a:latin typeface="Cambria Math" panose="02040503050406030204"/>
                              <a:ea typeface="Cambria Math" panose="02040503050406030204" pitchFamily="18" charset="0"/>
                              <a:cs typeface="Times New Roman" panose="02020603050405020304" pitchFamily="18" charset="0"/>
                            </a:rPr>
                          </m:ctrlPr>
                        </m:dPr>
                        <m:e>
                          <m:r>
                            <a:rPr lang="en-US" sz="1800" b="0" i="1" smtClean="0">
                              <a:solidFill>
                                <a:srgbClr val="00B0F0"/>
                              </a:solidFill>
                              <a:latin typeface="Cambria Math" panose="02040503050406030204"/>
                              <a:ea typeface="Cambria Math" panose="02040503050406030204" pitchFamily="18" charset="0"/>
                              <a:cs typeface="Times New Roman" panose="02020603050405020304" pitchFamily="18" charset="0"/>
                            </a:rPr>
                            <m:t>3</m:t>
                          </m:r>
                          <m:r>
                            <a:rPr lang="en-GB" sz="18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m:t>
                          </m:r>
                          <m:r>
                            <a:rPr lang="en-US" sz="1800" b="0" i="1" smtClean="0">
                              <a:solidFill>
                                <a:srgbClr val="00B0F0"/>
                              </a:solidFill>
                              <a:latin typeface="Cambria Math" panose="02040503050406030204"/>
                              <a:ea typeface="Cambria Math" panose="02040503050406030204" pitchFamily="18" charset="0"/>
                              <a:cs typeface="Times New Roman" panose="02020603050405020304" pitchFamily="18" charset="0"/>
                            </a:rPr>
                            <m:t>2</m:t>
                          </m:r>
                        </m:e>
                      </m:d>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=0.694</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f>
                      <m:fPr>
                        <m:ctrlPr>
                          <a:rPr lang="en-GB" sz="1800" b="1" i="1" smtClean="0">
                            <a:solidFill>
                              <a:schemeClr val="tx1"/>
                            </a:solidFill>
                            <a:latin typeface="Cambria Math" panose="02040503050406030204" pitchFamily="18" charset="0"/>
                            <a:cs typeface="Times New Roman" panose="02020603050405020304" pitchFamily="18" charset="0"/>
                          </a:rPr>
                        </m:ctrlPr>
                      </m:fPr>
                      <m:num>
                        <m:r>
                          <a:rPr lang="en-GB" sz="1800" b="1" i="1" smtClean="0">
                            <a:solidFill>
                              <a:schemeClr val="tx1"/>
                            </a:solidFill>
                            <a:latin typeface="Cambria Math" panose="02040503050406030204" pitchFamily="18" charset="0"/>
                            <a:cs typeface="Times New Roman" panose="02020603050405020304" pitchFamily="18" charset="0"/>
                          </a:rPr>
                          <m:t>𝟓</m:t>
                        </m:r>
                      </m:num>
                      <m:den>
                        <m:r>
                          <a:rPr lang="en-GB" sz="1800" b="1" i="1" smtClean="0">
                            <a:solidFill>
                              <a:schemeClr val="tx1"/>
                            </a:solidFill>
                            <a:latin typeface="Cambria Math" panose="02040503050406030204" pitchFamily="18" charset="0"/>
                            <a:cs typeface="Times New Roman" panose="02020603050405020304" pitchFamily="18" charset="0"/>
                          </a:rPr>
                          <m:t>𝟏𝟒</m:t>
                        </m:r>
                      </m:den>
                    </m:f>
                    <m:r>
                      <a:rPr lang="en-GB" sz="1800"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𝑰</m:t>
                    </m:r>
                    <m:r>
                      <a:rPr lang="en-GB" sz="1800"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𝟐</m:t>
                    </m:r>
                    <m:r>
                      <a:rPr lang="en-GB" sz="1800"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𝟑</m:t>
                    </m:r>
                    <m:r>
                      <a:rPr lang="en-GB" sz="1800"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sz="1800" b="1" dirty="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means “age &lt;=30” has 5 out of 14 samples, with 2 yes’es  and 3 no’s. </a:t>
                </a: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3951287" cy="5257800"/>
              </a:xfrm>
              <a:blipFill rotWithShape="1">
                <a:blip r:embed="rId2"/>
                <a:stretch>
                  <a:fillRect r="8"/>
                </a:stretch>
              </a:blipFill>
            </p:spPr>
            <p:txBody>
              <a:bodyPr/>
              <a:lstStyle/>
              <a:p>
                <a:r>
                  <a:rPr lang="en-US" altLang="en-US">
                    <a:noFill/>
                  </a:rPr>
                  <a:t> </a:t>
                </a:r>
              </a:p>
            </p:txBody>
          </p:sp>
        </mc:Fallback>
      </mc:AlternateContent>
      <p:graphicFrame>
        <p:nvGraphicFramePr>
          <p:cNvPr id="5" name="Object 1024"/>
          <p:cNvGraphicFramePr/>
          <p:nvPr/>
        </p:nvGraphicFramePr>
        <p:xfrm>
          <a:off x="4637088" y="1371600"/>
          <a:ext cx="4474256" cy="5105400"/>
        </p:xfrm>
        <a:graphic>
          <a:graphicData uri="http://schemas.openxmlformats.org/presentationml/2006/ole">
            <mc:AlternateContent xmlns:mc="http://schemas.openxmlformats.org/markup-compatibility/2006">
              <mc:Choice xmlns:v="urn:schemas-microsoft-com:vml" Requires="v">
                <p:oleObj name="Worksheet" r:id="rId3" imgW="5441315" imgH="4204335" progId="Excel.Sheet.8">
                  <p:embed/>
                </p:oleObj>
              </mc:Choice>
              <mc:Fallback>
                <p:oleObj name="Worksheet" r:id="rId3" imgW="5441315" imgH="4204335" progId="Excel.Sheet.8">
                  <p:embed/>
                  <p:pic>
                    <p:nvPicPr>
                      <p:cNvPr id="0" name="Picture 829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7088" y="1371600"/>
                        <a:ext cx="4474256" cy="5105400"/>
                      </a:xfrm>
                      <a:prstGeom prst="rect">
                        <a:avLst/>
                      </a:prstGeom>
                      <a:noFill/>
                      <a:ln>
                        <a:noFill/>
                      </a:ln>
                    </p:spPr>
                  </p:pic>
                </p:oleObj>
              </mc:Fallback>
            </mc:AlternateContent>
          </a:graphicData>
        </a:graphic>
      </p:graphicFrame>
      <p:sp>
        <p:nvSpPr>
          <p:cNvPr id="4" name="Oval 3"/>
          <p:cNvSpPr/>
          <p:nvPr/>
        </p:nvSpPr>
        <p:spPr>
          <a:xfrm>
            <a:off x="8142514" y="27432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p:cNvSpPr/>
          <p:nvPr/>
        </p:nvSpPr>
        <p:spPr>
          <a:xfrm>
            <a:off x="8142514" y="31242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p:cNvSpPr/>
          <p:nvPr/>
        </p:nvSpPr>
        <p:spPr>
          <a:xfrm>
            <a:off x="8142514" y="34290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p:cNvSpPr/>
          <p:nvPr/>
        </p:nvSpPr>
        <p:spPr>
          <a:xfrm>
            <a:off x="8118072" y="48006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8124028" y="61722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p:cNvSpPr/>
          <p:nvPr/>
        </p:nvSpPr>
        <p:spPr>
          <a:xfrm>
            <a:off x="4572000" y="2773392"/>
            <a:ext cx="566058"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p:cNvSpPr/>
          <p:nvPr/>
        </p:nvSpPr>
        <p:spPr>
          <a:xfrm>
            <a:off x="4572000" y="3124200"/>
            <a:ext cx="566058"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p:cNvSpPr/>
          <p:nvPr/>
        </p:nvSpPr>
        <p:spPr>
          <a:xfrm>
            <a:off x="4561936" y="3429000"/>
            <a:ext cx="566058"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p:cNvSpPr/>
          <p:nvPr/>
        </p:nvSpPr>
        <p:spPr>
          <a:xfrm>
            <a:off x="4606712" y="4758905"/>
            <a:ext cx="566058"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p:cNvSpPr/>
          <p:nvPr/>
        </p:nvSpPr>
        <p:spPr>
          <a:xfrm>
            <a:off x="4580833" y="6139132"/>
            <a:ext cx="566058"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Classification : Decision Tree</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3951287" cy="52578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Information needed (after using A to split D into v partitions)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m:sSub>
                        <m:sSubPr>
                          <m:ctrlPr>
                            <a:rPr lang="en-GB" sz="1800" b="0" i="1" smtClean="0">
                              <a:solidFill>
                                <a:schemeClr val="tx1"/>
                              </a:solidFill>
                              <a:latin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cs typeface="Times New Roman" panose="02020603050405020304" pitchFamily="18" charset="0"/>
                            </a:rPr>
                            <m:t>𝐼𝑛𝑓𝑜</m:t>
                          </m:r>
                        </m:e>
                        <m:sub>
                          <m:r>
                            <a:rPr lang="en-GB" sz="1800" b="0" i="1" smtClean="0">
                              <a:solidFill>
                                <a:schemeClr val="tx1"/>
                              </a:solidFill>
                              <a:latin typeface="Cambria Math" panose="02040503050406030204" pitchFamily="18" charset="0"/>
                              <a:cs typeface="Times New Roman" panose="02020603050405020304" pitchFamily="18" charset="0"/>
                            </a:rPr>
                            <m:t>𝐴</m:t>
                          </m:r>
                        </m:sub>
                      </m:sSub>
                      <m:d>
                        <m:dPr>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𝐷</m:t>
                          </m:r>
                        </m:e>
                      </m:d>
                      <m:r>
                        <a:rPr lang="en-GB" sz="1800" b="0" i="1" smtClean="0">
                          <a:solidFill>
                            <a:schemeClr val="tx1"/>
                          </a:solidFill>
                          <a:latin typeface="Cambria Math" panose="02040503050406030204" pitchFamily="18" charset="0"/>
                          <a:cs typeface="Times New Roman" panose="02020603050405020304" pitchFamily="18" charset="0"/>
                        </a:rPr>
                        <m:t>=</m:t>
                      </m:r>
                      <m:nary>
                        <m:naryPr>
                          <m:chr m:val="∑"/>
                          <m:ctrlPr>
                            <a:rPr lang="en-GB" sz="1800" b="0" i="1" smtClean="0">
                              <a:solidFill>
                                <a:schemeClr val="tx1"/>
                              </a:solidFill>
                              <a:latin typeface="Cambria Math" panose="02040503050406030204" pitchFamily="18" charset="0"/>
                              <a:cs typeface="Times New Roman" panose="02020603050405020304" pitchFamily="18" charset="0"/>
                            </a:rPr>
                          </m:ctrlPr>
                        </m:naryPr>
                        <m:sub>
                          <m:r>
                            <m:rPr>
                              <m:brk m:alnAt="23"/>
                            </m:rPr>
                            <a:rPr lang="en-GB" sz="1800" b="0" i="1" smtClean="0">
                              <a:solidFill>
                                <a:schemeClr val="tx1"/>
                              </a:solidFill>
                              <a:latin typeface="Cambria Math" panose="02040503050406030204" pitchFamily="18" charset="0"/>
                              <a:cs typeface="Times New Roman" panose="02020603050405020304" pitchFamily="18" charset="0"/>
                            </a:rPr>
                            <m:t>𝑗</m:t>
                          </m:r>
                          <m:r>
                            <a:rPr lang="en-GB" sz="1800" b="0" i="1" smtClean="0">
                              <a:solidFill>
                                <a:schemeClr val="tx1"/>
                              </a:solidFill>
                              <a:latin typeface="Cambria Math" panose="02040503050406030204" pitchFamily="18" charset="0"/>
                              <a:cs typeface="Times New Roman" panose="02020603050405020304" pitchFamily="18" charset="0"/>
                            </a:rPr>
                            <m:t>=1</m:t>
                          </m:r>
                        </m:sub>
                        <m:sup>
                          <m:r>
                            <a:rPr lang="en-GB" sz="1800" b="0" i="1" smtClean="0">
                              <a:solidFill>
                                <a:schemeClr val="tx1"/>
                              </a:solidFill>
                              <a:latin typeface="Cambria Math" panose="02040503050406030204" pitchFamily="18" charset="0"/>
                              <a:cs typeface="Times New Roman" panose="02020603050405020304" pitchFamily="18" charset="0"/>
                            </a:rPr>
                            <m:t>𝑣</m:t>
                          </m:r>
                        </m:sup>
                        <m:e>
                          <m:f>
                            <m:fPr>
                              <m:ctrlPr>
                                <a:rPr lang="en-GB" sz="1800" b="0" i="1" smtClean="0">
                                  <a:solidFill>
                                    <a:schemeClr val="tx1"/>
                                  </a:solidFill>
                                  <a:latin typeface="Cambria Math" panose="02040503050406030204" pitchFamily="18" charset="0"/>
                                  <a:cs typeface="Times New Roman" panose="02020603050405020304" pitchFamily="18" charset="0"/>
                                </a:rPr>
                              </m:ctrlPr>
                            </m:fPr>
                            <m:num>
                              <m:d>
                                <m:dPr>
                                  <m:begChr m:val="|"/>
                                  <m:endChr m:val="|"/>
                                  <m:ctrlPr>
                                    <a:rPr lang="en-GB" sz="1800" b="0" i="1" smtClean="0">
                                      <a:solidFill>
                                        <a:schemeClr val="tx1"/>
                                      </a:solidFill>
                                      <a:latin typeface="Cambria Math" panose="02040503050406030204" pitchFamily="18" charset="0"/>
                                      <a:cs typeface="Times New Roman" panose="02020603050405020304" pitchFamily="18" charset="0"/>
                                    </a:rPr>
                                  </m:ctrlPr>
                                </m:dPr>
                                <m:e>
                                  <m:sSub>
                                    <m:sSubPr>
                                      <m:ctrlPr>
                                        <a:rPr lang="en-GB" sz="1800" b="0" i="1" smtClean="0">
                                          <a:solidFill>
                                            <a:schemeClr val="tx1"/>
                                          </a:solidFill>
                                          <a:latin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cs typeface="Times New Roman" panose="02020603050405020304" pitchFamily="18" charset="0"/>
                                        </a:rPr>
                                        <m:t>𝐷</m:t>
                                      </m:r>
                                    </m:e>
                                    <m:sub>
                                      <m:r>
                                        <a:rPr lang="en-GB" sz="1800" b="0" i="1" smtClean="0">
                                          <a:solidFill>
                                            <a:schemeClr val="tx1"/>
                                          </a:solidFill>
                                          <a:latin typeface="Cambria Math" panose="02040503050406030204" pitchFamily="18" charset="0"/>
                                          <a:cs typeface="Times New Roman" panose="02020603050405020304" pitchFamily="18" charset="0"/>
                                        </a:rPr>
                                        <m:t>𝑗</m:t>
                                      </m:r>
                                    </m:sub>
                                  </m:sSub>
                                </m:e>
                              </m:d>
                            </m:num>
                            <m:den>
                              <m:d>
                                <m:dPr>
                                  <m:begChr m:val="|"/>
                                  <m:endChr m:val="|"/>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𝐷</m:t>
                                  </m:r>
                                </m:e>
                              </m:d>
                            </m:den>
                          </m:f>
                        </m:e>
                      </m:nary>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𝐼𝑛𝑓𝑜</m:t>
                      </m:r>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𝐷</m:t>
                          </m:r>
                        </m:e>
                        <m:sub>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𝑗</m:t>
                          </m:r>
                        </m:sub>
                      </m:sSub>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GB"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Similarly</a:t>
                </a:r>
              </a:p>
              <a:p>
                <a:pPr algn="just"/>
                <a14:m>
                  <m:oMathPara xmlns:m="http://schemas.openxmlformats.org/officeDocument/2006/math">
                    <m:oMathParaPr>
                      <m:jc m:val="left"/>
                    </m:oMathParaPr>
                    <m:oMath>
                      <m:sSub>
                        <m:sSubPr>
                          <m:ctrlPr>
                            <a:rPr lang="en-GB" sz="1800" b="0" i="1" smtClean="0">
                              <a:solidFill>
                                <a:schemeClr val="tx1"/>
                              </a:solidFill>
                              <a:latin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cs typeface="Times New Roman" panose="02020603050405020304" pitchFamily="18" charset="0"/>
                            </a:rPr>
                            <m:t>𝐼𝑛𝑓𝑜</m:t>
                          </m:r>
                        </m:e>
                        <m:sub>
                          <m:r>
                            <a:rPr lang="en-GB" sz="1800" b="0" i="1" smtClean="0">
                              <a:solidFill>
                                <a:schemeClr val="tx1"/>
                              </a:solidFill>
                              <a:latin typeface="Cambria Math" panose="02040503050406030204" pitchFamily="18" charset="0"/>
                              <a:cs typeface="Times New Roman" panose="02020603050405020304" pitchFamily="18" charset="0"/>
                            </a:rPr>
                            <m:t>𝑖𝑛𝑐𝑜𝑚𝑒</m:t>
                          </m:r>
                        </m:sub>
                      </m:sSub>
                      <m:d>
                        <m:dPr>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𝐷</m:t>
                          </m:r>
                        </m:e>
                      </m:d>
                      <m:r>
                        <a:rPr lang="en-GB" sz="1800" b="0" i="1" smtClean="0">
                          <a:solidFill>
                            <a:schemeClr val="tx1"/>
                          </a:solidFill>
                          <a:latin typeface="Cambria Math" panose="02040503050406030204" pitchFamily="18" charset="0"/>
                          <a:cs typeface="Times New Roman" panose="02020603050405020304" pitchFamily="18" charset="0"/>
                        </a:rPr>
                        <m:t>=</m:t>
                      </m:r>
                      <m:nary>
                        <m:naryPr>
                          <m:chr m:val="∑"/>
                          <m:ctrlPr>
                            <a:rPr lang="en-GB" sz="1800" b="0" i="1" smtClean="0">
                              <a:solidFill>
                                <a:schemeClr val="tx1"/>
                              </a:solidFill>
                              <a:latin typeface="Cambria Math" panose="02040503050406030204" pitchFamily="18" charset="0"/>
                              <a:cs typeface="Times New Roman" panose="02020603050405020304" pitchFamily="18" charset="0"/>
                            </a:rPr>
                          </m:ctrlPr>
                        </m:naryPr>
                        <m:sub>
                          <m:r>
                            <m:rPr>
                              <m:brk m:alnAt="23"/>
                            </m:rPr>
                            <a:rPr lang="en-GB" sz="1800" b="0" i="1" smtClean="0">
                              <a:solidFill>
                                <a:schemeClr val="tx1"/>
                              </a:solidFill>
                              <a:latin typeface="Cambria Math" panose="02040503050406030204" pitchFamily="18" charset="0"/>
                              <a:cs typeface="Times New Roman" panose="02020603050405020304" pitchFamily="18" charset="0"/>
                            </a:rPr>
                            <m:t>𝑗</m:t>
                          </m:r>
                          <m:r>
                            <a:rPr lang="en-GB" sz="1800" b="0" i="1" smtClean="0">
                              <a:solidFill>
                                <a:schemeClr val="tx1"/>
                              </a:solidFill>
                              <a:latin typeface="Cambria Math" panose="02040503050406030204" pitchFamily="18" charset="0"/>
                              <a:cs typeface="Times New Roman" panose="02020603050405020304" pitchFamily="18" charset="0"/>
                            </a:rPr>
                            <m:t>=1</m:t>
                          </m:r>
                        </m:sub>
                        <m:sup>
                          <m:r>
                            <a:rPr lang="en-GB" sz="1800" b="0" i="1" smtClean="0">
                              <a:solidFill>
                                <a:schemeClr val="tx1"/>
                              </a:solidFill>
                              <a:latin typeface="Cambria Math" panose="02040503050406030204" pitchFamily="18" charset="0"/>
                              <a:cs typeface="Times New Roman" panose="02020603050405020304" pitchFamily="18" charset="0"/>
                            </a:rPr>
                            <m:t>3</m:t>
                          </m:r>
                        </m:sup>
                        <m:e>
                          <m:f>
                            <m:fPr>
                              <m:ctrlPr>
                                <a:rPr lang="en-GB" sz="1800" b="0" i="1" smtClean="0">
                                  <a:solidFill>
                                    <a:schemeClr val="tx1"/>
                                  </a:solidFill>
                                  <a:latin typeface="Cambria Math" panose="02040503050406030204" pitchFamily="18" charset="0"/>
                                  <a:cs typeface="Times New Roman" panose="02020603050405020304" pitchFamily="18" charset="0"/>
                                </a:rPr>
                              </m:ctrlPr>
                            </m:fPr>
                            <m:num>
                              <m:d>
                                <m:dPr>
                                  <m:begChr m:val="|"/>
                                  <m:endChr m:val="|"/>
                                  <m:ctrlPr>
                                    <a:rPr lang="en-GB" sz="1800" b="0" i="1" smtClean="0">
                                      <a:solidFill>
                                        <a:schemeClr val="tx1"/>
                                      </a:solidFill>
                                      <a:latin typeface="Cambria Math" panose="02040503050406030204" pitchFamily="18" charset="0"/>
                                      <a:cs typeface="Times New Roman" panose="02020603050405020304" pitchFamily="18" charset="0"/>
                                    </a:rPr>
                                  </m:ctrlPr>
                                </m:dPr>
                                <m:e>
                                  <m:sSub>
                                    <m:sSubPr>
                                      <m:ctrlPr>
                                        <a:rPr lang="en-GB" sz="1800" b="0" i="1" smtClean="0">
                                          <a:solidFill>
                                            <a:schemeClr val="tx1"/>
                                          </a:solidFill>
                                          <a:latin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cs typeface="Times New Roman" panose="02020603050405020304" pitchFamily="18" charset="0"/>
                                        </a:rPr>
                                        <m:t>𝐷</m:t>
                                      </m:r>
                                    </m:e>
                                    <m:sub>
                                      <m:r>
                                        <a:rPr lang="en-GB" sz="1800" b="0" i="1" smtClean="0">
                                          <a:solidFill>
                                            <a:schemeClr val="tx1"/>
                                          </a:solidFill>
                                          <a:latin typeface="Cambria Math" panose="02040503050406030204" pitchFamily="18" charset="0"/>
                                          <a:cs typeface="Times New Roman" panose="02020603050405020304" pitchFamily="18" charset="0"/>
                                        </a:rPr>
                                        <m:t>𝑗</m:t>
                                      </m:r>
                                    </m:sub>
                                  </m:sSub>
                                </m:e>
                              </m:d>
                            </m:num>
                            <m:den>
                              <m:d>
                                <m:dPr>
                                  <m:begChr m:val="|"/>
                                  <m:endChr m:val="|"/>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𝐷</m:t>
                                  </m:r>
                                </m:e>
                              </m:d>
                            </m:den>
                          </m:f>
                        </m:e>
                      </m:nary>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𝐼𝑛𝑓𝑜</m:t>
                      </m:r>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𝐷</m:t>
                          </m:r>
                        </m:e>
                        <m:sub>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𝑗</m:t>
                          </m:r>
                        </m:sub>
                      </m:sSub>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
                      <m:r>
                        <a:rPr lang="en-GB" sz="1800" b="0" i="1" smtClean="0">
                          <a:solidFill>
                            <a:schemeClr val="tx1"/>
                          </a:solidFill>
                          <a:latin typeface="Cambria Math" panose="02040503050406030204" pitchFamily="18" charset="0"/>
                          <a:cs typeface="Times New Roman" panose="02020603050405020304" pitchFamily="18" charset="0"/>
                        </a:rPr>
                        <m:t>=</m:t>
                      </m:r>
                      <m:f>
                        <m:fPr>
                          <m:ctrlPr>
                            <a:rPr lang="en-GB" sz="1800" b="0" i="1" smtClean="0">
                              <a:solidFill>
                                <a:srgbClr val="0070C0"/>
                              </a:solidFill>
                              <a:latin typeface="Cambria Math" panose="02040503050406030204" pitchFamily="18" charset="0"/>
                              <a:cs typeface="Times New Roman" panose="02020603050405020304" pitchFamily="18" charset="0"/>
                            </a:rPr>
                          </m:ctrlPr>
                        </m:fPr>
                        <m:num>
                          <m:r>
                            <a:rPr lang="en-GB" sz="1800" b="0" i="1" smtClean="0">
                              <a:solidFill>
                                <a:srgbClr val="0070C0"/>
                              </a:solidFill>
                              <a:latin typeface="Cambria Math" panose="02040503050406030204" pitchFamily="18" charset="0"/>
                              <a:cs typeface="Times New Roman" panose="02020603050405020304" pitchFamily="18" charset="0"/>
                            </a:rPr>
                            <m:t>4</m:t>
                          </m:r>
                        </m:num>
                        <m:den>
                          <m:r>
                            <a:rPr lang="en-GB" sz="1800" b="0" i="1" smtClean="0">
                              <a:solidFill>
                                <a:srgbClr val="0070C0"/>
                              </a:solidFill>
                              <a:latin typeface="Cambria Math" panose="02040503050406030204" pitchFamily="18" charset="0"/>
                              <a:cs typeface="Times New Roman" panose="02020603050405020304" pitchFamily="18" charset="0"/>
                            </a:rPr>
                            <m:t>14</m:t>
                          </m:r>
                        </m:den>
                      </m:f>
                      <m:r>
                        <a:rPr lang="en-GB" sz="18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i="1"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𝐼</m:t>
                      </m:r>
                      <m:d>
                        <m:dPr>
                          <m:ctrlPr>
                            <a:rPr lang="en-GB" sz="1800" b="0" i="1"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ctrlPr>
                        </m:dPr>
                        <m:e>
                          <m:r>
                            <a:rPr lang="en-GB" sz="1800" b="0" i="1"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2,2</m:t>
                          </m:r>
                        </m:e>
                      </m:d>
                      <m:r>
                        <a:rPr lang="en-US" sz="1800" i="1" dirty="0" smtClean="0">
                          <a:solidFill>
                            <a:schemeClr val="tx1"/>
                          </a:solidFill>
                          <a:latin typeface="Cambria Math" panose="02040503050406030204" pitchFamily="18" charset="0"/>
                          <a:cs typeface="Times New Roman" panose="02020603050405020304" pitchFamily="18" charset="0"/>
                        </a:rPr>
                        <m:t>+</m:t>
                      </m:r>
                      <m:f>
                        <m:fPr>
                          <m:ctrlPr>
                            <a:rPr lang="en-GB" sz="1800" b="0" i="1" smtClean="0">
                              <a:solidFill>
                                <a:schemeClr val="tx1"/>
                              </a:solidFill>
                              <a:latin typeface="Cambria Math" panose="02040503050406030204" pitchFamily="18" charset="0"/>
                              <a:cs typeface="Times New Roman" panose="02020603050405020304" pitchFamily="18" charset="0"/>
                            </a:rPr>
                          </m:ctrlPr>
                        </m:fPr>
                        <m:num>
                          <m:r>
                            <a:rPr lang="en-GB" sz="1800" b="0" i="1" smtClean="0">
                              <a:solidFill>
                                <a:schemeClr val="tx1"/>
                              </a:solidFill>
                              <a:latin typeface="Cambria Math" panose="02040503050406030204" pitchFamily="18" charset="0"/>
                              <a:cs typeface="Times New Roman" panose="02020603050405020304" pitchFamily="18" charset="0"/>
                            </a:rPr>
                            <m:t>6</m:t>
                          </m:r>
                        </m:num>
                        <m:den>
                          <m:r>
                            <a:rPr lang="en-GB" sz="1800" i="1">
                              <a:solidFill>
                                <a:schemeClr val="tx1"/>
                              </a:solidFill>
                              <a:latin typeface="Cambria Math" panose="02040503050406030204" pitchFamily="18" charset="0"/>
                              <a:cs typeface="Times New Roman" panose="02020603050405020304" pitchFamily="18" charset="0"/>
                            </a:rPr>
                            <m:t>14</m:t>
                          </m:r>
                        </m:den>
                      </m:f>
                      <m:r>
                        <a:rPr lang="en-GB" sz="18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𝐼</m:t>
                      </m:r>
                      <m:d>
                        <m:dPr>
                          <m:ctrlP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4,2</m:t>
                          </m:r>
                        </m:e>
                      </m:d>
                      <m:r>
                        <a:rPr lang="en-US" sz="1800" i="1" dirty="0" smtClean="0">
                          <a:solidFill>
                            <a:schemeClr val="tx1"/>
                          </a:solidFill>
                          <a:latin typeface="Cambria Math" panose="02040503050406030204" pitchFamily="18" charset="0"/>
                          <a:cs typeface="Times New Roman" panose="02020603050405020304" pitchFamily="18" charset="0"/>
                        </a:rPr>
                        <m:t>+</m:t>
                      </m:r>
                      <m:f>
                        <m:fPr>
                          <m:ctrlPr>
                            <a:rPr lang="en-GB" sz="1800" b="0" i="1" smtClean="0">
                              <a:solidFill>
                                <a:schemeClr val="tx1"/>
                              </a:solidFill>
                              <a:latin typeface="Cambria Math" panose="02040503050406030204" pitchFamily="18" charset="0"/>
                              <a:cs typeface="Times New Roman" panose="02020603050405020304" pitchFamily="18" charset="0"/>
                            </a:rPr>
                          </m:ctrlPr>
                        </m:fPr>
                        <m:num>
                          <m:r>
                            <a:rPr lang="en-GB" sz="1800" b="0" i="1" smtClean="0">
                              <a:solidFill>
                                <a:schemeClr val="tx1"/>
                              </a:solidFill>
                              <a:latin typeface="Cambria Math" panose="02040503050406030204" pitchFamily="18" charset="0"/>
                              <a:cs typeface="Times New Roman" panose="02020603050405020304" pitchFamily="18" charset="0"/>
                            </a:rPr>
                            <m:t>4</m:t>
                          </m:r>
                        </m:num>
                        <m:den>
                          <m:r>
                            <a:rPr lang="en-GB" sz="1800" i="1">
                              <a:solidFill>
                                <a:schemeClr val="tx1"/>
                              </a:solidFill>
                              <a:latin typeface="Cambria Math" panose="02040503050406030204" pitchFamily="18" charset="0"/>
                              <a:cs typeface="Times New Roman" panose="02020603050405020304" pitchFamily="18" charset="0"/>
                            </a:rPr>
                            <m:t>14</m:t>
                          </m:r>
                        </m:den>
                      </m:f>
                      <m:r>
                        <a:rPr lang="en-GB" sz="18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𝐼</m:t>
                      </m:r>
                      <m:d>
                        <m:dPr>
                          <m:ctrlP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3</m:t>
                          </m:r>
                          <m:r>
                            <a:rPr lang="en-GB" sz="18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1</m:t>
                          </m:r>
                        </m:e>
                      </m:d>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=0.911</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3951287" cy="5257800"/>
              </a:xfrm>
              <a:blipFill rotWithShape="1">
                <a:blip r:embed="rId2"/>
                <a:stretch>
                  <a:fillRect r="8"/>
                </a:stretch>
              </a:blipFill>
            </p:spPr>
            <p:txBody>
              <a:bodyPr/>
              <a:lstStyle/>
              <a:p>
                <a:r>
                  <a:rPr lang="en-US" altLang="en-US">
                    <a:noFill/>
                  </a:rPr>
                  <a:t> </a:t>
                </a:r>
              </a:p>
            </p:txBody>
          </p:sp>
        </mc:Fallback>
      </mc:AlternateContent>
      <p:graphicFrame>
        <p:nvGraphicFramePr>
          <p:cNvPr id="5" name="Object 1024"/>
          <p:cNvGraphicFramePr/>
          <p:nvPr/>
        </p:nvGraphicFramePr>
        <p:xfrm>
          <a:off x="4637088" y="1371600"/>
          <a:ext cx="4474256" cy="5105400"/>
        </p:xfrm>
        <a:graphic>
          <a:graphicData uri="http://schemas.openxmlformats.org/presentationml/2006/ole">
            <mc:AlternateContent xmlns:mc="http://schemas.openxmlformats.org/markup-compatibility/2006">
              <mc:Choice xmlns:v="urn:schemas-microsoft-com:vml" Requires="v">
                <p:oleObj name="Worksheet" r:id="rId3" imgW="5441315" imgH="4204335" progId="Excel.Sheet.8">
                  <p:embed/>
                </p:oleObj>
              </mc:Choice>
              <mc:Fallback>
                <p:oleObj name="Worksheet" r:id="rId3" imgW="5441315" imgH="4204335" progId="Excel.Sheet.8">
                  <p:embed/>
                  <p:pic>
                    <p:nvPicPr>
                      <p:cNvPr id="0" name="Object 102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7088" y="1371600"/>
                        <a:ext cx="4474256" cy="5105400"/>
                      </a:xfrm>
                      <a:prstGeom prst="rect">
                        <a:avLst/>
                      </a:prstGeom>
                      <a:noFill/>
                      <a:ln>
                        <a:noFill/>
                      </a:ln>
                    </p:spPr>
                  </p:pic>
                </p:oleObj>
              </mc:Fallback>
            </mc:AlternateContent>
          </a:graphicData>
        </a:graphic>
      </p:graphicFrame>
      <p:sp>
        <p:nvSpPr>
          <p:cNvPr id="10" name="Oval 9"/>
          <p:cNvSpPr/>
          <p:nvPr/>
        </p:nvSpPr>
        <p:spPr>
          <a:xfrm>
            <a:off x="5257800" y="1752600"/>
            <a:ext cx="566058"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p:cNvSpPr/>
          <p:nvPr/>
        </p:nvSpPr>
        <p:spPr>
          <a:xfrm>
            <a:off x="5257800" y="2133600"/>
            <a:ext cx="566058"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p:cNvSpPr/>
          <p:nvPr/>
        </p:nvSpPr>
        <p:spPr>
          <a:xfrm>
            <a:off x="5257800" y="2438400"/>
            <a:ext cx="566058"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p:cNvSpPr/>
          <p:nvPr/>
        </p:nvSpPr>
        <p:spPr>
          <a:xfrm>
            <a:off x="5276491" y="5791200"/>
            <a:ext cx="566058"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p:cNvSpPr/>
          <p:nvPr/>
        </p:nvSpPr>
        <p:spPr>
          <a:xfrm>
            <a:off x="8142514" y="17526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p:cNvSpPr/>
          <p:nvPr/>
        </p:nvSpPr>
        <p:spPr>
          <a:xfrm>
            <a:off x="8142514" y="2107721"/>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p:cNvSpPr/>
          <p:nvPr/>
        </p:nvSpPr>
        <p:spPr>
          <a:xfrm>
            <a:off x="8142514" y="24384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p:cNvSpPr/>
          <p:nvPr/>
        </p:nvSpPr>
        <p:spPr>
          <a:xfrm>
            <a:off x="8142514" y="57912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Classification : Decision Tree</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3951287" cy="52578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Information needed (after using A to split D into v partitions)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m:sSub>
                        <m:sSubPr>
                          <m:ctrlPr>
                            <a:rPr lang="en-GB" sz="1800" b="0" i="1" smtClean="0">
                              <a:solidFill>
                                <a:schemeClr val="tx1"/>
                              </a:solidFill>
                              <a:latin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cs typeface="Times New Roman" panose="02020603050405020304" pitchFamily="18" charset="0"/>
                            </a:rPr>
                            <m:t>𝐼𝑛𝑓𝑜</m:t>
                          </m:r>
                        </m:e>
                        <m:sub>
                          <m:r>
                            <a:rPr lang="en-GB" sz="1800" b="0" i="1" smtClean="0">
                              <a:solidFill>
                                <a:schemeClr val="tx1"/>
                              </a:solidFill>
                              <a:latin typeface="Cambria Math" panose="02040503050406030204" pitchFamily="18" charset="0"/>
                              <a:cs typeface="Times New Roman" panose="02020603050405020304" pitchFamily="18" charset="0"/>
                            </a:rPr>
                            <m:t>𝐴</m:t>
                          </m:r>
                        </m:sub>
                      </m:sSub>
                      <m:d>
                        <m:dPr>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𝐷</m:t>
                          </m:r>
                        </m:e>
                      </m:d>
                      <m:r>
                        <a:rPr lang="en-GB" sz="1800" b="0" i="1" smtClean="0">
                          <a:solidFill>
                            <a:schemeClr val="tx1"/>
                          </a:solidFill>
                          <a:latin typeface="Cambria Math" panose="02040503050406030204" pitchFamily="18" charset="0"/>
                          <a:cs typeface="Times New Roman" panose="02020603050405020304" pitchFamily="18" charset="0"/>
                        </a:rPr>
                        <m:t>=</m:t>
                      </m:r>
                      <m:nary>
                        <m:naryPr>
                          <m:chr m:val="∑"/>
                          <m:ctrlPr>
                            <a:rPr lang="en-GB" sz="1800" b="0" i="1" smtClean="0">
                              <a:solidFill>
                                <a:schemeClr val="tx1"/>
                              </a:solidFill>
                              <a:latin typeface="Cambria Math" panose="02040503050406030204" pitchFamily="18" charset="0"/>
                              <a:cs typeface="Times New Roman" panose="02020603050405020304" pitchFamily="18" charset="0"/>
                            </a:rPr>
                          </m:ctrlPr>
                        </m:naryPr>
                        <m:sub>
                          <m:r>
                            <m:rPr>
                              <m:brk m:alnAt="23"/>
                            </m:rPr>
                            <a:rPr lang="en-GB" sz="1800" b="0" i="1" smtClean="0">
                              <a:solidFill>
                                <a:schemeClr val="tx1"/>
                              </a:solidFill>
                              <a:latin typeface="Cambria Math" panose="02040503050406030204" pitchFamily="18" charset="0"/>
                              <a:cs typeface="Times New Roman" panose="02020603050405020304" pitchFamily="18" charset="0"/>
                            </a:rPr>
                            <m:t>𝑗</m:t>
                          </m:r>
                          <m:r>
                            <a:rPr lang="en-GB" sz="1800" b="0" i="1" smtClean="0">
                              <a:solidFill>
                                <a:schemeClr val="tx1"/>
                              </a:solidFill>
                              <a:latin typeface="Cambria Math" panose="02040503050406030204" pitchFamily="18" charset="0"/>
                              <a:cs typeface="Times New Roman" panose="02020603050405020304" pitchFamily="18" charset="0"/>
                            </a:rPr>
                            <m:t>=1</m:t>
                          </m:r>
                        </m:sub>
                        <m:sup>
                          <m:r>
                            <a:rPr lang="en-GB" sz="1800" b="0" i="1" smtClean="0">
                              <a:solidFill>
                                <a:schemeClr val="tx1"/>
                              </a:solidFill>
                              <a:latin typeface="Cambria Math" panose="02040503050406030204" pitchFamily="18" charset="0"/>
                              <a:cs typeface="Times New Roman" panose="02020603050405020304" pitchFamily="18" charset="0"/>
                            </a:rPr>
                            <m:t>𝑣</m:t>
                          </m:r>
                        </m:sup>
                        <m:e>
                          <m:f>
                            <m:fPr>
                              <m:ctrlPr>
                                <a:rPr lang="en-GB" sz="1800" b="0" i="1" smtClean="0">
                                  <a:solidFill>
                                    <a:schemeClr val="tx1"/>
                                  </a:solidFill>
                                  <a:latin typeface="Cambria Math" panose="02040503050406030204" pitchFamily="18" charset="0"/>
                                  <a:cs typeface="Times New Roman" panose="02020603050405020304" pitchFamily="18" charset="0"/>
                                </a:rPr>
                              </m:ctrlPr>
                            </m:fPr>
                            <m:num>
                              <m:d>
                                <m:dPr>
                                  <m:begChr m:val="|"/>
                                  <m:endChr m:val="|"/>
                                  <m:ctrlPr>
                                    <a:rPr lang="en-GB" sz="1800" b="0" i="1" smtClean="0">
                                      <a:solidFill>
                                        <a:schemeClr val="tx1"/>
                                      </a:solidFill>
                                      <a:latin typeface="Cambria Math" panose="02040503050406030204" pitchFamily="18" charset="0"/>
                                      <a:cs typeface="Times New Roman" panose="02020603050405020304" pitchFamily="18" charset="0"/>
                                    </a:rPr>
                                  </m:ctrlPr>
                                </m:dPr>
                                <m:e>
                                  <m:sSub>
                                    <m:sSubPr>
                                      <m:ctrlPr>
                                        <a:rPr lang="en-GB" sz="1800" b="0" i="1" smtClean="0">
                                          <a:solidFill>
                                            <a:schemeClr val="tx1"/>
                                          </a:solidFill>
                                          <a:latin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cs typeface="Times New Roman" panose="02020603050405020304" pitchFamily="18" charset="0"/>
                                        </a:rPr>
                                        <m:t>𝐷</m:t>
                                      </m:r>
                                    </m:e>
                                    <m:sub>
                                      <m:r>
                                        <a:rPr lang="en-GB" sz="1800" b="0" i="1" smtClean="0">
                                          <a:solidFill>
                                            <a:schemeClr val="tx1"/>
                                          </a:solidFill>
                                          <a:latin typeface="Cambria Math" panose="02040503050406030204" pitchFamily="18" charset="0"/>
                                          <a:cs typeface="Times New Roman" panose="02020603050405020304" pitchFamily="18" charset="0"/>
                                        </a:rPr>
                                        <m:t>𝑗</m:t>
                                      </m:r>
                                    </m:sub>
                                  </m:sSub>
                                </m:e>
                              </m:d>
                            </m:num>
                            <m:den>
                              <m:d>
                                <m:dPr>
                                  <m:begChr m:val="|"/>
                                  <m:endChr m:val="|"/>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𝐷</m:t>
                                  </m:r>
                                </m:e>
                              </m:d>
                            </m:den>
                          </m:f>
                        </m:e>
                      </m:nary>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𝐼𝑛𝑓𝑜</m:t>
                      </m:r>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𝐷</m:t>
                          </m:r>
                        </m:e>
                        <m:sub>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𝑗</m:t>
                          </m:r>
                        </m:sub>
                      </m:sSub>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GB"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Similarly</a:t>
                </a:r>
              </a:p>
              <a:p>
                <a:pPr algn="just"/>
                <a14:m>
                  <m:oMathPara xmlns:m="http://schemas.openxmlformats.org/officeDocument/2006/math">
                    <m:oMathParaPr>
                      <m:jc m:val="left"/>
                    </m:oMathParaPr>
                    <m:oMath>
                      <m:sSub>
                        <m:sSubPr>
                          <m:ctrlPr>
                            <a:rPr lang="en-GB" sz="1800" b="0" i="1" smtClean="0">
                              <a:solidFill>
                                <a:schemeClr val="tx1"/>
                              </a:solidFill>
                              <a:latin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cs typeface="Times New Roman" panose="02020603050405020304" pitchFamily="18" charset="0"/>
                            </a:rPr>
                            <m:t>𝐼𝑛𝑓𝑜</m:t>
                          </m:r>
                        </m:e>
                        <m:sub>
                          <m:r>
                            <a:rPr lang="en-GB" sz="1800" b="0" i="1" smtClean="0">
                              <a:solidFill>
                                <a:schemeClr val="tx1"/>
                              </a:solidFill>
                              <a:latin typeface="Cambria Math" panose="02040503050406030204" pitchFamily="18" charset="0"/>
                              <a:cs typeface="Times New Roman" panose="02020603050405020304" pitchFamily="18" charset="0"/>
                            </a:rPr>
                            <m:t>𝑖𝑛𝑐𝑜𝑚𝑒</m:t>
                          </m:r>
                        </m:sub>
                      </m:sSub>
                      <m:d>
                        <m:dPr>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𝐷</m:t>
                          </m:r>
                        </m:e>
                      </m:d>
                      <m:r>
                        <a:rPr lang="en-GB" sz="1800" b="0" i="1" smtClean="0">
                          <a:solidFill>
                            <a:schemeClr val="tx1"/>
                          </a:solidFill>
                          <a:latin typeface="Cambria Math" panose="02040503050406030204" pitchFamily="18" charset="0"/>
                          <a:cs typeface="Times New Roman" panose="02020603050405020304" pitchFamily="18" charset="0"/>
                        </a:rPr>
                        <m:t>=</m:t>
                      </m:r>
                      <m:nary>
                        <m:naryPr>
                          <m:chr m:val="∑"/>
                          <m:ctrlPr>
                            <a:rPr lang="en-GB" sz="1800" b="0" i="1" smtClean="0">
                              <a:solidFill>
                                <a:schemeClr val="tx1"/>
                              </a:solidFill>
                              <a:latin typeface="Cambria Math" panose="02040503050406030204" pitchFamily="18" charset="0"/>
                              <a:cs typeface="Times New Roman" panose="02020603050405020304" pitchFamily="18" charset="0"/>
                            </a:rPr>
                          </m:ctrlPr>
                        </m:naryPr>
                        <m:sub>
                          <m:r>
                            <m:rPr>
                              <m:brk m:alnAt="23"/>
                            </m:rPr>
                            <a:rPr lang="en-GB" sz="1800" b="0" i="1" smtClean="0">
                              <a:solidFill>
                                <a:schemeClr val="tx1"/>
                              </a:solidFill>
                              <a:latin typeface="Cambria Math" panose="02040503050406030204" pitchFamily="18" charset="0"/>
                              <a:cs typeface="Times New Roman" panose="02020603050405020304" pitchFamily="18" charset="0"/>
                            </a:rPr>
                            <m:t>𝑗</m:t>
                          </m:r>
                          <m:r>
                            <a:rPr lang="en-GB" sz="1800" b="0" i="1" smtClean="0">
                              <a:solidFill>
                                <a:schemeClr val="tx1"/>
                              </a:solidFill>
                              <a:latin typeface="Cambria Math" panose="02040503050406030204" pitchFamily="18" charset="0"/>
                              <a:cs typeface="Times New Roman" panose="02020603050405020304" pitchFamily="18" charset="0"/>
                            </a:rPr>
                            <m:t>=1</m:t>
                          </m:r>
                        </m:sub>
                        <m:sup>
                          <m:r>
                            <a:rPr lang="en-GB" sz="1800" b="0" i="1" smtClean="0">
                              <a:solidFill>
                                <a:schemeClr val="tx1"/>
                              </a:solidFill>
                              <a:latin typeface="Cambria Math" panose="02040503050406030204" pitchFamily="18" charset="0"/>
                              <a:cs typeface="Times New Roman" panose="02020603050405020304" pitchFamily="18" charset="0"/>
                            </a:rPr>
                            <m:t>3</m:t>
                          </m:r>
                        </m:sup>
                        <m:e>
                          <m:f>
                            <m:fPr>
                              <m:ctrlPr>
                                <a:rPr lang="en-GB" sz="1800" b="0" i="1" smtClean="0">
                                  <a:solidFill>
                                    <a:schemeClr val="tx1"/>
                                  </a:solidFill>
                                  <a:latin typeface="Cambria Math" panose="02040503050406030204" pitchFamily="18" charset="0"/>
                                  <a:cs typeface="Times New Roman" panose="02020603050405020304" pitchFamily="18" charset="0"/>
                                </a:rPr>
                              </m:ctrlPr>
                            </m:fPr>
                            <m:num>
                              <m:d>
                                <m:dPr>
                                  <m:begChr m:val="|"/>
                                  <m:endChr m:val="|"/>
                                  <m:ctrlPr>
                                    <a:rPr lang="en-GB" sz="1800" b="0" i="1" smtClean="0">
                                      <a:solidFill>
                                        <a:schemeClr val="tx1"/>
                                      </a:solidFill>
                                      <a:latin typeface="Cambria Math" panose="02040503050406030204" pitchFamily="18" charset="0"/>
                                      <a:cs typeface="Times New Roman" panose="02020603050405020304" pitchFamily="18" charset="0"/>
                                    </a:rPr>
                                  </m:ctrlPr>
                                </m:dPr>
                                <m:e>
                                  <m:sSub>
                                    <m:sSubPr>
                                      <m:ctrlPr>
                                        <a:rPr lang="en-GB" sz="1800" b="0" i="1" smtClean="0">
                                          <a:solidFill>
                                            <a:schemeClr val="tx1"/>
                                          </a:solidFill>
                                          <a:latin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cs typeface="Times New Roman" panose="02020603050405020304" pitchFamily="18" charset="0"/>
                                        </a:rPr>
                                        <m:t>𝐷</m:t>
                                      </m:r>
                                    </m:e>
                                    <m:sub>
                                      <m:r>
                                        <a:rPr lang="en-GB" sz="1800" b="0" i="1" smtClean="0">
                                          <a:solidFill>
                                            <a:schemeClr val="tx1"/>
                                          </a:solidFill>
                                          <a:latin typeface="Cambria Math" panose="02040503050406030204" pitchFamily="18" charset="0"/>
                                          <a:cs typeface="Times New Roman" panose="02020603050405020304" pitchFamily="18" charset="0"/>
                                        </a:rPr>
                                        <m:t>𝑗</m:t>
                                      </m:r>
                                    </m:sub>
                                  </m:sSub>
                                </m:e>
                              </m:d>
                            </m:num>
                            <m:den>
                              <m:d>
                                <m:dPr>
                                  <m:begChr m:val="|"/>
                                  <m:endChr m:val="|"/>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𝐷</m:t>
                                  </m:r>
                                </m:e>
                              </m:d>
                            </m:den>
                          </m:f>
                        </m:e>
                      </m:nary>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𝐼𝑛𝑓𝑜</m:t>
                      </m:r>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𝐷</m:t>
                          </m:r>
                        </m:e>
                        <m:sub>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𝑗</m:t>
                          </m:r>
                        </m:sub>
                      </m:sSub>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
                      <m:r>
                        <a:rPr lang="en-GB" sz="1800" b="0" i="1" smtClean="0">
                          <a:solidFill>
                            <a:schemeClr val="tx1"/>
                          </a:solidFill>
                          <a:latin typeface="Cambria Math" panose="02040503050406030204" pitchFamily="18" charset="0"/>
                          <a:cs typeface="Times New Roman" panose="02020603050405020304" pitchFamily="18" charset="0"/>
                        </a:rPr>
                        <m:t>=</m:t>
                      </m:r>
                      <m:f>
                        <m:fPr>
                          <m:ctrlPr>
                            <a:rPr lang="en-GB" sz="1800" b="0" i="1" smtClean="0">
                              <a:solidFill>
                                <a:schemeClr val="tx1"/>
                              </a:solidFill>
                              <a:latin typeface="Cambria Math" panose="02040503050406030204" pitchFamily="18" charset="0"/>
                              <a:cs typeface="Times New Roman" panose="02020603050405020304" pitchFamily="18" charset="0"/>
                            </a:rPr>
                          </m:ctrlPr>
                        </m:fPr>
                        <m:num>
                          <m:r>
                            <a:rPr lang="en-GB" sz="1800" b="0" i="1" smtClean="0">
                              <a:solidFill>
                                <a:schemeClr val="tx1"/>
                              </a:solidFill>
                              <a:latin typeface="Cambria Math" panose="02040503050406030204" pitchFamily="18" charset="0"/>
                              <a:cs typeface="Times New Roman" panose="02020603050405020304" pitchFamily="18" charset="0"/>
                            </a:rPr>
                            <m:t>4</m:t>
                          </m:r>
                        </m:num>
                        <m:den>
                          <m:r>
                            <a:rPr lang="en-GB" sz="1800" b="0" i="1" smtClean="0">
                              <a:solidFill>
                                <a:schemeClr val="tx1"/>
                              </a:solidFill>
                              <a:latin typeface="Cambria Math" panose="02040503050406030204" pitchFamily="18" charset="0"/>
                              <a:cs typeface="Times New Roman" panose="02020603050405020304" pitchFamily="18" charset="0"/>
                            </a:rPr>
                            <m:t>14</m:t>
                          </m:r>
                        </m:den>
                      </m:f>
                      <m:r>
                        <a:rPr lang="en-GB" sz="18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𝐼</m:t>
                      </m:r>
                      <m:d>
                        <m:dPr>
                          <m:ctrlP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2,2</m:t>
                          </m:r>
                        </m:e>
                      </m:d>
                      <m:r>
                        <a:rPr lang="en-US" sz="1800" i="1" dirty="0" smtClean="0">
                          <a:solidFill>
                            <a:schemeClr val="tx1"/>
                          </a:solidFill>
                          <a:latin typeface="Cambria Math" panose="02040503050406030204" pitchFamily="18" charset="0"/>
                          <a:cs typeface="Times New Roman" panose="02020603050405020304" pitchFamily="18" charset="0"/>
                        </a:rPr>
                        <m:t>+</m:t>
                      </m:r>
                      <m:f>
                        <m:fPr>
                          <m:ctrlPr>
                            <a:rPr lang="en-GB" sz="1800" b="0" i="1" smtClean="0">
                              <a:solidFill>
                                <a:srgbClr val="0070C0"/>
                              </a:solidFill>
                              <a:latin typeface="Cambria Math" panose="02040503050406030204" pitchFamily="18" charset="0"/>
                              <a:cs typeface="Times New Roman" panose="02020603050405020304" pitchFamily="18" charset="0"/>
                            </a:rPr>
                          </m:ctrlPr>
                        </m:fPr>
                        <m:num>
                          <m:r>
                            <a:rPr lang="en-GB" sz="1800" b="0" i="1" smtClean="0">
                              <a:solidFill>
                                <a:srgbClr val="0070C0"/>
                              </a:solidFill>
                              <a:latin typeface="Cambria Math" panose="02040503050406030204" pitchFamily="18" charset="0"/>
                              <a:cs typeface="Times New Roman" panose="02020603050405020304" pitchFamily="18" charset="0"/>
                            </a:rPr>
                            <m:t>6</m:t>
                          </m:r>
                        </m:num>
                        <m:den>
                          <m:r>
                            <a:rPr lang="en-GB" sz="1800" i="1">
                              <a:solidFill>
                                <a:srgbClr val="0070C0"/>
                              </a:solidFill>
                              <a:latin typeface="Cambria Math" panose="02040503050406030204" pitchFamily="18" charset="0"/>
                              <a:cs typeface="Times New Roman" panose="02020603050405020304" pitchFamily="18" charset="0"/>
                            </a:rPr>
                            <m:t>14</m:t>
                          </m:r>
                        </m:den>
                      </m:f>
                      <m:r>
                        <a:rPr lang="en-GB" sz="18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𝐼</m:t>
                      </m:r>
                      <m:d>
                        <m:dPr>
                          <m:ctrlPr>
                            <a:rPr lang="en-GB" sz="1800" b="0" i="1"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ctrlPr>
                        </m:dPr>
                        <m:e>
                          <m:r>
                            <a:rPr lang="en-GB" sz="1800" b="0" i="1"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4,2</m:t>
                          </m:r>
                        </m:e>
                      </m:d>
                      <m:r>
                        <a:rPr lang="en-US" sz="1800" i="1" dirty="0" smtClean="0">
                          <a:solidFill>
                            <a:schemeClr val="tx1"/>
                          </a:solidFill>
                          <a:latin typeface="Cambria Math" panose="02040503050406030204" pitchFamily="18" charset="0"/>
                          <a:cs typeface="Times New Roman" panose="02020603050405020304" pitchFamily="18" charset="0"/>
                        </a:rPr>
                        <m:t>+</m:t>
                      </m:r>
                      <m:f>
                        <m:fPr>
                          <m:ctrlPr>
                            <a:rPr lang="en-GB" sz="1800" b="0" i="1" smtClean="0">
                              <a:solidFill>
                                <a:schemeClr val="tx1"/>
                              </a:solidFill>
                              <a:latin typeface="Cambria Math" panose="02040503050406030204" pitchFamily="18" charset="0"/>
                              <a:cs typeface="Times New Roman" panose="02020603050405020304" pitchFamily="18" charset="0"/>
                            </a:rPr>
                          </m:ctrlPr>
                        </m:fPr>
                        <m:num>
                          <m:r>
                            <a:rPr lang="en-GB" sz="1800" b="0" i="1" smtClean="0">
                              <a:solidFill>
                                <a:schemeClr val="tx1"/>
                              </a:solidFill>
                              <a:latin typeface="Cambria Math" panose="02040503050406030204" pitchFamily="18" charset="0"/>
                              <a:cs typeface="Times New Roman" panose="02020603050405020304" pitchFamily="18" charset="0"/>
                            </a:rPr>
                            <m:t>4</m:t>
                          </m:r>
                        </m:num>
                        <m:den>
                          <m:r>
                            <a:rPr lang="en-GB" sz="1800" i="1">
                              <a:solidFill>
                                <a:schemeClr val="tx1"/>
                              </a:solidFill>
                              <a:latin typeface="Cambria Math" panose="02040503050406030204" pitchFamily="18" charset="0"/>
                              <a:cs typeface="Times New Roman" panose="02020603050405020304" pitchFamily="18" charset="0"/>
                            </a:rPr>
                            <m:t>14</m:t>
                          </m:r>
                        </m:den>
                      </m:f>
                      <m:r>
                        <a:rPr lang="en-GB" sz="18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𝐼</m:t>
                      </m:r>
                      <m:d>
                        <m:dPr>
                          <m:ctrlP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3</m:t>
                          </m:r>
                          <m:r>
                            <a:rPr lang="en-GB" sz="18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1</m:t>
                          </m:r>
                        </m:e>
                      </m:d>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=0.911</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3951287" cy="5257800"/>
              </a:xfrm>
              <a:blipFill rotWithShape="1">
                <a:blip r:embed="rId2"/>
                <a:stretch>
                  <a:fillRect r="8"/>
                </a:stretch>
              </a:blipFill>
            </p:spPr>
            <p:txBody>
              <a:bodyPr/>
              <a:lstStyle/>
              <a:p>
                <a:r>
                  <a:rPr lang="en-US" altLang="en-US">
                    <a:noFill/>
                  </a:rPr>
                  <a:t> </a:t>
                </a:r>
              </a:p>
            </p:txBody>
          </p:sp>
        </mc:Fallback>
      </mc:AlternateContent>
      <p:graphicFrame>
        <p:nvGraphicFramePr>
          <p:cNvPr id="5" name="Object 1024"/>
          <p:cNvGraphicFramePr/>
          <p:nvPr/>
        </p:nvGraphicFramePr>
        <p:xfrm>
          <a:off x="4637088" y="1371600"/>
          <a:ext cx="4474256" cy="5105400"/>
        </p:xfrm>
        <a:graphic>
          <a:graphicData uri="http://schemas.openxmlformats.org/presentationml/2006/ole">
            <mc:AlternateContent xmlns:mc="http://schemas.openxmlformats.org/markup-compatibility/2006">
              <mc:Choice xmlns:v="urn:schemas-microsoft-com:vml" Requires="v">
                <p:oleObj name="Worksheet" r:id="rId3" imgW="5441315" imgH="4204335" progId="Excel.Sheet.8">
                  <p:embed/>
                </p:oleObj>
              </mc:Choice>
              <mc:Fallback>
                <p:oleObj name="Worksheet" r:id="rId3" imgW="5441315" imgH="4204335" progId="Excel.Sheet.8">
                  <p:embed/>
                  <p:pic>
                    <p:nvPicPr>
                      <p:cNvPr id="0" name="Picture 930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7088" y="1371600"/>
                        <a:ext cx="4474256" cy="5105400"/>
                      </a:xfrm>
                      <a:prstGeom prst="rect">
                        <a:avLst/>
                      </a:prstGeom>
                      <a:noFill/>
                      <a:ln>
                        <a:noFill/>
                      </a:ln>
                    </p:spPr>
                  </p:pic>
                </p:oleObj>
              </mc:Fallback>
            </mc:AlternateContent>
          </a:graphicData>
        </a:graphic>
      </p:graphicFrame>
      <p:sp>
        <p:nvSpPr>
          <p:cNvPr id="6" name="Oval 5"/>
          <p:cNvSpPr/>
          <p:nvPr/>
        </p:nvSpPr>
        <p:spPr>
          <a:xfrm>
            <a:off x="5257800" y="2743200"/>
            <a:ext cx="762000" cy="3810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p:cNvSpPr/>
          <p:nvPr/>
        </p:nvSpPr>
        <p:spPr>
          <a:xfrm>
            <a:off x="5334000" y="4038600"/>
            <a:ext cx="762000" cy="3810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p:cNvSpPr/>
          <p:nvPr/>
        </p:nvSpPr>
        <p:spPr>
          <a:xfrm>
            <a:off x="5313872" y="4724400"/>
            <a:ext cx="762000" cy="3810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5334000" y="5029200"/>
            <a:ext cx="762000" cy="3810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p:cNvSpPr/>
          <p:nvPr/>
        </p:nvSpPr>
        <p:spPr>
          <a:xfrm>
            <a:off x="5313872" y="5410200"/>
            <a:ext cx="762000" cy="3810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p:cNvSpPr/>
          <p:nvPr/>
        </p:nvSpPr>
        <p:spPr>
          <a:xfrm>
            <a:off x="5334000" y="6096000"/>
            <a:ext cx="762000" cy="3810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p:cNvSpPr/>
          <p:nvPr/>
        </p:nvSpPr>
        <p:spPr>
          <a:xfrm>
            <a:off x="8142514" y="27813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p:cNvSpPr/>
          <p:nvPr/>
        </p:nvSpPr>
        <p:spPr>
          <a:xfrm>
            <a:off x="8142514" y="41148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p:cNvSpPr/>
          <p:nvPr/>
        </p:nvSpPr>
        <p:spPr>
          <a:xfrm>
            <a:off x="8153400" y="48006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p:cNvSpPr/>
          <p:nvPr/>
        </p:nvSpPr>
        <p:spPr>
          <a:xfrm>
            <a:off x="8133478" y="51054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p:cNvSpPr/>
          <p:nvPr/>
        </p:nvSpPr>
        <p:spPr>
          <a:xfrm>
            <a:off x="8133478" y="54864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p:cNvSpPr/>
          <p:nvPr/>
        </p:nvSpPr>
        <p:spPr>
          <a:xfrm>
            <a:off x="8163464" y="61722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Classification : Decision Tree</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3951287" cy="52578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Information needed (after using A to split D into v partitions)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m:sSub>
                        <m:sSubPr>
                          <m:ctrlPr>
                            <a:rPr lang="en-GB" sz="1800" b="0" i="1" smtClean="0">
                              <a:solidFill>
                                <a:schemeClr val="tx1"/>
                              </a:solidFill>
                              <a:latin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cs typeface="Times New Roman" panose="02020603050405020304" pitchFamily="18" charset="0"/>
                            </a:rPr>
                            <m:t>𝐼𝑛𝑓𝑜</m:t>
                          </m:r>
                        </m:e>
                        <m:sub>
                          <m:r>
                            <a:rPr lang="en-GB" sz="1800" b="0" i="1" smtClean="0">
                              <a:solidFill>
                                <a:schemeClr val="tx1"/>
                              </a:solidFill>
                              <a:latin typeface="Cambria Math" panose="02040503050406030204" pitchFamily="18" charset="0"/>
                              <a:cs typeface="Times New Roman" panose="02020603050405020304" pitchFamily="18" charset="0"/>
                            </a:rPr>
                            <m:t>𝐴</m:t>
                          </m:r>
                        </m:sub>
                      </m:sSub>
                      <m:d>
                        <m:dPr>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𝐷</m:t>
                          </m:r>
                        </m:e>
                      </m:d>
                      <m:r>
                        <a:rPr lang="en-GB" sz="1800" b="0" i="1" smtClean="0">
                          <a:solidFill>
                            <a:schemeClr val="tx1"/>
                          </a:solidFill>
                          <a:latin typeface="Cambria Math" panose="02040503050406030204" pitchFamily="18" charset="0"/>
                          <a:cs typeface="Times New Roman" panose="02020603050405020304" pitchFamily="18" charset="0"/>
                        </a:rPr>
                        <m:t>=</m:t>
                      </m:r>
                      <m:nary>
                        <m:naryPr>
                          <m:chr m:val="∑"/>
                          <m:ctrlPr>
                            <a:rPr lang="en-GB" sz="1800" b="0" i="1" smtClean="0">
                              <a:solidFill>
                                <a:schemeClr val="tx1"/>
                              </a:solidFill>
                              <a:latin typeface="Cambria Math" panose="02040503050406030204" pitchFamily="18" charset="0"/>
                              <a:cs typeface="Times New Roman" panose="02020603050405020304" pitchFamily="18" charset="0"/>
                            </a:rPr>
                          </m:ctrlPr>
                        </m:naryPr>
                        <m:sub>
                          <m:r>
                            <m:rPr>
                              <m:brk m:alnAt="23"/>
                            </m:rPr>
                            <a:rPr lang="en-GB" sz="1800" b="0" i="1" smtClean="0">
                              <a:solidFill>
                                <a:schemeClr val="tx1"/>
                              </a:solidFill>
                              <a:latin typeface="Cambria Math" panose="02040503050406030204" pitchFamily="18" charset="0"/>
                              <a:cs typeface="Times New Roman" panose="02020603050405020304" pitchFamily="18" charset="0"/>
                            </a:rPr>
                            <m:t>𝑗</m:t>
                          </m:r>
                          <m:r>
                            <a:rPr lang="en-GB" sz="1800" b="0" i="1" smtClean="0">
                              <a:solidFill>
                                <a:schemeClr val="tx1"/>
                              </a:solidFill>
                              <a:latin typeface="Cambria Math" panose="02040503050406030204" pitchFamily="18" charset="0"/>
                              <a:cs typeface="Times New Roman" panose="02020603050405020304" pitchFamily="18" charset="0"/>
                            </a:rPr>
                            <m:t>=1</m:t>
                          </m:r>
                        </m:sub>
                        <m:sup>
                          <m:r>
                            <a:rPr lang="en-GB" sz="1800" b="0" i="1" smtClean="0">
                              <a:solidFill>
                                <a:schemeClr val="tx1"/>
                              </a:solidFill>
                              <a:latin typeface="Cambria Math" panose="02040503050406030204" pitchFamily="18" charset="0"/>
                              <a:cs typeface="Times New Roman" panose="02020603050405020304" pitchFamily="18" charset="0"/>
                            </a:rPr>
                            <m:t>𝑣</m:t>
                          </m:r>
                        </m:sup>
                        <m:e>
                          <m:f>
                            <m:fPr>
                              <m:ctrlPr>
                                <a:rPr lang="en-GB" sz="1800" b="0" i="1" smtClean="0">
                                  <a:solidFill>
                                    <a:schemeClr val="tx1"/>
                                  </a:solidFill>
                                  <a:latin typeface="Cambria Math" panose="02040503050406030204" pitchFamily="18" charset="0"/>
                                  <a:cs typeface="Times New Roman" panose="02020603050405020304" pitchFamily="18" charset="0"/>
                                </a:rPr>
                              </m:ctrlPr>
                            </m:fPr>
                            <m:num>
                              <m:d>
                                <m:dPr>
                                  <m:begChr m:val="|"/>
                                  <m:endChr m:val="|"/>
                                  <m:ctrlPr>
                                    <a:rPr lang="en-GB" sz="1800" b="0" i="1" smtClean="0">
                                      <a:solidFill>
                                        <a:schemeClr val="tx1"/>
                                      </a:solidFill>
                                      <a:latin typeface="Cambria Math" panose="02040503050406030204" pitchFamily="18" charset="0"/>
                                      <a:cs typeface="Times New Roman" panose="02020603050405020304" pitchFamily="18" charset="0"/>
                                    </a:rPr>
                                  </m:ctrlPr>
                                </m:dPr>
                                <m:e>
                                  <m:sSub>
                                    <m:sSubPr>
                                      <m:ctrlPr>
                                        <a:rPr lang="en-GB" sz="1800" b="0" i="1" smtClean="0">
                                          <a:solidFill>
                                            <a:schemeClr val="tx1"/>
                                          </a:solidFill>
                                          <a:latin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cs typeface="Times New Roman" panose="02020603050405020304" pitchFamily="18" charset="0"/>
                                        </a:rPr>
                                        <m:t>𝐷</m:t>
                                      </m:r>
                                    </m:e>
                                    <m:sub>
                                      <m:r>
                                        <a:rPr lang="en-GB" sz="1800" b="0" i="1" smtClean="0">
                                          <a:solidFill>
                                            <a:schemeClr val="tx1"/>
                                          </a:solidFill>
                                          <a:latin typeface="Cambria Math" panose="02040503050406030204" pitchFamily="18" charset="0"/>
                                          <a:cs typeface="Times New Roman" panose="02020603050405020304" pitchFamily="18" charset="0"/>
                                        </a:rPr>
                                        <m:t>𝑗</m:t>
                                      </m:r>
                                    </m:sub>
                                  </m:sSub>
                                </m:e>
                              </m:d>
                            </m:num>
                            <m:den>
                              <m:d>
                                <m:dPr>
                                  <m:begChr m:val="|"/>
                                  <m:endChr m:val="|"/>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𝐷</m:t>
                                  </m:r>
                                </m:e>
                              </m:d>
                            </m:den>
                          </m:f>
                        </m:e>
                      </m:nary>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𝐼𝑛𝑓𝑜</m:t>
                      </m:r>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𝐷</m:t>
                          </m:r>
                        </m:e>
                        <m:sub>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𝑗</m:t>
                          </m:r>
                        </m:sub>
                      </m:sSub>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GB"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Similarly</a:t>
                </a:r>
              </a:p>
              <a:p>
                <a:pPr algn="just"/>
                <a14:m>
                  <m:oMathPara xmlns:m="http://schemas.openxmlformats.org/officeDocument/2006/math">
                    <m:oMathParaPr>
                      <m:jc m:val="left"/>
                    </m:oMathParaPr>
                    <m:oMath>
                      <m:sSub>
                        <m:sSubPr>
                          <m:ctrlPr>
                            <a:rPr lang="en-GB" sz="1800" b="0" i="1" smtClean="0">
                              <a:solidFill>
                                <a:schemeClr val="tx1"/>
                              </a:solidFill>
                              <a:latin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cs typeface="Times New Roman" panose="02020603050405020304" pitchFamily="18" charset="0"/>
                            </a:rPr>
                            <m:t>𝐼𝑛𝑓𝑜</m:t>
                          </m:r>
                        </m:e>
                        <m:sub>
                          <m:r>
                            <a:rPr lang="en-GB" sz="1800" b="0" i="1" smtClean="0">
                              <a:solidFill>
                                <a:schemeClr val="tx1"/>
                              </a:solidFill>
                              <a:latin typeface="Cambria Math" panose="02040503050406030204" pitchFamily="18" charset="0"/>
                              <a:cs typeface="Times New Roman" panose="02020603050405020304" pitchFamily="18" charset="0"/>
                            </a:rPr>
                            <m:t>𝑖𝑛𝑐𝑜𝑚𝑒</m:t>
                          </m:r>
                        </m:sub>
                      </m:sSub>
                      <m:d>
                        <m:dPr>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𝐷</m:t>
                          </m:r>
                        </m:e>
                      </m:d>
                      <m:r>
                        <a:rPr lang="en-GB" sz="1800" b="0" i="1" smtClean="0">
                          <a:solidFill>
                            <a:schemeClr val="tx1"/>
                          </a:solidFill>
                          <a:latin typeface="Cambria Math" panose="02040503050406030204" pitchFamily="18" charset="0"/>
                          <a:cs typeface="Times New Roman" panose="02020603050405020304" pitchFamily="18" charset="0"/>
                        </a:rPr>
                        <m:t>=</m:t>
                      </m:r>
                      <m:nary>
                        <m:naryPr>
                          <m:chr m:val="∑"/>
                          <m:ctrlPr>
                            <a:rPr lang="en-GB" sz="1800" b="0" i="1" smtClean="0">
                              <a:solidFill>
                                <a:schemeClr val="tx1"/>
                              </a:solidFill>
                              <a:latin typeface="Cambria Math" panose="02040503050406030204" pitchFamily="18" charset="0"/>
                              <a:cs typeface="Times New Roman" panose="02020603050405020304" pitchFamily="18" charset="0"/>
                            </a:rPr>
                          </m:ctrlPr>
                        </m:naryPr>
                        <m:sub>
                          <m:r>
                            <m:rPr>
                              <m:brk m:alnAt="23"/>
                            </m:rPr>
                            <a:rPr lang="en-GB" sz="1800" b="0" i="1" smtClean="0">
                              <a:solidFill>
                                <a:schemeClr val="tx1"/>
                              </a:solidFill>
                              <a:latin typeface="Cambria Math" panose="02040503050406030204" pitchFamily="18" charset="0"/>
                              <a:cs typeface="Times New Roman" panose="02020603050405020304" pitchFamily="18" charset="0"/>
                            </a:rPr>
                            <m:t>𝑗</m:t>
                          </m:r>
                          <m:r>
                            <a:rPr lang="en-GB" sz="1800" b="0" i="1" smtClean="0">
                              <a:solidFill>
                                <a:schemeClr val="tx1"/>
                              </a:solidFill>
                              <a:latin typeface="Cambria Math" panose="02040503050406030204" pitchFamily="18" charset="0"/>
                              <a:cs typeface="Times New Roman" panose="02020603050405020304" pitchFamily="18" charset="0"/>
                            </a:rPr>
                            <m:t>=1</m:t>
                          </m:r>
                        </m:sub>
                        <m:sup>
                          <m:r>
                            <a:rPr lang="en-GB" sz="1800" b="0" i="1" smtClean="0">
                              <a:solidFill>
                                <a:schemeClr val="tx1"/>
                              </a:solidFill>
                              <a:latin typeface="Cambria Math" panose="02040503050406030204" pitchFamily="18" charset="0"/>
                              <a:cs typeface="Times New Roman" panose="02020603050405020304" pitchFamily="18" charset="0"/>
                            </a:rPr>
                            <m:t>3</m:t>
                          </m:r>
                        </m:sup>
                        <m:e>
                          <m:f>
                            <m:fPr>
                              <m:ctrlPr>
                                <a:rPr lang="en-GB" sz="1800" b="0" i="1" smtClean="0">
                                  <a:solidFill>
                                    <a:schemeClr val="tx1"/>
                                  </a:solidFill>
                                  <a:latin typeface="Cambria Math" panose="02040503050406030204" pitchFamily="18" charset="0"/>
                                  <a:cs typeface="Times New Roman" panose="02020603050405020304" pitchFamily="18" charset="0"/>
                                </a:rPr>
                              </m:ctrlPr>
                            </m:fPr>
                            <m:num>
                              <m:d>
                                <m:dPr>
                                  <m:begChr m:val="|"/>
                                  <m:endChr m:val="|"/>
                                  <m:ctrlPr>
                                    <a:rPr lang="en-GB" sz="1800" b="0" i="1" smtClean="0">
                                      <a:solidFill>
                                        <a:schemeClr val="tx1"/>
                                      </a:solidFill>
                                      <a:latin typeface="Cambria Math" panose="02040503050406030204" pitchFamily="18" charset="0"/>
                                      <a:cs typeface="Times New Roman" panose="02020603050405020304" pitchFamily="18" charset="0"/>
                                    </a:rPr>
                                  </m:ctrlPr>
                                </m:dPr>
                                <m:e>
                                  <m:sSub>
                                    <m:sSubPr>
                                      <m:ctrlPr>
                                        <a:rPr lang="en-GB" sz="1800" b="0" i="1" smtClean="0">
                                          <a:solidFill>
                                            <a:schemeClr val="tx1"/>
                                          </a:solidFill>
                                          <a:latin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cs typeface="Times New Roman" panose="02020603050405020304" pitchFamily="18" charset="0"/>
                                        </a:rPr>
                                        <m:t>𝐷</m:t>
                                      </m:r>
                                    </m:e>
                                    <m:sub>
                                      <m:r>
                                        <a:rPr lang="en-GB" sz="1800" b="0" i="1" smtClean="0">
                                          <a:solidFill>
                                            <a:schemeClr val="tx1"/>
                                          </a:solidFill>
                                          <a:latin typeface="Cambria Math" panose="02040503050406030204" pitchFamily="18" charset="0"/>
                                          <a:cs typeface="Times New Roman" panose="02020603050405020304" pitchFamily="18" charset="0"/>
                                        </a:rPr>
                                        <m:t>𝑗</m:t>
                                      </m:r>
                                    </m:sub>
                                  </m:sSub>
                                </m:e>
                              </m:d>
                            </m:num>
                            <m:den>
                              <m:d>
                                <m:dPr>
                                  <m:begChr m:val="|"/>
                                  <m:endChr m:val="|"/>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𝐷</m:t>
                                  </m:r>
                                </m:e>
                              </m:d>
                            </m:den>
                          </m:f>
                        </m:e>
                      </m:nary>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𝐼𝑛𝑓𝑜</m:t>
                      </m:r>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𝐷</m:t>
                          </m:r>
                        </m:e>
                        <m:sub>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𝑗</m:t>
                          </m:r>
                        </m:sub>
                      </m:sSub>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
                      <m:r>
                        <a:rPr lang="en-GB" sz="1800" b="0" i="1" smtClean="0">
                          <a:solidFill>
                            <a:schemeClr val="tx1"/>
                          </a:solidFill>
                          <a:latin typeface="Cambria Math" panose="02040503050406030204" pitchFamily="18" charset="0"/>
                          <a:cs typeface="Times New Roman" panose="02020603050405020304" pitchFamily="18" charset="0"/>
                        </a:rPr>
                        <m:t>=</m:t>
                      </m:r>
                      <m:f>
                        <m:fPr>
                          <m:ctrlPr>
                            <a:rPr lang="en-GB" sz="1800" b="0" i="1" smtClean="0">
                              <a:solidFill>
                                <a:schemeClr val="tx1"/>
                              </a:solidFill>
                              <a:latin typeface="Cambria Math" panose="02040503050406030204" pitchFamily="18" charset="0"/>
                              <a:cs typeface="Times New Roman" panose="02020603050405020304" pitchFamily="18" charset="0"/>
                            </a:rPr>
                          </m:ctrlPr>
                        </m:fPr>
                        <m:num>
                          <m:r>
                            <a:rPr lang="en-GB" sz="1800" b="0" i="1" smtClean="0">
                              <a:solidFill>
                                <a:schemeClr val="tx1"/>
                              </a:solidFill>
                              <a:latin typeface="Cambria Math" panose="02040503050406030204" pitchFamily="18" charset="0"/>
                              <a:cs typeface="Times New Roman" panose="02020603050405020304" pitchFamily="18" charset="0"/>
                            </a:rPr>
                            <m:t>4</m:t>
                          </m:r>
                        </m:num>
                        <m:den>
                          <m:r>
                            <a:rPr lang="en-GB" sz="1800" b="0" i="1" smtClean="0">
                              <a:solidFill>
                                <a:schemeClr val="tx1"/>
                              </a:solidFill>
                              <a:latin typeface="Cambria Math" panose="02040503050406030204" pitchFamily="18" charset="0"/>
                              <a:cs typeface="Times New Roman" panose="02020603050405020304" pitchFamily="18" charset="0"/>
                            </a:rPr>
                            <m:t>14</m:t>
                          </m:r>
                        </m:den>
                      </m:f>
                      <m:r>
                        <a:rPr lang="en-GB" sz="18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𝐼</m:t>
                      </m:r>
                      <m:d>
                        <m:dPr>
                          <m:ctrlP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2,2</m:t>
                          </m:r>
                        </m:e>
                      </m:d>
                      <m:r>
                        <a:rPr lang="en-US" sz="1800" i="1" dirty="0" smtClean="0">
                          <a:solidFill>
                            <a:schemeClr val="tx1"/>
                          </a:solidFill>
                          <a:latin typeface="Cambria Math" panose="02040503050406030204" pitchFamily="18" charset="0"/>
                          <a:cs typeface="Times New Roman" panose="02020603050405020304" pitchFamily="18" charset="0"/>
                        </a:rPr>
                        <m:t>+</m:t>
                      </m:r>
                      <m:f>
                        <m:fPr>
                          <m:ctrlPr>
                            <a:rPr lang="en-GB" sz="1800" b="0" i="1" smtClean="0">
                              <a:solidFill>
                                <a:schemeClr val="tx1"/>
                              </a:solidFill>
                              <a:latin typeface="Cambria Math" panose="02040503050406030204" pitchFamily="18" charset="0"/>
                              <a:cs typeface="Times New Roman" panose="02020603050405020304" pitchFamily="18" charset="0"/>
                            </a:rPr>
                          </m:ctrlPr>
                        </m:fPr>
                        <m:num>
                          <m:r>
                            <a:rPr lang="en-GB" sz="1800" b="0" i="1" smtClean="0">
                              <a:solidFill>
                                <a:schemeClr val="tx1"/>
                              </a:solidFill>
                              <a:latin typeface="Cambria Math" panose="02040503050406030204" pitchFamily="18" charset="0"/>
                              <a:cs typeface="Times New Roman" panose="02020603050405020304" pitchFamily="18" charset="0"/>
                            </a:rPr>
                            <m:t>6</m:t>
                          </m:r>
                        </m:num>
                        <m:den>
                          <m:r>
                            <a:rPr lang="en-GB" sz="1800" i="1">
                              <a:solidFill>
                                <a:schemeClr val="tx1"/>
                              </a:solidFill>
                              <a:latin typeface="Cambria Math" panose="02040503050406030204" pitchFamily="18" charset="0"/>
                              <a:cs typeface="Times New Roman" panose="02020603050405020304" pitchFamily="18" charset="0"/>
                            </a:rPr>
                            <m:t>14</m:t>
                          </m:r>
                        </m:den>
                      </m:f>
                      <m:r>
                        <a:rPr lang="en-GB" sz="18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𝐼</m:t>
                      </m:r>
                      <m:d>
                        <m:dPr>
                          <m:ctrlP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4,2</m:t>
                          </m:r>
                        </m:e>
                      </m:d>
                      <m:r>
                        <a:rPr lang="en-US" sz="1800" i="1" dirty="0" smtClean="0">
                          <a:solidFill>
                            <a:schemeClr val="tx1"/>
                          </a:solidFill>
                          <a:latin typeface="Cambria Math" panose="02040503050406030204" pitchFamily="18" charset="0"/>
                          <a:cs typeface="Times New Roman" panose="02020603050405020304" pitchFamily="18" charset="0"/>
                        </a:rPr>
                        <m:t>+</m:t>
                      </m:r>
                      <m:f>
                        <m:fPr>
                          <m:ctrlPr>
                            <a:rPr lang="en-GB" sz="1800" b="0" i="1" smtClean="0">
                              <a:solidFill>
                                <a:srgbClr val="0070C0"/>
                              </a:solidFill>
                              <a:latin typeface="Cambria Math" panose="02040503050406030204" pitchFamily="18" charset="0"/>
                              <a:cs typeface="Times New Roman" panose="02020603050405020304" pitchFamily="18" charset="0"/>
                            </a:rPr>
                          </m:ctrlPr>
                        </m:fPr>
                        <m:num>
                          <m:r>
                            <a:rPr lang="en-GB" sz="1800" b="0" i="1" smtClean="0">
                              <a:solidFill>
                                <a:srgbClr val="0070C0"/>
                              </a:solidFill>
                              <a:latin typeface="Cambria Math" panose="02040503050406030204" pitchFamily="18" charset="0"/>
                              <a:cs typeface="Times New Roman" panose="02020603050405020304" pitchFamily="18" charset="0"/>
                            </a:rPr>
                            <m:t>4</m:t>
                          </m:r>
                        </m:num>
                        <m:den>
                          <m:r>
                            <a:rPr lang="en-GB" sz="1800" i="1">
                              <a:solidFill>
                                <a:srgbClr val="0070C0"/>
                              </a:solidFill>
                              <a:latin typeface="Cambria Math" panose="02040503050406030204" pitchFamily="18" charset="0"/>
                              <a:cs typeface="Times New Roman" panose="02020603050405020304" pitchFamily="18" charset="0"/>
                            </a:rPr>
                            <m:t>14</m:t>
                          </m:r>
                        </m:den>
                      </m:f>
                      <m:r>
                        <a:rPr lang="en-GB" sz="18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𝐼</m:t>
                      </m:r>
                      <m:d>
                        <m:dPr>
                          <m:ctrlPr>
                            <a:rPr lang="en-GB" sz="1800" b="0" i="1"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ctrlPr>
                        </m:dPr>
                        <m:e>
                          <m:r>
                            <a:rPr lang="en-GB" sz="1800" b="0" i="1"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3</m:t>
                          </m:r>
                          <m:r>
                            <a:rPr lang="en-GB" sz="18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m:t>
                          </m:r>
                          <m:r>
                            <a:rPr lang="en-GB" sz="1800" b="0" i="1"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1</m:t>
                          </m:r>
                        </m:e>
                      </m:d>
                      <m:r>
                        <a:rPr lang="en-GB" sz="1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=0.911</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3951287" cy="5257800"/>
              </a:xfrm>
              <a:blipFill rotWithShape="1">
                <a:blip r:embed="rId2"/>
                <a:stretch>
                  <a:fillRect r="8"/>
                </a:stretch>
              </a:blipFill>
            </p:spPr>
            <p:txBody>
              <a:bodyPr/>
              <a:lstStyle/>
              <a:p>
                <a:r>
                  <a:rPr lang="en-US" altLang="en-US">
                    <a:noFill/>
                  </a:rPr>
                  <a:t> </a:t>
                </a:r>
              </a:p>
            </p:txBody>
          </p:sp>
        </mc:Fallback>
      </mc:AlternateContent>
      <p:graphicFrame>
        <p:nvGraphicFramePr>
          <p:cNvPr id="5" name="Object 1024"/>
          <p:cNvGraphicFramePr/>
          <p:nvPr/>
        </p:nvGraphicFramePr>
        <p:xfrm>
          <a:off x="4637088" y="1371600"/>
          <a:ext cx="4474256" cy="5105400"/>
        </p:xfrm>
        <a:graphic>
          <a:graphicData uri="http://schemas.openxmlformats.org/presentationml/2006/ole">
            <mc:AlternateContent xmlns:mc="http://schemas.openxmlformats.org/markup-compatibility/2006">
              <mc:Choice xmlns:v="urn:schemas-microsoft-com:vml" Requires="v">
                <p:oleObj name="Worksheet" r:id="rId3" imgW="5441315" imgH="4204335" progId="Excel.Sheet.8">
                  <p:embed/>
                </p:oleObj>
              </mc:Choice>
              <mc:Fallback>
                <p:oleObj name="Worksheet" r:id="rId3" imgW="5441315" imgH="4204335" progId="Excel.Sheet.8">
                  <p:embed/>
                  <p:pic>
                    <p:nvPicPr>
                      <p:cNvPr id="0" name="Picture 1033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7088" y="1371600"/>
                        <a:ext cx="4474256" cy="5105400"/>
                      </a:xfrm>
                      <a:prstGeom prst="rect">
                        <a:avLst/>
                      </a:prstGeom>
                      <a:noFill/>
                      <a:ln>
                        <a:noFill/>
                      </a:ln>
                    </p:spPr>
                  </p:pic>
                </p:oleObj>
              </mc:Fallback>
            </mc:AlternateContent>
          </a:graphicData>
        </a:graphic>
      </p:graphicFrame>
      <p:sp>
        <p:nvSpPr>
          <p:cNvPr id="6" name="Oval 5"/>
          <p:cNvSpPr/>
          <p:nvPr/>
        </p:nvSpPr>
        <p:spPr>
          <a:xfrm>
            <a:off x="5257800" y="3124200"/>
            <a:ext cx="566058"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p:cNvSpPr/>
          <p:nvPr/>
        </p:nvSpPr>
        <p:spPr>
          <a:xfrm>
            <a:off x="5264989" y="3429000"/>
            <a:ext cx="566058"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p:cNvSpPr/>
          <p:nvPr/>
        </p:nvSpPr>
        <p:spPr>
          <a:xfrm>
            <a:off x="5286761" y="3788434"/>
            <a:ext cx="566058"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8142514" y="3119887"/>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p:cNvSpPr/>
          <p:nvPr/>
        </p:nvSpPr>
        <p:spPr>
          <a:xfrm>
            <a:off x="8142514" y="3463506"/>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p:cNvSpPr/>
          <p:nvPr/>
        </p:nvSpPr>
        <p:spPr>
          <a:xfrm>
            <a:off x="8142514" y="3759679"/>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p:cNvSpPr/>
          <p:nvPr/>
        </p:nvSpPr>
        <p:spPr>
          <a:xfrm>
            <a:off x="8109446" y="44958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p:cNvSpPr/>
          <p:nvPr/>
        </p:nvSpPr>
        <p:spPr>
          <a:xfrm>
            <a:off x="5309971" y="4475672"/>
            <a:ext cx="566058"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Classification : Decision Tree</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3951287" cy="52578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Information gained by branching on attribute A</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m:r>
                        <a:rPr lang="en-GB" sz="1800" b="1" i="1" smtClean="0">
                          <a:solidFill>
                            <a:schemeClr val="tx1"/>
                          </a:solidFill>
                          <a:latin typeface="Cambria Math" panose="02040503050406030204" pitchFamily="18" charset="0"/>
                          <a:cs typeface="Times New Roman" panose="02020603050405020304" pitchFamily="18" charset="0"/>
                        </a:rPr>
                        <m:t>𝑮𝒂𝒊𝒏</m:t>
                      </m:r>
                      <m:d>
                        <m:dPr>
                          <m:ctrlPr>
                            <a:rPr lang="en-GB" sz="1800" b="1" i="1" smtClean="0">
                              <a:solidFill>
                                <a:schemeClr val="tx1"/>
                              </a:solidFill>
                              <a:latin typeface="Cambria Math" panose="02040503050406030204" pitchFamily="18" charset="0"/>
                              <a:cs typeface="Times New Roman" panose="02020603050405020304" pitchFamily="18" charset="0"/>
                            </a:rPr>
                          </m:ctrlPr>
                        </m:dPr>
                        <m:e>
                          <m:r>
                            <a:rPr lang="en-GB" sz="1800" b="1" i="1" smtClean="0">
                              <a:solidFill>
                                <a:schemeClr val="tx1"/>
                              </a:solidFill>
                              <a:latin typeface="Cambria Math" panose="02040503050406030204" pitchFamily="18" charset="0"/>
                              <a:cs typeface="Times New Roman" panose="02020603050405020304" pitchFamily="18" charset="0"/>
                            </a:rPr>
                            <m:t>𝑨</m:t>
                          </m:r>
                        </m:e>
                      </m:d>
                      <m:r>
                        <a:rPr lang="en-GB" sz="1800" b="1" i="1" smtClean="0">
                          <a:solidFill>
                            <a:schemeClr val="tx1"/>
                          </a:solidFill>
                          <a:latin typeface="Cambria Math" panose="02040503050406030204" pitchFamily="18" charset="0"/>
                          <a:cs typeface="Times New Roman" panose="02020603050405020304" pitchFamily="18" charset="0"/>
                        </a:rPr>
                        <m:t>=</m:t>
                      </m:r>
                      <m:r>
                        <a:rPr lang="en-GB" sz="1800" b="1" i="1" smtClean="0">
                          <a:solidFill>
                            <a:schemeClr val="tx1"/>
                          </a:solidFill>
                          <a:latin typeface="Cambria Math" panose="02040503050406030204" pitchFamily="18" charset="0"/>
                          <a:cs typeface="Times New Roman" panose="02020603050405020304" pitchFamily="18" charset="0"/>
                        </a:rPr>
                        <m:t>𝑰𝒏𝒇𝒐</m:t>
                      </m:r>
                      <m:d>
                        <m:dPr>
                          <m:ctrlPr>
                            <a:rPr lang="en-GB" sz="1800" b="1" i="1" smtClean="0">
                              <a:solidFill>
                                <a:schemeClr val="tx1"/>
                              </a:solidFill>
                              <a:latin typeface="Cambria Math" panose="02040503050406030204" pitchFamily="18" charset="0"/>
                              <a:cs typeface="Times New Roman" panose="02020603050405020304" pitchFamily="18" charset="0"/>
                            </a:rPr>
                          </m:ctrlPr>
                        </m:dPr>
                        <m:e>
                          <m:r>
                            <a:rPr lang="en-GB" sz="1800" b="1" i="1" smtClean="0">
                              <a:solidFill>
                                <a:schemeClr val="tx1"/>
                              </a:solidFill>
                              <a:latin typeface="Cambria Math" panose="02040503050406030204" pitchFamily="18" charset="0"/>
                              <a:cs typeface="Times New Roman" panose="02020603050405020304" pitchFamily="18" charset="0"/>
                            </a:rPr>
                            <m:t>𝑫</m:t>
                          </m:r>
                        </m:e>
                      </m:d>
                      <m:r>
                        <a:rPr lang="en-GB" sz="1800" b="1" i="1" smtClean="0">
                          <a:solidFill>
                            <a:schemeClr val="tx1"/>
                          </a:solidFill>
                          <a:latin typeface="Cambria Math" panose="02040503050406030204" pitchFamily="18" charset="0"/>
                          <a:cs typeface="Times New Roman" panose="02020603050405020304" pitchFamily="18" charset="0"/>
                        </a:rPr>
                        <m:t>−</m:t>
                      </m:r>
                      <m:sSub>
                        <m:sSubPr>
                          <m:ctrlPr>
                            <a:rPr lang="en-GB" sz="1800" b="1" i="1" smtClean="0">
                              <a:solidFill>
                                <a:schemeClr val="tx1"/>
                              </a:solidFill>
                              <a:latin typeface="Cambria Math" panose="02040503050406030204" pitchFamily="18" charset="0"/>
                              <a:cs typeface="Times New Roman" panose="02020603050405020304" pitchFamily="18" charset="0"/>
                            </a:rPr>
                          </m:ctrlPr>
                        </m:sSubPr>
                        <m:e>
                          <m:r>
                            <a:rPr lang="en-GB" sz="1800" b="1" i="1" smtClean="0">
                              <a:solidFill>
                                <a:schemeClr val="tx1"/>
                              </a:solidFill>
                              <a:latin typeface="Cambria Math" panose="02040503050406030204" pitchFamily="18" charset="0"/>
                              <a:cs typeface="Times New Roman" panose="02020603050405020304" pitchFamily="18" charset="0"/>
                            </a:rPr>
                            <m:t>𝑰𝒏𝒇𝒐</m:t>
                          </m:r>
                        </m:e>
                        <m:sub>
                          <m:r>
                            <a:rPr lang="en-GB" sz="1800" b="1" i="1" smtClean="0">
                              <a:solidFill>
                                <a:schemeClr val="tx1"/>
                              </a:solidFill>
                              <a:latin typeface="Cambria Math" panose="02040503050406030204" pitchFamily="18" charset="0"/>
                              <a:cs typeface="Times New Roman" panose="02020603050405020304" pitchFamily="18" charset="0"/>
                            </a:rPr>
                            <m:t>𝑨</m:t>
                          </m:r>
                        </m:sub>
                      </m:sSub>
                      <m:r>
                        <a:rPr lang="en-GB" sz="1800" b="1" i="1" smtClean="0">
                          <a:solidFill>
                            <a:schemeClr val="tx1"/>
                          </a:solidFill>
                          <a:latin typeface="Cambria Math" panose="02040503050406030204" pitchFamily="18" charset="0"/>
                          <a:cs typeface="Times New Roman" panose="02020603050405020304" pitchFamily="18" charset="0"/>
                        </a:rPr>
                        <m:t>(</m:t>
                      </m:r>
                      <m:r>
                        <a:rPr lang="en-GB" sz="1800" b="1" i="1" smtClean="0">
                          <a:solidFill>
                            <a:schemeClr val="tx1"/>
                          </a:solidFill>
                          <a:latin typeface="Cambria Math" panose="02040503050406030204" pitchFamily="18" charset="0"/>
                          <a:cs typeface="Times New Roman" panose="02020603050405020304" pitchFamily="18" charset="0"/>
                        </a:rPr>
                        <m:t>𝑫</m:t>
                      </m:r>
                      <m:r>
                        <a:rPr lang="en-GB" sz="1800" b="1" i="1" smtClean="0">
                          <a:solidFill>
                            <a:schemeClr val="tx1"/>
                          </a:solidFill>
                          <a:latin typeface="Cambria Math" panose="02040503050406030204" pitchFamily="18" charset="0"/>
                          <a:cs typeface="Times New Roman" panose="02020603050405020304" pitchFamily="18" charset="0"/>
                        </a:rPr>
                        <m:t>)</m:t>
                      </m:r>
                    </m:oMath>
                  </m:oMathPara>
                </a14:m>
                <a:endParaRPr lang="en-US" sz="1800" b="1"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 </a:t>
                </a:r>
              </a:p>
              <a:p>
                <a:pPr algn="just"/>
                <a14:m>
                  <m:oMathPara xmlns:m="http://schemas.openxmlformats.org/officeDocument/2006/math">
                    <m:oMathParaPr>
                      <m:jc m:val="left"/>
                    </m:oMathParaPr>
                    <m:oMath>
                      <m:r>
                        <a:rPr lang="en-GB" sz="1800" b="0" i="1" smtClean="0">
                          <a:solidFill>
                            <a:schemeClr val="tx1"/>
                          </a:solidFill>
                          <a:latin typeface="Cambria Math" panose="02040503050406030204" pitchFamily="18" charset="0"/>
                          <a:cs typeface="Times New Roman" panose="02020603050405020304" pitchFamily="18" charset="0"/>
                        </a:rPr>
                        <m:t>𝐺𝑎𝑖𝑛</m:t>
                      </m:r>
                      <m:d>
                        <m:dPr>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𝑎𝑔𝑒</m:t>
                          </m:r>
                        </m:e>
                      </m:d>
                      <m:r>
                        <a:rPr lang="en-GB" sz="1800" b="0" i="1" smtClean="0">
                          <a:solidFill>
                            <a:schemeClr val="tx1"/>
                          </a:solidFill>
                          <a:latin typeface="Cambria Math" panose="02040503050406030204" pitchFamily="18" charset="0"/>
                          <a:cs typeface="Times New Roman" panose="02020603050405020304" pitchFamily="18" charset="0"/>
                        </a:rPr>
                        <m:t>=</m:t>
                      </m:r>
                      <m:r>
                        <a:rPr lang="en-GB" sz="1800" b="0" i="1" smtClean="0">
                          <a:solidFill>
                            <a:schemeClr val="tx1"/>
                          </a:solidFill>
                          <a:latin typeface="Cambria Math" panose="02040503050406030204" pitchFamily="18" charset="0"/>
                          <a:cs typeface="Times New Roman" panose="02020603050405020304" pitchFamily="18" charset="0"/>
                        </a:rPr>
                        <m:t>𝐼𝑛𝑓𝑜</m:t>
                      </m:r>
                      <m:d>
                        <m:dPr>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𝐷</m:t>
                          </m:r>
                        </m:e>
                      </m:d>
                      <m:r>
                        <a:rPr lang="en-GB" sz="1800" b="0" i="1" smtClean="0">
                          <a:solidFill>
                            <a:schemeClr val="tx1"/>
                          </a:solidFill>
                          <a:latin typeface="Cambria Math" panose="02040503050406030204" pitchFamily="18" charset="0"/>
                          <a:cs typeface="Times New Roman" panose="02020603050405020304" pitchFamily="18" charset="0"/>
                        </a:rPr>
                        <m:t>−</m:t>
                      </m:r>
                      <m:sSub>
                        <m:sSubPr>
                          <m:ctrlPr>
                            <a:rPr lang="en-GB" sz="1800" b="0" i="1" smtClean="0">
                              <a:solidFill>
                                <a:schemeClr val="tx1"/>
                              </a:solidFill>
                              <a:latin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cs typeface="Times New Roman" panose="02020603050405020304" pitchFamily="18" charset="0"/>
                            </a:rPr>
                            <m:t>𝐼𝑛𝑓𝑜</m:t>
                          </m:r>
                        </m:e>
                        <m:sub>
                          <m:r>
                            <a:rPr lang="en-GB" sz="1800" b="0" i="1" smtClean="0">
                              <a:solidFill>
                                <a:schemeClr val="tx1"/>
                              </a:solidFill>
                              <a:latin typeface="Cambria Math" panose="02040503050406030204" pitchFamily="18" charset="0"/>
                              <a:cs typeface="Times New Roman" panose="02020603050405020304" pitchFamily="18" charset="0"/>
                            </a:rPr>
                            <m:t>𝑎𝑔𝑒</m:t>
                          </m:r>
                        </m:sub>
                      </m:sSub>
                      <m:r>
                        <a:rPr lang="en-GB" sz="1800" b="0" i="1" smtClean="0">
                          <a:solidFill>
                            <a:schemeClr val="tx1"/>
                          </a:solidFill>
                          <a:latin typeface="Cambria Math" panose="02040503050406030204" pitchFamily="18" charset="0"/>
                          <a:cs typeface="Times New Roman" panose="02020603050405020304" pitchFamily="18" charset="0"/>
                        </a:rPr>
                        <m:t>(</m:t>
                      </m:r>
                      <m:r>
                        <a:rPr lang="en-GB" sz="1800" b="0" i="1" smtClean="0">
                          <a:solidFill>
                            <a:schemeClr val="tx1"/>
                          </a:solidFill>
                          <a:latin typeface="Cambria Math" panose="02040503050406030204" pitchFamily="18" charset="0"/>
                          <a:cs typeface="Times New Roman" panose="02020603050405020304" pitchFamily="18" charset="0"/>
                        </a:rPr>
                        <m:t>𝐷</m:t>
                      </m:r>
                      <m:r>
                        <a:rPr lang="en-GB" sz="1800" b="0" i="1" smtClean="0">
                          <a:solidFill>
                            <a:schemeClr val="tx1"/>
                          </a:solidFill>
                          <a:latin typeface="Cambria Math" panose="02040503050406030204" pitchFamily="18" charset="0"/>
                          <a:cs typeface="Times New Roman" panose="02020603050405020304" pitchFamily="18" charset="0"/>
                        </a:rPr>
                        <m:t>)</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m:r>
                        <a:rPr lang="en-GB" sz="1800" b="0" i="1" smtClean="0">
                          <a:solidFill>
                            <a:schemeClr val="tx1"/>
                          </a:solidFill>
                          <a:latin typeface="Cambria Math" panose="02040503050406030204" pitchFamily="18" charset="0"/>
                          <a:cs typeface="Times New Roman" panose="02020603050405020304" pitchFamily="18" charset="0"/>
                        </a:rPr>
                        <m:t>=0.940−0.694=0.246</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m:r>
                        <a:rPr lang="en-GB" sz="1800" b="0" i="1" smtClean="0">
                          <a:solidFill>
                            <a:schemeClr val="tx1"/>
                          </a:solidFill>
                          <a:latin typeface="Cambria Math" panose="02040503050406030204" pitchFamily="18" charset="0"/>
                          <a:cs typeface="Times New Roman" panose="02020603050405020304" pitchFamily="18" charset="0"/>
                        </a:rPr>
                        <m:t>𝐺𝑎𝑖𝑛</m:t>
                      </m:r>
                      <m:d>
                        <m:dPr>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𝑖𝑛𝑐𝑜𝑚𝑒</m:t>
                          </m:r>
                        </m:e>
                      </m:d>
                      <m:r>
                        <a:rPr lang="en-GB" sz="1800" b="0" i="1" smtClean="0">
                          <a:solidFill>
                            <a:schemeClr val="tx1"/>
                          </a:solidFill>
                          <a:latin typeface="Cambria Math" panose="02040503050406030204" pitchFamily="18" charset="0"/>
                          <a:cs typeface="Times New Roman" panose="02020603050405020304" pitchFamily="18" charset="0"/>
                        </a:rPr>
                        <m:t>=</m:t>
                      </m:r>
                      <m:r>
                        <a:rPr lang="en-GB" sz="1800" b="0" i="1" smtClean="0">
                          <a:solidFill>
                            <a:schemeClr val="tx1"/>
                          </a:solidFill>
                          <a:latin typeface="Cambria Math" panose="02040503050406030204" pitchFamily="18" charset="0"/>
                          <a:cs typeface="Times New Roman" panose="02020603050405020304" pitchFamily="18" charset="0"/>
                        </a:rPr>
                        <m:t>𝐼𝑛𝑓𝑜</m:t>
                      </m:r>
                      <m:d>
                        <m:dPr>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𝐷</m:t>
                          </m:r>
                        </m:e>
                      </m:d>
                      <m:r>
                        <a:rPr lang="en-GB" sz="1800" b="0" i="1" smtClean="0">
                          <a:solidFill>
                            <a:schemeClr val="tx1"/>
                          </a:solidFill>
                          <a:latin typeface="Cambria Math" panose="02040503050406030204" pitchFamily="18" charset="0"/>
                          <a:cs typeface="Times New Roman" panose="02020603050405020304" pitchFamily="18" charset="0"/>
                        </a:rPr>
                        <m:t>−</m:t>
                      </m:r>
                      <m:sSub>
                        <m:sSubPr>
                          <m:ctrlPr>
                            <a:rPr lang="en-GB" sz="1800" b="0" i="1" smtClean="0">
                              <a:solidFill>
                                <a:schemeClr val="tx1"/>
                              </a:solidFill>
                              <a:latin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cs typeface="Times New Roman" panose="02020603050405020304" pitchFamily="18" charset="0"/>
                            </a:rPr>
                            <m:t>𝐼𝑛𝑓𝑜</m:t>
                          </m:r>
                        </m:e>
                        <m:sub>
                          <m:r>
                            <a:rPr lang="en-GB" sz="1800" b="0" i="1" smtClean="0">
                              <a:solidFill>
                                <a:schemeClr val="tx1"/>
                              </a:solidFill>
                              <a:latin typeface="Cambria Math" panose="02040503050406030204" pitchFamily="18" charset="0"/>
                              <a:cs typeface="Times New Roman" panose="02020603050405020304" pitchFamily="18" charset="0"/>
                            </a:rPr>
                            <m:t>𝑖𝑛𝑐𝑜𝑚𝑒</m:t>
                          </m:r>
                        </m:sub>
                      </m:sSub>
                      <m:r>
                        <a:rPr lang="en-GB" sz="1800" b="0" i="1" smtClean="0">
                          <a:solidFill>
                            <a:schemeClr val="tx1"/>
                          </a:solidFill>
                          <a:latin typeface="Cambria Math" panose="02040503050406030204" pitchFamily="18" charset="0"/>
                          <a:cs typeface="Times New Roman" panose="02020603050405020304" pitchFamily="18" charset="0"/>
                        </a:rPr>
                        <m:t>(</m:t>
                      </m:r>
                      <m:r>
                        <a:rPr lang="en-GB" sz="1800" b="0" i="1" smtClean="0">
                          <a:solidFill>
                            <a:schemeClr val="tx1"/>
                          </a:solidFill>
                          <a:latin typeface="Cambria Math" panose="02040503050406030204" pitchFamily="18" charset="0"/>
                          <a:cs typeface="Times New Roman" panose="02020603050405020304" pitchFamily="18" charset="0"/>
                        </a:rPr>
                        <m:t>𝐷</m:t>
                      </m:r>
                      <m:r>
                        <a:rPr lang="en-GB" sz="1800" b="0" i="1" smtClean="0">
                          <a:solidFill>
                            <a:schemeClr val="tx1"/>
                          </a:solidFill>
                          <a:latin typeface="Cambria Math" panose="02040503050406030204" pitchFamily="18" charset="0"/>
                          <a:cs typeface="Times New Roman" panose="02020603050405020304" pitchFamily="18" charset="0"/>
                        </a:rPr>
                        <m:t>)</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m:r>
                        <a:rPr lang="en-GB" sz="1800" b="0" i="1" smtClean="0">
                          <a:solidFill>
                            <a:schemeClr val="tx1"/>
                          </a:solidFill>
                          <a:latin typeface="Cambria Math" panose="02040503050406030204" pitchFamily="18" charset="0"/>
                          <a:cs typeface="Times New Roman" panose="02020603050405020304" pitchFamily="18" charset="0"/>
                        </a:rPr>
                        <m:t>=0.940−0.</m:t>
                      </m:r>
                      <m:r>
                        <a:rPr lang="en-US" sz="1800" b="0" i="1" smtClean="0">
                          <a:solidFill>
                            <a:schemeClr val="tx1"/>
                          </a:solidFill>
                          <a:latin typeface="Cambria Math" panose="02040503050406030204"/>
                          <a:cs typeface="Times New Roman" panose="02020603050405020304" pitchFamily="18" charset="0"/>
                        </a:rPr>
                        <m:t>911</m:t>
                      </m:r>
                      <m:r>
                        <a:rPr lang="en-GB" sz="1800" b="0" i="1" smtClean="0">
                          <a:solidFill>
                            <a:schemeClr val="tx1"/>
                          </a:solidFill>
                          <a:latin typeface="Cambria Math" panose="02040503050406030204" pitchFamily="18" charset="0"/>
                          <a:cs typeface="Times New Roman" panose="02020603050405020304" pitchFamily="18" charset="0"/>
                        </a:rPr>
                        <m:t>=0.</m:t>
                      </m:r>
                      <m:r>
                        <a:rPr lang="en-US" sz="1800" b="0" i="1" smtClean="0">
                          <a:solidFill>
                            <a:schemeClr val="tx1"/>
                          </a:solidFill>
                          <a:latin typeface="Cambria Math" panose="02040503050406030204"/>
                          <a:cs typeface="Times New Roman" panose="02020603050405020304" pitchFamily="18" charset="0"/>
                        </a:rPr>
                        <m:t>029</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Similarly,</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m:r>
                        <a:rPr lang="en-GB" sz="1800" b="0" i="1">
                          <a:solidFill>
                            <a:schemeClr val="tx1"/>
                          </a:solidFill>
                          <a:latin typeface="Cambria Math" panose="02040503050406030204" pitchFamily="18" charset="0"/>
                          <a:cs typeface="Times New Roman" panose="02020603050405020304" pitchFamily="18" charset="0"/>
                        </a:rPr>
                        <m:t>𝐺𝑎𝑖𝑛</m:t>
                      </m:r>
                      <m:d>
                        <m:dPr>
                          <m:ctrlPr>
                            <a:rPr lang="en-US" sz="1800" b="0" i="1" smtClean="0">
                              <a:solidFill>
                                <a:schemeClr val="tx1"/>
                              </a:solidFill>
                              <a:latin typeface="Cambria Math" panose="02040503050406030204"/>
                              <a:cs typeface="Times New Roman" panose="02020603050405020304" pitchFamily="18" charset="0"/>
                            </a:rPr>
                          </m:ctrlPr>
                        </m:dPr>
                        <m:e>
                          <m:r>
                            <a:rPr lang="en-US" sz="1800" b="0" i="1" smtClean="0">
                              <a:solidFill>
                                <a:schemeClr val="tx1"/>
                              </a:solidFill>
                              <a:latin typeface="Cambria Math" panose="02040503050406030204"/>
                              <a:cs typeface="Times New Roman" panose="02020603050405020304" pitchFamily="18" charset="0"/>
                            </a:rPr>
                            <m:t>𝑠𝑡𝑢𝑑𝑒𝑛𝑡</m:t>
                          </m:r>
                        </m:e>
                      </m:d>
                      <m:r>
                        <a:rPr lang="en-US" sz="1800" b="0" i="1" smtClean="0">
                          <a:solidFill>
                            <a:schemeClr val="tx1"/>
                          </a:solidFill>
                          <a:latin typeface="Cambria Math" panose="02040503050406030204"/>
                          <a:cs typeface="Times New Roman" panose="02020603050405020304" pitchFamily="18" charset="0"/>
                        </a:rPr>
                        <m:t>=0.151</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m:r>
                        <a:rPr lang="en-GB" sz="1800" b="0" i="1">
                          <a:solidFill>
                            <a:schemeClr val="tx1"/>
                          </a:solidFill>
                          <a:latin typeface="Cambria Math" panose="02040503050406030204" pitchFamily="18" charset="0"/>
                          <a:cs typeface="Times New Roman" panose="02020603050405020304" pitchFamily="18" charset="0"/>
                        </a:rPr>
                        <m:t>𝐺𝑎𝑖𝑛</m:t>
                      </m:r>
                      <m:d>
                        <m:dPr>
                          <m:ctrlPr>
                            <a:rPr lang="en-US" sz="1800" b="0" i="1" smtClean="0">
                              <a:solidFill>
                                <a:schemeClr val="tx1"/>
                              </a:solidFill>
                              <a:latin typeface="Cambria Math" panose="02040503050406030204"/>
                              <a:cs typeface="Times New Roman" panose="02020603050405020304" pitchFamily="18" charset="0"/>
                            </a:rPr>
                          </m:ctrlPr>
                        </m:dPr>
                        <m:e>
                          <m:r>
                            <a:rPr lang="en-US" sz="1800" b="0" i="1" smtClean="0">
                              <a:solidFill>
                                <a:schemeClr val="tx1"/>
                              </a:solidFill>
                              <a:latin typeface="Cambria Math" panose="02040503050406030204"/>
                              <a:cs typeface="Times New Roman" panose="02020603050405020304" pitchFamily="18" charset="0"/>
                            </a:rPr>
                            <m:t>𝑐𝑟𝑒𝑑𝑖𝑡</m:t>
                          </m:r>
                          <m:r>
                            <a:rPr lang="en-US" sz="1800" b="0" i="1" smtClean="0">
                              <a:solidFill>
                                <a:schemeClr val="tx1"/>
                              </a:solidFill>
                              <a:latin typeface="Cambria Math" panose="02040503050406030204"/>
                              <a:cs typeface="Times New Roman" panose="02020603050405020304" pitchFamily="18" charset="0"/>
                            </a:rPr>
                            <m:t>_</m:t>
                          </m:r>
                          <m:r>
                            <a:rPr lang="en-US" sz="1800" b="0" i="1" smtClean="0">
                              <a:solidFill>
                                <a:schemeClr val="tx1"/>
                              </a:solidFill>
                              <a:latin typeface="Cambria Math" panose="02040503050406030204"/>
                              <a:cs typeface="Times New Roman" panose="02020603050405020304" pitchFamily="18" charset="0"/>
                            </a:rPr>
                            <m:t>𝑟𝑎𝑡𝑖𝑛𝑔</m:t>
                          </m:r>
                        </m:e>
                      </m:d>
                      <m:r>
                        <a:rPr lang="en-US" sz="1800" b="0" i="1" smtClean="0">
                          <a:solidFill>
                            <a:schemeClr val="tx1"/>
                          </a:solidFill>
                          <a:latin typeface="Cambria Math" panose="02040503050406030204"/>
                          <a:cs typeface="Times New Roman" panose="02020603050405020304" pitchFamily="18" charset="0"/>
                        </a:rPr>
                        <m:t>=0.048</m:t>
                      </m:r>
                    </m:oMath>
                  </m:oMathPara>
                </a14:m>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3951287" cy="5257800"/>
              </a:xfrm>
              <a:blipFill rotWithShape="1">
                <a:blip r:embed="rId2"/>
                <a:stretch>
                  <a:fillRect r="8"/>
                </a:stretch>
              </a:blipFill>
            </p:spPr>
            <p:txBody>
              <a:bodyPr/>
              <a:lstStyle/>
              <a:p>
                <a:r>
                  <a:rPr lang="en-US" altLang="en-US">
                    <a:noFill/>
                  </a:rPr>
                  <a:t> </a:t>
                </a:r>
              </a:p>
            </p:txBody>
          </p:sp>
        </mc:Fallback>
      </mc:AlternateContent>
      <p:graphicFrame>
        <p:nvGraphicFramePr>
          <p:cNvPr id="5" name="Object 1024"/>
          <p:cNvGraphicFramePr/>
          <p:nvPr/>
        </p:nvGraphicFramePr>
        <p:xfrm>
          <a:off x="4637088" y="1371600"/>
          <a:ext cx="4474256" cy="5105400"/>
        </p:xfrm>
        <a:graphic>
          <a:graphicData uri="http://schemas.openxmlformats.org/presentationml/2006/ole">
            <mc:AlternateContent xmlns:mc="http://schemas.openxmlformats.org/markup-compatibility/2006">
              <mc:Choice xmlns:v="urn:schemas-microsoft-com:vml" Requires="v">
                <p:oleObj name="Worksheet" r:id="rId3" imgW="5441315" imgH="4204335" progId="Excel.Sheet.8">
                  <p:embed/>
                </p:oleObj>
              </mc:Choice>
              <mc:Fallback>
                <p:oleObj name="Worksheet" r:id="rId3" imgW="5441315" imgH="4204335" progId="Excel.Sheet.8">
                  <p:embed/>
                  <p:pic>
                    <p:nvPicPr>
                      <p:cNvPr id="0" name="Object 102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7088" y="1371600"/>
                        <a:ext cx="4474256" cy="5105400"/>
                      </a:xfrm>
                      <a:prstGeom prst="rect">
                        <a:avLst/>
                      </a:prstGeom>
                      <a:noFill/>
                      <a:ln>
                        <a:noFill/>
                      </a:ln>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Classification : Decision Tree</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3951287" cy="52578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Information gained by branching on attribute A</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m:r>
                        <a:rPr lang="en-GB" sz="1800" b="1" i="1" smtClean="0">
                          <a:solidFill>
                            <a:schemeClr val="tx1"/>
                          </a:solidFill>
                          <a:latin typeface="Cambria Math" panose="02040503050406030204" pitchFamily="18" charset="0"/>
                          <a:cs typeface="Times New Roman" panose="02020603050405020304" pitchFamily="18" charset="0"/>
                        </a:rPr>
                        <m:t>𝑮𝒂𝒊𝒏</m:t>
                      </m:r>
                      <m:d>
                        <m:dPr>
                          <m:ctrlPr>
                            <a:rPr lang="en-GB" sz="1800" b="1" i="1" smtClean="0">
                              <a:solidFill>
                                <a:schemeClr val="tx1"/>
                              </a:solidFill>
                              <a:latin typeface="Cambria Math" panose="02040503050406030204" pitchFamily="18" charset="0"/>
                              <a:cs typeface="Times New Roman" panose="02020603050405020304" pitchFamily="18" charset="0"/>
                            </a:rPr>
                          </m:ctrlPr>
                        </m:dPr>
                        <m:e>
                          <m:r>
                            <a:rPr lang="en-GB" sz="1800" b="1" i="1" smtClean="0">
                              <a:solidFill>
                                <a:schemeClr val="tx1"/>
                              </a:solidFill>
                              <a:latin typeface="Cambria Math" panose="02040503050406030204" pitchFamily="18" charset="0"/>
                              <a:cs typeface="Times New Roman" panose="02020603050405020304" pitchFamily="18" charset="0"/>
                            </a:rPr>
                            <m:t>𝑨</m:t>
                          </m:r>
                        </m:e>
                      </m:d>
                      <m:r>
                        <a:rPr lang="en-GB" sz="1800" b="1" i="1" smtClean="0">
                          <a:solidFill>
                            <a:schemeClr val="tx1"/>
                          </a:solidFill>
                          <a:latin typeface="Cambria Math" panose="02040503050406030204" pitchFamily="18" charset="0"/>
                          <a:cs typeface="Times New Roman" panose="02020603050405020304" pitchFamily="18" charset="0"/>
                        </a:rPr>
                        <m:t>=</m:t>
                      </m:r>
                      <m:r>
                        <a:rPr lang="en-GB" sz="1800" b="1" i="1" smtClean="0">
                          <a:solidFill>
                            <a:schemeClr val="tx1"/>
                          </a:solidFill>
                          <a:latin typeface="Cambria Math" panose="02040503050406030204" pitchFamily="18" charset="0"/>
                          <a:cs typeface="Times New Roman" panose="02020603050405020304" pitchFamily="18" charset="0"/>
                        </a:rPr>
                        <m:t>𝑰𝒏𝒇𝒐</m:t>
                      </m:r>
                      <m:d>
                        <m:dPr>
                          <m:ctrlPr>
                            <a:rPr lang="en-GB" sz="1800" b="1" i="1" smtClean="0">
                              <a:solidFill>
                                <a:schemeClr val="tx1"/>
                              </a:solidFill>
                              <a:latin typeface="Cambria Math" panose="02040503050406030204" pitchFamily="18" charset="0"/>
                              <a:cs typeface="Times New Roman" panose="02020603050405020304" pitchFamily="18" charset="0"/>
                            </a:rPr>
                          </m:ctrlPr>
                        </m:dPr>
                        <m:e>
                          <m:r>
                            <a:rPr lang="en-GB" sz="1800" b="1" i="1" smtClean="0">
                              <a:solidFill>
                                <a:schemeClr val="tx1"/>
                              </a:solidFill>
                              <a:latin typeface="Cambria Math" panose="02040503050406030204" pitchFamily="18" charset="0"/>
                              <a:cs typeface="Times New Roman" panose="02020603050405020304" pitchFamily="18" charset="0"/>
                            </a:rPr>
                            <m:t>𝑫</m:t>
                          </m:r>
                        </m:e>
                      </m:d>
                      <m:r>
                        <a:rPr lang="en-GB" sz="1800" b="1" i="1" smtClean="0">
                          <a:solidFill>
                            <a:schemeClr val="tx1"/>
                          </a:solidFill>
                          <a:latin typeface="Cambria Math" panose="02040503050406030204" pitchFamily="18" charset="0"/>
                          <a:cs typeface="Times New Roman" panose="02020603050405020304" pitchFamily="18" charset="0"/>
                        </a:rPr>
                        <m:t>−</m:t>
                      </m:r>
                      <m:sSub>
                        <m:sSubPr>
                          <m:ctrlPr>
                            <a:rPr lang="en-GB" sz="1800" b="1" i="1" smtClean="0">
                              <a:solidFill>
                                <a:schemeClr val="tx1"/>
                              </a:solidFill>
                              <a:latin typeface="Cambria Math" panose="02040503050406030204" pitchFamily="18" charset="0"/>
                              <a:cs typeface="Times New Roman" panose="02020603050405020304" pitchFamily="18" charset="0"/>
                            </a:rPr>
                          </m:ctrlPr>
                        </m:sSubPr>
                        <m:e>
                          <m:r>
                            <a:rPr lang="en-GB" sz="1800" b="1" i="1" smtClean="0">
                              <a:solidFill>
                                <a:schemeClr val="tx1"/>
                              </a:solidFill>
                              <a:latin typeface="Cambria Math" panose="02040503050406030204" pitchFamily="18" charset="0"/>
                              <a:cs typeface="Times New Roman" panose="02020603050405020304" pitchFamily="18" charset="0"/>
                            </a:rPr>
                            <m:t>𝑰𝒏𝒇𝒐</m:t>
                          </m:r>
                        </m:e>
                        <m:sub>
                          <m:r>
                            <a:rPr lang="en-GB" sz="1800" b="1" i="1" smtClean="0">
                              <a:solidFill>
                                <a:schemeClr val="tx1"/>
                              </a:solidFill>
                              <a:latin typeface="Cambria Math" panose="02040503050406030204" pitchFamily="18" charset="0"/>
                              <a:cs typeface="Times New Roman" panose="02020603050405020304" pitchFamily="18" charset="0"/>
                            </a:rPr>
                            <m:t>𝑨</m:t>
                          </m:r>
                        </m:sub>
                      </m:sSub>
                      <m:r>
                        <a:rPr lang="en-GB" sz="1800" b="1" i="1" smtClean="0">
                          <a:solidFill>
                            <a:schemeClr val="tx1"/>
                          </a:solidFill>
                          <a:latin typeface="Cambria Math" panose="02040503050406030204" pitchFamily="18" charset="0"/>
                          <a:cs typeface="Times New Roman" panose="02020603050405020304" pitchFamily="18" charset="0"/>
                        </a:rPr>
                        <m:t>(</m:t>
                      </m:r>
                      <m:r>
                        <a:rPr lang="en-GB" sz="1800" b="1" i="1" smtClean="0">
                          <a:solidFill>
                            <a:schemeClr val="tx1"/>
                          </a:solidFill>
                          <a:latin typeface="Cambria Math" panose="02040503050406030204" pitchFamily="18" charset="0"/>
                          <a:cs typeface="Times New Roman" panose="02020603050405020304" pitchFamily="18" charset="0"/>
                        </a:rPr>
                        <m:t>𝑫</m:t>
                      </m:r>
                      <m:r>
                        <a:rPr lang="en-GB" sz="1800" b="1" i="1" smtClean="0">
                          <a:solidFill>
                            <a:schemeClr val="tx1"/>
                          </a:solidFill>
                          <a:latin typeface="Cambria Math" panose="02040503050406030204" pitchFamily="18" charset="0"/>
                          <a:cs typeface="Times New Roman" panose="02020603050405020304" pitchFamily="18" charset="0"/>
                        </a:rPr>
                        <m:t>)</m:t>
                      </m:r>
                    </m:oMath>
                  </m:oMathPara>
                </a14:m>
                <a:endParaRPr lang="en-US" sz="1800" b="1"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 </a:t>
                </a:r>
              </a:p>
              <a:p>
                <a:pPr algn="just"/>
                <a14:m>
                  <m:oMathPara xmlns:m="http://schemas.openxmlformats.org/officeDocument/2006/math">
                    <m:oMathParaPr>
                      <m:jc m:val="left"/>
                    </m:oMathParaPr>
                    <m:oMath>
                      <m:r>
                        <a:rPr lang="en-GB" sz="1800" b="1" i="1" smtClean="0">
                          <a:solidFill>
                            <a:srgbClr val="00B050"/>
                          </a:solidFill>
                          <a:latin typeface="Cambria Math" panose="02040503050406030204" pitchFamily="18" charset="0"/>
                          <a:cs typeface="Times New Roman" panose="02020603050405020304" pitchFamily="18" charset="0"/>
                        </a:rPr>
                        <m:t>𝑮𝒂𝒊𝒏</m:t>
                      </m:r>
                      <m:d>
                        <m:dPr>
                          <m:ctrlPr>
                            <a:rPr lang="en-GB" sz="1800" b="1" i="1" smtClean="0">
                              <a:solidFill>
                                <a:srgbClr val="00B050"/>
                              </a:solidFill>
                              <a:latin typeface="Cambria Math" panose="02040503050406030204" pitchFamily="18" charset="0"/>
                              <a:cs typeface="Times New Roman" panose="02020603050405020304" pitchFamily="18" charset="0"/>
                            </a:rPr>
                          </m:ctrlPr>
                        </m:dPr>
                        <m:e>
                          <m:r>
                            <a:rPr lang="en-GB" sz="1800" b="1" i="1" smtClean="0">
                              <a:solidFill>
                                <a:srgbClr val="00B050"/>
                              </a:solidFill>
                              <a:latin typeface="Cambria Math" panose="02040503050406030204" pitchFamily="18" charset="0"/>
                              <a:cs typeface="Times New Roman" panose="02020603050405020304" pitchFamily="18" charset="0"/>
                            </a:rPr>
                            <m:t>𝒂𝒈𝒆</m:t>
                          </m:r>
                        </m:e>
                      </m:d>
                      <m:r>
                        <a:rPr lang="en-GB" sz="1800" b="0" i="1" smtClean="0">
                          <a:solidFill>
                            <a:schemeClr val="tx1"/>
                          </a:solidFill>
                          <a:latin typeface="Cambria Math" panose="02040503050406030204" pitchFamily="18" charset="0"/>
                          <a:cs typeface="Times New Roman" panose="02020603050405020304" pitchFamily="18" charset="0"/>
                        </a:rPr>
                        <m:t>=</m:t>
                      </m:r>
                      <m:r>
                        <a:rPr lang="en-GB" sz="1800" b="0" i="1" smtClean="0">
                          <a:solidFill>
                            <a:schemeClr val="tx1"/>
                          </a:solidFill>
                          <a:latin typeface="Cambria Math" panose="02040503050406030204" pitchFamily="18" charset="0"/>
                          <a:cs typeface="Times New Roman" panose="02020603050405020304" pitchFamily="18" charset="0"/>
                        </a:rPr>
                        <m:t>𝐼𝑛𝑓𝑜</m:t>
                      </m:r>
                      <m:d>
                        <m:dPr>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𝐷</m:t>
                          </m:r>
                        </m:e>
                      </m:d>
                      <m:r>
                        <a:rPr lang="en-GB" sz="1800" b="0" i="1" smtClean="0">
                          <a:solidFill>
                            <a:schemeClr val="tx1"/>
                          </a:solidFill>
                          <a:latin typeface="Cambria Math" panose="02040503050406030204" pitchFamily="18" charset="0"/>
                          <a:cs typeface="Times New Roman" panose="02020603050405020304" pitchFamily="18" charset="0"/>
                        </a:rPr>
                        <m:t>−</m:t>
                      </m:r>
                      <m:sSub>
                        <m:sSubPr>
                          <m:ctrlPr>
                            <a:rPr lang="en-GB" sz="1800" b="0" i="1" smtClean="0">
                              <a:solidFill>
                                <a:schemeClr val="tx1"/>
                              </a:solidFill>
                              <a:latin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cs typeface="Times New Roman" panose="02020603050405020304" pitchFamily="18" charset="0"/>
                            </a:rPr>
                            <m:t>𝐼𝑛𝑓𝑜</m:t>
                          </m:r>
                        </m:e>
                        <m:sub>
                          <m:r>
                            <a:rPr lang="en-GB" sz="1800" b="0" i="1" smtClean="0">
                              <a:solidFill>
                                <a:schemeClr val="tx1"/>
                              </a:solidFill>
                              <a:latin typeface="Cambria Math" panose="02040503050406030204" pitchFamily="18" charset="0"/>
                              <a:cs typeface="Times New Roman" panose="02020603050405020304" pitchFamily="18" charset="0"/>
                            </a:rPr>
                            <m:t>𝑎𝑔𝑒</m:t>
                          </m:r>
                        </m:sub>
                      </m:sSub>
                      <m:r>
                        <a:rPr lang="en-GB" sz="1800" b="0" i="1" smtClean="0">
                          <a:solidFill>
                            <a:schemeClr val="tx1"/>
                          </a:solidFill>
                          <a:latin typeface="Cambria Math" panose="02040503050406030204" pitchFamily="18" charset="0"/>
                          <a:cs typeface="Times New Roman" panose="02020603050405020304" pitchFamily="18" charset="0"/>
                        </a:rPr>
                        <m:t>(</m:t>
                      </m:r>
                      <m:r>
                        <a:rPr lang="en-GB" sz="1800" b="0" i="1" smtClean="0">
                          <a:solidFill>
                            <a:schemeClr val="tx1"/>
                          </a:solidFill>
                          <a:latin typeface="Cambria Math" panose="02040503050406030204" pitchFamily="18" charset="0"/>
                          <a:cs typeface="Times New Roman" panose="02020603050405020304" pitchFamily="18" charset="0"/>
                        </a:rPr>
                        <m:t>𝐷</m:t>
                      </m:r>
                      <m:r>
                        <a:rPr lang="en-GB" sz="1800" b="0" i="1" smtClean="0">
                          <a:solidFill>
                            <a:schemeClr val="tx1"/>
                          </a:solidFill>
                          <a:latin typeface="Cambria Math" panose="02040503050406030204" pitchFamily="18" charset="0"/>
                          <a:cs typeface="Times New Roman" panose="02020603050405020304" pitchFamily="18" charset="0"/>
                        </a:rPr>
                        <m:t>)</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m:r>
                        <a:rPr lang="en-GB" sz="1800" b="0" i="1" smtClean="0">
                          <a:solidFill>
                            <a:schemeClr val="tx1"/>
                          </a:solidFill>
                          <a:latin typeface="Cambria Math" panose="02040503050406030204" pitchFamily="18" charset="0"/>
                          <a:cs typeface="Times New Roman" panose="02020603050405020304" pitchFamily="18" charset="0"/>
                        </a:rPr>
                        <m:t>=0.940−0.694=</m:t>
                      </m:r>
                      <m:r>
                        <a:rPr lang="en-GB" sz="1800" b="1" i="1" smtClean="0">
                          <a:solidFill>
                            <a:srgbClr val="00B050"/>
                          </a:solidFill>
                          <a:latin typeface="Cambria Math" panose="02040503050406030204" pitchFamily="18" charset="0"/>
                          <a:cs typeface="Times New Roman" panose="02020603050405020304" pitchFamily="18" charset="0"/>
                        </a:rPr>
                        <m:t>𝟎</m:t>
                      </m:r>
                      <m:r>
                        <a:rPr lang="en-GB" sz="1800" b="1" i="1" smtClean="0">
                          <a:solidFill>
                            <a:srgbClr val="00B050"/>
                          </a:solidFill>
                          <a:latin typeface="Cambria Math" panose="02040503050406030204" pitchFamily="18" charset="0"/>
                          <a:cs typeface="Times New Roman" panose="02020603050405020304" pitchFamily="18" charset="0"/>
                        </a:rPr>
                        <m:t>.</m:t>
                      </m:r>
                      <m:r>
                        <a:rPr lang="en-GB" sz="1800" b="1" i="1" smtClean="0">
                          <a:solidFill>
                            <a:srgbClr val="00B050"/>
                          </a:solidFill>
                          <a:latin typeface="Cambria Math" panose="02040503050406030204" pitchFamily="18" charset="0"/>
                          <a:cs typeface="Times New Roman" panose="02020603050405020304" pitchFamily="18" charset="0"/>
                        </a:rPr>
                        <m:t>𝟐𝟒𝟔</m:t>
                      </m:r>
                    </m:oMath>
                  </m:oMathPara>
                </a14:m>
                <a:endParaRPr lang="en-US" sz="1800" b="1"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m:r>
                        <a:rPr lang="en-GB" sz="1800" b="0" i="1" smtClean="0">
                          <a:solidFill>
                            <a:schemeClr val="tx1"/>
                          </a:solidFill>
                          <a:latin typeface="Cambria Math" panose="02040503050406030204" pitchFamily="18" charset="0"/>
                          <a:cs typeface="Times New Roman" panose="02020603050405020304" pitchFamily="18" charset="0"/>
                        </a:rPr>
                        <m:t>𝐺𝑎𝑖𝑛</m:t>
                      </m:r>
                      <m:d>
                        <m:dPr>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𝑖𝑛𝑐𝑜𝑚𝑒</m:t>
                          </m:r>
                        </m:e>
                      </m:d>
                      <m:r>
                        <a:rPr lang="en-GB" sz="1800" b="0" i="1" smtClean="0">
                          <a:solidFill>
                            <a:schemeClr val="tx1"/>
                          </a:solidFill>
                          <a:latin typeface="Cambria Math" panose="02040503050406030204" pitchFamily="18" charset="0"/>
                          <a:cs typeface="Times New Roman" panose="02020603050405020304" pitchFamily="18" charset="0"/>
                        </a:rPr>
                        <m:t>=</m:t>
                      </m:r>
                      <m:r>
                        <a:rPr lang="en-GB" sz="1800" b="0" i="1" smtClean="0">
                          <a:solidFill>
                            <a:schemeClr val="tx1"/>
                          </a:solidFill>
                          <a:latin typeface="Cambria Math" panose="02040503050406030204" pitchFamily="18" charset="0"/>
                          <a:cs typeface="Times New Roman" panose="02020603050405020304" pitchFamily="18" charset="0"/>
                        </a:rPr>
                        <m:t>𝐼𝑛𝑓𝑜</m:t>
                      </m:r>
                      <m:d>
                        <m:dPr>
                          <m:ctrlPr>
                            <a:rPr lang="en-GB" sz="1800" b="0" i="1" smtClean="0">
                              <a:solidFill>
                                <a:schemeClr val="tx1"/>
                              </a:solidFill>
                              <a:latin typeface="Cambria Math" panose="02040503050406030204" pitchFamily="18" charset="0"/>
                              <a:cs typeface="Times New Roman" panose="02020603050405020304" pitchFamily="18" charset="0"/>
                            </a:rPr>
                          </m:ctrlPr>
                        </m:dPr>
                        <m:e>
                          <m:r>
                            <a:rPr lang="en-GB" sz="1800" b="0" i="1" smtClean="0">
                              <a:solidFill>
                                <a:schemeClr val="tx1"/>
                              </a:solidFill>
                              <a:latin typeface="Cambria Math" panose="02040503050406030204" pitchFamily="18" charset="0"/>
                              <a:cs typeface="Times New Roman" panose="02020603050405020304" pitchFamily="18" charset="0"/>
                            </a:rPr>
                            <m:t>𝐷</m:t>
                          </m:r>
                        </m:e>
                      </m:d>
                      <m:r>
                        <a:rPr lang="en-GB" sz="1800" b="0" i="1" smtClean="0">
                          <a:solidFill>
                            <a:schemeClr val="tx1"/>
                          </a:solidFill>
                          <a:latin typeface="Cambria Math" panose="02040503050406030204" pitchFamily="18" charset="0"/>
                          <a:cs typeface="Times New Roman" panose="02020603050405020304" pitchFamily="18" charset="0"/>
                        </a:rPr>
                        <m:t>−</m:t>
                      </m:r>
                      <m:sSub>
                        <m:sSubPr>
                          <m:ctrlPr>
                            <a:rPr lang="en-GB" sz="1800" b="0" i="1" smtClean="0">
                              <a:solidFill>
                                <a:schemeClr val="tx1"/>
                              </a:solidFill>
                              <a:latin typeface="Cambria Math" panose="02040503050406030204" pitchFamily="18" charset="0"/>
                              <a:cs typeface="Times New Roman" panose="02020603050405020304" pitchFamily="18" charset="0"/>
                            </a:rPr>
                          </m:ctrlPr>
                        </m:sSubPr>
                        <m:e>
                          <m:r>
                            <a:rPr lang="en-GB" sz="1800" b="0" i="1" smtClean="0">
                              <a:solidFill>
                                <a:schemeClr val="tx1"/>
                              </a:solidFill>
                              <a:latin typeface="Cambria Math" panose="02040503050406030204" pitchFamily="18" charset="0"/>
                              <a:cs typeface="Times New Roman" panose="02020603050405020304" pitchFamily="18" charset="0"/>
                            </a:rPr>
                            <m:t>𝐼𝑛𝑓𝑜</m:t>
                          </m:r>
                        </m:e>
                        <m:sub>
                          <m:r>
                            <a:rPr lang="en-GB" sz="1800" b="0" i="1" smtClean="0">
                              <a:solidFill>
                                <a:schemeClr val="tx1"/>
                              </a:solidFill>
                              <a:latin typeface="Cambria Math" panose="02040503050406030204" pitchFamily="18" charset="0"/>
                              <a:cs typeface="Times New Roman" panose="02020603050405020304" pitchFamily="18" charset="0"/>
                            </a:rPr>
                            <m:t>𝑖𝑛𝑐𝑜𝑚𝑒</m:t>
                          </m:r>
                        </m:sub>
                      </m:sSub>
                      <m:r>
                        <a:rPr lang="en-GB" sz="1800" b="0" i="1" smtClean="0">
                          <a:solidFill>
                            <a:schemeClr val="tx1"/>
                          </a:solidFill>
                          <a:latin typeface="Cambria Math" panose="02040503050406030204" pitchFamily="18" charset="0"/>
                          <a:cs typeface="Times New Roman" panose="02020603050405020304" pitchFamily="18" charset="0"/>
                        </a:rPr>
                        <m:t>(</m:t>
                      </m:r>
                      <m:r>
                        <a:rPr lang="en-GB" sz="1800" b="0" i="1" smtClean="0">
                          <a:solidFill>
                            <a:schemeClr val="tx1"/>
                          </a:solidFill>
                          <a:latin typeface="Cambria Math" panose="02040503050406030204" pitchFamily="18" charset="0"/>
                          <a:cs typeface="Times New Roman" panose="02020603050405020304" pitchFamily="18" charset="0"/>
                        </a:rPr>
                        <m:t>𝐷</m:t>
                      </m:r>
                      <m:r>
                        <a:rPr lang="en-GB" sz="1800" b="0" i="1" smtClean="0">
                          <a:solidFill>
                            <a:schemeClr val="tx1"/>
                          </a:solidFill>
                          <a:latin typeface="Cambria Math" panose="02040503050406030204" pitchFamily="18" charset="0"/>
                          <a:cs typeface="Times New Roman" panose="02020603050405020304" pitchFamily="18" charset="0"/>
                        </a:rPr>
                        <m:t>)</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m:r>
                        <a:rPr lang="en-GB" sz="1800" b="0" i="1" smtClean="0">
                          <a:solidFill>
                            <a:schemeClr val="tx1"/>
                          </a:solidFill>
                          <a:latin typeface="Cambria Math" panose="02040503050406030204" pitchFamily="18" charset="0"/>
                          <a:cs typeface="Times New Roman" panose="02020603050405020304" pitchFamily="18" charset="0"/>
                        </a:rPr>
                        <m:t>=0.940−0.</m:t>
                      </m:r>
                      <m:r>
                        <a:rPr lang="en-US" sz="1800" b="0" i="1" smtClean="0">
                          <a:solidFill>
                            <a:schemeClr val="tx1"/>
                          </a:solidFill>
                          <a:latin typeface="Cambria Math" panose="02040503050406030204"/>
                          <a:cs typeface="Times New Roman" panose="02020603050405020304" pitchFamily="18" charset="0"/>
                        </a:rPr>
                        <m:t>911</m:t>
                      </m:r>
                      <m:r>
                        <a:rPr lang="en-GB" sz="1800" b="0" i="1" smtClean="0">
                          <a:solidFill>
                            <a:schemeClr val="tx1"/>
                          </a:solidFill>
                          <a:latin typeface="Cambria Math" panose="02040503050406030204" pitchFamily="18" charset="0"/>
                          <a:cs typeface="Times New Roman" panose="02020603050405020304" pitchFamily="18" charset="0"/>
                        </a:rPr>
                        <m:t>=0.</m:t>
                      </m:r>
                      <m:r>
                        <a:rPr lang="en-US" sz="1800" b="0" i="1" smtClean="0">
                          <a:solidFill>
                            <a:schemeClr val="tx1"/>
                          </a:solidFill>
                          <a:latin typeface="Cambria Math" panose="02040503050406030204"/>
                          <a:cs typeface="Times New Roman" panose="02020603050405020304" pitchFamily="18" charset="0"/>
                        </a:rPr>
                        <m:t>029</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Similarly,</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m:r>
                        <a:rPr lang="en-GB" sz="1800" b="0" i="1">
                          <a:solidFill>
                            <a:schemeClr val="tx1"/>
                          </a:solidFill>
                          <a:latin typeface="Cambria Math" panose="02040503050406030204" pitchFamily="18" charset="0"/>
                          <a:cs typeface="Times New Roman" panose="02020603050405020304" pitchFamily="18" charset="0"/>
                        </a:rPr>
                        <m:t>𝐺𝑎𝑖𝑛</m:t>
                      </m:r>
                      <m:d>
                        <m:dPr>
                          <m:ctrlPr>
                            <a:rPr lang="en-US" sz="1800" b="0" i="1" smtClean="0">
                              <a:solidFill>
                                <a:schemeClr val="tx1"/>
                              </a:solidFill>
                              <a:latin typeface="Cambria Math" panose="02040503050406030204"/>
                              <a:cs typeface="Times New Roman" panose="02020603050405020304" pitchFamily="18" charset="0"/>
                            </a:rPr>
                          </m:ctrlPr>
                        </m:dPr>
                        <m:e>
                          <m:r>
                            <a:rPr lang="en-US" sz="1800" b="0" i="1" smtClean="0">
                              <a:solidFill>
                                <a:schemeClr val="tx1"/>
                              </a:solidFill>
                              <a:latin typeface="Cambria Math" panose="02040503050406030204"/>
                              <a:cs typeface="Times New Roman" panose="02020603050405020304" pitchFamily="18" charset="0"/>
                            </a:rPr>
                            <m:t>𝑠𝑡𝑢𝑑𝑒𝑛𝑡</m:t>
                          </m:r>
                        </m:e>
                      </m:d>
                      <m:r>
                        <a:rPr lang="en-US" sz="1800" b="0" i="1" smtClean="0">
                          <a:solidFill>
                            <a:schemeClr val="tx1"/>
                          </a:solidFill>
                          <a:latin typeface="Cambria Math" panose="02040503050406030204"/>
                          <a:cs typeface="Times New Roman" panose="02020603050405020304" pitchFamily="18" charset="0"/>
                        </a:rPr>
                        <m:t>=0.151</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m:r>
                        <a:rPr lang="en-GB" sz="1800" b="0" i="1">
                          <a:solidFill>
                            <a:schemeClr val="tx1"/>
                          </a:solidFill>
                          <a:latin typeface="Cambria Math" panose="02040503050406030204" pitchFamily="18" charset="0"/>
                          <a:cs typeface="Times New Roman" panose="02020603050405020304" pitchFamily="18" charset="0"/>
                        </a:rPr>
                        <m:t>𝐺𝑎𝑖𝑛</m:t>
                      </m:r>
                      <m:d>
                        <m:dPr>
                          <m:ctrlPr>
                            <a:rPr lang="en-US" sz="1800" b="0" i="1" smtClean="0">
                              <a:solidFill>
                                <a:schemeClr val="tx1"/>
                              </a:solidFill>
                              <a:latin typeface="Cambria Math" panose="02040503050406030204"/>
                              <a:cs typeface="Times New Roman" panose="02020603050405020304" pitchFamily="18" charset="0"/>
                            </a:rPr>
                          </m:ctrlPr>
                        </m:dPr>
                        <m:e>
                          <m:r>
                            <a:rPr lang="en-US" sz="1800" b="0" i="1" smtClean="0">
                              <a:solidFill>
                                <a:schemeClr val="tx1"/>
                              </a:solidFill>
                              <a:latin typeface="Cambria Math" panose="02040503050406030204"/>
                              <a:cs typeface="Times New Roman" panose="02020603050405020304" pitchFamily="18" charset="0"/>
                            </a:rPr>
                            <m:t>𝑐𝑟𝑒𝑑𝑖𝑡</m:t>
                          </m:r>
                          <m:r>
                            <a:rPr lang="en-US" sz="1800" b="0" i="1" smtClean="0">
                              <a:solidFill>
                                <a:schemeClr val="tx1"/>
                              </a:solidFill>
                              <a:latin typeface="Cambria Math" panose="02040503050406030204"/>
                              <a:cs typeface="Times New Roman" panose="02020603050405020304" pitchFamily="18" charset="0"/>
                            </a:rPr>
                            <m:t>_</m:t>
                          </m:r>
                          <m:r>
                            <a:rPr lang="en-US" sz="1800" b="0" i="1" smtClean="0">
                              <a:solidFill>
                                <a:schemeClr val="tx1"/>
                              </a:solidFill>
                              <a:latin typeface="Cambria Math" panose="02040503050406030204"/>
                              <a:cs typeface="Times New Roman" panose="02020603050405020304" pitchFamily="18" charset="0"/>
                            </a:rPr>
                            <m:t>𝑟𝑎𝑡𝑖𝑛𝑔</m:t>
                          </m:r>
                        </m:e>
                      </m:d>
                      <m:r>
                        <a:rPr lang="en-US" sz="1800" b="0" i="1" smtClean="0">
                          <a:solidFill>
                            <a:schemeClr val="tx1"/>
                          </a:solidFill>
                          <a:latin typeface="Cambria Math" panose="02040503050406030204"/>
                          <a:cs typeface="Times New Roman" panose="02020603050405020304" pitchFamily="18" charset="0"/>
                        </a:rPr>
                        <m:t>=0.048</m:t>
                      </m:r>
                    </m:oMath>
                  </m:oMathPara>
                </a14:m>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3951287" cy="5257800"/>
              </a:xfrm>
              <a:blipFill rotWithShape="1">
                <a:blip r:embed="rId2"/>
                <a:stretch>
                  <a:fillRect r="8"/>
                </a:stretch>
              </a:blipFill>
            </p:spPr>
            <p:txBody>
              <a:bodyPr/>
              <a:lstStyle/>
              <a:p>
                <a:r>
                  <a:rPr lang="en-US" altLang="en-US">
                    <a:noFill/>
                  </a:rPr>
                  <a:t> </a:t>
                </a:r>
              </a:p>
            </p:txBody>
          </p:sp>
        </mc:Fallback>
      </mc:AlternateContent>
      <p:graphicFrame>
        <p:nvGraphicFramePr>
          <p:cNvPr id="5" name="Object 1024"/>
          <p:cNvGraphicFramePr/>
          <p:nvPr/>
        </p:nvGraphicFramePr>
        <p:xfrm>
          <a:off x="4637088" y="1371600"/>
          <a:ext cx="4474256" cy="5105400"/>
        </p:xfrm>
        <a:graphic>
          <a:graphicData uri="http://schemas.openxmlformats.org/presentationml/2006/ole">
            <mc:AlternateContent xmlns:mc="http://schemas.openxmlformats.org/markup-compatibility/2006">
              <mc:Choice xmlns:v="urn:schemas-microsoft-com:vml" Requires="v">
                <p:oleObj name="Worksheet" r:id="rId3" imgW="5441315" imgH="4204335" progId="Excel.Sheet.8">
                  <p:embed/>
                </p:oleObj>
              </mc:Choice>
              <mc:Fallback>
                <p:oleObj name="Worksheet" r:id="rId3" imgW="5441315" imgH="4204335" progId="Excel.Sheet.8">
                  <p:embed/>
                  <p:pic>
                    <p:nvPicPr>
                      <p:cNvPr id="0" name="Picture 1135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7088" y="1371600"/>
                        <a:ext cx="4474256" cy="5105400"/>
                      </a:xfrm>
                      <a:prstGeom prst="rect">
                        <a:avLst/>
                      </a:prstGeom>
                      <a:noFill/>
                      <a:ln>
                        <a:noFill/>
                      </a:ln>
                    </p:spPr>
                  </p:pic>
                </p:oleObj>
              </mc:Fallback>
            </mc:AlternateContent>
          </a:graphicData>
        </a:graphic>
      </p:graphicFrame>
      <p:sp>
        <p:nvSpPr>
          <p:cNvPr id="4" name="Down Arrow 3"/>
          <p:cNvSpPr/>
          <p:nvPr/>
        </p:nvSpPr>
        <p:spPr>
          <a:xfrm>
            <a:off x="4800600" y="1012166"/>
            <a:ext cx="304800" cy="435634"/>
          </a:xfrm>
          <a:prstGeom prst="down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Classification : Decision Tree</a:t>
            </a:r>
          </a:p>
        </p:txBody>
      </p:sp>
      <p:sp>
        <p:nvSpPr>
          <p:cNvPr id="3" name="Subtitle 2"/>
          <p:cNvSpPr>
            <a:spLocks noGrp="1"/>
          </p:cNvSpPr>
          <p:nvPr>
            <p:ph type="subTitle" idx="1"/>
          </p:nvPr>
        </p:nvSpPr>
        <p:spPr>
          <a:xfrm>
            <a:off x="685800" y="1371600"/>
            <a:ext cx="4038600" cy="53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So, the first split is on the </a:t>
            </a:r>
            <a:r>
              <a:rPr lang="en-US" sz="1800" b="1" dirty="0">
                <a:solidFill>
                  <a:schemeClr val="tx1"/>
                </a:solidFill>
                <a:latin typeface="Times New Roman" panose="02020603050405020304" pitchFamily="18" charset="0"/>
                <a:cs typeface="Times New Roman" panose="02020603050405020304" pitchFamily="18" charset="0"/>
              </a:rPr>
              <a:t>age </a:t>
            </a:r>
            <a:r>
              <a:rPr lang="en-US" sz="1800" dirty="0">
                <a:solidFill>
                  <a:schemeClr val="tx1"/>
                </a:solidFill>
                <a:latin typeface="Times New Roman" panose="02020603050405020304" pitchFamily="18" charset="0"/>
                <a:cs typeface="Times New Roman" panose="02020603050405020304" pitchFamily="18" charset="0"/>
              </a:rPr>
              <a:t>attribute</a:t>
            </a:r>
            <a:endParaRPr lang="en-US" sz="1800" b="1" dirty="0">
              <a:solidFill>
                <a:schemeClr val="tx1"/>
              </a:solidFill>
              <a:latin typeface="Times New Roman" panose="02020603050405020304" pitchFamily="18" charset="0"/>
              <a:cs typeface="Times New Roman" panose="02020603050405020304" pitchFamily="18" charset="0"/>
            </a:endParaRPr>
          </a:p>
        </p:txBody>
      </p:sp>
      <p:sp>
        <p:nvSpPr>
          <p:cNvPr id="8" name="Subtitle 2"/>
          <p:cNvSpPr txBox="1"/>
          <p:nvPr/>
        </p:nvSpPr>
        <p:spPr>
          <a:xfrm>
            <a:off x="6172200" y="1172812"/>
            <a:ext cx="2667000" cy="103698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just"/>
            <a:r>
              <a:rPr lang="en-US" sz="1800" dirty="0">
                <a:solidFill>
                  <a:schemeClr val="tx1"/>
                </a:solidFill>
                <a:latin typeface="Times New Roman" panose="02020603050405020304" pitchFamily="18" charset="0"/>
                <a:cs typeface="Times New Roman" panose="02020603050405020304" pitchFamily="18" charset="0"/>
              </a:rPr>
              <a:t>Next, repeat the same process with the other nodes with smaller dataset.</a:t>
            </a:r>
          </a:p>
          <a:p>
            <a:pPr algn="just"/>
            <a:endParaRPr lang="en-US" sz="1800" b="1" dirty="0">
              <a:solidFill>
                <a:schemeClr val="tx1"/>
              </a:solidFill>
              <a:latin typeface="Times New Roman" panose="02020603050405020304" pitchFamily="18" charset="0"/>
              <a:cs typeface="Times New Roman" panose="02020603050405020304" pitchFamily="18" charset="0"/>
            </a:endParaRPr>
          </a:p>
        </p:txBody>
      </p:sp>
      <p:pic>
        <p:nvPicPr>
          <p:cNvPr id="122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981200"/>
            <a:ext cx="622935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3411753"/>
            <a:ext cx="2855194" cy="1447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3371785"/>
            <a:ext cx="2876550" cy="15959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4200" y="3512817"/>
            <a:ext cx="2519063" cy="1348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Classification : Decision Tree</a:t>
            </a:r>
          </a:p>
        </p:txBody>
      </p:sp>
      <p:sp>
        <p:nvSpPr>
          <p:cNvPr id="3" name="Subtitle 2"/>
          <p:cNvSpPr>
            <a:spLocks noGrp="1"/>
          </p:cNvSpPr>
          <p:nvPr>
            <p:ph type="subTitle" idx="1"/>
          </p:nvPr>
        </p:nvSpPr>
        <p:spPr>
          <a:xfrm>
            <a:off x="685800" y="1371600"/>
            <a:ext cx="3657600" cy="53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Next split is on </a:t>
            </a:r>
            <a:r>
              <a:rPr lang="en-US" sz="1800" b="1" dirty="0">
                <a:solidFill>
                  <a:schemeClr val="tx1"/>
                </a:solidFill>
                <a:latin typeface="Times New Roman" panose="02020603050405020304" pitchFamily="18" charset="0"/>
                <a:cs typeface="Times New Roman" panose="02020603050405020304" pitchFamily="18" charset="0"/>
              </a:rPr>
              <a:t>student </a:t>
            </a:r>
            <a:r>
              <a:rPr lang="en-US" sz="1800" dirty="0">
                <a:solidFill>
                  <a:schemeClr val="tx1"/>
                </a:solidFill>
                <a:latin typeface="Times New Roman" panose="02020603050405020304" pitchFamily="18" charset="0"/>
                <a:cs typeface="Times New Roman" panose="02020603050405020304" pitchFamily="18" charset="0"/>
              </a:rPr>
              <a:t>at node </a:t>
            </a:r>
            <a:r>
              <a:rPr lang="en-US" sz="1800" b="1" dirty="0">
                <a:solidFill>
                  <a:schemeClr val="tx1"/>
                </a:solidFill>
                <a:latin typeface="Times New Roman" panose="02020603050405020304" pitchFamily="18" charset="0"/>
                <a:cs typeface="Times New Roman" panose="02020603050405020304" pitchFamily="18" charset="0"/>
              </a:rPr>
              <a:t>&lt;=30</a:t>
            </a:r>
          </a:p>
          <a:p>
            <a:pPr algn="just"/>
            <a:endParaRPr lang="en-US" sz="1800" b="1" dirty="0">
              <a:solidFill>
                <a:schemeClr val="tx1"/>
              </a:solidFill>
              <a:latin typeface="Times New Roman" panose="02020603050405020304" pitchFamily="18" charset="0"/>
              <a:cs typeface="Times New Roman" panose="02020603050405020304" pitchFamily="18" charset="0"/>
            </a:endParaRP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857" y="2057400"/>
            <a:ext cx="8534400" cy="383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3302528"/>
            <a:ext cx="1295400" cy="8186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9800" y="3104126"/>
            <a:ext cx="2190750" cy="1215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Subtitle 2"/>
          <p:cNvSpPr txBox="1"/>
          <p:nvPr/>
        </p:nvSpPr>
        <p:spPr>
          <a:xfrm>
            <a:off x="381000" y="5629453"/>
            <a:ext cx="2398143" cy="780151"/>
          </a:xfrm>
          <a:prstGeom prst="rect">
            <a:avLst/>
          </a:prstGeom>
          <a:solidFill>
            <a:schemeClr val="bg1">
              <a:lumMod val="75000"/>
            </a:schemeClr>
          </a:solidFill>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just"/>
            <a:r>
              <a:rPr lang="en-US" sz="1800" dirty="0">
                <a:solidFill>
                  <a:schemeClr val="tx1"/>
                </a:solidFill>
                <a:latin typeface="Times New Roman" panose="02020603050405020304" pitchFamily="18" charset="0"/>
                <a:cs typeface="Times New Roman" panose="02020603050405020304" pitchFamily="18" charset="0"/>
              </a:rPr>
              <a:t>All are </a:t>
            </a:r>
            <a:r>
              <a:rPr lang="en-US" sz="1800" b="1" dirty="0">
                <a:solidFill>
                  <a:schemeClr val="tx1"/>
                </a:solidFill>
                <a:latin typeface="Times New Roman" panose="02020603050405020304" pitchFamily="18" charset="0"/>
                <a:cs typeface="Times New Roman" panose="02020603050405020304" pitchFamily="18" charset="0"/>
              </a:rPr>
              <a:t>no</a:t>
            </a:r>
          </a:p>
          <a:p>
            <a:pPr algn="just"/>
            <a:r>
              <a:rPr lang="en-US" sz="1800" dirty="0">
                <a:solidFill>
                  <a:schemeClr val="tx1"/>
                </a:solidFill>
                <a:latin typeface="Times New Roman" panose="02020603050405020304" pitchFamily="18" charset="0"/>
                <a:cs typeface="Times New Roman" panose="02020603050405020304" pitchFamily="18" charset="0"/>
              </a:rPr>
              <a:t>So, no further split here</a:t>
            </a:r>
          </a:p>
        </p:txBody>
      </p:sp>
      <p:sp>
        <p:nvSpPr>
          <p:cNvPr id="20" name="Subtitle 2"/>
          <p:cNvSpPr txBox="1"/>
          <p:nvPr/>
        </p:nvSpPr>
        <p:spPr>
          <a:xfrm>
            <a:off x="3644661" y="5359426"/>
            <a:ext cx="2398143" cy="780151"/>
          </a:xfrm>
          <a:prstGeom prst="rect">
            <a:avLst/>
          </a:prstGeom>
          <a:solidFill>
            <a:schemeClr val="bg1">
              <a:lumMod val="75000"/>
            </a:schemeClr>
          </a:solidFill>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just"/>
            <a:r>
              <a:rPr lang="en-US" sz="1800" dirty="0">
                <a:solidFill>
                  <a:schemeClr val="tx1"/>
                </a:solidFill>
                <a:latin typeface="Times New Roman" panose="02020603050405020304" pitchFamily="18" charset="0"/>
                <a:cs typeface="Times New Roman" panose="02020603050405020304" pitchFamily="18" charset="0"/>
              </a:rPr>
              <a:t>All are </a:t>
            </a:r>
            <a:r>
              <a:rPr lang="en-US" sz="1800" b="1" dirty="0">
                <a:solidFill>
                  <a:schemeClr val="tx1"/>
                </a:solidFill>
                <a:latin typeface="Times New Roman" panose="02020603050405020304" pitchFamily="18" charset="0"/>
                <a:cs typeface="Times New Roman" panose="02020603050405020304" pitchFamily="18" charset="0"/>
              </a:rPr>
              <a:t>yes</a:t>
            </a:r>
          </a:p>
          <a:p>
            <a:pPr algn="just"/>
            <a:r>
              <a:rPr lang="en-US" sz="1800" dirty="0">
                <a:solidFill>
                  <a:schemeClr val="tx1"/>
                </a:solidFill>
                <a:latin typeface="Times New Roman" panose="02020603050405020304" pitchFamily="18" charset="0"/>
                <a:cs typeface="Times New Roman" panose="02020603050405020304" pitchFamily="18" charset="0"/>
              </a:rPr>
              <a:t>So, no further split here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Classification : Decision Tree</a:t>
            </a:r>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286000"/>
            <a:ext cx="5781675" cy="383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3741664"/>
            <a:ext cx="2133599" cy="1348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9275" y="3200400"/>
            <a:ext cx="2190750" cy="1215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Subtitle 2"/>
          <p:cNvSpPr txBox="1"/>
          <p:nvPr/>
        </p:nvSpPr>
        <p:spPr>
          <a:xfrm>
            <a:off x="3644660" y="5181600"/>
            <a:ext cx="2398143" cy="780151"/>
          </a:xfrm>
          <a:prstGeom prst="rect">
            <a:avLst/>
          </a:prstGeom>
          <a:solidFill>
            <a:schemeClr val="bg1">
              <a:lumMod val="75000"/>
            </a:schemeClr>
          </a:solidFill>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just"/>
            <a:r>
              <a:rPr lang="en-US" sz="1800" dirty="0">
                <a:solidFill>
                  <a:schemeClr val="tx1"/>
                </a:solidFill>
                <a:latin typeface="Times New Roman" panose="02020603050405020304" pitchFamily="18" charset="0"/>
                <a:cs typeface="Times New Roman" panose="02020603050405020304" pitchFamily="18" charset="0"/>
              </a:rPr>
              <a:t>All are </a:t>
            </a:r>
            <a:r>
              <a:rPr lang="en-US" sz="1800" b="1" dirty="0">
                <a:solidFill>
                  <a:schemeClr val="tx1"/>
                </a:solidFill>
                <a:latin typeface="Times New Roman" panose="02020603050405020304" pitchFamily="18" charset="0"/>
                <a:cs typeface="Times New Roman" panose="02020603050405020304" pitchFamily="18" charset="0"/>
              </a:rPr>
              <a:t>yes</a:t>
            </a:r>
          </a:p>
          <a:p>
            <a:pPr algn="just"/>
            <a:r>
              <a:rPr lang="en-US" sz="1800" dirty="0">
                <a:solidFill>
                  <a:schemeClr val="tx1"/>
                </a:solidFill>
                <a:latin typeface="Times New Roman" panose="02020603050405020304" pitchFamily="18" charset="0"/>
                <a:cs typeface="Times New Roman" panose="02020603050405020304" pitchFamily="18" charset="0"/>
              </a:rPr>
              <a:t>So, no further split here</a:t>
            </a:r>
          </a:p>
        </p:txBody>
      </p:sp>
      <p:sp>
        <p:nvSpPr>
          <p:cNvPr id="13" name="Subtitle 2"/>
          <p:cNvSpPr>
            <a:spLocks noGrp="1"/>
          </p:cNvSpPr>
          <p:nvPr>
            <p:ph type="subTitle" idx="1"/>
          </p:nvPr>
        </p:nvSpPr>
        <p:spPr>
          <a:xfrm>
            <a:off x="685800" y="1371600"/>
            <a:ext cx="4114800" cy="53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No split is required at node </a:t>
            </a:r>
            <a:r>
              <a:rPr lang="en-US" sz="1800" b="1" dirty="0">
                <a:solidFill>
                  <a:schemeClr val="tx1"/>
                </a:solidFill>
                <a:latin typeface="Times New Roman" panose="02020603050405020304" pitchFamily="18" charset="0"/>
                <a:cs typeface="Times New Roman" panose="02020603050405020304" pitchFamily="18" charset="0"/>
              </a:rPr>
              <a:t>31..40</a:t>
            </a:r>
          </a:p>
          <a:p>
            <a:pPr algn="just"/>
            <a:endParaRPr lang="en-US" sz="1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Classification : Decision Tree</a:t>
            </a: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438400"/>
            <a:ext cx="7058025" cy="383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399" y="4038600"/>
            <a:ext cx="3158989"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Classification : Decision Tree</a:t>
            </a:r>
          </a:p>
        </p:txBody>
      </p:sp>
      <p:sp>
        <p:nvSpPr>
          <p:cNvPr id="8" name="Subtitle 2"/>
          <p:cNvSpPr txBox="1"/>
          <p:nvPr/>
        </p:nvSpPr>
        <p:spPr>
          <a:xfrm>
            <a:off x="685800" y="1371600"/>
            <a:ext cx="4114800" cy="533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just"/>
            <a:r>
              <a:rPr lang="en-US" sz="1800">
                <a:solidFill>
                  <a:schemeClr val="tx1"/>
                </a:solidFill>
                <a:latin typeface="Times New Roman" panose="02020603050405020304" pitchFamily="18" charset="0"/>
                <a:cs typeface="Times New Roman" panose="02020603050405020304" pitchFamily="18" charset="0"/>
              </a:rPr>
              <a:t>Next split is on </a:t>
            </a:r>
            <a:r>
              <a:rPr lang="en-US" sz="1800" b="1">
                <a:solidFill>
                  <a:schemeClr val="tx1"/>
                </a:solidFill>
                <a:latin typeface="Times New Roman" panose="02020603050405020304" pitchFamily="18" charset="0"/>
                <a:cs typeface="Times New Roman" panose="02020603050405020304" pitchFamily="18" charset="0"/>
              </a:rPr>
              <a:t>credit_rating </a:t>
            </a:r>
            <a:r>
              <a:rPr lang="en-US" sz="1800">
                <a:solidFill>
                  <a:schemeClr val="tx1"/>
                </a:solidFill>
                <a:latin typeface="Times New Roman" panose="02020603050405020304" pitchFamily="18" charset="0"/>
                <a:cs typeface="Times New Roman" panose="02020603050405020304" pitchFamily="18" charset="0"/>
              </a:rPr>
              <a:t>at node </a:t>
            </a:r>
            <a:r>
              <a:rPr lang="en-US" sz="1800" b="1">
                <a:solidFill>
                  <a:schemeClr val="tx1"/>
                </a:solidFill>
                <a:latin typeface="Times New Roman" panose="02020603050405020304" pitchFamily="18" charset="0"/>
                <a:cs typeface="Times New Roman" panose="02020603050405020304" pitchFamily="18" charset="0"/>
              </a:rPr>
              <a:t>&gt;40 </a:t>
            </a:r>
          </a:p>
          <a:p>
            <a:pPr algn="just"/>
            <a:endParaRPr lang="en-US" sz="1800" b="1" dirty="0">
              <a:solidFill>
                <a:schemeClr val="tx1"/>
              </a:solidFill>
              <a:latin typeface="Times New Roman" panose="02020603050405020304" pitchFamily="18" charset="0"/>
              <a:cs typeface="Times New Roman" panose="02020603050405020304" pitchFamily="18" charset="0"/>
            </a:endParaRPr>
          </a:p>
        </p:txBody>
      </p:sp>
      <p:pic>
        <p:nvPicPr>
          <p:cNvPr id="1946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828800"/>
            <a:ext cx="6057900" cy="355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4648200"/>
            <a:ext cx="2895599" cy="92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0" y="4529137"/>
            <a:ext cx="2600325" cy="116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Classification : Decision Tree</a:t>
            </a: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752600"/>
            <a:ext cx="6238875" cy="353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Classification : Decision Tree</a:t>
            </a: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2819400"/>
            <a:ext cx="6238875" cy="353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62000" y="1115221"/>
            <a:ext cx="7543800" cy="646331"/>
          </a:xfrm>
          <a:prstGeom prst="rect">
            <a:avLst/>
          </a:prstGeom>
        </p:spPr>
        <p:txBody>
          <a:bodyPr wrap="square">
            <a:spAutoFit/>
          </a:bodyPr>
          <a:lstStyle/>
          <a:p>
            <a:r>
              <a:rPr lang="en-US" b="1" dirty="0"/>
              <a:t>Classify a new instance</a:t>
            </a:r>
          </a:p>
          <a:p>
            <a:r>
              <a:rPr lang="en-US" dirty="0"/>
              <a:t>(</a:t>
            </a:r>
            <a:r>
              <a:rPr lang="en-US" b="1" dirty="0"/>
              <a:t>age</a:t>
            </a:r>
            <a:r>
              <a:rPr lang="en-US" dirty="0"/>
              <a:t>: &lt;=30, </a:t>
            </a:r>
            <a:r>
              <a:rPr lang="en-US" b="1" dirty="0"/>
              <a:t>income</a:t>
            </a:r>
            <a:r>
              <a:rPr lang="en-US" dirty="0"/>
              <a:t>: low, </a:t>
            </a:r>
            <a:r>
              <a:rPr lang="en-US" b="1" dirty="0"/>
              <a:t>student</a:t>
            </a:r>
            <a:r>
              <a:rPr lang="en-US" dirty="0"/>
              <a:t>: yes, </a:t>
            </a:r>
            <a:r>
              <a:rPr lang="en-US" b="1" dirty="0" err="1"/>
              <a:t>credit_rating</a:t>
            </a:r>
            <a:r>
              <a:rPr lang="en-US" dirty="0"/>
              <a:t>: fair) = </a:t>
            </a:r>
            <a:r>
              <a:rPr lang="en-US" dirty="0" err="1">
                <a:solidFill>
                  <a:srgbClr val="FF0000"/>
                </a:solidFill>
              </a:rPr>
              <a:t>buys_computer</a:t>
            </a:r>
            <a:r>
              <a:rPr lang="en-US" dirty="0">
                <a:solidFill>
                  <a:srgbClr val="FF0000"/>
                </a:solidFill>
              </a:rPr>
              <a:t>?</a:t>
            </a:r>
          </a:p>
        </p:txBody>
      </p:sp>
      <p:cxnSp>
        <p:nvCxnSpPr>
          <p:cNvPr id="5" name="Straight Arrow Connector 4"/>
          <p:cNvCxnSpPr/>
          <p:nvPr/>
        </p:nvCxnSpPr>
        <p:spPr>
          <a:xfrm>
            <a:off x="2286000" y="5105400"/>
            <a:ext cx="609600" cy="9144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7" name="Straight Arrow Connector 6"/>
          <p:cNvCxnSpPr/>
          <p:nvPr/>
        </p:nvCxnSpPr>
        <p:spPr>
          <a:xfrm flipH="1">
            <a:off x="2133600" y="2895600"/>
            <a:ext cx="1219200" cy="1295400"/>
          </a:xfrm>
          <a:prstGeom prst="straightConnector1">
            <a:avLst/>
          </a:prstGeom>
          <a:ln>
            <a:tailEnd type="arrow"/>
          </a:ln>
        </p:spPr>
        <p:style>
          <a:lnRef idx="3">
            <a:schemeClr val="accent5"/>
          </a:lnRef>
          <a:fillRef idx="0">
            <a:schemeClr val="accent5"/>
          </a:fillRef>
          <a:effectRef idx="2">
            <a:schemeClr val="accent5"/>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Classification : Decision Tree</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676400"/>
            <a:ext cx="35052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2133600"/>
            <a:ext cx="5065321" cy="2845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762000" y="1115221"/>
            <a:ext cx="7543800" cy="369332"/>
          </a:xfrm>
          <a:prstGeom prst="rect">
            <a:avLst/>
          </a:prstGeom>
        </p:spPr>
        <p:txBody>
          <a:bodyPr wrap="square">
            <a:spAutoFit/>
          </a:bodyPr>
          <a:lstStyle/>
          <a:p>
            <a:r>
              <a:rPr lang="en-US" b="1" dirty="0"/>
              <a:t>Exercise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Classification : Decision Tree</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Computing Information-Gain for Continuous-Valued Attributes</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Let attribute </a:t>
                </a:r>
                <a:r>
                  <a:rPr lang="en-US" sz="1800" b="1" dirty="0">
                    <a:solidFill>
                      <a:schemeClr val="tx1"/>
                    </a:solidFill>
                    <a:latin typeface="Times New Roman" panose="02020603050405020304" pitchFamily="18" charset="0"/>
                    <a:cs typeface="Times New Roman" panose="02020603050405020304" pitchFamily="18" charset="0"/>
                  </a:rPr>
                  <a:t>A</a:t>
                </a:r>
                <a:r>
                  <a:rPr lang="en-US" sz="1800" dirty="0">
                    <a:solidFill>
                      <a:schemeClr val="tx1"/>
                    </a:solidFill>
                    <a:latin typeface="Times New Roman" panose="02020603050405020304" pitchFamily="18" charset="0"/>
                    <a:cs typeface="Times New Roman" panose="02020603050405020304" pitchFamily="18" charset="0"/>
                  </a:rPr>
                  <a:t> be a continuous-valued attribute</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Must determine the best split point for </a:t>
                </a:r>
                <a:r>
                  <a:rPr lang="en-US" sz="1800" b="1" dirty="0">
                    <a:solidFill>
                      <a:schemeClr val="tx1"/>
                    </a:solidFill>
                    <a:latin typeface="Times New Roman" panose="02020603050405020304" pitchFamily="18" charset="0"/>
                    <a:cs typeface="Times New Roman" panose="02020603050405020304" pitchFamily="18" charset="0"/>
                  </a:rPr>
                  <a:t>A</a:t>
                </a:r>
              </a:p>
              <a:p>
                <a:pPr marL="742950" lvl="1"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Sort the value A in increasing order</a:t>
                </a:r>
              </a:p>
              <a:p>
                <a:pPr marL="742950" lvl="1"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Typically, the midpoint between each pair of adjacent values is considered as a possible split point</a:t>
                </a:r>
              </a:p>
              <a:p>
                <a:pPr marL="1200150" lvl="2" indent="-285750" algn="just">
                  <a:buFont typeface="Arial" panose="020B0604020202020204" pitchFamily="34" charset="0"/>
                  <a:buChar char="•"/>
                </a:pPr>
                <a14:m>
                  <m:oMath xmlns:m="http://schemas.openxmlformats.org/officeDocument/2006/math">
                    <m:sSub>
                      <m:sSubPr>
                        <m:ctrlPr>
                          <a:rPr lang="en-US" sz="1800" b="1" i="1" smtClean="0">
                            <a:solidFill>
                              <a:schemeClr val="tx1"/>
                            </a:solidFill>
                            <a:latin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𝒂</m:t>
                        </m:r>
                      </m:e>
                      <m:sub>
                        <m:r>
                          <a:rPr lang="en-US" sz="1800" b="1" i="1" smtClean="0">
                            <a:solidFill>
                              <a:schemeClr val="tx1"/>
                            </a:solidFill>
                            <a:latin typeface="Cambria Math" panose="02040503050406030204"/>
                            <a:cs typeface="Times New Roman" panose="02020603050405020304" pitchFamily="18" charset="0"/>
                          </a:rPr>
                          <m:t>𝒊</m:t>
                        </m:r>
                      </m:sub>
                    </m:sSub>
                    <m:r>
                      <a:rPr lang="en-US" sz="1800" b="1" i="1" smtClean="0">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𝒂</m:t>
                        </m:r>
                      </m:e>
                      <m:sub>
                        <m:r>
                          <a:rPr lang="en-US" sz="1800" b="1" i="1">
                            <a:solidFill>
                              <a:schemeClr val="tx1"/>
                            </a:solidFill>
                            <a:latin typeface="Cambria Math" panose="02040503050406030204"/>
                            <a:cs typeface="Times New Roman" panose="02020603050405020304" pitchFamily="18" charset="0"/>
                          </a:rPr>
                          <m:t>𝒊</m:t>
                        </m:r>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𝟏</m:t>
                        </m:r>
                      </m:sub>
                    </m:sSub>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𝟐</m:t>
                    </m:r>
                  </m:oMath>
                </a14:m>
                <a:r>
                  <a:rPr lang="en-US" sz="1800" b="1" dirty="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is the midpoint between the values of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𝒂</m:t>
                        </m:r>
                      </m:e>
                      <m:sub>
                        <m:r>
                          <a:rPr lang="en-US" sz="1800" b="1" i="1">
                            <a:solidFill>
                              <a:schemeClr val="tx1"/>
                            </a:solidFill>
                            <a:latin typeface="Cambria Math" panose="02040503050406030204"/>
                            <a:cs typeface="Times New Roman" panose="02020603050405020304" pitchFamily="18" charset="0"/>
                          </a:rPr>
                          <m:t>𝒊</m:t>
                        </m:r>
                      </m:sub>
                    </m:sSub>
                  </m:oMath>
                </a14:m>
                <a:r>
                  <a:rPr lang="en-US" sz="1800" b="1" dirty="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and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𝒂</m:t>
                        </m:r>
                      </m:e>
                      <m:sub>
                        <m: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Sub>
                  </m:oMath>
                </a14:m>
                <a:endParaRPr lang="en-US" sz="1800" b="1" dirty="0">
                  <a:solidFill>
                    <a:schemeClr val="tx1"/>
                  </a:solidFill>
                  <a:latin typeface="Times New Roman" panose="02020603050405020304" pitchFamily="18" charset="0"/>
                  <a:cs typeface="Times New Roman" panose="02020603050405020304" pitchFamily="18" charset="0"/>
                </a:endParaRPr>
              </a:p>
              <a:p>
                <a:pPr marL="1200150" lvl="2"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The point with the minimum expected information requirement for </a:t>
                </a:r>
                <a:r>
                  <a:rPr lang="en-US" sz="1800" b="1" dirty="0">
                    <a:solidFill>
                      <a:schemeClr val="tx1"/>
                    </a:solidFill>
                    <a:latin typeface="Times New Roman" panose="02020603050405020304" pitchFamily="18" charset="0"/>
                    <a:cs typeface="Times New Roman" panose="02020603050405020304" pitchFamily="18" charset="0"/>
                  </a:rPr>
                  <a:t>A</a:t>
                </a:r>
                <a:r>
                  <a:rPr lang="en-US" sz="1800" dirty="0">
                    <a:solidFill>
                      <a:schemeClr val="tx1"/>
                    </a:solidFill>
                    <a:latin typeface="Times New Roman" panose="02020603050405020304" pitchFamily="18" charset="0"/>
                    <a:cs typeface="Times New Roman" panose="02020603050405020304" pitchFamily="18" charset="0"/>
                  </a:rPr>
                  <a:t> is selected as the split-point for </a:t>
                </a:r>
                <a:r>
                  <a:rPr lang="en-US" sz="1800" b="1" dirty="0">
                    <a:solidFill>
                      <a:schemeClr val="tx1"/>
                    </a:solidFill>
                    <a:latin typeface="Times New Roman" panose="02020603050405020304" pitchFamily="18" charset="0"/>
                    <a:cs typeface="Times New Roman" panose="02020603050405020304" pitchFamily="18" charset="0"/>
                  </a:rPr>
                  <a:t>A</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Split:</a:t>
                </a:r>
              </a:p>
              <a:p>
                <a:pPr marL="742950" lvl="1" indent="-285750" algn="just">
                  <a:buFont typeface="Arial" panose="020B0604020202020204" pitchFamily="34" charset="0"/>
                  <a:buChar char="•"/>
                </a:pPr>
                <a:r>
                  <a:rPr lang="en-US" sz="1800" b="1" dirty="0">
                    <a:solidFill>
                      <a:schemeClr val="tx1"/>
                    </a:solidFill>
                    <a:latin typeface="Times New Roman" panose="02020603050405020304" pitchFamily="18" charset="0"/>
                    <a:cs typeface="Times New Roman" panose="02020603050405020304" pitchFamily="18" charset="0"/>
                  </a:rPr>
                  <a:t>D1</a:t>
                </a:r>
                <a:r>
                  <a:rPr lang="en-US" sz="1800" dirty="0">
                    <a:solidFill>
                      <a:schemeClr val="tx1"/>
                    </a:solidFill>
                    <a:latin typeface="Times New Roman" panose="02020603050405020304" pitchFamily="18" charset="0"/>
                    <a:cs typeface="Times New Roman" panose="02020603050405020304" pitchFamily="18" charset="0"/>
                  </a:rPr>
                  <a:t> is the set of tuples in </a:t>
                </a:r>
                <a:r>
                  <a:rPr lang="en-US" sz="1800" b="1" dirty="0">
                    <a:solidFill>
                      <a:schemeClr val="tx1"/>
                    </a:solidFill>
                    <a:latin typeface="Times New Roman" panose="02020603050405020304" pitchFamily="18" charset="0"/>
                    <a:cs typeface="Times New Roman" panose="02020603050405020304" pitchFamily="18" charset="0"/>
                  </a:rPr>
                  <a:t>D</a:t>
                </a:r>
                <a:r>
                  <a:rPr lang="en-US" sz="1800" dirty="0">
                    <a:solidFill>
                      <a:schemeClr val="tx1"/>
                    </a:solidFill>
                    <a:latin typeface="Times New Roman" panose="02020603050405020304" pitchFamily="18" charset="0"/>
                    <a:cs typeface="Times New Roman" panose="02020603050405020304" pitchFamily="18" charset="0"/>
                  </a:rPr>
                  <a:t> satisfying </a:t>
                </a:r>
                <a:r>
                  <a:rPr lang="en-US" sz="1800" b="1" dirty="0">
                    <a:solidFill>
                      <a:schemeClr val="tx1"/>
                    </a:solidFill>
                    <a:latin typeface="Times New Roman" panose="02020603050405020304" pitchFamily="18" charset="0"/>
                    <a:cs typeface="Times New Roman" panose="02020603050405020304" pitchFamily="18" charset="0"/>
                  </a:rPr>
                  <a:t>A ≤ split-point</a:t>
                </a:r>
                <a:r>
                  <a:rPr lang="en-US" sz="1800" dirty="0">
                    <a:solidFill>
                      <a:schemeClr val="tx1"/>
                    </a:solidFill>
                    <a:latin typeface="Times New Roman" panose="02020603050405020304" pitchFamily="18" charset="0"/>
                    <a:cs typeface="Times New Roman" panose="02020603050405020304" pitchFamily="18" charset="0"/>
                  </a:rPr>
                  <a:t>, and </a:t>
                </a:r>
                <a:r>
                  <a:rPr lang="en-US" sz="1800" b="1" dirty="0">
                    <a:solidFill>
                      <a:schemeClr val="tx1"/>
                    </a:solidFill>
                    <a:latin typeface="Times New Roman" panose="02020603050405020304" pitchFamily="18" charset="0"/>
                    <a:cs typeface="Times New Roman" panose="02020603050405020304" pitchFamily="18" charset="0"/>
                  </a:rPr>
                  <a:t>D2</a:t>
                </a:r>
                <a:r>
                  <a:rPr lang="en-US" sz="1800" dirty="0">
                    <a:solidFill>
                      <a:schemeClr val="tx1"/>
                    </a:solidFill>
                    <a:latin typeface="Times New Roman" panose="02020603050405020304" pitchFamily="18" charset="0"/>
                    <a:cs typeface="Times New Roman" panose="02020603050405020304" pitchFamily="18" charset="0"/>
                  </a:rPr>
                  <a:t> is the set of tuples in </a:t>
                </a:r>
                <a:r>
                  <a:rPr lang="en-US" sz="1800" b="1" dirty="0">
                    <a:solidFill>
                      <a:schemeClr val="tx1"/>
                    </a:solidFill>
                    <a:latin typeface="Times New Roman" panose="02020603050405020304" pitchFamily="18" charset="0"/>
                    <a:cs typeface="Times New Roman" panose="02020603050405020304" pitchFamily="18" charset="0"/>
                  </a:rPr>
                  <a:t>D</a:t>
                </a:r>
                <a:r>
                  <a:rPr lang="en-US" sz="1800" dirty="0">
                    <a:solidFill>
                      <a:schemeClr val="tx1"/>
                    </a:solidFill>
                    <a:latin typeface="Times New Roman" panose="02020603050405020304" pitchFamily="18" charset="0"/>
                    <a:cs typeface="Times New Roman" panose="02020603050405020304" pitchFamily="18" charset="0"/>
                  </a:rPr>
                  <a:t> satisfying </a:t>
                </a:r>
                <a:r>
                  <a:rPr lang="en-US" sz="1800" b="1" dirty="0">
                    <a:solidFill>
                      <a:schemeClr val="tx1"/>
                    </a:solidFill>
                    <a:latin typeface="Times New Roman" panose="02020603050405020304" pitchFamily="18" charset="0"/>
                    <a:cs typeface="Times New Roman" panose="02020603050405020304" pitchFamily="18" charset="0"/>
                  </a:rPr>
                  <a:t>A &gt; split-point</a:t>
                </a:r>
              </a:p>
              <a:p>
                <a:pPr algn="just"/>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343400"/>
              </a:xfrm>
              <a:blipFill rotWithShape="1">
                <a:blip r:embed="rId2"/>
                <a:stretch>
                  <a:fillRect/>
                </a:stretch>
              </a:blipFill>
            </p:spPr>
            <p:txBody>
              <a:bodyPr/>
              <a:lstStyle/>
              <a:p>
                <a:r>
                  <a:rPr lang="en-US" alt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Classification : Decision Tree</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Gain Ratio for Attribute Selection (C4.5)</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Information gain measure is biased towards attributes with many values</a:t>
            </a:r>
          </a:p>
          <a:p>
            <a:pPr marL="285750" indent="-285750" algn="just">
              <a:buFont typeface="Arial" panose="020B0604020202020204" pitchFamily="34" charset="0"/>
              <a:buChar char="•"/>
            </a:pPr>
            <a:r>
              <a:rPr lang="en-US" sz="1800" b="1" dirty="0">
                <a:solidFill>
                  <a:schemeClr val="tx1"/>
                </a:solidFill>
                <a:latin typeface="Times New Roman" panose="02020603050405020304" pitchFamily="18" charset="0"/>
                <a:cs typeface="Times New Roman" panose="02020603050405020304" pitchFamily="18" charset="0"/>
              </a:rPr>
              <a:t>C4.5</a:t>
            </a:r>
            <a:r>
              <a:rPr lang="en-US" sz="1800" dirty="0">
                <a:solidFill>
                  <a:schemeClr val="tx1"/>
                </a:solidFill>
                <a:latin typeface="Times New Roman" panose="02020603050405020304" pitchFamily="18" charset="0"/>
                <a:cs typeface="Times New Roman" panose="02020603050405020304" pitchFamily="18" charset="0"/>
              </a:rPr>
              <a:t> (a successor of ID3) uses gain ratio to overcome the problem (normalization to information gain)</a:t>
            </a:r>
          </a:p>
          <a:p>
            <a:pPr marL="742950" lvl="1" indent="-285750" algn="just">
              <a:buFont typeface="Arial" panose="020B0604020202020204" pitchFamily="34" charset="0"/>
              <a:buChar char="•"/>
            </a:pPr>
            <a:r>
              <a:rPr lang="en-US" sz="1800" dirty="0" err="1">
                <a:solidFill>
                  <a:schemeClr val="tx1"/>
                </a:solidFill>
                <a:latin typeface="Times New Roman" panose="02020603050405020304" pitchFamily="18" charset="0"/>
                <a:cs typeface="Times New Roman" panose="02020603050405020304" pitchFamily="18" charset="0"/>
              </a:rPr>
              <a:t>GainRatio</a:t>
            </a:r>
            <a:r>
              <a:rPr lang="en-US" sz="1800" dirty="0">
                <a:solidFill>
                  <a:schemeClr val="tx1"/>
                </a:solidFill>
                <a:latin typeface="Times New Roman" panose="02020603050405020304" pitchFamily="18" charset="0"/>
                <a:cs typeface="Times New Roman" panose="02020603050405020304" pitchFamily="18" charset="0"/>
              </a:rPr>
              <a:t>(A) = Gain(A)/</a:t>
            </a:r>
            <a:r>
              <a:rPr lang="en-US" sz="1800" dirty="0" err="1">
                <a:solidFill>
                  <a:schemeClr val="tx1"/>
                </a:solidFill>
                <a:latin typeface="Times New Roman" panose="02020603050405020304" pitchFamily="18" charset="0"/>
                <a:cs typeface="Times New Roman" panose="02020603050405020304" pitchFamily="18" charset="0"/>
              </a:rPr>
              <a:t>SplitInfo</a:t>
            </a:r>
            <a:r>
              <a:rPr lang="en-US" sz="1800" dirty="0">
                <a:solidFill>
                  <a:schemeClr val="tx1"/>
                </a:solidFill>
                <a:latin typeface="Times New Roman" panose="02020603050405020304" pitchFamily="18" charset="0"/>
                <a:cs typeface="Times New Roman" panose="02020603050405020304" pitchFamily="18" charset="0"/>
              </a:rPr>
              <a:t>(A)</a:t>
            </a:r>
          </a:p>
          <a:p>
            <a:pPr marL="742950" lvl="1"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US" sz="1800" dirty="0" err="1">
                <a:solidFill>
                  <a:schemeClr val="tx1"/>
                </a:solidFill>
                <a:latin typeface="Times New Roman" panose="02020603050405020304" pitchFamily="18" charset="0"/>
                <a:cs typeface="Times New Roman" panose="02020603050405020304" pitchFamily="18" charset="0"/>
              </a:rPr>
              <a:t>gain_ratio</a:t>
            </a:r>
            <a:r>
              <a:rPr lang="en-US" sz="1800" dirty="0">
                <a:solidFill>
                  <a:schemeClr val="tx1"/>
                </a:solidFill>
                <a:latin typeface="Times New Roman" panose="02020603050405020304" pitchFamily="18" charset="0"/>
                <a:cs typeface="Times New Roman" panose="02020603050405020304" pitchFamily="18" charset="0"/>
              </a:rPr>
              <a:t>(income) = 0.029/1.557 = 0.019</a:t>
            </a:r>
          </a:p>
          <a:p>
            <a:pPr marL="742950" lvl="1"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p:txBody>
      </p:sp>
      <p:graphicFrame>
        <p:nvGraphicFramePr>
          <p:cNvPr id="4" name="Object 3"/>
          <p:cNvGraphicFramePr/>
          <p:nvPr/>
        </p:nvGraphicFramePr>
        <p:xfrm>
          <a:off x="5638800" y="2438400"/>
          <a:ext cx="3432175" cy="2667000"/>
        </p:xfrm>
        <a:graphic>
          <a:graphicData uri="http://schemas.openxmlformats.org/presentationml/2006/ole">
            <mc:AlternateContent xmlns:mc="http://schemas.openxmlformats.org/markup-compatibility/2006">
              <mc:Choice xmlns:v="urn:schemas-microsoft-com:vml" Requires="v">
                <p:oleObj name="Worksheet" r:id="rId2" imgW="5764530" imgH="4204335" progId="Excel.Sheet.8">
                  <p:embed/>
                </p:oleObj>
              </mc:Choice>
              <mc:Fallback>
                <p:oleObj name="Worksheet" r:id="rId2" imgW="5764530" imgH="4204335" progId="Excel.Sheet.8">
                  <p:embed/>
                  <p:pic>
                    <p:nvPicPr>
                      <p:cNvPr id="0" name="Object 9"/>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2438400"/>
                        <a:ext cx="3432175" cy="2667000"/>
                      </a:xfrm>
                      <a:prstGeom prst="rect">
                        <a:avLst/>
                      </a:prstGeom>
                      <a:noFill/>
                      <a:ln>
                        <a:noFill/>
                      </a:ln>
                      <a:effectLst/>
                    </p:spPr>
                  </p:pic>
                </p:oleObj>
              </mc:Fallback>
            </mc:AlternateContent>
          </a:graphicData>
        </a:graphic>
      </p:graphicFrame>
      <p:pic>
        <p:nvPicPr>
          <p:cNvPr id="5" name="Picture 10" descr="8splitinf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3848100"/>
            <a:ext cx="525462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Object 5"/>
          <p:cNvGraphicFramePr>
            <a:graphicFrameLocks noChangeAspect="1"/>
          </p:cNvGraphicFramePr>
          <p:nvPr/>
        </p:nvGraphicFramePr>
        <p:xfrm>
          <a:off x="609600" y="2973118"/>
          <a:ext cx="4343400" cy="831850"/>
        </p:xfrm>
        <a:graphic>
          <a:graphicData uri="http://schemas.openxmlformats.org/presentationml/2006/ole">
            <mc:AlternateContent xmlns:mc="http://schemas.openxmlformats.org/markup-compatibility/2006">
              <mc:Choice xmlns:v="urn:schemas-microsoft-com:vml" Requires="v">
                <p:oleObj name="Equation" r:id="rId5" imgW="2387600" imgH="457200" progId="Equation.3">
                  <p:embed/>
                </p:oleObj>
              </mc:Choice>
              <mc:Fallback>
                <p:oleObj name="Equation" r:id="rId5" imgW="2387600" imgH="457200" progId="Equation.3">
                  <p:embed/>
                  <p:pic>
                    <p:nvPicPr>
                      <p:cNvPr id="0" name="Object 20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2973118"/>
                        <a:ext cx="4343400" cy="831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Classification : Decision Tree</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err="1">
                <a:solidFill>
                  <a:schemeClr val="tx1"/>
                </a:solidFill>
                <a:latin typeface="Times New Roman" panose="02020603050405020304" pitchFamily="18" charset="0"/>
                <a:cs typeface="Times New Roman" panose="02020603050405020304" pitchFamily="18" charset="0"/>
              </a:rPr>
              <a:t>Gini</a:t>
            </a:r>
            <a:r>
              <a:rPr lang="en-US" sz="1800" b="1" dirty="0">
                <a:solidFill>
                  <a:schemeClr val="tx1"/>
                </a:solidFill>
                <a:latin typeface="Times New Roman" panose="02020603050405020304" pitchFamily="18" charset="0"/>
                <a:cs typeface="Times New Roman" panose="02020603050405020304" pitchFamily="18" charset="0"/>
              </a:rPr>
              <a:t> Index (CART-Classification and Regression Trees)</a:t>
            </a:r>
          </a:p>
          <a:p>
            <a:pPr algn="just"/>
            <a:r>
              <a:rPr lang="en-US" sz="1800" b="1" dirty="0">
                <a:solidFill>
                  <a:schemeClr val="tx1"/>
                </a:solidFill>
                <a:latin typeface="Times New Roman" panose="02020603050405020304" pitchFamily="18" charset="0"/>
                <a:cs typeface="Times New Roman" panose="02020603050405020304" pitchFamily="18" charset="0"/>
              </a:rPr>
              <a:t>Information Gain </a:t>
            </a:r>
            <a:r>
              <a:rPr lang="en-US" sz="1800" dirty="0">
                <a:solidFill>
                  <a:schemeClr val="tx1"/>
                </a:solidFill>
                <a:latin typeface="Times New Roman" panose="02020603050405020304" pitchFamily="18" charset="0"/>
                <a:cs typeface="Times New Roman" panose="02020603050405020304" pitchFamily="18" charset="0"/>
              </a:rPr>
              <a:t>and Gain Ratio can sometimes exhibit a bias toward features with many unique values. For example, if a feature has many unique categories, Information Gain might prefer it because it creates more distinct subsets.</a:t>
            </a:r>
          </a:p>
          <a:p>
            <a:pPr algn="just"/>
            <a:r>
              <a:rPr lang="en-US" sz="1800" dirty="0">
                <a:solidFill>
                  <a:schemeClr val="tx1"/>
                </a:solidFill>
                <a:latin typeface="Times New Roman" panose="02020603050405020304" pitchFamily="18" charset="0"/>
                <a:cs typeface="Times New Roman" panose="02020603050405020304" pitchFamily="18" charset="0"/>
              </a:rPr>
              <a:t>To address this, </a:t>
            </a:r>
            <a:r>
              <a:rPr lang="en-US" sz="1800" b="1" dirty="0">
                <a:solidFill>
                  <a:schemeClr val="tx1"/>
                </a:solidFill>
                <a:latin typeface="Times New Roman" panose="02020603050405020304" pitchFamily="18" charset="0"/>
                <a:cs typeface="Times New Roman" panose="02020603050405020304" pitchFamily="18" charset="0"/>
              </a:rPr>
              <a:t>Gain Ratio </a:t>
            </a:r>
            <a:r>
              <a:rPr lang="en-US" sz="1800" dirty="0">
                <a:solidFill>
                  <a:schemeClr val="tx1"/>
                </a:solidFill>
                <a:latin typeface="Times New Roman" panose="02020603050405020304" pitchFamily="18" charset="0"/>
                <a:cs typeface="Times New Roman" panose="02020603050405020304" pitchFamily="18" charset="0"/>
              </a:rPr>
              <a:t>(an adaptation of Information Gain) is used in algorithms like C4.5 to counter this bias, but this additional step adds complexity.</a:t>
            </a:r>
          </a:p>
          <a:p>
            <a:pPr algn="just"/>
            <a:r>
              <a:rPr lang="en-US" sz="1800" b="1" dirty="0" err="1">
                <a:solidFill>
                  <a:schemeClr val="tx1"/>
                </a:solidFill>
                <a:latin typeface="Times New Roman" panose="02020603050405020304" pitchFamily="18" charset="0"/>
                <a:cs typeface="Times New Roman" panose="02020603050405020304" pitchFamily="18" charset="0"/>
              </a:rPr>
              <a:t>Gini</a:t>
            </a:r>
            <a:r>
              <a:rPr lang="en-US" sz="1800" b="1" dirty="0">
                <a:solidFill>
                  <a:schemeClr val="tx1"/>
                </a:solidFill>
                <a:latin typeface="Times New Roman" panose="02020603050405020304" pitchFamily="18" charset="0"/>
                <a:cs typeface="Times New Roman" panose="02020603050405020304" pitchFamily="18" charset="0"/>
              </a:rPr>
              <a:t> Index</a:t>
            </a:r>
            <a:r>
              <a:rPr lang="en-US" sz="1800" dirty="0">
                <a:solidFill>
                  <a:schemeClr val="tx1"/>
                </a:solidFill>
                <a:latin typeface="Times New Roman" panose="02020603050405020304" pitchFamily="18" charset="0"/>
                <a:cs typeface="Times New Roman" panose="02020603050405020304" pitchFamily="18" charset="0"/>
              </a:rPr>
              <a:t>, on the other hand, is less sensitive to the number of categories in a feature, reducing the need for an additional adjustment like Gain Ratio.</a:t>
            </a:r>
          </a:p>
          <a:p>
            <a:pPr algn="just"/>
            <a:endParaRPr lang="en-US" sz="1800" dirty="0">
              <a:solidFill>
                <a:schemeClr val="tx1"/>
              </a:solidFill>
              <a:latin typeface="Times New Roman" panose="02020603050405020304" pitchFamily="18" charset="0"/>
              <a:cs typeface="Times New Roman" panose="02020603050405020304" pitchFamily="18" charset="0"/>
            </a:endParaRPr>
          </a:p>
        </p:txBody>
      </p:sp>
      <p:pic>
        <p:nvPicPr>
          <p:cNvPr id="2150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4419600"/>
            <a:ext cx="6057900" cy="1133475"/>
          </a:xfrm>
          <a:prstGeom prst="rect">
            <a:avLst/>
          </a:prstGeom>
          <a:noFill/>
          <a:ln w="9525">
            <a:solidFill>
              <a:srgbClr val="007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0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5491" y="5657714"/>
            <a:ext cx="4724400" cy="1162500"/>
          </a:xfrm>
          <a:prstGeom prst="rect">
            <a:avLst/>
          </a:prstGeom>
          <a:noFill/>
          <a:ln w="9525">
            <a:solidFill>
              <a:srgbClr val="007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Classification : Decision Tree</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err="1">
                <a:solidFill>
                  <a:schemeClr val="tx1"/>
                </a:solidFill>
                <a:latin typeface="Times New Roman" panose="02020603050405020304" pitchFamily="18" charset="0"/>
                <a:cs typeface="Times New Roman" panose="02020603050405020304" pitchFamily="18" charset="0"/>
              </a:rPr>
              <a:t>Overfitting</a:t>
            </a:r>
            <a:r>
              <a:rPr lang="en-US" sz="1800" b="1" dirty="0">
                <a:solidFill>
                  <a:schemeClr val="tx1"/>
                </a:solidFill>
                <a:latin typeface="Times New Roman" panose="02020603050405020304" pitchFamily="18" charset="0"/>
                <a:cs typeface="Times New Roman" panose="02020603050405020304" pitchFamily="18" charset="0"/>
              </a:rPr>
              <a:t> in Decision Trees</a:t>
            </a:r>
          </a:p>
          <a:p>
            <a:pPr marL="285750" indent="-285750" algn="just">
              <a:buFont typeface="Arial" panose="020B0604020202020204" pitchFamily="34" charset="0"/>
              <a:buChar char="•"/>
            </a:pPr>
            <a:r>
              <a:rPr lang="en-US" sz="1800" dirty="0" err="1">
                <a:solidFill>
                  <a:schemeClr val="tx1"/>
                </a:solidFill>
                <a:latin typeface="Times New Roman" panose="02020603050405020304" pitchFamily="18" charset="0"/>
                <a:cs typeface="Times New Roman" panose="02020603050405020304" pitchFamily="18" charset="0"/>
              </a:rPr>
              <a:t>Overfitting</a:t>
            </a:r>
            <a:r>
              <a:rPr lang="en-US" sz="1800" dirty="0">
                <a:solidFill>
                  <a:schemeClr val="tx1"/>
                </a:solidFill>
                <a:latin typeface="Times New Roman" panose="02020603050405020304" pitchFamily="18" charset="0"/>
                <a:cs typeface="Times New Roman" panose="02020603050405020304" pitchFamily="18" charset="0"/>
              </a:rPr>
              <a:t> happens when a Decision Tree model becomes too complex, fitting too closely to the noise and specific details of the training data, resulting in poor generalization to new data.</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Signs of </a:t>
            </a:r>
            <a:r>
              <a:rPr lang="en-US" sz="1800" dirty="0" err="1">
                <a:solidFill>
                  <a:schemeClr val="tx1"/>
                </a:solidFill>
                <a:latin typeface="Times New Roman" panose="02020603050405020304" pitchFamily="18" charset="0"/>
                <a:cs typeface="Times New Roman" panose="02020603050405020304" pitchFamily="18" charset="0"/>
              </a:rPr>
              <a:t>Overfitting</a:t>
            </a:r>
            <a:r>
              <a:rPr lang="en-US" sz="1800" dirty="0">
                <a:solidFill>
                  <a:schemeClr val="tx1"/>
                </a:solidFill>
                <a:latin typeface="Times New Roman" panose="02020603050405020304" pitchFamily="18" charset="0"/>
                <a:cs typeface="Times New Roman" panose="02020603050405020304" pitchFamily="18" charset="0"/>
              </a:rPr>
              <a:t>: A decision tree that </a:t>
            </a:r>
            <a:r>
              <a:rPr lang="en-US" sz="1800" dirty="0" err="1">
                <a:solidFill>
                  <a:schemeClr val="tx1"/>
                </a:solidFill>
                <a:latin typeface="Times New Roman" panose="02020603050405020304" pitchFamily="18" charset="0"/>
                <a:cs typeface="Times New Roman" panose="02020603050405020304" pitchFamily="18" charset="0"/>
              </a:rPr>
              <a:t>overfits</a:t>
            </a:r>
            <a:r>
              <a:rPr lang="en-US" sz="1800" dirty="0">
                <a:solidFill>
                  <a:schemeClr val="tx1"/>
                </a:solidFill>
                <a:latin typeface="Times New Roman" panose="02020603050405020304" pitchFamily="18" charset="0"/>
                <a:cs typeface="Times New Roman" panose="02020603050405020304" pitchFamily="18" charset="0"/>
              </a:rPr>
              <a:t> will often have a </a:t>
            </a:r>
            <a:r>
              <a:rPr lang="en-US" sz="1800" b="1" dirty="0">
                <a:solidFill>
                  <a:schemeClr val="tx1"/>
                </a:solidFill>
                <a:latin typeface="Times New Roman" panose="02020603050405020304" pitchFamily="18" charset="0"/>
                <a:cs typeface="Times New Roman" panose="02020603050405020304" pitchFamily="18" charset="0"/>
              </a:rPr>
              <a:t>high accuracy on the training set but performs poorly on the test set</a:t>
            </a:r>
            <a:r>
              <a:rPr lang="en-US" sz="1800" dirty="0">
                <a:solidFill>
                  <a:schemeClr val="tx1"/>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Causes of </a:t>
            </a:r>
            <a:r>
              <a:rPr lang="en-US" sz="1800" dirty="0" err="1">
                <a:solidFill>
                  <a:schemeClr val="tx1"/>
                </a:solidFill>
                <a:latin typeface="Times New Roman" panose="02020603050405020304" pitchFamily="18" charset="0"/>
                <a:cs typeface="Times New Roman" panose="02020603050405020304" pitchFamily="18" charset="0"/>
              </a:rPr>
              <a:t>Overfitting</a:t>
            </a:r>
            <a:r>
              <a:rPr lang="en-US" sz="1800" dirty="0">
                <a:solidFill>
                  <a:schemeClr val="tx1"/>
                </a:solidFill>
                <a:latin typeface="Times New Roman" panose="02020603050405020304" pitchFamily="18" charset="0"/>
                <a:cs typeface="Times New Roman" panose="02020603050405020304" pitchFamily="18" charset="0"/>
              </a:rPr>
              <a:t>: </a:t>
            </a:r>
          </a:p>
          <a:p>
            <a:pPr marL="742950" lvl="1" indent="-285750" algn="just">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Allowing the tree to grow too deep, with many nodes and branches.</a:t>
            </a:r>
          </a:p>
          <a:p>
            <a:pPr marL="742950" lvl="1" indent="-285750" algn="just">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Having very specific branches (splits) that capture the peculiarities of the training data rather than general patterns.</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Consequences: </a:t>
            </a:r>
            <a:r>
              <a:rPr lang="en-US" sz="1800" dirty="0" err="1">
                <a:solidFill>
                  <a:schemeClr val="tx1"/>
                </a:solidFill>
                <a:latin typeface="Times New Roman" panose="02020603050405020304" pitchFamily="18" charset="0"/>
                <a:cs typeface="Times New Roman" panose="02020603050405020304" pitchFamily="18" charset="0"/>
              </a:rPr>
              <a:t>Overfitting</a:t>
            </a:r>
            <a:r>
              <a:rPr lang="en-US" sz="1800" dirty="0">
                <a:solidFill>
                  <a:schemeClr val="tx1"/>
                </a:solidFill>
                <a:latin typeface="Times New Roman" panose="02020603050405020304" pitchFamily="18" charset="0"/>
                <a:cs typeface="Times New Roman" panose="02020603050405020304" pitchFamily="18" charset="0"/>
              </a:rPr>
              <a:t> leads to a lack of model generalization, where the model captures random fluctuations instead of meaningful trends.</a:t>
            </a:r>
          </a:p>
          <a:p>
            <a:pPr algn="just"/>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Classification : Decision Tree</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Pre-Pruning (Early Stopping): </a:t>
            </a:r>
          </a:p>
          <a:p>
            <a:pPr algn="just"/>
            <a:r>
              <a:rPr lang="en-US" sz="1800" dirty="0">
                <a:solidFill>
                  <a:schemeClr val="tx1"/>
                </a:solidFill>
                <a:latin typeface="Times New Roman" panose="02020603050405020304" pitchFamily="18" charset="0"/>
                <a:cs typeface="Times New Roman" panose="02020603050405020304" pitchFamily="18" charset="0"/>
              </a:rPr>
              <a:t>This approach stops the tree from growing once it meets certain conditions, such as reaching a maximum depth, minimum number of samples per leaf, or minimum information gain threshold. This prevents the tree from developing complex branches that might lead to </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Post-Pruning (Cost Complexity Pruning): </a:t>
            </a:r>
          </a:p>
          <a:p>
            <a:pPr algn="just"/>
            <a:r>
              <a:rPr lang="en-US" sz="1800" dirty="0">
                <a:solidFill>
                  <a:schemeClr val="tx1"/>
                </a:solidFill>
                <a:latin typeface="Times New Roman" panose="02020603050405020304" pitchFamily="18" charset="0"/>
                <a:cs typeface="Times New Roman" panose="02020603050405020304" pitchFamily="18" charset="0"/>
              </a:rPr>
              <a:t>This technique first grows the tree to its full depth, then prunes back branches that provide minimal value. Post-pruning can be based on measures like cross-validation to determine the optimal structure that minimizes errors on new data.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72F7F-31FD-FA69-AFA3-81EBF00E3A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EA863B-0B74-EA73-2A44-4FF817809EB6}"/>
              </a:ext>
            </a:extLst>
          </p:cNvPr>
          <p:cNvSpPr>
            <a:spLocks noGrp="1"/>
          </p:cNvSpPr>
          <p:nvPr>
            <p:ph type="ctrTitle"/>
          </p:nvPr>
        </p:nvSpPr>
        <p:spPr>
          <a:xfrm>
            <a:off x="1600200" y="381000"/>
            <a:ext cx="6096000" cy="708025"/>
          </a:xfrm>
        </p:spPr>
        <p:txBody>
          <a:bodyPr>
            <a:normAutofit/>
          </a:bodyPr>
          <a:lstStyle/>
          <a:p>
            <a:r>
              <a:rPr lang="en-US" sz="3200" dirty="0"/>
              <a:t>Best Case for Decision Trees</a:t>
            </a:r>
            <a:endParaRPr lang="en-US"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95BA7C1-1603-FD26-B0DD-65C5241FA8B4}"/>
              </a:ext>
            </a:extLst>
          </p:cNvPr>
          <p:cNvSpPr>
            <a:spLocks noGrp="1"/>
          </p:cNvSpPr>
          <p:nvPr>
            <p:ph type="subTitle" idx="1"/>
          </p:nvPr>
        </p:nvSpPr>
        <p:spPr>
          <a:xfrm>
            <a:off x="228600" y="1371600"/>
            <a:ext cx="8763000" cy="4343400"/>
          </a:xfrm>
        </p:spPr>
        <p:txBody>
          <a:bodyPr>
            <a:no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Target Application:</a:t>
            </a:r>
            <a:r>
              <a:rPr lang="en-US" sz="1800" dirty="0">
                <a:solidFill>
                  <a:schemeClr val="tx1"/>
                </a:solidFill>
                <a:latin typeface="Times New Roman" panose="02020603050405020304" pitchFamily="18" charset="0"/>
                <a:cs typeface="Times New Roman" panose="02020603050405020304" pitchFamily="18" charset="0"/>
              </a:rPr>
              <a:t> Medical Triage &amp; Regulatory Compliance Decision trees map perfectly to human decision-making processes. In medical and legal environments, professionals require absolute transparency regarding </a:t>
            </a:r>
            <a:r>
              <a:rPr lang="en-US" sz="1800" i="1" dirty="0">
                <a:solidFill>
                  <a:schemeClr val="tx1"/>
                </a:solidFill>
                <a:latin typeface="Times New Roman" panose="02020603050405020304" pitchFamily="18" charset="0"/>
                <a:cs typeface="Times New Roman" panose="02020603050405020304" pitchFamily="18" charset="0"/>
              </a:rPr>
              <a:t>why</a:t>
            </a:r>
            <a:r>
              <a:rPr lang="en-US" sz="1800" dirty="0">
                <a:solidFill>
                  <a:schemeClr val="tx1"/>
                </a:solidFill>
                <a:latin typeface="Times New Roman" panose="02020603050405020304" pitchFamily="18" charset="0"/>
                <a:cs typeface="Times New Roman" panose="02020603050405020304" pitchFamily="18" charset="0"/>
              </a:rPr>
              <a:t> an algorithm made a specific recommendation.</a:t>
            </a:r>
          </a:p>
          <a:p>
            <a:pPr algn="just"/>
            <a:r>
              <a:rPr lang="en-US" sz="1800" b="1" dirty="0">
                <a:solidFill>
                  <a:schemeClr val="tx1"/>
                </a:solidFill>
                <a:latin typeface="Times New Roman" panose="02020603050405020304" pitchFamily="18" charset="0"/>
                <a:cs typeface="Times New Roman" panose="02020603050405020304" pitchFamily="18" charset="0"/>
              </a:rPr>
              <a:t>Core Justifications:</a:t>
            </a:r>
            <a:endParaRPr lang="en-US" sz="1800" dirty="0">
              <a:solidFill>
                <a:schemeClr val="tx1"/>
              </a:solidFill>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US" sz="1800" b="1" dirty="0">
                <a:solidFill>
                  <a:schemeClr val="tx1"/>
                </a:solidFill>
                <a:latin typeface="Times New Roman" panose="02020603050405020304" pitchFamily="18" charset="0"/>
                <a:cs typeface="Times New Roman" panose="02020603050405020304" pitchFamily="18" charset="0"/>
              </a:rPr>
              <a:t>Total Explainability:</a:t>
            </a:r>
            <a:r>
              <a:rPr lang="en-US" sz="1800" dirty="0">
                <a:solidFill>
                  <a:schemeClr val="tx1"/>
                </a:solidFill>
                <a:latin typeface="Times New Roman" panose="02020603050405020304" pitchFamily="18" charset="0"/>
                <a:cs typeface="Times New Roman" panose="02020603050405020304" pitchFamily="18" charset="0"/>
              </a:rPr>
              <a:t> A decision tree provides a clear, human-readable flowchart. A doctor can easily verify the logic (e.g., IF fever &gt; 39°C AND cough = yes THEN test for Flu).</a:t>
            </a:r>
          </a:p>
          <a:p>
            <a:pPr marL="285750" lvl="0" indent="-285750" algn="just">
              <a:buFont typeface="Arial" panose="020B0604020202020204" pitchFamily="34" charset="0"/>
              <a:buChar char="•"/>
            </a:pPr>
            <a:r>
              <a:rPr lang="en-US" sz="1800" b="1" dirty="0">
                <a:solidFill>
                  <a:schemeClr val="tx1"/>
                </a:solidFill>
                <a:latin typeface="Times New Roman" panose="02020603050405020304" pitchFamily="18" charset="0"/>
                <a:cs typeface="Times New Roman" panose="02020603050405020304" pitchFamily="18" charset="0"/>
              </a:rPr>
              <a:t>Scale Invariance:</a:t>
            </a:r>
            <a:r>
              <a:rPr lang="en-US" sz="1800" dirty="0">
                <a:solidFill>
                  <a:schemeClr val="tx1"/>
                </a:solidFill>
                <a:latin typeface="Times New Roman" panose="02020603050405020304" pitchFamily="18" charset="0"/>
                <a:cs typeface="Times New Roman" panose="02020603050405020304" pitchFamily="18" charset="0"/>
              </a:rPr>
              <a:t> Trees handle raw data effortlessly. Blood pressure can be measured in mmHg while temperature is in Celsius, and the tree's split criteria will remain entirely unaffected without needing normalization.</a:t>
            </a:r>
          </a:p>
          <a:p>
            <a:pPr marL="285750" lvl="0" indent="-285750" algn="just">
              <a:buFont typeface="Arial" panose="020B0604020202020204" pitchFamily="34" charset="0"/>
              <a:buChar char="•"/>
            </a:pPr>
            <a:r>
              <a:rPr lang="en-US" sz="1800" b="1" dirty="0">
                <a:solidFill>
                  <a:schemeClr val="tx1"/>
                </a:solidFill>
                <a:latin typeface="Times New Roman" panose="02020603050405020304" pitchFamily="18" charset="0"/>
                <a:cs typeface="Times New Roman" panose="02020603050405020304" pitchFamily="18" charset="0"/>
              </a:rPr>
              <a:t>Natural Handling of Missing Data:</a:t>
            </a:r>
            <a:r>
              <a:rPr lang="en-US" sz="1800" dirty="0">
                <a:solidFill>
                  <a:schemeClr val="tx1"/>
                </a:solidFill>
                <a:latin typeface="Times New Roman" panose="02020603050405020304" pitchFamily="18" charset="0"/>
                <a:cs typeface="Times New Roman" panose="02020603050405020304" pitchFamily="18" charset="0"/>
              </a:rPr>
              <a:t> Trees can naturally bypass missing patient records during inference by utilizing surrogate splits or isolating missing values into separate branches, without requiring complex data imputation.</a:t>
            </a:r>
          </a:p>
          <a:p>
            <a:pPr algn="just"/>
            <a:r>
              <a:rPr lang="en-US" sz="1800" b="1" dirty="0">
                <a:solidFill>
                  <a:schemeClr val="tx1"/>
                </a:solidFill>
                <a:latin typeface="Times New Roman" panose="02020603050405020304" pitchFamily="18" charset="0"/>
                <a:cs typeface="Times New Roman" panose="02020603050405020304" pitchFamily="18" charset="0"/>
              </a:rPr>
              <a:t>Additional Examples:</a:t>
            </a:r>
            <a:endParaRPr lang="en-US" sz="1800" dirty="0">
              <a:solidFill>
                <a:schemeClr val="tx1"/>
              </a:solidFill>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Loan approval systems where banks are legally required to explain rejection reasons to applicants.</a:t>
            </a:r>
          </a:p>
          <a:p>
            <a:pPr marL="285750" lvl="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Fault diagnosis in mechanical engineering and HVAC systems.</a:t>
            </a:r>
          </a:p>
        </p:txBody>
      </p:sp>
    </p:spTree>
    <p:extLst>
      <p:ext uri="{BB962C8B-B14F-4D97-AF65-F5344CB8AC3E}">
        <p14:creationId xmlns:p14="http://schemas.microsoft.com/office/powerpoint/2010/main" val="20688032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A35EF-5527-5671-F806-48FC9A4BF8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78A3C6-7CC4-24EF-BA4A-BE6EC85E1305}"/>
              </a:ext>
            </a:extLst>
          </p:cNvPr>
          <p:cNvSpPr>
            <a:spLocks noGrp="1"/>
          </p:cNvSpPr>
          <p:nvPr>
            <p:ph type="ctrTitle"/>
          </p:nvPr>
        </p:nvSpPr>
        <p:spPr>
          <a:xfrm>
            <a:off x="1600200" y="381000"/>
            <a:ext cx="6096000" cy="708025"/>
          </a:xfrm>
        </p:spPr>
        <p:txBody>
          <a:bodyPr>
            <a:normAutofit/>
          </a:bodyPr>
          <a:lstStyle/>
          <a:p>
            <a:r>
              <a:rPr lang="en-US" sz="3200" dirty="0"/>
              <a:t>Best Case for Decision Trees</a:t>
            </a:r>
            <a:endParaRPr lang="en-US"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C5838DF8-F13C-CCBD-8697-237588A1DF76}"/>
              </a:ext>
            </a:extLst>
          </p:cNvPr>
          <p:cNvSpPr>
            <a:spLocks noGrp="1"/>
          </p:cNvSpPr>
          <p:nvPr>
            <p:ph type="subTitle" idx="1"/>
          </p:nvPr>
        </p:nvSpPr>
        <p:spPr>
          <a:xfrm>
            <a:off x="228600" y="1371600"/>
            <a:ext cx="8763000" cy="4343400"/>
          </a:xfrm>
        </p:spPr>
        <p:txBody>
          <a:bodyPr>
            <a:noAutofit/>
          </a:bodyPr>
          <a:lstStyle/>
          <a:p>
            <a:pPr algn="just"/>
            <a:r>
              <a:rPr lang="en-US" sz="1800" b="1" dirty="0">
                <a:solidFill>
                  <a:schemeClr val="tx1"/>
                </a:solidFill>
              </a:rPr>
              <a:t>Target Application:</a:t>
            </a:r>
            <a:r>
              <a:rPr lang="en-US" sz="1800" dirty="0">
                <a:solidFill>
                  <a:schemeClr val="tx1"/>
                </a:solidFill>
              </a:rPr>
              <a:t> Customer Churn Prediction (CRM Systems) Customer relationship datasets contain a highly unstructured mix of categorical data (subscription tier, geographic location, device type) and continuous data (account age, total spent).</a:t>
            </a:r>
          </a:p>
          <a:p>
            <a:pPr algn="just"/>
            <a:r>
              <a:rPr lang="en-US" sz="1800" b="1" dirty="0">
                <a:solidFill>
                  <a:schemeClr val="tx1"/>
                </a:solidFill>
              </a:rPr>
              <a:t>Core Justifications:</a:t>
            </a:r>
            <a:endParaRPr lang="en-US" sz="1800" dirty="0">
              <a:solidFill>
                <a:schemeClr val="tx1"/>
              </a:solidFill>
            </a:endParaRPr>
          </a:p>
          <a:p>
            <a:pPr marL="285750" lvl="0" indent="-285750" algn="just">
              <a:buFont typeface="Arial" panose="020B0604020202020204" pitchFamily="34" charset="0"/>
              <a:buChar char="•"/>
            </a:pPr>
            <a:r>
              <a:rPr lang="en-US" sz="1800" b="1" dirty="0">
                <a:solidFill>
                  <a:schemeClr val="tx1"/>
                </a:solidFill>
              </a:rPr>
              <a:t>Mixed Data Native:</a:t>
            </a:r>
            <a:r>
              <a:rPr lang="en-US" sz="1800" dirty="0">
                <a:solidFill>
                  <a:schemeClr val="tx1"/>
                </a:solidFill>
              </a:rPr>
              <a:t> Trees partition categorical and numerical data seamlessly. They do not require the massive expansion of columns caused by one-hot encoding categorical variables for linear models.</a:t>
            </a:r>
          </a:p>
          <a:p>
            <a:pPr marL="285750" lvl="0" indent="-285750" algn="just">
              <a:buFont typeface="Arial" panose="020B0604020202020204" pitchFamily="34" charset="0"/>
              <a:buChar char="•"/>
            </a:pPr>
            <a:r>
              <a:rPr lang="en-US" sz="1800" b="1" dirty="0">
                <a:solidFill>
                  <a:schemeClr val="tx1"/>
                </a:solidFill>
              </a:rPr>
              <a:t>Automated Feature Selection:</a:t>
            </a:r>
            <a:r>
              <a:rPr lang="en-US" sz="1800" dirty="0">
                <a:solidFill>
                  <a:schemeClr val="tx1"/>
                </a:solidFill>
              </a:rPr>
              <a:t> The Information Gain or Gini Impurity metrics automatically push the most critical predictors of churn to the top (root) of the tree, allowing business teams to instantly identify key behavioral drivers.</a:t>
            </a:r>
          </a:p>
          <a:p>
            <a:pPr marL="285750" lvl="0" indent="-285750" algn="just">
              <a:buFont typeface="Arial" panose="020B0604020202020204" pitchFamily="34" charset="0"/>
              <a:buChar char="•"/>
            </a:pPr>
            <a:r>
              <a:rPr lang="en-US" sz="1800" b="1" dirty="0">
                <a:solidFill>
                  <a:schemeClr val="tx1"/>
                </a:solidFill>
              </a:rPr>
              <a:t>Non-Linear Conditional Logic:</a:t>
            </a:r>
            <a:r>
              <a:rPr lang="en-US" sz="1800" dirty="0">
                <a:solidFill>
                  <a:schemeClr val="tx1"/>
                </a:solidFill>
              </a:rPr>
              <a:t> Trees effortlessly capture complex, interacting conditions (e.g., young customers churn if the price increases, but older customers churn only if customer service interactions are poor).</a:t>
            </a:r>
          </a:p>
          <a:p>
            <a:pPr algn="just"/>
            <a:r>
              <a:rPr lang="en-US" sz="1800" b="1" dirty="0">
                <a:solidFill>
                  <a:schemeClr val="tx1"/>
                </a:solidFill>
              </a:rPr>
              <a:t>Additional Examples:</a:t>
            </a:r>
            <a:endParaRPr lang="en-US" sz="1800" dirty="0">
              <a:solidFill>
                <a:schemeClr val="tx1"/>
              </a:solidFill>
            </a:endParaRPr>
          </a:p>
          <a:p>
            <a:pPr marL="285750" lvl="0" indent="-285750" algn="just">
              <a:buFont typeface="Arial" panose="020B0604020202020204" pitchFamily="34" charset="0"/>
              <a:buChar char="•"/>
            </a:pPr>
            <a:r>
              <a:rPr lang="en-US" sz="1800" dirty="0">
                <a:solidFill>
                  <a:schemeClr val="tx1"/>
                </a:solidFill>
              </a:rPr>
              <a:t>Predicting employee attrition based on HR data (salary, department, years of service).</a:t>
            </a:r>
          </a:p>
          <a:p>
            <a:pPr marL="285750" lvl="0" indent="-285750" algn="just">
              <a:buFont typeface="Arial" panose="020B0604020202020204" pitchFamily="34" charset="0"/>
              <a:buChar char="•"/>
            </a:pPr>
            <a:r>
              <a:rPr lang="en-US" sz="1800" dirty="0">
                <a:solidFill>
                  <a:schemeClr val="tx1"/>
                </a:solidFill>
              </a:rPr>
              <a:t>Targeted marketing segmentation based on demographic profiles.</a:t>
            </a:r>
          </a:p>
        </p:txBody>
      </p:sp>
    </p:spTree>
    <p:extLst>
      <p:ext uri="{BB962C8B-B14F-4D97-AF65-F5344CB8AC3E}">
        <p14:creationId xmlns:p14="http://schemas.microsoft.com/office/powerpoint/2010/main" val="6127314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F6E61-EEA8-0999-38F3-B902FC10CD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35F637-8BD3-3B0D-EA96-2F4C08E4EB30}"/>
              </a:ext>
            </a:extLst>
          </p:cNvPr>
          <p:cNvSpPr>
            <a:spLocks noGrp="1"/>
          </p:cNvSpPr>
          <p:nvPr>
            <p:ph type="ctrTitle"/>
          </p:nvPr>
        </p:nvSpPr>
        <p:spPr>
          <a:xfrm>
            <a:off x="1600200" y="381000"/>
            <a:ext cx="6096000" cy="708025"/>
          </a:xfrm>
        </p:spPr>
        <p:txBody>
          <a:bodyPr>
            <a:normAutofit/>
          </a:bodyPr>
          <a:lstStyle/>
          <a:p>
            <a:r>
              <a:rPr lang="en-US" sz="3200" dirty="0"/>
              <a:t>Worst Case for Decision Trees</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7F8E3F9D-8119-1DFB-16A9-0E3CDA6DB2ED}"/>
                  </a:ext>
                </a:extLst>
              </p:cNvPr>
              <p:cNvSpPr>
                <a:spLocks noGrp="1"/>
              </p:cNvSpPr>
              <p:nvPr>
                <p:ph type="subTitle" idx="1"/>
              </p:nvPr>
            </p:nvSpPr>
            <p:spPr>
              <a:xfrm>
                <a:off x="228600" y="1371600"/>
                <a:ext cx="8763000" cy="4343400"/>
              </a:xfrm>
            </p:spPr>
            <p:txBody>
              <a:bodyPr>
                <a:noAutofit/>
              </a:bodyPr>
              <a:lstStyle/>
              <a:p>
                <a:pPr algn="just"/>
                <a:r>
                  <a:rPr lang="en-US" sz="1800" b="1" dirty="0">
                    <a:solidFill>
                      <a:schemeClr val="tx1"/>
                    </a:solidFill>
                  </a:rPr>
                  <a:t>Target Application:</a:t>
                </a:r>
                <a:r>
                  <a:rPr lang="en-US" sz="1800" dirty="0">
                    <a:solidFill>
                      <a:schemeClr val="tx1"/>
                    </a:solidFill>
                  </a:rPr>
                  <a:t> Extrapolating Continuous Trends (Sales Forecasting)</a:t>
                </a:r>
              </a:p>
              <a:p>
                <a:pPr algn="just"/>
                <a:r>
                  <a:rPr lang="en-US" sz="1800" dirty="0">
                    <a:solidFill>
                      <a:schemeClr val="tx1"/>
                    </a:solidFill>
                  </a:rPr>
                  <a:t>Decision trees create axis-aligned bounding boxes around historical training data and average the values within those boxes to make predictions. They are mathematically incapable of extrapolating values outside their training range.</a:t>
                </a:r>
              </a:p>
              <a:p>
                <a:pPr algn="just"/>
                <a:r>
                  <a:rPr lang="en-US" sz="1800" b="1" dirty="0">
                    <a:solidFill>
                      <a:schemeClr val="tx1"/>
                    </a:solidFill>
                  </a:rPr>
                  <a:t>Core Justifications:</a:t>
                </a:r>
                <a:endParaRPr lang="en-US" sz="1800" dirty="0">
                  <a:solidFill>
                    <a:schemeClr val="tx1"/>
                  </a:solidFill>
                </a:endParaRPr>
              </a:p>
              <a:p>
                <a:pPr marL="285750" lvl="0" indent="-285750" algn="just">
                  <a:buFont typeface="Arial" panose="020B0604020202020204" pitchFamily="34" charset="0"/>
                  <a:buChar char="•"/>
                </a:pPr>
                <a:r>
                  <a:rPr lang="en-US" sz="1800" b="1" dirty="0">
                    <a:solidFill>
                      <a:schemeClr val="tx1"/>
                    </a:solidFill>
                  </a:rPr>
                  <a:t>Rigid Boundaries:</a:t>
                </a:r>
                <a:r>
                  <a:rPr lang="en-US" sz="1800" dirty="0">
                    <a:solidFill>
                      <a:schemeClr val="tx1"/>
                    </a:solidFill>
                  </a:rPr>
                  <a:t> If the highest historical monthly sales figure in a training dataset is $100,000, a standard decision tree will never predict $110,000 for next month, regardless of how strong the growth features are.</a:t>
                </a:r>
              </a:p>
              <a:p>
                <a:pPr marL="285750" lvl="0" indent="-285750" algn="just">
                  <a:buFont typeface="Arial" panose="020B0604020202020204" pitchFamily="34" charset="0"/>
                  <a:buChar char="•"/>
                </a:pPr>
                <a:r>
                  <a:rPr lang="en-US" sz="1800" b="1" dirty="0">
                    <a:solidFill>
                      <a:schemeClr val="tx1"/>
                    </a:solidFill>
                  </a:rPr>
                  <a:t>Step-Function Outputs:</a:t>
                </a:r>
                <a:r>
                  <a:rPr lang="en-US" sz="1800" dirty="0">
                    <a:solidFill>
                      <a:schemeClr val="tx1"/>
                    </a:solidFill>
                  </a:rPr>
                  <a:t> Predictions jump sharply from one discrete average to another. They cannot provide a smooth, continuous growth curve, leading to jagged, unrealistic trend lines.</a:t>
                </a:r>
              </a:p>
              <a:p>
                <a:pPr marL="285750" lvl="0" indent="-285750" algn="just">
                  <a:buFont typeface="Arial" panose="020B0604020202020204" pitchFamily="34" charset="0"/>
                  <a:buChar char="•"/>
                </a:pPr>
                <a:r>
                  <a:rPr lang="en-US" sz="1800" b="1" dirty="0">
                    <a:solidFill>
                      <a:schemeClr val="tx1"/>
                    </a:solidFill>
                  </a:rPr>
                  <a:t>Poor Global Capture:</a:t>
                </a:r>
                <a:r>
                  <a:rPr lang="en-US" sz="1800" dirty="0">
                    <a:solidFill>
                      <a:schemeClr val="tx1"/>
                    </a:solidFill>
                  </a:rPr>
                  <a:t> They struggle to capture simple diagonal linear relationships (like </a:t>
                </a:r>
                <a14:m>
                  <m:oMath xmlns:m="http://schemas.openxmlformats.org/officeDocument/2006/math">
                    <m:r>
                      <a:rPr lang="en-US" sz="1800" i="1">
                        <a:solidFill>
                          <a:schemeClr val="tx1"/>
                        </a:solidFill>
                        <a:latin typeface="Cambria Math" panose="02040503050406030204" pitchFamily="18" charset="0"/>
                      </a:rPr>
                      <m:t>𝑦</m:t>
                    </m:r>
                    <m:r>
                      <a:rPr lang="en-US" sz="1800">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𝑥</m:t>
                    </m:r>
                  </m:oMath>
                </a14:m>
                <a:r>
                  <a:rPr lang="en-US" sz="1800" dirty="0">
                    <a:solidFill>
                      <a:schemeClr val="tx1"/>
                    </a:solidFill>
                  </a:rPr>
                  <a:t>), requiring hundreds of zig-zagging splits to approximate a straight diagonal line.</a:t>
                </a:r>
              </a:p>
              <a:p>
                <a:pPr algn="just"/>
                <a:r>
                  <a:rPr lang="en-US" sz="1800" b="1" dirty="0">
                    <a:solidFill>
                      <a:schemeClr val="tx1"/>
                    </a:solidFill>
                  </a:rPr>
                  <a:t>Additional Examples:</a:t>
                </a:r>
                <a:endParaRPr lang="en-US" sz="1800" dirty="0">
                  <a:solidFill>
                    <a:schemeClr val="tx1"/>
                  </a:solidFill>
                </a:endParaRPr>
              </a:p>
              <a:p>
                <a:pPr marL="285750" lvl="0" indent="-285750" algn="just">
                  <a:buFont typeface="Arial" panose="020B0604020202020204" pitchFamily="34" charset="0"/>
                  <a:buChar char="•"/>
                </a:pPr>
                <a:r>
                  <a:rPr lang="en-US" sz="1800" dirty="0">
                    <a:solidFill>
                      <a:schemeClr val="tx1"/>
                    </a:solidFill>
                  </a:rPr>
                  <a:t>Predicting future population growth based on historical census data.</a:t>
                </a:r>
              </a:p>
              <a:p>
                <a:pPr marL="285750" lvl="0" indent="-285750" algn="just">
                  <a:buFont typeface="Arial" panose="020B0604020202020204" pitchFamily="34" charset="0"/>
                  <a:buChar char="•"/>
                </a:pPr>
                <a:r>
                  <a:rPr lang="en-US" sz="1800" dirty="0">
                    <a:solidFill>
                      <a:schemeClr val="tx1"/>
                    </a:solidFill>
                  </a:rPr>
                  <a:t>Forecasting long-term climate change temperatures.</a:t>
                </a:r>
              </a:p>
            </p:txBody>
          </p:sp>
        </mc:Choice>
        <mc:Fallback xmlns="">
          <p:sp>
            <p:nvSpPr>
              <p:cNvPr id="3" name="Subtitle 2">
                <a:extLst>
                  <a:ext uri="{FF2B5EF4-FFF2-40B4-BE49-F238E27FC236}">
                    <a16:creationId xmlns:a16="http://schemas.microsoft.com/office/drawing/2014/main" id="{7F8E3F9D-8119-1DFB-16A9-0E3CDA6DB2ED}"/>
                  </a:ext>
                </a:extLst>
              </p:cNvPr>
              <p:cNvSpPr>
                <a:spLocks noGrp="1" noRot="1" noChangeAspect="1" noMove="1" noResize="1" noEditPoints="1" noAdjustHandles="1" noChangeArrowheads="1" noChangeShapeType="1" noTextEdit="1"/>
              </p:cNvSpPr>
              <p:nvPr>
                <p:ph type="subTitle" idx="1"/>
              </p:nvPr>
            </p:nvSpPr>
            <p:spPr>
              <a:xfrm>
                <a:off x="228600" y="1371600"/>
                <a:ext cx="8763000" cy="4343400"/>
              </a:xfrm>
              <a:blipFill>
                <a:blip r:embed="rId2"/>
                <a:stretch>
                  <a:fillRect l="-626" t="-701" r="-557" b="-15428"/>
                </a:stretch>
              </a:blipFill>
            </p:spPr>
            <p:txBody>
              <a:bodyPr/>
              <a:lstStyle/>
              <a:p>
                <a:r>
                  <a:rPr lang="en-US">
                    <a:noFill/>
                  </a:rPr>
                  <a:t> </a:t>
                </a:r>
              </a:p>
            </p:txBody>
          </p:sp>
        </mc:Fallback>
      </mc:AlternateContent>
    </p:spTree>
    <p:extLst>
      <p:ext uri="{BB962C8B-B14F-4D97-AF65-F5344CB8AC3E}">
        <p14:creationId xmlns:p14="http://schemas.microsoft.com/office/powerpoint/2010/main" val="26770457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20D08-346F-8159-70F6-14DF5FB233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A8EBF1-F158-8ACB-F9F7-6250FF5F7CE9}"/>
              </a:ext>
            </a:extLst>
          </p:cNvPr>
          <p:cNvSpPr>
            <a:spLocks noGrp="1"/>
          </p:cNvSpPr>
          <p:nvPr>
            <p:ph type="ctrTitle"/>
          </p:nvPr>
        </p:nvSpPr>
        <p:spPr>
          <a:xfrm>
            <a:off x="1600200" y="381000"/>
            <a:ext cx="6096000" cy="708025"/>
          </a:xfrm>
        </p:spPr>
        <p:txBody>
          <a:bodyPr>
            <a:normAutofit/>
          </a:bodyPr>
          <a:lstStyle/>
          <a:p>
            <a:r>
              <a:rPr lang="en-US" sz="3200" dirty="0"/>
              <a:t>Worst Case for Decision Trees</a:t>
            </a:r>
            <a:endParaRPr lang="en-US"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866D628-CC30-99A1-C404-BDC1EB9885CC}"/>
              </a:ext>
            </a:extLst>
          </p:cNvPr>
          <p:cNvSpPr>
            <a:spLocks noGrp="1"/>
          </p:cNvSpPr>
          <p:nvPr>
            <p:ph type="subTitle" idx="1"/>
          </p:nvPr>
        </p:nvSpPr>
        <p:spPr>
          <a:xfrm>
            <a:off x="228600" y="1371600"/>
            <a:ext cx="8763000" cy="4343400"/>
          </a:xfrm>
        </p:spPr>
        <p:txBody>
          <a:bodyPr>
            <a:noAutofit/>
          </a:bodyPr>
          <a:lstStyle/>
          <a:p>
            <a:pPr algn="just"/>
            <a:r>
              <a:rPr lang="en-US" sz="1800" b="1" dirty="0">
                <a:solidFill>
                  <a:schemeClr val="tx1"/>
                </a:solidFill>
              </a:rPr>
              <a:t>Target Application:</a:t>
            </a:r>
            <a:r>
              <a:rPr lang="en-US" sz="1800" dirty="0">
                <a:solidFill>
                  <a:schemeClr val="tx1"/>
                </a:solidFill>
              </a:rPr>
              <a:t> Highly Noisy Sensor Data Analysis Standard decision trees are notoriously unstable and highly prone to overfitting. If a dataset contains high amounts of random noise, a fully grown tree will attempt to perfectly classify the static.</a:t>
            </a:r>
          </a:p>
          <a:p>
            <a:pPr algn="just"/>
            <a:r>
              <a:rPr lang="en-US" sz="1800" b="1" dirty="0">
                <a:solidFill>
                  <a:schemeClr val="tx1"/>
                </a:solidFill>
              </a:rPr>
              <a:t>Core Justifications:</a:t>
            </a:r>
            <a:endParaRPr lang="en-US" sz="1800" dirty="0">
              <a:solidFill>
                <a:schemeClr val="tx1"/>
              </a:solidFill>
            </a:endParaRPr>
          </a:p>
          <a:p>
            <a:pPr marL="285750" lvl="0" indent="-285750" algn="just">
              <a:buFont typeface="Arial" panose="020B0604020202020204" pitchFamily="34" charset="0"/>
              <a:buChar char="•"/>
            </a:pPr>
            <a:r>
              <a:rPr lang="en-US" sz="1800" b="1" dirty="0">
                <a:solidFill>
                  <a:schemeClr val="tx1"/>
                </a:solidFill>
              </a:rPr>
              <a:t>High Variance (Instability):</a:t>
            </a:r>
            <a:r>
              <a:rPr lang="en-US" sz="1800" dirty="0">
                <a:solidFill>
                  <a:schemeClr val="tx1"/>
                </a:solidFill>
              </a:rPr>
              <a:t> A tiny change in the training data—such as adding or removing a few noisy sensor readings—can completely alter the entire structure of the tree from the root node down.</a:t>
            </a:r>
          </a:p>
          <a:p>
            <a:pPr marL="285750" lvl="0" indent="-285750" algn="just">
              <a:buFont typeface="Arial" panose="020B0604020202020204" pitchFamily="34" charset="0"/>
              <a:buChar char="•"/>
            </a:pPr>
            <a:r>
              <a:rPr lang="en-US" sz="1800" b="1" dirty="0">
                <a:solidFill>
                  <a:schemeClr val="tx1"/>
                </a:solidFill>
              </a:rPr>
              <a:t>Memorizing Noise:</a:t>
            </a:r>
            <a:r>
              <a:rPr lang="en-US" sz="1800" dirty="0">
                <a:solidFill>
                  <a:schemeClr val="tx1"/>
                </a:solidFill>
              </a:rPr>
              <a:t> Without aggressive pruning constraints (like max depth), the tree will grow deep, hyper-specific branches that perfectly describe the training static but fail completely on new, unseen data.</a:t>
            </a:r>
          </a:p>
          <a:p>
            <a:pPr marL="285750" lvl="0" indent="-285750" algn="just">
              <a:buFont typeface="Arial" panose="020B0604020202020204" pitchFamily="34" charset="0"/>
              <a:buChar char="•"/>
            </a:pPr>
            <a:r>
              <a:rPr lang="en-US" sz="1800" b="1" dirty="0">
                <a:solidFill>
                  <a:schemeClr val="tx1"/>
                </a:solidFill>
              </a:rPr>
              <a:t>Fragmented Data:</a:t>
            </a:r>
            <a:r>
              <a:rPr lang="en-US" sz="1800" dirty="0">
                <a:solidFill>
                  <a:schemeClr val="tx1"/>
                </a:solidFill>
              </a:rPr>
              <a:t> As the tree grows deeper, the data is split into smaller and smaller fragments. Decisions at the bottom leaves are often based on statistically insignificant sample sizes (e.g., 1 or 2 data points).</a:t>
            </a:r>
          </a:p>
          <a:p>
            <a:pPr algn="just"/>
            <a:r>
              <a:rPr lang="en-US" sz="1800" b="1" dirty="0">
                <a:solidFill>
                  <a:schemeClr val="tx1"/>
                </a:solidFill>
              </a:rPr>
              <a:t>Additional Examples:</a:t>
            </a:r>
            <a:endParaRPr lang="en-US" sz="1800" dirty="0">
              <a:solidFill>
                <a:schemeClr val="tx1"/>
              </a:solidFill>
            </a:endParaRPr>
          </a:p>
          <a:p>
            <a:pPr marL="285750" lvl="0" indent="-285750" algn="just">
              <a:buFont typeface="Arial" panose="020B0604020202020204" pitchFamily="34" charset="0"/>
              <a:buChar char="•"/>
            </a:pPr>
            <a:r>
              <a:rPr lang="en-US" sz="1800" dirty="0">
                <a:solidFill>
                  <a:schemeClr val="tx1"/>
                </a:solidFill>
              </a:rPr>
              <a:t>Predicting stock movements based on minute-by-minute tick data.</a:t>
            </a:r>
          </a:p>
          <a:p>
            <a:pPr marL="285750" lvl="0" indent="-285750" algn="just">
              <a:buFont typeface="Arial" panose="020B0604020202020204" pitchFamily="34" charset="0"/>
              <a:buChar char="•"/>
            </a:pPr>
            <a:r>
              <a:rPr lang="en-US" sz="1800" dirty="0">
                <a:solidFill>
                  <a:schemeClr val="tx1"/>
                </a:solidFill>
              </a:rPr>
              <a:t>Analyzing acoustic signals in high-wind environments.</a:t>
            </a:r>
          </a:p>
        </p:txBody>
      </p:sp>
    </p:spTree>
    <p:extLst>
      <p:ext uri="{BB962C8B-B14F-4D97-AF65-F5344CB8AC3E}">
        <p14:creationId xmlns:p14="http://schemas.microsoft.com/office/powerpoint/2010/main" val="10952818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337EC-9A2B-D567-0A0A-DF8D6F850D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A2EA62-4A10-88B2-5351-BC4B97616B45}"/>
              </a:ext>
            </a:extLst>
          </p:cNvPr>
          <p:cNvSpPr>
            <a:spLocks noGrp="1"/>
          </p:cNvSpPr>
          <p:nvPr>
            <p:ph type="ctrTitle"/>
          </p:nvPr>
        </p:nvSpPr>
        <p:spPr>
          <a:xfrm>
            <a:off x="1600200" y="381000"/>
            <a:ext cx="6096000" cy="708025"/>
          </a:xfrm>
        </p:spPr>
        <p:txBody>
          <a:bodyPr>
            <a:normAutofit fontScale="90000"/>
          </a:bodyPr>
          <a:lstStyle/>
          <a:p>
            <a:r>
              <a:rPr lang="en-US" sz="3200" dirty="0"/>
              <a:t>Axiomatic Feature Attribution &amp; </a:t>
            </a:r>
            <a:r>
              <a:rPr lang="en-US" sz="3200" dirty="0" err="1"/>
              <a:t>TreeSHAP</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6ECF16FB-4BC2-E6B9-576F-CDA8CE5342BA}"/>
                  </a:ext>
                </a:extLst>
              </p:cNvPr>
              <p:cNvSpPr>
                <a:spLocks noGrp="1"/>
              </p:cNvSpPr>
              <p:nvPr>
                <p:ph type="subTitle" idx="1"/>
              </p:nvPr>
            </p:nvSpPr>
            <p:spPr>
              <a:xfrm>
                <a:off x="228600" y="1371600"/>
                <a:ext cx="8763000" cy="4343400"/>
              </a:xfrm>
            </p:spPr>
            <p:txBody>
              <a:bodyPr>
                <a:noAutofit/>
              </a:bodyPr>
              <a:lstStyle/>
              <a:p>
                <a:pPr algn="just"/>
                <a:r>
                  <a:rPr lang="en-US" sz="1800" dirty="0">
                    <a:solidFill>
                      <a:schemeClr val="tx1"/>
                    </a:solidFill>
                  </a:rPr>
                  <a:t>Interpreting complex tree ensembles (like Random Forests) has historically relied on inconsistent heuristic metrics like Gini importance. Modern explainable AI (XAI) utilizes game-theoretic Shapley values to guarantee exact, fair feature attribution.</a:t>
                </a:r>
              </a:p>
              <a:p>
                <a:pPr lvl="0" algn="just"/>
                <a:r>
                  <a:rPr lang="en-US" sz="1800" b="1" dirty="0">
                    <a:solidFill>
                      <a:schemeClr val="tx1"/>
                    </a:solidFill>
                  </a:rPr>
                  <a:t>The Shapley Value:</a:t>
                </a:r>
                <a:r>
                  <a:rPr lang="en-US" sz="1800" dirty="0">
                    <a:solidFill>
                      <a:schemeClr val="tx1"/>
                    </a:solidFill>
                  </a:rPr>
                  <a:t> Originating from cooperative game theory, it defines the unique, mathematically fair distribution of a model's prediction payout among its feature "players": </a:t>
                </a:r>
                <a14:m>
                  <m:oMath xmlns:m="http://schemas.openxmlformats.org/officeDocument/2006/math">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a:rPr lang="en-US" sz="1800" i="1">
                            <a:solidFill>
                              <a:schemeClr val="tx1"/>
                            </a:solidFill>
                            <a:latin typeface="Cambria Math" panose="02040503050406030204" pitchFamily="18" charset="0"/>
                          </a:rPr>
                          <m:t>𝑖</m:t>
                        </m:r>
                      </m:sub>
                    </m:sSub>
                    <m:r>
                      <a:rPr lang="en-US" sz="1800">
                        <a:solidFill>
                          <a:schemeClr val="tx1"/>
                        </a:solidFill>
                        <a:latin typeface="Cambria Math" panose="02040503050406030204" pitchFamily="18" charset="0"/>
                      </a:rPr>
                      <m:t>=</m:t>
                    </m:r>
                    <m:nary>
                      <m:naryPr>
                        <m:chr m:val="∑"/>
                        <m:limLoc m:val="undOvr"/>
                        <m:supHide m:val="on"/>
                        <m:ctrlPr>
                          <a:rPr lang="en-US" sz="1800" i="1">
                            <a:solidFill>
                              <a:schemeClr val="tx1"/>
                            </a:solidFill>
                            <a:latin typeface="Cambria Math" panose="02040503050406030204" pitchFamily="18" charset="0"/>
                          </a:rPr>
                        </m:ctrlPr>
                      </m:naryPr>
                      <m:sub>
                        <m:r>
                          <a:rPr lang="en-US" sz="1800" i="1">
                            <a:solidFill>
                              <a:schemeClr val="tx1"/>
                            </a:solidFill>
                            <a:latin typeface="Cambria Math" panose="02040503050406030204" pitchFamily="18" charset="0"/>
                          </a:rPr>
                          <m:t>𝑆</m:t>
                        </m:r>
                        <m:r>
                          <a:rPr lang="en-US" sz="1800">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𝐹</m:t>
                        </m:r>
                        <m:r>
                          <a:rPr lang="en-US" sz="1800">
                            <a:solidFill>
                              <a:schemeClr val="tx1"/>
                            </a:solidFill>
                            <a:latin typeface="Cambria Math" panose="02040503050406030204" pitchFamily="18" charset="0"/>
                          </a:rPr>
                          <m:t>∖</m:t>
                        </m:r>
                        <m:d>
                          <m:dPr>
                            <m:begChr m:val="{"/>
                            <m:endChr m:val="}"/>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𝑖</m:t>
                            </m:r>
                          </m:e>
                        </m:d>
                      </m:sub>
                      <m:sup/>
                      <m:e>
                        <m:f>
                          <m:fPr>
                            <m:ctrlPr>
                              <a:rPr lang="en-US" sz="1800">
                                <a:solidFill>
                                  <a:schemeClr val="tx1"/>
                                </a:solidFill>
                                <a:latin typeface="Cambria Math" panose="02040503050406030204" pitchFamily="18" charset="0"/>
                              </a:rPr>
                            </m:ctrlPr>
                          </m:fPr>
                          <m:num>
                            <m:r>
                              <a:rPr lang="en-US" sz="1800">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𝑆</m:t>
                            </m:r>
                            <m:r>
                              <a:rPr lang="en-US" sz="1800">
                                <a:solidFill>
                                  <a:schemeClr val="tx1"/>
                                </a:solidFill>
                                <a:latin typeface="Cambria Math" panose="02040503050406030204" pitchFamily="18" charset="0"/>
                              </a:rPr>
                              <m:t>|!</m:t>
                            </m:r>
                            <m:d>
                              <m:dPr>
                                <m:ctrlPr>
                                  <a:rPr lang="en-US" sz="1800">
                                    <a:solidFill>
                                      <a:schemeClr val="tx1"/>
                                    </a:solidFill>
                                    <a:latin typeface="Cambria Math" panose="02040503050406030204" pitchFamily="18" charset="0"/>
                                  </a:rPr>
                                </m:ctrlPr>
                              </m:dPr>
                              <m:e>
                                <m:r>
                                  <a:rPr lang="en-US" sz="1800">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𝐹</m:t>
                                </m:r>
                                <m:r>
                                  <a:rPr lang="en-US" sz="1800">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𝑆</m:t>
                                </m:r>
                                <m:r>
                                  <a:rPr lang="en-US" sz="1800">
                                    <a:solidFill>
                                      <a:schemeClr val="tx1"/>
                                    </a:solidFill>
                                    <a:latin typeface="Cambria Math" panose="02040503050406030204" pitchFamily="18" charset="0"/>
                                  </a:rPr>
                                  <m:t>|−1</m:t>
                                </m:r>
                              </m:e>
                            </m:d>
                            <m:r>
                              <a:rPr lang="en-US" sz="1800">
                                <a:solidFill>
                                  <a:schemeClr val="tx1"/>
                                </a:solidFill>
                                <a:latin typeface="Cambria Math" panose="02040503050406030204" pitchFamily="18" charset="0"/>
                              </a:rPr>
                              <m:t>!</m:t>
                            </m:r>
                          </m:num>
                          <m:den>
                            <m:r>
                              <a:rPr lang="en-US" sz="1800">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𝐹</m:t>
                            </m:r>
                            <m:r>
                              <a:rPr lang="en-US" sz="1800">
                                <a:solidFill>
                                  <a:schemeClr val="tx1"/>
                                </a:solidFill>
                                <a:latin typeface="Cambria Math" panose="02040503050406030204" pitchFamily="18" charset="0"/>
                              </a:rPr>
                              <m:t>|!</m:t>
                            </m:r>
                          </m:den>
                        </m:f>
                      </m:e>
                    </m:nary>
                    <m:d>
                      <m:dPr>
                        <m:begChr m:val="["/>
                        <m:endChr m:val="]"/>
                        <m:ctrlPr>
                          <a:rPr lang="en-US" sz="1800" i="1">
                            <a:solidFill>
                              <a:schemeClr val="tx1"/>
                            </a:solidFill>
                            <a:latin typeface="Cambria Math" panose="02040503050406030204" pitchFamily="18" charset="0"/>
                          </a:rPr>
                        </m:ctrlPr>
                      </m:d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𝑓</m:t>
                            </m:r>
                          </m:e>
                          <m:sub>
                            <m:r>
                              <a:rPr lang="en-US" sz="1800" i="1">
                                <a:solidFill>
                                  <a:schemeClr val="tx1"/>
                                </a:solidFill>
                                <a:latin typeface="Cambria Math" panose="02040503050406030204" pitchFamily="18" charset="0"/>
                              </a:rPr>
                              <m:t>𝑆</m:t>
                            </m:r>
                            <m:r>
                              <a:rPr lang="en-US" sz="1800">
                                <a:solidFill>
                                  <a:schemeClr val="tx1"/>
                                </a:solidFill>
                                <a:latin typeface="Cambria Math" panose="02040503050406030204" pitchFamily="18" charset="0"/>
                              </a:rPr>
                              <m:t>∪</m:t>
                            </m:r>
                            <m:d>
                              <m:dPr>
                                <m:begChr m:val="{"/>
                                <m:endChr m:val="}"/>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𝑖</m:t>
                                </m:r>
                              </m:e>
                            </m:d>
                          </m:sub>
                        </m:sSub>
                        <m:d>
                          <m:dPr>
                            <m:ctrlPr>
                              <a:rPr lang="en-US" sz="1800" i="1">
                                <a:solidFill>
                                  <a:schemeClr val="tx1"/>
                                </a:solidFill>
                                <a:latin typeface="Cambria Math" panose="02040503050406030204" pitchFamily="18" charset="0"/>
                              </a:rPr>
                            </m:ctrlPr>
                          </m:d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𝑆</m:t>
                                </m:r>
                              </m:sub>
                            </m:sSub>
                          </m:e>
                        </m:d>
                        <m:r>
                          <a:rPr lang="en-US" sz="1800">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𝑓</m:t>
                            </m:r>
                          </m:e>
                          <m:sub>
                            <m:r>
                              <a:rPr lang="en-US" sz="1800" i="1">
                                <a:solidFill>
                                  <a:schemeClr val="tx1"/>
                                </a:solidFill>
                                <a:latin typeface="Cambria Math" panose="02040503050406030204" pitchFamily="18" charset="0"/>
                              </a:rPr>
                              <m:t>𝑆</m:t>
                            </m:r>
                          </m:sub>
                        </m:sSub>
                        <m:d>
                          <m:dPr>
                            <m:ctrlPr>
                              <a:rPr lang="en-US" sz="1800" i="1">
                                <a:solidFill>
                                  <a:schemeClr val="tx1"/>
                                </a:solidFill>
                                <a:latin typeface="Cambria Math" panose="02040503050406030204" pitchFamily="18" charset="0"/>
                              </a:rPr>
                            </m:ctrlPr>
                          </m:d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𝑆</m:t>
                                </m:r>
                              </m:sub>
                            </m:sSub>
                          </m:e>
                        </m:d>
                      </m:e>
                    </m:d>
                  </m:oMath>
                </a14:m>
                <a:r>
                  <a:rPr lang="en-US" sz="1800" dirty="0">
                    <a:solidFill>
                      <a:schemeClr val="tx1"/>
                    </a:solidFill>
                  </a:rPr>
                  <a:t>.</a:t>
                </a:r>
              </a:p>
              <a:p>
                <a:pPr lvl="0" algn="just"/>
                <a:r>
                  <a:rPr lang="en-US" sz="1800" b="1" dirty="0">
                    <a:solidFill>
                      <a:schemeClr val="tx1"/>
                    </a:solidFill>
                  </a:rPr>
                  <a:t>Computational Bottleneck:</a:t>
                </a:r>
                <a:r>
                  <a:rPr lang="en-US" sz="1800" dirty="0">
                    <a:solidFill>
                      <a:schemeClr val="tx1"/>
                    </a:solidFill>
                  </a:rPr>
                  <a:t> Exact Shapley calculation requires evaluating all </a:t>
                </a:r>
                <a14:m>
                  <m:oMath xmlns:m="http://schemas.openxmlformats.org/officeDocument/2006/math">
                    <m:sSup>
                      <m:sSupPr>
                        <m:ctrlPr>
                          <a:rPr lang="en-US" sz="1800">
                            <a:solidFill>
                              <a:schemeClr val="tx1"/>
                            </a:solidFill>
                            <a:latin typeface="Cambria Math" panose="02040503050406030204" pitchFamily="18" charset="0"/>
                          </a:rPr>
                        </m:ctrlPr>
                      </m:sSupPr>
                      <m:e>
                        <m:r>
                          <a:rPr lang="en-US" sz="1800">
                            <a:solidFill>
                              <a:schemeClr val="tx1"/>
                            </a:solidFill>
                            <a:latin typeface="Cambria Math" panose="02040503050406030204" pitchFamily="18" charset="0"/>
                          </a:rPr>
                          <m:t>2</m:t>
                        </m:r>
                      </m:e>
                      <m:sup>
                        <m:r>
                          <a:rPr lang="en-US" sz="1800" i="1">
                            <a:solidFill>
                              <a:schemeClr val="tx1"/>
                            </a:solidFill>
                            <a:latin typeface="Cambria Math" panose="02040503050406030204" pitchFamily="18" charset="0"/>
                          </a:rPr>
                          <m:t>𝐹</m:t>
                        </m:r>
                      </m:sup>
                    </m:sSup>
                  </m:oMath>
                </a14:m>
                <a:r>
                  <a:rPr lang="en-US" sz="1800" dirty="0">
                    <a:solidFill>
                      <a:schemeClr val="tx1"/>
                    </a:solidFill>
                  </a:rPr>
                  <a:t>possible feature subsets, rendering it computationally impossible in general </a:t>
                </a:r>
                <a14:m>
                  <m:oMath xmlns:m="http://schemas.openxmlformats.org/officeDocument/2006/math">
                    <m:r>
                      <a:rPr lang="en-US" sz="1800">
                        <a:solidFill>
                          <a:schemeClr val="tx1"/>
                        </a:solidFill>
                        <a:latin typeface="Cambria Math" panose="02040503050406030204" pitchFamily="18" charset="0"/>
                      </a:rPr>
                      <m:t>𝒪</m:t>
                    </m:r>
                    <m:d>
                      <m:dPr>
                        <m:ctrlPr>
                          <a:rPr lang="en-US" sz="1800" i="1">
                            <a:solidFill>
                              <a:schemeClr val="tx1"/>
                            </a:solidFill>
                            <a:latin typeface="Cambria Math" panose="02040503050406030204" pitchFamily="18" charset="0"/>
                          </a:rPr>
                        </m:ctrlPr>
                      </m:dPr>
                      <m:e>
                        <m:sSup>
                          <m:sSupPr>
                            <m:ctrlPr>
                              <a:rPr lang="en-US" sz="1800">
                                <a:solidFill>
                                  <a:schemeClr val="tx1"/>
                                </a:solidFill>
                                <a:latin typeface="Cambria Math" panose="02040503050406030204" pitchFamily="18" charset="0"/>
                              </a:rPr>
                            </m:ctrlPr>
                          </m:sSupPr>
                          <m:e>
                            <m:r>
                              <a:rPr lang="en-US" sz="1800">
                                <a:solidFill>
                                  <a:schemeClr val="tx1"/>
                                </a:solidFill>
                                <a:latin typeface="Cambria Math" panose="02040503050406030204" pitchFamily="18" charset="0"/>
                              </a:rPr>
                              <m:t>2</m:t>
                            </m:r>
                          </m:e>
                          <m:sup>
                            <m:r>
                              <a:rPr lang="en-US" sz="1800" i="1">
                                <a:solidFill>
                                  <a:schemeClr val="tx1"/>
                                </a:solidFill>
                                <a:latin typeface="Cambria Math" panose="02040503050406030204" pitchFamily="18" charset="0"/>
                              </a:rPr>
                              <m:t>𝐹</m:t>
                            </m:r>
                          </m:sup>
                        </m:sSup>
                      </m:e>
                    </m:d>
                  </m:oMath>
                </a14:m>
                <a:r>
                  <a:rPr lang="en-US" sz="1800" dirty="0">
                    <a:solidFill>
                      <a:schemeClr val="tx1"/>
                    </a:solidFill>
                  </a:rPr>
                  <a:t>.</a:t>
                </a:r>
              </a:p>
              <a:p>
                <a:pPr lvl="0" algn="just"/>
                <a:r>
                  <a:rPr lang="en-US" sz="1800" b="1" dirty="0" err="1">
                    <a:solidFill>
                      <a:schemeClr val="tx1"/>
                    </a:solidFill>
                  </a:rPr>
                  <a:t>TreeSHAP</a:t>
                </a:r>
                <a:r>
                  <a:rPr lang="en-US" sz="1800" b="1" dirty="0">
                    <a:solidFill>
                      <a:schemeClr val="tx1"/>
                    </a:solidFill>
                  </a:rPr>
                  <a:t> (Lundberg et al., 2018):</a:t>
                </a:r>
                <a:r>
                  <a:rPr lang="en-US" sz="1800" dirty="0">
                    <a:solidFill>
                      <a:schemeClr val="tx1"/>
                    </a:solidFill>
                  </a:rPr>
                  <a:t> A groundbreaking algorithm that exploits the internal hierarchy of decision trees to compute exact Shapley values in polynomial time </a:t>
                </a:r>
                <a14:m>
                  <m:oMath xmlns:m="http://schemas.openxmlformats.org/officeDocument/2006/math">
                    <m:r>
                      <a:rPr lang="en-US" sz="1800">
                        <a:solidFill>
                          <a:schemeClr val="tx1"/>
                        </a:solidFill>
                        <a:latin typeface="Cambria Math" panose="02040503050406030204" pitchFamily="18" charset="0"/>
                      </a:rPr>
                      <m:t>𝒪</m:t>
                    </m:r>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𝑇𝐿</m:t>
                        </m:r>
                        <m:sSup>
                          <m:sSupPr>
                            <m:ctrlPr>
                              <a:rPr lang="en-US" sz="1800" i="1">
                                <a:solidFill>
                                  <a:schemeClr val="tx1"/>
                                </a:solidFill>
                                <a:latin typeface="Cambria Math" panose="02040503050406030204" pitchFamily="18" charset="0"/>
                              </a:rPr>
                            </m:ctrlPr>
                          </m:sSupPr>
                          <m:e>
                            <m:r>
                              <a:rPr lang="en-US" sz="1800" i="1">
                                <a:solidFill>
                                  <a:schemeClr val="tx1"/>
                                </a:solidFill>
                                <a:latin typeface="Cambria Math" panose="02040503050406030204" pitchFamily="18" charset="0"/>
                              </a:rPr>
                              <m:t>𝐷</m:t>
                            </m:r>
                          </m:e>
                          <m:sup>
                            <m:r>
                              <a:rPr lang="en-US" sz="1800">
                                <a:solidFill>
                                  <a:schemeClr val="tx1"/>
                                </a:solidFill>
                                <a:latin typeface="Cambria Math" panose="02040503050406030204" pitchFamily="18" charset="0"/>
                              </a:rPr>
                              <m:t>2</m:t>
                            </m:r>
                          </m:sup>
                        </m:sSup>
                      </m:e>
                    </m:d>
                  </m:oMath>
                </a14:m>
                <a:r>
                  <a:rPr lang="en-US" sz="1800" dirty="0">
                    <a:solidFill>
                      <a:schemeClr val="tx1"/>
                    </a:solidFill>
                  </a:rPr>
                  <a:t>(where </a:t>
                </a:r>
                <a14:m>
                  <m:oMath xmlns:m="http://schemas.openxmlformats.org/officeDocument/2006/math">
                    <m:r>
                      <a:rPr lang="en-US" sz="1800" i="1">
                        <a:solidFill>
                          <a:schemeClr val="tx1"/>
                        </a:solidFill>
                        <a:latin typeface="Cambria Math" panose="02040503050406030204" pitchFamily="18" charset="0"/>
                      </a:rPr>
                      <m:t>𝑇</m:t>
                    </m:r>
                  </m:oMath>
                </a14:m>
                <a:r>
                  <a:rPr lang="en-US" sz="1800" dirty="0">
                    <a:solidFill>
                      <a:schemeClr val="tx1"/>
                    </a:solidFill>
                  </a:rPr>
                  <a:t>is trees, </a:t>
                </a:r>
                <a14:m>
                  <m:oMath xmlns:m="http://schemas.openxmlformats.org/officeDocument/2006/math">
                    <m:r>
                      <a:rPr lang="en-US" sz="1800" i="1">
                        <a:solidFill>
                          <a:schemeClr val="tx1"/>
                        </a:solidFill>
                        <a:latin typeface="Cambria Math" panose="02040503050406030204" pitchFamily="18" charset="0"/>
                      </a:rPr>
                      <m:t>𝐿</m:t>
                    </m:r>
                  </m:oMath>
                </a14:m>
                <a:r>
                  <a:rPr lang="en-US" sz="1800" dirty="0">
                    <a:solidFill>
                      <a:schemeClr val="tx1"/>
                    </a:solidFill>
                  </a:rPr>
                  <a:t>is leaves, </a:t>
                </a:r>
                <a14:m>
                  <m:oMath xmlns:m="http://schemas.openxmlformats.org/officeDocument/2006/math">
                    <m:r>
                      <a:rPr lang="en-US" sz="1800" i="1">
                        <a:solidFill>
                          <a:schemeClr val="tx1"/>
                        </a:solidFill>
                        <a:latin typeface="Cambria Math" panose="02040503050406030204" pitchFamily="18" charset="0"/>
                      </a:rPr>
                      <m:t>𝐷</m:t>
                    </m:r>
                  </m:oMath>
                </a14:m>
                <a:r>
                  <a:rPr lang="en-US" sz="1800" dirty="0">
                    <a:solidFill>
                      <a:schemeClr val="tx1"/>
                    </a:solidFill>
                  </a:rPr>
                  <a:t>is depth), making rigorous XAI accessible for tree ensembles.</a:t>
                </a:r>
              </a:p>
            </p:txBody>
          </p:sp>
        </mc:Choice>
        <mc:Fallback xmlns="">
          <p:sp>
            <p:nvSpPr>
              <p:cNvPr id="3" name="Subtitle 2">
                <a:extLst>
                  <a:ext uri="{FF2B5EF4-FFF2-40B4-BE49-F238E27FC236}">
                    <a16:creationId xmlns:a16="http://schemas.microsoft.com/office/drawing/2014/main" id="{6ECF16FB-4BC2-E6B9-576F-CDA8CE5342BA}"/>
                  </a:ext>
                </a:extLst>
              </p:cNvPr>
              <p:cNvSpPr>
                <a:spLocks noGrp="1" noRot="1" noChangeAspect="1" noMove="1" noResize="1" noEditPoints="1" noAdjustHandles="1" noChangeArrowheads="1" noChangeShapeType="1" noTextEdit="1"/>
              </p:cNvSpPr>
              <p:nvPr>
                <p:ph type="subTitle" idx="1"/>
              </p:nvPr>
            </p:nvSpPr>
            <p:spPr>
              <a:xfrm>
                <a:off x="228600" y="1371600"/>
                <a:ext cx="8763000" cy="4343400"/>
              </a:xfrm>
              <a:blipFill>
                <a:blip r:embed="rId3"/>
                <a:stretch>
                  <a:fillRect l="-626" t="-701" r="-557"/>
                </a:stretch>
              </a:blipFill>
            </p:spPr>
            <p:txBody>
              <a:bodyPr/>
              <a:lstStyle/>
              <a:p>
                <a:r>
                  <a:rPr lang="en-US">
                    <a:noFill/>
                  </a:rPr>
                  <a:t> </a:t>
                </a:r>
              </a:p>
            </p:txBody>
          </p:sp>
        </mc:Fallback>
      </mc:AlternateContent>
    </p:spTree>
    <p:extLst>
      <p:ext uri="{BB962C8B-B14F-4D97-AF65-F5344CB8AC3E}">
        <p14:creationId xmlns:p14="http://schemas.microsoft.com/office/powerpoint/2010/main" val="14341048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EEEF8-1F85-6B38-2CE3-F20EF61010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EB8B50-8297-20BB-23B8-14FD3778FFFA}"/>
              </a:ext>
            </a:extLst>
          </p:cNvPr>
          <p:cNvSpPr>
            <a:spLocks noGrp="1"/>
          </p:cNvSpPr>
          <p:nvPr>
            <p:ph type="ctrTitle"/>
          </p:nvPr>
        </p:nvSpPr>
        <p:spPr>
          <a:xfrm>
            <a:off x="1600200" y="381000"/>
            <a:ext cx="6096000" cy="708025"/>
          </a:xfrm>
        </p:spPr>
        <p:txBody>
          <a:bodyPr>
            <a:normAutofit fontScale="90000"/>
          </a:bodyPr>
          <a:lstStyle/>
          <a:p>
            <a:r>
              <a:rPr lang="en-US" sz="3200" dirty="0"/>
              <a:t>Optimal Decision Trees via Mixed Integer Programming</a:t>
            </a:r>
            <a:endParaRPr lang="en-US"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E40CD69-8D4C-53A0-4E0F-B45E5A90F5CF}"/>
              </a:ext>
            </a:extLst>
          </p:cNvPr>
          <p:cNvSpPr>
            <a:spLocks noGrp="1"/>
          </p:cNvSpPr>
          <p:nvPr>
            <p:ph type="subTitle" idx="1"/>
          </p:nvPr>
        </p:nvSpPr>
        <p:spPr>
          <a:xfrm>
            <a:off x="228600" y="1371600"/>
            <a:ext cx="8763000" cy="4343400"/>
          </a:xfrm>
        </p:spPr>
        <p:txBody>
          <a:bodyPr>
            <a:noAutofit/>
          </a:bodyPr>
          <a:lstStyle/>
          <a:p>
            <a:pPr algn="just"/>
            <a:r>
              <a:rPr lang="en-US" sz="1800" dirty="0">
                <a:solidFill>
                  <a:schemeClr val="tx1"/>
                </a:solidFill>
              </a:rPr>
              <a:t>Standard decision tree algorithms like ID3 and CART utilize greedy, top-down heuristics. They select the locally optimal split at each node without considering subsequent splits, virtually guaranteeing a sub-optimal global tree structure. Recent research leverages optimization theory to build globally optimal trees.</a:t>
            </a:r>
          </a:p>
          <a:p>
            <a:pPr lvl="0" algn="just"/>
            <a:r>
              <a:rPr lang="en-US" sz="1800" b="1" dirty="0">
                <a:solidFill>
                  <a:schemeClr val="tx1"/>
                </a:solidFill>
              </a:rPr>
              <a:t>Mixed Integer Programming (MIP):</a:t>
            </a:r>
            <a:r>
              <a:rPr lang="en-US" sz="1800" dirty="0">
                <a:solidFill>
                  <a:schemeClr val="tx1"/>
                </a:solidFill>
              </a:rPr>
              <a:t> Researchers formulate the entire tree-building process as a single mathematical optimization problem subject to integer constraints, optimizing all splits across all depths simultaneously.</a:t>
            </a:r>
          </a:p>
          <a:p>
            <a:pPr lvl="0" algn="just"/>
            <a:r>
              <a:rPr lang="en-US" sz="1800" b="1" dirty="0">
                <a:solidFill>
                  <a:schemeClr val="tx1"/>
                </a:solidFill>
              </a:rPr>
              <a:t>Optimal Classification Trees (OCT):</a:t>
            </a:r>
            <a:r>
              <a:rPr lang="en-US" sz="1800" dirty="0">
                <a:solidFill>
                  <a:schemeClr val="tx1"/>
                </a:solidFill>
              </a:rPr>
              <a:t> Formulations like OCT optimize a joint objective function that balances misclassification error and tree sparsity (complexity penalty), rather than sequentially maximizing Information Gain.</a:t>
            </a:r>
          </a:p>
          <a:p>
            <a:pPr lvl="0" algn="just"/>
            <a:r>
              <a:rPr lang="en-US" sz="1800" b="1" dirty="0">
                <a:solidFill>
                  <a:schemeClr val="tx1"/>
                </a:solidFill>
              </a:rPr>
              <a:t>Performance Improvements:</a:t>
            </a:r>
            <a:r>
              <a:rPr lang="en-US" sz="1800" dirty="0">
                <a:solidFill>
                  <a:schemeClr val="tx1"/>
                </a:solidFill>
              </a:rPr>
              <a:t> While computationally expensive during training, Optimal Decision Trees consistently achieve higher accuracy and tighter generalization than CART trees of the exact same depth, proving the severe limitations of greedy heuristics.</a:t>
            </a:r>
          </a:p>
        </p:txBody>
      </p:sp>
    </p:spTree>
    <p:extLst>
      <p:ext uri="{BB962C8B-B14F-4D97-AF65-F5344CB8AC3E}">
        <p14:creationId xmlns:p14="http://schemas.microsoft.com/office/powerpoint/2010/main" val="13843025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EC9A2-459E-12A3-6C3E-31856899D6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0010D2-EB6C-28DF-EE01-0362892B6B11}"/>
              </a:ext>
            </a:extLst>
          </p:cNvPr>
          <p:cNvSpPr>
            <a:spLocks noGrp="1"/>
          </p:cNvSpPr>
          <p:nvPr>
            <p:ph type="ctrTitle"/>
          </p:nvPr>
        </p:nvSpPr>
        <p:spPr>
          <a:xfrm>
            <a:off x="1600200" y="381000"/>
            <a:ext cx="6096000" cy="708025"/>
          </a:xfrm>
        </p:spPr>
        <p:txBody>
          <a:bodyPr>
            <a:normAutofit fontScale="90000"/>
          </a:bodyPr>
          <a:lstStyle/>
          <a:p>
            <a:r>
              <a:rPr lang="en-US" sz="3200" dirty="0"/>
              <a:t>Differentiable Decision Trees &amp; Neural Architectures</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D8C75382-1CCC-98D8-4AB7-40919AB321A3}"/>
                  </a:ext>
                </a:extLst>
              </p:cNvPr>
              <p:cNvSpPr>
                <a:spLocks noGrp="1"/>
              </p:cNvSpPr>
              <p:nvPr>
                <p:ph type="subTitle" idx="1"/>
              </p:nvPr>
            </p:nvSpPr>
            <p:spPr>
              <a:xfrm>
                <a:off x="228600" y="1371600"/>
                <a:ext cx="8763000" cy="4343400"/>
              </a:xfrm>
            </p:spPr>
            <p:txBody>
              <a:bodyPr>
                <a:noAutofit/>
              </a:bodyPr>
              <a:lstStyle/>
              <a:p>
                <a:pPr algn="just"/>
                <a:r>
                  <a:rPr lang="en-US" sz="1800" dirty="0">
                    <a:solidFill>
                      <a:schemeClr val="tx1"/>
                    </a:solidFill>
                  </a:rPr>
                  <a:t>Classical decision trees are fundamentally discrete. The step-function splits (e.g., </a:t>
                </a:r>
                <a14:m>
                  <m:oMath xmlns:m="http://schemas.openxmlformats.org/officeDocument/2006/math">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𝑥</m:t>
                        </m:r>
                      </m:e>
                      <m:sub>
                        <m:r>
                          <a:rPr lang="en-US" sz="1800">
                            <a:solidFill>
                              <a:schemeClr val="tx1"/>
                            </a:solidFill>
                            <a:latin typeface="Cambria Math" panose="02040503050406030204" pitchFamily="18" charset="0"/>
                          </a:rPr>
                          <m:t>1</m:t>
                        </m:r>
                      </m:sub>
                    </m:sSub>
                    <m:r>
                      <a:rPr lang="en-US" sz="1800">
                        <a:solidFill>
                          <a:schemeClr val="tx1"/>
                        </a:solidFill>
                        <a:latin typeface="Cambria Math" panose="02040503050406030204" pitchFamily="18" charset="0"/>
                      </a:rPr>
                      <m:t>&gt;5</m:t>
                    </m:r>
                  </m:oMath>
                </a14:m>
                <a:r>
                  <a:rPr lang="en-US" sz="1800" dirty="0">
                    <a:solidFill>
                      <a:schemeClr val="tx1"/>
                    </a:solidFill>
                  </a:rPr>
                  <a:t>) block gradients, making it impossible to train trees using standard backpropagation in deep learning pipelines. Research in "Soft Trees" bridges this gap.</a:t>
                </a:r>
              </a:p>
              <a:p>
                <a:pPr lvl="0" algn="just"/>
                <a:r>
                  <a:rPr lang="en-US" sz="1800" b="1" dirty="0">
                    <a:solidFill>
                      <a:schemeClr val="tx1"/>
                    </a:solidFill>
                  </a:rPr>
                  <a:t>Soft Routing Probabilities:</a:t>
                </a:r>
                <a:r>
                  <a:rPr lang="en-US" sz="1800" dirty="0">
                    <a:solidFill>
                      <a:schemeClr val="tx1"/>
                    </a:solidFill>
                  </a:rPr>
                  <a:t> Instead of a hard binary left/right split, internal nodes output a probability using a sigmoid function: </a:t>
                </a:r>
                <a14:m>
                  <m:oMath xmlns:m="http://schemas.openxmlformats.org/officeDocument/2006/math">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𝑝</m:t>
                        </m:r>
                      </m:e>
                      <m:sub>
                        <m:r>
                          <m:rPr>
                            <m:nor/>
                          </m:rPr>
                          <a:rPr lang="en-US" sz="1800" i="0">
                            <a:solidFill>
                              <a:schemeClr val="tx1"/>
                            </a:solidFill>
                          </a:rPr>
                          <m:t>right</m:t>
                        </m:r>
                      </m:sub>
                    </m:sSub>
                    <m:r>
                      <a:rPr lang="en-US" sz="1800">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𝜎</m:t>
                    </m:r>
                    <m:d>
                      <m:dPr>
                        <m:ctrlPr>
                          <a:rPr lang="en-US" sz="1800" i="1">
                            <a:solidFill>
                              <a:schemeClr val="tx1"/>
                            </a:solidFill>
                            <a:latin typeface="Cambria Math" panose="02040503050406030204" pitchFamily="18" charset="0"/>
                          </a:rPr>
                        </m:ctrlPr>
                      </m:dPr>
                      <m:e>
                        <m:sSup>
                          <m:sSupPr>
                            <m:ctrlPr>
                              <a:rPr lang="en-US" sz="1800" i="1">
                                <a:solidFill>
                                  <a:schemeClr val="tx1"/>
                                </a:solidFill>
                                <a:latin typeface="Cambria Math" panose="02040503050406030204" pitchFamily="18" charset="0"/>
                              </a:rPr>
                            </m:ctrlPr>
                          </m:sSupPr>
                          <m:e>
                            <m:r>
                              <a:rPr lang="en-US" sz="1800" i="1">
                                <a:solidFill>
                                  <a:schemeClr val="tx1"/>
                                </a:solidFill>
                                <a:latin typeface="Cambria Math" panose="02040503050406030204" pitchFamily="18" charset="0"/>
                              </a:rPr>
                              <m:t>𝜃</m:t>
                            </m:r>
                          </m:e>
                          <m:sup>
                            <m:r>
                              <a:rPr lang="en-US" sz="1800" i="1">
                                <a:solidFill>
                                  <a:schemeClr val="tx1"/>
                                </a:solidFill>
                                <a:latin typeface="Cambria Math" panose="02040503050406030204" pitchFamily="18" charset="0"/>
                              </a:rPr>
                              <m:t>𝑇</m:t>
                            </m:r>
                          </m:sup>
                        </m:sSup>
                        <m:r>
                          <a:rPr lang="en-US" sz="1800" i="1">
                            <a:solidFill>
                              <a:schemeClr val="tx1"/>
                            </a:solidFill>
                            <a:latin typeface="Cambria Math" panose="02040503050406030204" pitchFamily="18" charset="0"/>
                          </a:rPr>
                          <m:t>𝑥</m:t>
                        </m:r>
                        <m:r>
                          <a:rPr lang="en-US" sz="1800">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𝜏</m:t>
                        </m:r>
                      </m:e>
                    </m:d>
                  </m:oMath>
                </a14:m>
                <a:r>
                  <a:rPr lang="en-US" sz="1800" dirty="0">
                    <a:solidFill>
                      <a:schemeClr val="tx1"/>
                    </a:solidFill>
                  </a:rPr>
                  <a:t>, where </a:t>
                </a:r>
                <a14:m>
                  <m:oMath xmlns:m="http://schemas.openxmlformats.org/officeDocument/2006/math">
                    <m:r>
                      <a:rPr lang="en-US" sz="1800" i="1">
                        <a:solidFill>
                          <a:schemeClr val="tx1"/>
                        </a:solidFill>
                        <a:latin typeface="Cambria Math" panose="02040503050406030204" pitchFamily="18" charset="0"/>
                      </a:rPr>
                      <m:t>𝜏</m:t>
                    </m:r>
                  </m:oMath>
                </a14:m>
                <a:r>
                  <a:rPr lang="en-US" sz="1800" dirty="0">
                    <a:solidFill>
                      <a:schemeClr val="tx1"/>
                    </a:solidFill>
                  </a:rPr>
                  <a:t>is a temperature scaling parameter.</a:t>
                </a:r>
              </a:p>
              <a:p>
                <a:pPr lvl="0" algn="just"/>
                <a:r>
                  <a:rPr lang="en-US" sz="1800" b="1" dirty="0">
                    <a:solidFill>
                      <a:schemeClr val="tx1"/>
                    </a:solidFill>
                  </a:rPr>
                  <a:t>End-to-End Backpropagation:</a:t>
                </a:r>
                <a:r>
                  <a:rPr lang="en-US" sz="1800" dirty="0">
                    <a:solidFill>
                      <a:schemeClr val="tx1"/>
                    </a:solidFill>
                  </a:rPr>
                  <a:t> Because routing is probabilistic and continuous, the entire tree structure becomes differentiable. The loss can be backpropagated to learn the splitting weights </a:t>
                </a:r>
                <a14:m>
                  <m:oMath xmlns:m="http://schemas.openxmlformats.org/officeDocument/2006/math">
                    <m:r>
                      <a:rPr lang="en-US" sz="1800" i="1">
                        <a:solidFill>
                          <a:schemeClr val="tx1"/>
                        </a:solidFill>
                        <a:latin typeface="Cambria Math" panose="02040503050406030204" pitchFamily="18" charset="0"/>
                      </a:rPr>
                      <m:t>𝜃</m:t>
                    </m:r>
                  </m:oMath>
                </a14:m>
                <a:r>
                  <a:rPr lang="en-US" sz="1800" dirty="0">
                    <a:solidFill>
                      <a:schemeClr val="tx1"/>
                    </a:solidFill>
                  </a:rPr>
                  <a:t>simultaneously with deep neural network feature extractors.</a:t>
                </a:r>
              </a:p>
              <a:p>
                <a:pPr lvl="0" algn="just"/>
                <a:r>
                  <a:rPr lang="en-US" sz="1800" b="1" dirty="0">
                    <a:solidFill>
                      <a:schemeClr val="tx1"/>
                    </a:solidFill>
                  </a:rPr>
                  <a:t>Neural-Backed Decision Trees (NBDTs):</a:t>
                </a:r>
                <a:r>
                  <a:rPr lang="en-US" sz="1800" dirty="0">
                    <a:solidFill>
                      <a:schemeClr val="tx1"/>
                    </a:solidFill>
                  </a:rPr>
                  <a:t> State-of-the-art computer vision architectures replace the final dense classification layer of a CNN with a differentiable decision tree, forcing the neural network to make sequential, human-interpretable routing decisions.</a:t>
                </a:r>
              </a:p>
            </p:txBody>
          </p:sp>
        </mc:Choice>
        <mc:Fallback xmlns="">
          <p:sp>
            <p:nvSpPr>
              <p:cNvPr id="3" name="Subtitle 2">
                <a:extLst>
                  <a:ext uri="{FF2B5EF4-FFF2-40B4-BE49-F238E27FC236}">
                    <a16:creationId xmlns:a16="http://schemas.microsoft.com/office/drawing/2014/main" id="{D8C75382-1CCC-98D8-4AB7-40919AB321A3}"/>
                  </a:ext>
                </a:extLst>
              </p:cNvPr>
              <p:cNvSpPr>
                <a:spLocks noGrp="1" noRot="1" noChangeAspect="1" noMove="1" noResize="1" noEditPoints="1" noAdjustHandles="1" noChangeArrowheads="1" noChangeShapeType="1" noTextEdit="1"/>
              </p:cNvSpPr>
              <p:nvPr>
                <p:ph type="subTitle" idx="1"/>
              </p:nvPr>
            </p:nvSpPr>
            <p:spPr>
              <a:xfrm>
                <a:off x="228600" y="1371600"/>
                <a:ext cx="8763000" cy="4343400"/>
              </a:xfrm>
              <a:blipFill>
                <a:blip r:embed="rId3"/>
                <a:stretch>
                  <a:fillRect l="-626" t="-701" r="-557"/>
                </a:stretch>
              </a:blipFill>
            </p:spPr>
            <p:txBody>
              <a:bodyPr/>
              <a:lstStyle/>
              <a:p>
                <a:r>
                  <a:rPr lang="en-US">
                    <a:noFill/>
                  </a:rPr>
                  <a:t> </a:t>
                </a:r>
              </a:p>
            </p:txBody>
          </p:sp>
        </mc:Fallback>
      </mc:AlternateContent>
    </p:spTree>
    <p:extLst>
      <p:ext uri="{BB962C8B-B14F-4D97-AF65-F5344CB8AC3E}">
        <p14:creationId xmlns:p14="http://schemas.microsoft.com/office/powerpoint/2010/main" val="10511333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CC9DB-D077-DD83-7FA3-203A93BA64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298905-37A3-2574-825C-4242C695DEF4}"/>
              </a:ext>
            </a:extLst>
          </p:cNvPr>
          <p:cNvSpPr>
            <a:spLocks noGrp="1"/>
          </p:cNvSpPr>
          <p:nvPr>
            <p:ph type="ctrTitle"/>
          </p:nvPr>
        </p:nvSpPr>
        <p:spPr>
          <a:xfrm>
            <a:off x="1600200" y="381000"/>
            <a:ext cx="6096000" cy="708025"/>
          </a:xfrm>
        </p:spPr>
        <p:txBody>
          <a:bodyPr>
            <a:normAutofit fontScale="90000"/>
          </a:bodyPr>
          <a:lstStyle/>
          <a:p>
            <a:r>
              <a:rPr lang="en-US" sz="3200" dirty="0"/>
              <a:t>Modern Gradient Boosting Benchmarks (</a:t>
            </a:r>
            <a:r>
              <a:rPr lang="en-US" sz="3200" dirty="0" err="1"/>
              <a:t>XGBoost</a:t>
            </a:r>
            <a:r>
              <a:rPr lang="en-US" sz="3200" dirty="0"/>
              <a:t> &amp; </a:t>
            </a:r>
            <a:r>
              <a:rPr lang="en-US" sz="3200" dirty="0" err="1"/>
              <a:t>LightGBM</a:t>
            </a:r>
            <a:r>
              <a:rPr lang="en-US" sz="3200" dirty="0"/>
              <a:t>)</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0E141FC9-6C53-49ED-74FB-E71005AEE334}"/>
                  </a:ext>
                </a:extLst>
              </p:cNvPr>
              <p:cNvSpPr>
                <a:spLocks noGrp="1"/>
              </p:cNvSpPr>
              <p:nvPr>
                <p:ph type="subTitle" idx="1"/>
              </p:nvPr>
            </p:nvSpPr>
            <p:spPr>
              <a:xfrm>
                <a:off x="228600" y="1371600"/>
                <a:ext cx="8763000" cy="4343400"/>
              </a:xfrm>
            </p:spPr>
            <p:txBody>
              <a:bodyPr>
                <a:noAutofit/>
              </a:bodyPr>
              <a:lstStyle/>
              <a:p>
                <a:pPr algn="just"/>
                <a:r>
                  <a:rPr lang="en-US" sz="1800" dirty="0">
                    <a:solidFill>
                      <a:schemeClr val="tx1"/>
                    </a:solidFill>
                  </a:rPr>
                  <a:t>While random forests parallelize independent trees to reduce variance, Gradient Boosting sequentially trains trees to minimize the residual errors of prior trees, effectively reducing bias. Modern frameworks have heavily </a:t>
                </a:r>
                <a:r>
                  <a:rPr lang="en-US" sz="1800" dirty="0" err="1">
                    <a:solidFill>
                      <a:schemeClr val="tx1"/>
                    </a:solidFill>
                  </a:rPr>
                  <a:t>heavily</a:t>
                </a:r>
                <a:r>
                  <a:rPr lang="en-US" sz="1800" dirty="0">
                    <a:solidFill>
                      <a:schemeClr val="tx1"/>
                    </a:solidFill>
                  </a:rPr>
                  <a:t> optimized this process for tabular data benchmarks.</a:t>
                </a:r>
              </a:p>
              <a:p>
                <a:pPr lvl="0" algn="just"/>
                <a:r>
                  <a:rPr lang="en-US" sz="1800" b="1" dirty="0">
                    <a:solidFill>
                      <a:schemeClr val="tx1"/>
                    </a:solidFill>
                  </a:rPr>
                  <a:t>Second-Order Taylor Approximation (</a:t>
                </a:r>
                <a:r>
                  <a:rPr lang="en-US" sz="1800" b="1" dirty="0" err="1">
                    <a:solidFill>
                      <a:schemeClr val="tx1"/>
                    </a:solidFill>
                  </a:rPr>
                  <a:t>XGBoost</a:t>
                </a:r>
                <a:r>
                  <a:rPr lang="en-US" sz="1800" b="1" dirty="0">
                    <a:solidFill>
                      <a:schemeClr val="tx1"/>
                    </a:solidFill>
                  </a:rPr>
                  <a:t>):</a:t>
                </a:r>
                <a:r>
                  <a:rPr lang="en-US" sz="1800" dirty="0">
                    <a:solidFill>
                      <a:schemeClr val="tx1"/>
                    </a:solidFill>
                  </a:rPr>
                  <a:t> Unlike traditional Gradient Boosting which uses only the first derivative (gradients), </a:t>
                </a:r>
                <a:r>
                  <a:rPr lang="en-US" sz="1800" dirty="0" err="1">
                    <a:solidFill>
                      <a:schemeClr val="tx1"/>
                    </a:solidFill>
                  </a:rPr>
                  <a:t>XGBoost</a:t>
                </a:r>
                <a:r>
                  <a:rPr lang="en-US" sz="1800" dirty="0">
                    <a:solidFill>
                      <a:schemeClr val="tx1"/>
                    </a:solidFill>
                  </a:rPr>
                  <a:t> incorporates the second derivative (Hessian) of the loss function to achieve much faster, more accurate convergence steps.</a:t>
                </a:r>
              </a:p>
              <a:p>
                <a:pPr lvl="0" algn="just"/>
                <a:r>
                  <a:rPr lang="en-US" sz="1800" b="1" dirty="0">
                    <a:solidFill>
                      <a:schemeClr val="tx1"/>
                    </a:solidFill>
                  </a:rPr>
                  <a:t>Histogram-Based Binning (</a:t>
                </a:r>
                <a:r>
                  <a:rPr lang="en-US" sz="1800" b="1" dirty="0" err="1">
                    <a:solidFill>
                      <a:schemeClr val="tx1"/>
                    </a:solidFill>
                  </a:rPr>
                  <a:t>LightGBM</a:t>
                </a:r>
                <a:r>
                  <a:rPr lang="en-US" sz="1800" b="1" dirty="0">
                    <a:solidFill>
                      <a:schemeClr val="tx1"/>
                    </a:solidFill>
                  </a:rPr>
                  <a:t>):</a:t>
                </a:r>
                <a:r>
                  <a:rPr lang="en-US" sz="1800" dirty="0">
                    <a:solidFill>
                      <a:schemeClr val="tx1"/>
                    </a:solidFill>
                  </a:rPr>
                  <a:t> Instead of evaluating every single continuous threshold for a split, </a:t>
                </a:r>
                <a:r>
                  <a:rPr lang="en-US" sz="1800" dirty="0" err="1">
                    <a:solidFill>
                      <a:schemeClr val="tx1"/>
                    </a:solidFill>
                  </a:rPr>
                  <a:t>LightGBM</a:t>
                </a:r>
                <a:r>
                  <a:rPr lang="en-US" sz="1800" dirty="0">
                    <a:solidFill>
                      <a:schemeClr val="tx1"/>
                    </a:solidFill>
                  </a:rPr>
                  <a:t> buckets continuous variables into discrete bins (histograms). This reduces split evaluation complexity from </a:t>
                </a:r>
                <a14:m>
                  <m:oMath xmlns:m="http://schemas.openxmlformats.org/officeDocument/2006/math">
                    <m:r>
                      <a:rPr lang="en-US" sz="1800">
                        <a:solidFill>
                          <a:schemeClr val="tx1"/>
                        </a:solidFill>
                        <a:latin typeface="Cambria Math" panose="02040503050406030204" pitchFamily="18" charset="0"/>
                      </a:rPr>
                      <m:t>𝒪</m:t>
                    </m:r>
                    <m:d>
                      <m:dPr>
                        <m:ctrlPr>
                          <a:rPr lang="en-US" sz="1800" i="0">
                            <a:solidFill>
                              <a:schemeClr val="tx1"/>
                            </a:solidFill>
                          </a:rPr>
                        </m:ctrlPr>
                      </m:dPr>
                      <m:e>
                        <m:r>
                          <m:rPr>
                            <m:nor/>
                          </m:rPr>
                          <a:rPr lang="en-US" sz="1800" i="0">
                            <a:solidFill>
                              <a:schemeClr val="tx1"/>
                            </a:solidFill>
                          </a:rPr>
                          <m:t>data</m:t>
                        </m:r>
                        <m:r>
                          <a:rPr lang="en-US" sz="1800">
                            <a:solidFill>
                              <a:schemeClr val="tx1"/>
                            </a:solidFill>
                            <a:latin typeface="Cambria Math" panose="02040503050406030204" pitchFamily="18" charset="0"/>
                          </a:rPr>
                          <m:t>×</m:t>
                        </m:r>
                        <m:r>
                          <m:rPr>
                            <m:nor/>
                          </m:rPr>
                          <a:rPr lang="en-US" sz="1800" i="0">
                            <a:solidFill>
                              <a:schemeClr val="tx1"/>
                            </a:solidFill>
                          </a:rPr>
                          <m:t>features</m:t>
                        </m:r>
                      </m:e>
                    </m:d>
                  </m:oMath>
                </a14:m>
                <a:r>
                  <a:rPr lang="en-US" sz="1800" dirty="0">
                    <a:solidFill>
                      <a:schemeClr val="tx1"/>
                    </a:solidFill>
                  </a:rPr>
                  <a:t>to </a:t>
                </a:r>
                <a14:m>
                  <m:oMath xmlns:m="http://schemas.openxmlformats.org/officeDocument/2006/math">
                    <m:r>
                      <a:rPr lang="en-US" sz="1800">
                        <a:solidFill>
                          <a:schemeClr val="tx1"/>
                        </a:solidFill>
                        <a:latin typeface="Cambria Math" panose="02040503050406030204" pitchFamily="18" charset="0"/>
                      </a:rPr>
                      <m:t>𝒪</m:t>
                    </m:r>
                    <m:d>
                      <m:dPr>
                        <m:ctrlPr>
                          <a:rPr lang="en-US" sz="1800" i="0">
                            <a:solidFill>
                              <a:schemeClr val="tx1"/>
                            </a:solidFill>
                          </a:rPr>
                        </m:ctrlPr>
                      </m:dPr>
                      <m:e>
                        <m:r>
                          <m:rPr>
                            <m:nor/>
                          </m:rPr>
                          <a:rPr lang="en-US" sz="1800" i="0">
                            <a:solidFill>
                              <a:schemeClr val="tx1"/>
                            </a:solidFill>
                          </a:rPr>
                          <m:t>bins</m:t>
                        </m:r>
                        <m:r>
                          <a:rPr lang="en-US" sz="1800">
                            <a:solidFill>
                              <a:schemeClr val="tx1"/>
                            </a:solidFill>
                            <a:latin typeface="Cambria Math" panose="02040503050406030204" pitchFamily="18" charset="0"/>
                          </a:rPr>
                          <m:t>×</m:t>
                        </m:r>
                        <m:r>
                          <m:rPr>
                            <m:nor/>
                          </m:rPr>
                          <a:rPr lang="en-US" sz="1800" i="0">
                            <a:solidFill>
                              <a:schemeClr val="tx1"/>
                            </a:solidFill>
                          </a:rPr>
                          <m:t>features</m:t>
                        </m:r>
                      </m:e>
                    </m:d>
                  </m:oMath>
                </a14:m>
                <a:r>
                  <a:rPr lang="en-US" sz="1800" dirty="0">
                    <a:solidFill>
                      <a:schemeClr val="tx1"/>
                    </a:solidFill>
                  </a:rPr>
                  <a:t>.</a:t>
                </a:r>
              </a:p>
              <a:p>
                <a:pPr lvl="0" algn="just"/>
                <a:r>
                  <a:rPr lang="en-US" sz="1800" b="1" dirty="0">
                    <a:solidFill>
                      <a:schemeClr val="tx1"/>
                    </a:solidFill>
                  </a:rPr>
                  <a:t>Gradient-Based One-Side Sampling (GOSS):</a:t>
                </a:r>
                <a:r>
                  <a:rPr lang="en-US" sz="1800" dirty="0">
                    <a:solidFill>
                      <a:schemeClr val="tx1"/>
                    </a:solidFill>
                  </a:rPr>
                  <a:t> Retains instances with large gradients (high error) and randomly samples instances with small gradients, maintaining information gain accuracy while massively reducing computational payload.</a:t>
                </a:r>
              </a:p>
            </p:txBody>
          </p:sp>
        </mc:Choice>
        <mc:Fallback xmlns="">
          <p:sp>
            <p:nvSpPr>
              <p:cNvPr id="3" name="Subtitle 2">
                <a:extLst>
                  <a:ext uri="{FF2B5EF4-FFF2-40B4-BE49-F238E27FC236}">
                    <a16:creationId xmlns:a16="http://schemas.microsoft.com/office/drawing/2014/main" id="{0E141FC9-6C53-49ED-74FB-E71005AEE334}"/>
                  </a:ext>
                </a:extLst>
              </p:cNvPr>
              <p:cNvSpPr>
                <a:spLocks noGrp="1" noRot="1" noChangeAspect="1" noMove="1" noResize="1" noEditPoints="1" noAdjustHandles="1" noChangeArrowheads="1" noChangeShapeType="1" noTextEdit="1"/>
              </p:cNvSpPr>
              <p:nvPr>
                <p:ph type="subTitle" idx="1"/>
              </p:nvPr>
            </p:nvSpPr>
            <p:spPr>
              <a:xfrm>
                <a:off x="228600" y="1371600"/>
                <a:ext cx="8763000" cy="4343400"/>
              </a:xfrm>
              <a:blipFill>
                <a:blip r:embed="rId3"/>
                <a:stretch>
                  <a:fillRect l="-626" t="-701" r="-557"/>
                </a:stretch>
              </a:blipFill>
            </p:spPr>
            <p:txBody>
              <a:bodyPr/>
              <a:lstStyle/>
              <a:p>
                <a:r>
                  <a:rPr lang="en-US">
                    <a:noFill/>
                  </a:rPr>
                  <a:t> </a:t>
                </a:r>
              </a:p>
            </p:txBody>
          </p:sp>
        </mc:Fallback>
      </mc:AlternateContent>
    </p:spTree>
    <p:extLst>
      <p:ext uri="{BB962C8B-B14F-4D97-AF65-F5344CB8AC3E}">
        <p14:creationId xmlns:p14="http://schemas.microsoft.com/office/powerpoint/2010/main" val="19438626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894A1-E892-B186-60CA-CF685C3433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1F88B5-BAF3-466E-8E29-07F9073E7388}"/>
              </a:ext>
            </a:extLst>
          </p:cNvPr>
          <p:cNvSpPr>
            <a:spLocks noGrp="1"/>
          </p:cNvSpPr>
          <p:nvPr>
            <p:ph type="ctrTitle"/>
          </p:nvPr>
        </p:nvSpPr>
        <p:spPr>
          <a:xfrm>
            <a:off x="1600200" y="381000"/>
            <a:ext cx="6096000" cy="708025"/>
          </a:xfrm>
        </p:spPr>
        <p:txBody>
          <a:bodyPr>
            <a:normAutofit fontScale="90000"/>
          </a:bodyPr>
          <a:lstStyle/>
          <a:p>
            <a:r>
              <a:rPr lang="en-US" sz="3200" dirty="0"/>
              <a:t>Causal Forests &amp; Asymptotic Honesty</a:t>
            </a:r>
            <a:endParaRPr lang="en-US"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82ED217-CE3C-DA15-9027-2A14A1EB1E4F}"/>
              </a:ext>
            </a:extLst>
          </p:cNvPr>
          <p:cNvSpPr>
            <a:spLocks noGrp="1"/>
          </p:cNvSpPr>
          <p:nvPr>
            <p:ph type="subTitle" idx="1"/>
          </p:nvPr>
        </p:nvSpPr>
        <p:spPr>
          <a:xfrm>
            <a:off x="228600" y="1371600"/>
            <a:ext cx="8763000" cy="4343400"/>
          </a:xfrm>
        </p:spPr>
        <p:txBody>
          <a:bodyPr>
            <a:noAutofit/>
          </a:bodyPr>
          <a:lstStyle/>
          <a:p>
            <a:pPr algn="just"/>
            <a:r>
              <a:rPr lang="en-US" sz="1800" dirty="0">
                <a:solidFill>
                  <a:schemeClr val="tx1"/>
                </a:solidFill>
              </a:rPr>
              <a:t>Standard Random Forests are purely predictive. When researchers need to measure Heterogeneous Treatment Effects (HTE)—such as predicting </a:t>
            </a:r>
            <a:r>
              <a:rPr lang="en-US" sz="1800" i="1" dirty="0">
                <a:solidFill>
                  <a:schemeClr val="tx1"/>
                </a:solidFill>
              </a:rPr>
              <a:t>how much</a:t>
            </a:r>
            <a:r>
              <a:rPr lang="en-US" sz="1800" dirty="0">
                <a:solidFill>
                  <a:schemeClr val="tx1"/>
                </a:solidFill>
              </a:rPr>
              <a:t> a specific patient's blood pressure will drop if given a drug vs a placebo—they turn to Causal Forests (Athey &amp; Wager).</a:t>
            </a:r>
          </a:p>
          <a:p>
            <a:pPr lvl="0" algn="just"/>
            <a:r>
              <a:rPr lang="en-US" sz="1800" b="1" dirty="0">
                <a:solidFill>
                  <a:schemeClr val="tx1"/>
                </a:solidFill>
              </a:rPr>
              <a:t>Heterogeneous Treatment Effects (HTE):</a:t>
            </a:r>
            <a:r>
              <a:rPr lang="en-US" sz="1800" dirty="0">
                <a:solidFill>
                  <a:schemeClr val="tx1"/>
                </a:solidFill>
              </a:rPr>
              <a:t> Adapts the splitting criterion to maximize the difference in treatment effects between the left and right child nodes, isolating sub-populations that react uniquely to interventions.</a:t>
            </a:r>
          </a:p>
          <a:p>
            <a:pPr lvl="0" algn="just"/>
            <a:r>
              <a:rPr lang="en-US" sz="1800" b="1" dirty="0">
                <a:solidFill>
                  <a:schemeClr val="tx1"/>
                </a:solidFill>
              </a:rPr>
              <a:t>Asymptotic Honesty:</a:t>
            </a:r>
            <a:r>
              <a:rPr lang="en-US" sz="1800" dirty="0">
                <a:solidFill>
                  <a:schemeClr val="tx1"/>
                </a:solidFill>
              </a:rPr>
              <a:t> A critical theoretical requirement. The data used to determine the tree's split structure must be strictly separated from the data used to estimate the leaf node values. If the same data is used for both, the estimates become statistically biased.</a:t>
            </a:r>
          </a:p>
          <a:p>
            <a:pPr lvl="0" algn="just"/>
            <a:r>
              <a:rPr lang="en-US" sz="1800" b="1" dirty="0">
                <a:solidFill>
                  <a:schemeClr val="tx1"/>
                </a:solidFill>
              </a:rPr>
              <a:t>Sub-sampling for Normality:</a:t>
            </a:r>
            <a:r>
              <a:rPr lang="en-US" sz="1800" dirty="0">
                <a:solidFill>
                  <a:schemeClr val="tx1"/>
                </a:solidFill>
              </a:rPr>
              <a:t> Causal Forests eschew standard bootstrap aggregating (bagging with replacement) in favor of sub-sampling without replacement. This mathematical constraint guarantees that the forest's predictions converge to a Gaussian distribution, enabling the calculation of rigorous confidence intervals.</a:t>
            </a:r>
          </a:p>
        </p:txBody>
      </p:sp>
    </p:spTree>
    <p:extLst>
      <p:ext uri="{BB962C8B-B14F-4D97-AF65-F5344CB8AC3E}">
        <p14:creationId xmlns:p14="http://schemas.microsoft.com/office/powerpoint/2010/main" val="25660378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D9824-A40B-D0BB-C9E7-45C4EF1151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E05F6F-7AB7-B6E4-144E-50A2FF56581B}"/>
              </a:ext>
            </a:extLst>
          </p:cNvPr>
          <p:cNvSpPr>
            <a:spLocks noGrp="1"/>
          </p:cNvSpPr>
          <p:nvPr>
            <p:ph type="ctrTitle"/>
          </p:nvPr>
        </p:nvSpPr>
        <p:spPr>
          <a:xfrm>
            <a:off x="1600200" y="381000"/>
            <a:ext cx="6096000" cy="708025"/>
          </a:xfrm>
        </p:spPr>
        <p:txBody>
          <a:bodyPr>
            <a:normAutofit/>
          </a:bodyPr>
          <a:lstStyle/>
          <a:p>
            <a:r>
              <a:rPr lang="en-US" sz="3200" dirty="0"/>
              <a:t>Code for Decision Tree</a:t>
            </a:r>
            <a:endParaRPr lang="en-US"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8ABCEFF-833D-D3CF-8312-4D2E8A7B8FD6}"/>
              </a:ext>
            </a:extLst>
          </p:cNvPr>
          <p:cNvSpPr>
            <a:spLocks noGrp="1"/>
          </p:cNvSpPr>
          <p:nvPr>
            <p:ph type="subTitle" idx="1"/>
          </p:nvPr>
        </p:nvSpPr>
        <p:spPr>
          <a:xfrm>
            <a:off x="228600" y="1371600"/>
            <a:ext cx="8763000" cy="4343400"/>
          </a:xfrm>
        </p:spPr>
        <p:txBody>
          <a:bodyPr>
            <a:noAutofit/>
          </a:bodyPr>
          <a:lstStyle/>
          <a:p>
            <a:pPr algn="just"/>
            <a:r>
              <a:rPr lang="en-US" sz="1800" b="1" dirty="0">
                <a:solidFill>
                  <a:schemeClr val="tx1"/>
                </a:solidFill>
              </a:rPr>
              <a:t>Theory Related Code: </a:t>
            </a:r>
            <a:r>
              <a:rPr lang="en-US" sz="1800" dirty="0">
                <a:solidFill>
                  <a:schemeClr val="tx1"/>
                </a:solidFill>
              </a:rPr>
              <a:t>https://colab.research.google.com/drive/17exsFq6ZRIMT-WTgwJKVdtyQvYyY1ilK?usp=sharing </a:t>
            </a:r>
          </a:p>
          <a:p>
            <a:pPr algn="just"/>
            <a:endParaRPr lang="en-US" sz="1800" dirty="0">
              <a:solidFill>
                <a:schemeClr val="tx1"/>
              </a:solidFill>
            </a:endParaRPr>
          </a:p>
          <a:p>
            <a:pPr algn="just"/>
            <a:r>
              <a:rPr lang="en-US" sz="1800" b="1" dirty="0">
                <a:solidFill>
                  <a:schemeClr val="tx1"/>
                </a:solidFill>
              </a:rPr>
              <a:t>Implementation Code: </a:t>
            </a:r>
            <a:r>
              <a:rPr lang="en-US" sz="1800" dirty="0">
                <a:solidFill>
                  <a:schemeClr val="tx1"/>
                </a:solidFill>
              </a:rPr>
              <a:t>https://colab.research.google.com/drive/18fD_F7z9Vp7nm-1Q5vjgZZ7HpGjQdnOL?usp=sharing</a:t>
            </a:r>
          </a:p>
        </p:txBody>
      </p:sp>
    </p:spTree>
    <p:extLst>
      <p:ext uri="{BB962C8B-B14F-4D97-AF65-F5344CB8AC3E}">
        <p14:creationId xmlns:p14="http://schemas.microsoft.com/office/powerpoint/2010/main" val="28016711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3191</Words>
  <Application>Microsoft Office PowerPoint</Application>
  <PresentationFormat>On-screen Show (4:3)</PresentationFormat>
  <Paragraphs>262</Paragraphs>
  <Slides>37</Slides>
  <Notes>7</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37</vt:i4>
      </vt:variant>
    </vt:vector>
  </HeadingPairs>
  <TitlesOfParts>
    <vt:vector size="45" baseType="lpstr">
      <vt:lpstr>Aptos</vt:lpstr>
      <vt:lpstr>Arial</vt:lpstr>
      <vt:lpstr>Calibri</vt:lpstr>
      <vt:lpstr>Cambria Math</vt:lpstr>
      <vt:lpstr>Times New Roman</vt:lpstr>
      <vt:lpstr>Office Theme</vt:lpstr>
      <vt:lpstr>Worksheet</vt:lpstr>
      <vt:lpstr>Equation</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Best Case for Decision Trees</vt:lpstr>
      <vt:lpstr>Best Case for Decision Trees</vt:lpstr>
      <vt:lpstr>Worst Case for Decision Trees</vt:lpstr>
      <vt:lpstr>Worst Case for Decision Trees</vt:lpstr>
      <vt:lpstr>Axiomatic Feature Attribution &amp; TreeSHAP</vt:lpstr>
      <vt:lpstr>Optimal Decision Trees via Mixed Integer Programming</vt:lpstr>
      <vt:lpstr>Differentiable Decision Trees &amp; Neural Architectures</vt:lpstr>
      <vt:lpstr>Modern Gradient Boosting Benchmarks (XGBoost &amp; LightGBM)</vt:lpstr>
      <vt:lpstr>Causal Forests &amp; Asymptotic Honesty</vt:lpstr>
      <vt:lpstr>Code for Decision Tree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Ashraf</dc:creator>
  <cp:lastModifiedBy>TOUHID ALAM</cp:lastModifiedBy>
  <cp:revision>390</cp:revision>
  <dcterms:created xsi:type="dcterms:W3CDTF">2024-10-19T07:49:00Z</dcterms:created>
  <dcterms:modified xsi:type="dcterms:W3CDTF">2026-09-26T09:54:49Z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34784591595B48829E35AB748FC3783A_12</vt:lpwstr>
  </property>
  <property fmtid="{D5CDD505-2E9C-101B-9397-08002B2CF9AE}" pid="3" name="KSOProductBuildVer">
    <vt:lpwstr>1033-12.2.0.18607</vt:lpwstr>
  </property>
</Properties>
</file>