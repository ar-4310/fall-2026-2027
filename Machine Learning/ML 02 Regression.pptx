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84" r:id="rId2"/>
    <p:sldId id="256" r:id="rId3"/>
    <p:sldId id="283" r:id="rId4"/>
    <p:sldId id="282" r:id="rId5"/>
    <p:sldId id="286" r:id="rId6"/>
    <p:sldId id="285" r:id="rId7"/>
    <p:sldId id="304" r:id="rId8"/>
    <p:sldId id="305" r:id="rId9"/>
    <p:sldId id="287" r:id="rId10"/>
    <p:sldId id="306" r:id="rId11"/>
    <p:sldId id="307" r:id="rId12"/>
    <p:sldId id="308" r:id="rId13"/>
    <p:sldId id="288" r:id="rId14"/>
    <p:sldId id="289" r:id="rId15"/>
    <p:sldId id="290" r:id="rId16"/>
    <p:sldId id="291" r:id="rId17"/>
    <p:sldId id="292" r:id="rId18"/>
    <p:sldId id="294" r:id="rId19"/>
    <p:sldId id="295" r:id="rId20"/>
    <p:sldId id="296" r:id="rId21"/>
    <p:sldId id="299" r:id="rId22"/>
    <p:sldId id="300" r:id="rId23"/>
    <p:sldId id="310" r:id="rId24"/>
    <p:sldId id="311" r:id="rId25"/>
    <p:sldId id="314" r:id="rId26"/>
    <p:sldId id="312" r:id="rId27"/>
    <p:sldId id="313" r:id="rId28"/>
    <p:sldId id="301" r:id="rId29"/>
    <p:sldId id="302" r:id="rId30"/>
    <p:sldId id="317" r:id="rId31"/>
    <p:sldId id="319" r:id="rId32"/>
    <p:sldId id="318" r:id="rId33"/>
    <p:sldId id="320" r:id="rId34"/>
    <p:sldId id="324" r:id="rId35"/>
    <p:sldId id="322" r:id="rId36"/>
    <p:sldId id="323" r:id="rId37"/>
    <p:sldId id="325" r:id="rId38"/>
    <p:sldId id="326" r:id="rId39"/>
    <p:sldId id="327" r:id="rId40"/>
    <p:sldId id="321" r:id="rId41"/>
    <p:sldId id="315"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94" y="62"/>
      </p:cViewPr>
      <p:guideLst>
        <p:guide orient="horz" pos="2160"/>
        <p:guide pos="289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9/26/2026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t>23</a:t>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t>24</a:t>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t>25</a:t>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t>26</a:t>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t>27</a:t>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E2C4CB-14E1-43EC-9E25-77CFC75FDBE0}"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E2C4CB-14E1-43EC-9E25-77CFC75FDBE0}" type="datetimeFigureOut">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E2C4CB-14E1-43EC-9E25-77CFC75FDBE0}" type="datetimeFigureOut">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E2C4CB-14E1-43EC-9E25-77CFC75FDBE0}" type="datetimeFigureOut">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E2C4CB-14E1-43EC-9E25-77CFC75FDBE0}" type="datetimeFigureOut">
              <a:rPr lang="en-US" smtClean="0"/>
              <a:t>9/26/2026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F02EF3-4937-48F5-B6FA-9356B5FF026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 Regression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A typical task is to predict a target numeric value, such as the price of a car, given a set of features (mileage, age, brand, etc.). This sort of task is called </a:t>
            </a:r>
            <a:r>
              <a:rPr lang="en-US" sz="1800" b="1" dirty="0">
                <a:solidFill>
                  <a:schemeClr val="tx1"/>
                </a:solidFill>
                <a:latin typeface="Times New Roman" panose="02020603050405020304" pitchFamily="18" charset="0"/>
                <a:cs typeface="Times New Roman" panose="02020603050405020304" pitchFamily="18" charset="0"/>
              </a:rPr>
              <a:t>regression</a:t>
            </a:r>
            <a:r>
              <a:rPr lang="en-US" sz="1800" dirty="0">
                <a:solidFill>
                  <a:schemeClr val="tx1"/>
                </a:solidFill>
                <a:latin typeface="Times New Roman" panose="02020603050405020304" pitchFamily="18" charset="0"/>
                <a:cs typeface="Times New Roman" panose="02020603050405020304" pitchFamily="18" charset="0"/>
              </a:rPr>
              <a: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362200"/>
            <a:ext cx="7360921"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Another typical supervised learning task is </a:t>
            </a:r>
            <a:r>
              <a:rPr lang="en-US" sz="1800" b="1" dirty="0">
                <a:solidFill>
                  <a:schemeClr val="tx1"/>
                </a:solidFill>
                <a:latin typeface="Times New Roman" panose="02020603050405020304" pitchFamily="18" charset="0"/>
                <a:cs typeface="Times New Roman" panose="02020603050405020304" pitchFamily="18" charset="0"/>
              </a:rPr>
              <a:t>classification</a:t>
            </a:r>
            <a:r>
              <a:rPr lang="en-US" sz="1800" dirty="0">
                <a:solidFill>
                  <a:schemeClr val="tx1"/>
                </a:solidFill>
                <a:latin typeface="Times New Roman" panose="02020603050405020304" pitchFamily="18" charset="0"/>
                <a:cs typeface="Times New Roman" panose="02020603050405020304" pitchFamily="18" charset="0"/>
              </a:rPr>
              <a:t>. The spam filter is a good example of this: it is trained with many example emails along with their class (spam or ham), and it must learn how to classify new emails.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667000"/>
            <a:ext cx="7543800" cy="327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Regression</a:t>
            </a:r>
          </a:p>
        </p:txBody>
      </p:sp>
      <p:sp>
        <p:nvSpPr>
          <p:cNvPr id="3" name="Subtitle 2"/>
          <p:cNvSpPr>
            <a:spLocks noGrp="1"/>
          </p:cNvSpPr>
          <p:nvPr>
            <p:ph type="subTitle" idx="1"/>
          </p:nvPr>
        </p:nvSpPr>
        <p:spPr>
          <a:xfrm>
            <a:off x="685800" y="1371600"/>
            <a:ext cx="7467600" cy="4343400"/>
          </a:xfrm>
        </p:spPr>
        <p:txBody>
          <a:bodyPr>
            <a:normAutofit/>
          </a:bodyPr>
          <a:lstStyle/>
          <a:p>
            <a:pPr marL="285750" indent="-285750" algn="l">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Simple Linear Regression</a:t>
            </a:r>
          </a:p>
          <a:p>
            <a:pPr marL="285750" indent="-285750" algn="l">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Multiple Linear Regression</a:t>
            </a:r>
          </a:p>
          <a:p>
            <a:pPr marL="285750" indent="-285750" algn="l">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Polynomial Linear Regression</a:t>
            </a:r>
          </a:p>
          <a:p>
            <a:pPr marL="285750" indent="-285750" algn="l">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Logistic Regression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Linear regression </a:t>
            </a:r>
            <a:r>
              <a:rPr lang="en-US" sz="1800" dirty="0">
                <a:solidFill>
                  <a:schemeClr val="tx1"/>
                </a:solidFill>
                <a:latin typeface="Times New Roman" panose="02020603050405020304" pitchFamily="18" charset="0"/>
                <a:cs typeface="Times New Roman" panose="02020603050405020304" pitchFamily="18" charset="0"/>
              </a:rPr>
              <a:t>is a </a:t>
            </a:r>
            <a:r>
              <a:rPr lang="en-US" sz="1800" b="1" dirty="0">
                <a:solidFill>
                  <a:schemeClr val="tx1"/>
                </a:solidFill>
                <a:latin typeface="Times New Roman" panose="02020603050405020304" pitchFamily="18" charset="0"/>
                <a:cs typeface="Times New Roman" panose="02020603050405020304" pitchFamily="18" charset="0"/>
              </a:rPr>
              <a:t>supervised</a:t>
            </a:r>
            <a:r>
              <a:rPr lang="en-US" sz="1800" dirty="0">
                <a:solidFill>
                  <a:schemeClr val="tx1"/>
                </a:solidFill>
                <a:latin typeface="Times New Roman" panose="02020603050405020304" pitchFamily="18" charset="0"/>
                <a:cs typeface="Times New Roman" panose="02020603050405020304" pitchFamily="18" charset="0"/>
              </a:rPr>
              <a:t> machine learning algorithm that models the linear relationship between a </a:t>
            </a:r>
            <a:r>
              <a:rPr lang="en-US" sz="1800" b="1" dirty="0">
                <a:solidFill>
                  <a:schemeClr val="tx1"/>
                </a:solidFill>
                <a:latin typeface="Times New Roman" panose="02020603050405020304" pitchFamily="18" charset="0"/>
                <a:cs typeface="Times New Roman" panose="02020603050405020304" pitchFamily="18" charset="0"/>
              </a:rPr>
              <a:t>dependent</a:t>
            </a:r>
            <a:r>
              <a:rPr lang="en-US" sz="1800" dirty="0">
                <a:solidFill>
                  <a:schemeClr val="tx1"/>
                </a:solidFill>
                <a:latin typeface="Times New Roman" panose="02020603050405020304" pitchFamily="18" charset="0"/>
                <a:cs typeface="Times New Roman" panose="02020603050405020304" pitchFamily="18" charset="0"/>
              </a:rPr>
              <a:t> variable and one or more </a:t>
            </a:r>
            <a:r>
              <a:rPr lang="en-US" sz="1800" b="1" dirty="0">
                <a:solidFill>
                  <a:schemeClr val="tx1"/>
                </a:solidFill>
                <a:latin typeface="Times New Roman" panose="02020603050405020304" pitchFamily="18" charset="0"/>
                <a:cs typeface="Times New Roman" panose="02020603050405020304" pitchFamily="18" charset="0"/>
              </a:rPr>
              <a:t>independent</a:t>
            </a:r>
            <a:r>
              <a:rPr lang="en-US" sz="1800" dirty="0">
                <a:solidFill>
                  <a:schemeClr val="tx1"/>
                </a:solidFill>
                <a:latin typeface="Times New Roman" panose="02020603050405020304" pitchFamily="18" charset="0"/>
                <a:cs typeface="Times New Roman" panose="02020603050405020304" pitchFamily="18" charset="0"/>
              </a:rPr>
              <a:t> variables by fitting a straight line to the observed data.</a:t>
            </a:r>
          </a:p>
          <a:p>
            <a:pPr algn="just"/>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3074" name="Picture 2" descr="Linear Regression in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945" y="2209800"/>
            <a:ext cx="3810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647945" y="6172200"/>
            <a:ext cx="4572000" cy="276999"/>
          </a:xfrm>
          <a:prstGeom prst="rect">
            <a:avLst/>
          </a:prstGeom>
        </p:spPr>
        <p:txBody>
          <a:bodyPr>
            <a:spAutoFit/>
          </a:bodyPr>
          <a:lstStyle/>
          <a:p>
            <a:r>
              <a:rPr lang="en-US" sz="1200" dirty="0">
                <a:solidFill>
                  <a:schemeClr val="bg1">
                    <a:lumMod val="75000"/>
                  </a:schemeClr>
                </a:solidFill>
              </a:rPr>
              <a:t>https://www.javatpoint.com/linear-regression-in-machine-learning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Linear regression </a:t>
            </a:r>
            <a:r>
              <a:rPr lang="en-US" sz="1800" dirty="0">
                <a:solidFill>
                  <a:schemeClr val="tx1"/>
                </a:solidFill>
                <a:latin typeface="Times New Roman" panose="02020603050405020304" pitchFamily="18" charset="0"/>
                <a:cs typeface="Times New Roman" panose="02020603050405020304" pitchFamily="18" charset="0"/>
              </a:rPr>
              <a:t>is a </a:t>
            </a:r>
            <a:r>
              <a:rPr lang="en-US" sz="1800" b="1" dirty="0">
                <a:solidFill>
                  <a:schemeClr val="tx1"/>
                </a:solidFill>
                <a:latin typeface="Times New Roman" panose="02020603050405020304" pitchFamily="18" charset="0"/>
                <a:cs typeface="Times New Roman" panose="02020603050405020304" pitchFamily="18" charset="0"/>
              </a:rPr>
              <a:t>supervised</a:t>
            </a:r>
            <a:r>
              <a:rPr lang="en-US" sz="1800" dirty="0">
                <a:solidFill>
                  <a:schemeClr val="tx1"/>
                </a:solidFill>
                <a:latin typeface="Times New Roman" panose="02020603050405020304" pitchFamily="18" charset="0"/>
                <a:cs typeface="Times New Roman" panose="02020603050405020304" pitchFamily="18" charset="0"/>
              </a:rPr>
              <a:t> machine learning algorithm that models the linear relationship between a </a:t>
            </a:r>
            <a:r>
              <a:rPr lang="en-US" sz="1800" b="1" dirty="0">
                <a:solidFill>
                  <a:schemeClr val="tx1"/>
                </a:solidFill>
                <a:latin typeface="Times New Roman" panose="02020603050405020304" pitchFamily="18" charset="0"/>
                <a:cs typeface="Times New Roman" panose="02020603050405020304" pitchFamily="18" charset="0"/>
              </a:rPr>
              <a:t>dependent</a:t>
            </a:r>
            <a:r>
              <a:rPr lang="en-US" sz="1800" dirty="0">
                <a:solidFill>
                  <a:schemeClr val="tx1"/>
                </a:solidFill>
                <a:latin typeface="Times New Roman" panose="02020603050405020304" pitchFamily="18" charset="0"/>
                <a:cs typeface="Times New Roman" panose="02020603050405020304" pitchFamily="18" charset="0"/>
              </a:rPr>
              <a:t> variable and one or more </a:t>
            </a:r>
            <a:r>
              <a:rPr lang="en-US" sz="1800" b="1" dirty="0">
                <a:solidFill>
                  <a:schemeClr val="tx1"/>
                </a:solidFill>
                <a:latin typeface="Times New Roman" panose="02020603050405020304" pitchFamily="18" charset="0"/>
                <a:cs typeface="Times New Roman" panose="02020603050405020304" pitchFamily="18" charset="0"/>
              </a:rPr>
              <a:t>independent</a:t>
            </a:r>
            <a:r>
              <a:rPr lang="en-US" sz="1800" dirty="0">
                <a:solidFill>
                  <a:schemeClr val="tx1"/>
                </a:solidFill>
                <a:latin typeface="Times New Roman" panose="02020603050405020304" pitchFamily="18" charset="0"/>
                <a:cs typeface="Times New Roman" panose="02020603050405020304" pitchFamily="18" charset="0"/>
              </a:rPr>
              <a:t> variables by fitting a straight line to the observed data.</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When there is a single independent variable, it is referred to as S</a:t>
            </a:r>
            <a:r>
              <a:rPr lang="en-US" sz="1800" b="1" dirty="0">
                <a:solidFill>
                  <a:schemeClr val="tx1"/>
                </a:solidFill>
                <a:latin typeface="Times New Roman" panose="02020603050405020304" pitchFamily="18" charset="0"/>
                <a:cs typeface="Times New Roman" panose="02020603050405020304" pitchFamily="18" charset="0"/>
              </a:rPr>
              <a:t>imple Linear Regression</a:t>
            </a:r>
            <a:r>
              <a:rPr lang="en-US" sz="1800" dirty="0">
                <a:solidFill>
                  <a:schemeClr val="tx1"/>
                </a:solidFill>
                <a:latin typeface="Times New Roman" panose="02020603050405020304" pitchFamily="18" charset="0"/>
                <a:cs typeface="Times New Roman" panose="02020603050405020304" pitchFamily="18" charset="0"/>
              </a:rPr>
              <a:t>, whereas with multiple independent variables, it is called M</a:t>
            </a:r>
            <a:r>
              <a:rPr lang="en-US" sz="1800" b="1" dirty="0">
                <a:solidFill>
                  <a:schemeClr val="tx1"/>
                </a:solidFill>
                <a:latin typeface="Times New Roman" panose="02020603050405020304" pitchFamily="18" charset="0"/>
                <a:cs typeface="Times New Roman" panose="02020603050405020304" pitchFamily="18" charset="0"/>
              </a:rPr>
              <a:t>ultiple Linear Regression</a:t>
            </a:r>
            <a:r>
              <a:rPr lang="en-US" sz="1800" dirty="0">
                <a:solidFill>
                  <a:schemeClr val="tx1"/>
                </a:solidFill>
                <a:latin typeface="Times New Roman" panose="02020603050405020304" pitchFamily="18" charset="0"/>
                <a:cs typeface="Times New Roman" panose="02020603050405020304" pitchFamily="18" charset="0"/>
              </a:rPr>
              <a:t>.</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Polynomial Linear Regression is a form of regression where the relationship between the independent variable(s) and the dependent variable is modeled as a </a:t>
            </a:r>
            <a:r>
              <a:rPr lang="en-US" sz="1800" b="1" dirty="0">
                <a:solidFill>
                  <a:schemeClr val="tx1"/>
                </a:solidFill>
                <a:latin typeface="Times New Roman" panose="02020603050405020304" pitchFamily="18" charset="0"/>
                <a:cs typeface="Times New Roman" panose="02020603050405020304" pitchFamily="18" charset="0"/>
              </a:rPr>
              <a:t>polynomial</a:t>
            </a:r>
            <a:r>
              <a:rPr lang="en-US" sz="1800" dirty="0">
                <a:solidFill>
                  <a:schemeClr val="tx1"/>
                </a:solidFill>
                <a:latin typeface="Times New Roman" panose="02020603050405020304" pitchFamily="18" charset="0"/>
                <a:cs typeface="Times New Roman" panose="02020603050405020304" pitchFamily="18" charset="0"/>
              </a:rPr>
              <a:t>, but it is still considered a type of linear regression because the model is linear in terms of the coefficients.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Simple 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This is the most basic form of linear regression, involving a single independent variable and a single dependent variable. The equation for simple linear regression is: </a:t>
                </a:r>
                <a14:m>
                  <m:oMath xmlns:m="http://schemas.openxmlformats.org/officeDocument/2006/math">
                    <m:r>
                      <a:rPr lang="en-US" sz="1800" b="1" i="1" smtClean="0">
                        <a:solidFill>
                          <a:schemeClr val="tx1"/>
                        </a:solidFill>
                        <a:latin typeface="Cambria Math" panose="02040503050406030204"/>
                        <a:cs typeface="Times New Roman" panose="02020603050405020304" pitchFamily="18" charset="0"/>
                      </a:rPr>
                      <m:t>𝒚</m:t>
                    </m:r>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𝟎</m:t>
                        </m:r>
                      </m:sub>
                    </m:sSub>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𝒙</m:t>
                    </m:r>
                  </m:oMath>
                </a14:m>
                <a:endParaRPr lang="en-US" sz="1800" b="1"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where</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y is the dependent variable</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x is the independent variable</a:t>
                </a: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𝟎</m:t>
                        </m:r>
                      </m:sub>
                    </m:sSub>
                  </m:oMath>
                </a14:m>
                <a:r>
                  <a:rPr lang="en-US" sz="1800" dirty="0">
                    <a:solidFill>
                      <a:schemeClr val="tx1"/>
                    </a:solidFill>
                    <a:latin typeface="Times New Roman" panose="02020603050405020304" pitchFamily="18" charset="0"/>
                    <a:cs typeface="Times New Roman" panose="02020603050405020304" pitchFamily="18" charset="0"/>
                  </a:rPr>
                  <a:t> is the intercept</a:t>
                </a: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 is the slope</a:t>
                </a: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343400"/>
              </a:xfrm>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p:txBody>
          <a:bodyPr>
            <a:normAutofit fontScale="75000" lnSpcReduction="20000"/>
          </a:bodyPr>
          <a:lstStyle/>
          <a:p>
            <a:pPr marL="0" indent="0" algn="just">
              <a:buNone/>
            </a:pPr>
            <a:r>
              <a:rPr lang="en-US"/>
              <a:t>Suppose we are analyzing the relationship between the number of hours a student studies (x) and their exam score (y) using a simple linear regression. After running the regression, we get the following equation: y=5x+50</a:t>
            </a:r>
          </a:p>
          <a:p>
            <a:pPr marL="0" indent="0" algn="just">
              <a:buNone/>
            </a:pPr>
            <a:r>
              <a:rPr lang="en-US"/>
              <a:t>In this equation:</a:t>
            </a:r>
          </a:p>
          <a:p>
            <a:pPr marL="0" indent="0" algn="just">
              <a:buNone/>
            </a:pPr>
            <a:r>
              <a:rPr lang="en-US"/>
              <a:t>𝑦is the predicted exam score,</a:t>
            </a:r>
          </a:p>
          <a:p>
            <a:pPr marL="0" indent="0" algn="just">
              <a:buNone/>
            </a:pPr>
            <a:r>
              <a:rPr lang="en-US"/>
              <a:t>𝑥is the number of hours studied,</a:t>
            </a:r>
          </a:p>
          <a:p>
            <a:pPr marL="0" indent="0" algn="just">
              <a:buNone/>
            </a:pPr>
            <a:r>
              <a:rPr lang="en-US"/>
              <a:t>The slope  𝑚 = 5</a:t>
            </a:r>
          </a:p>
          <a:p>
            <a:pPr marL="0" indent="0" algn="just">
              <a:buNone/>
            </a:pPr>
            <a:r>
              <a:rPr lang="en-US"/>
              <a:t>m=5 indicates that for each additional hour of studying, the exam score is expected to increase by 5 points.</a:t>
            </a:r>
          </a:p>
          <a:p>
            <a:pPr marL="0" indent="0" algn="just">
              <a:buNone/>
            </a:pPr>
            <a:r>
              <a:rPr lang="en-US"/>
              <a:t>The intercept 𝑏= 50</a:t>
            </a:r>
          </a:p>
          <a:p>
            <a:pPr marL="0" indent="0" algn="just">
              <a:buNone/>
            </a:pPr>
            <a:r>
              <a:rPr lang="en-US"/>
              <a:t>b=50 suggests that if a student studies 0 hours, the predicted exam score would be 50 points.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gn="just">
              <a:buNone/>
            </a:pPr>
            <a:r>
              <a:rPr lang="en-US" b="1"/>
              <a:t>Example calculation using the slope:</a:t>
            </a:r>
            <a:endParaRPr lang="en-US"/>
          </a:p>
          <a:p>
            <a:pPr marL="0" indent="0" algn="just">
              <a:buNone/>
            </a:pPr>
            <a:endParaRPr lang="en-US"/>
          </a:p>
          <a:p>
            <a:pPr marL="0" indent="0" algn="just">
              <a:buNone/>
            </a:pPr>
            <a:r>
              <a:rPr lang="en-US"/>
              <a:t>If a student studies 4 hours (𝑥= 4 ),</a:t>
            </a:r>
          </a:p>
          <a:p>
            <a:pPr marL="0" indent="0" algn="just">
              <a:buNone/>
            </a:pPr>
            <a:r>
              <a:rPr lang="en-US"/>
              <a:t>the predicted score is: y=5(4)+50=20+50=70</a:t>
            </a:r>
          </a:p>
          <a:p>
            <a:pPr marL="0" indent="0" algn="just">
              <a:buNone/>
            </a:pPr>
            <a:endParaRPr lang="en-US"/>
          </a:p>
          <a:p>
            <a:pPr marL="0" indent="0" algn="just">
              <a:buNone/>
            </a:pPr>
            <a:r>
              <a:rPr lang="en-US"/>
              <a:t>Thus, according to this regression model, studying for an extra hour would raise a student’s expected exam score by 5 points.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Multiple 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This involves multiple independent variables and a single dependent variable. The equation for simple linear regression is: </a:t>
                </a:r>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
                      <m:r>
                        <a:rPr lang="en-US" sz="1800" b="1" i="1" smtClean="0">
                          <a:solidFill>
                            <a:schemeClr val="tx1"/>
                          </a:solidFill>
                          <a:latin typeface="Cambria Math" panose="02040503050406030204"/>
                          <a:cs typeface="Times New Roman" panose="02020603050405020304" pitchFamily="18" charset="0"/>
                        </a:rPr>
                        <m:t>𝒚</m:t>
                      </m:r>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𝟎</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𝟏</m:t>
                          </m:r>
                        </m:sub>
                      </m:sSub>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𝟑</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𝟑</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𝒏</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𝒏</m:t>
                          </m:r>
                        </m:sub>
                      </m:sSub>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where</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y is the dependent variable</a:t>
                </a: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𝟐</m:t>
                        </m:r>
                      </m:sub>
                    </m:sSub>
                    <m:r>
                      <a:rPr lang="en-US" sz="1800" b="1" i="1" smtClean="0">
                        <a:solidFill>
                          <a:schemeClr val="tx1"/>
                        </a:solidFill>
                        <a:latin typeface="Cambria Math" panose="02040503050406030204"/>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𝒏</m:t>
                        </m:r>
                      </m:sub>
                    </m:sSub>
                    <m:r>
                      <a:rPr lang="en-US" sz="1800" b="1" i="1" smtClean="0">
                        <a:solidFill>
                          <a:schemeClr val="tx1"/>
                        </a:solidFill>
                        <a:latin typeface="Cambria Math" panose="02040503050406030204"/>
                        <a:cs typeface="Times New Roman" panose="02020603050405020304" pitchFamily="18" charset="0"/>
                      </a:rPr>
                      <m:t> </m:t>
                    </m:r>
                  </m:oMath>
                </a14:m>
                <a:r>
                  <a:rPr lang="en-US" sz="1800" dirty="0">
                    <a:solidFill>
                      <a:schemeClr val="tx1"/>
                    </a:solidFill>
                    <a:latin typeface="Times New Roman" panose="02020603050405020304" pitchFamily="18" charset="0"/>
                    <a:cs typeface="Times New Roman" panose="02020603050405020304" pitchFamily="18" charset="0"/>
                  </a:rPr>
                  <a:t>are the independent variables</a:t>
                </a: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𝟎</m:t>
                        </m:r>
                      </m:sub>
                    </m:sSub>
                  </m:oMath>
                </a14:m>
                <a:r>
                  <a:rPr lang="en-US" sz="1800" dirty="0">
                    <a:solidFill>
                      <a:schemeClr val="tx1"/>
                    </a:solidFill>
                    <a:latin typeface="Times New Roman" panose="02020603050405020304" pitchFamily="18" charset="0"/>
                    <a:cs typeface="Times New Roman" panose="02020603050405020304" pitchFamily="18" charset="0"/>
                  </a:rPr>
                  <a:t> is the intercept</a:t>
                </a:r>
              </a:p>
              <a:p>
                <a:pPr marL="285750" indent="-285750" algn="just">
                  <a:buFont typeface="Wingdings" panose="05000000000000000000" pitchFamily="2" charset="2"/>
                  <a:buChar char="§"/>
                </a:pPr>
                <a14:m>
                  <m:oMath xmlns:m="http://schemas.openxmlformats.org/officeDocument/2006/math">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 …,</m:t>
                    </m:r>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𝒏</m:t>
                        </m:r>
                      </m:sub>
                    </m:sSub>
                    <m:r>
                      <a:rPr lang="en-US" sz="1800" b="1" i="1" smtClean="0">
                        <a:solidFill>
                          <a:schemeClr val="tx1"/>
                        </a:solidFill>
                        <a:latin typeface="Cambria Math" panose="02040503050406030204"/>
                        <a:cs typeface="Times New Roman" panose="02020603050405020304" pitchFamily="18" charset="0"/>
                      </a:rPr>
                      <m:t> </m:t>
                    </m:r>
                  </m:oMath>
                </a14:m>
                <a:r>
                  <a:rPr lang="en-US" sz="1800" dirty="0">
                    <a:solidFill>
                      <a:schemeClr val="tx1"/>
                    </a:solidFill>
                    <a:latin typeface="Times New Roman" panose="02020603050405020304" pitchFamily="18" charset="0"/>
                    <a:cs typeface="Times New Roman" panose="02020603050405020304" pitchFamily="18" charset="0"/>
                  </a:rPr>
                  <a:t> are the slopes</a:t>
                </a: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343400"/>
              </a:xfrm>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p:txBody>
          <a:bodyPr>
            <a:normAutofit fontScale="75000" lnSpcReduction="20000"/>
          </a:bodyPr>
          <a:lstStyle/>
          <a:p>
            <a:pPr marL="0" indent="0">
              <a:buNone/>
            </a:pPr>
            <a:r>
              <a:rPr lang="en-US"/>
              <a:t>Scenario</a:t>
            </a:r>
          </a:p>
          <a:p>
            <a:pPr marL="0" indent="0">
              <a:buNone/>
            </a:pPr>
            <a:r>
              <a:rPr lang="en-US"/>
              <a:t>Imagine we want to predict a person’s monthly salary (y) based on their years of education (x1) and years of work experience (x2). The multiple regression model would look like this:</a:t>
            </a:r>
          </a:p>
          <a:p>
            <a:pPr marL="0" indent="0">
              <a:buNone/>
            </a:pPr>
            <a:r>
              <a:rPr lang="en-US"/>
              <a:t>y=b0+b1x1+b2x2</a:t>
            </a:r>
          </a:p>
          <a:p>
            <a:pPr marL="0" indent="0">
              <a:buNone/>
            </a:pPr>
            <a:r>
              <a:rPr lang="en-US"/>
              <a:t>Where:</a:t>
            </a:r>
          </a:p>
          <a:p>
            <a:pPr marL="0" indent="0">
              <a:buNone/>
            </a:pPr>
            <a:r>
              <a:rPr lang="en-US"/>
              <a:t>Y is the monthly salary (dependent variable),</a:t>
            </a:r>
          </a:p>
          <a:p>
            <a:pPr marL="0" indent="0">
              <a:buNone/>
            </a:pPr>
            <a:r>
              <a:rPr lang="en-US"/>
              <a:t>X</a:t>
            </a:r>
            <a:r>
              <a:rPr lang="en-US" baseline="-25000"/>
              <a:t>1​</a:t>
            </a:r>
            <a:r>
              <a:rPr lang="en-US"/>
              <a:t> is the number of years of education,</a:t>
            </a:r>
          </a:p>
          <a:p>
            <a:pPr marL="0" indent="0">
              <a:buNone/>
            </a:pPr>
            <a:r>
              <a:rPr lang="en-US"/>
              <a:t>x</a:t>
            </a:r>
            <a:r>
              <a:rPr lang="en-US" baseline="-25000"/>
              <a:t>2</a:t>
            </a:r>
            <a:r>
              <a:rPr lang="en-US"/>
              <a:t> is the number of years of work experience,</a:t>
            </a:r>
          </a:p>
          <a:p>
            <a:pPr marL="0" indent="0">
              <a:buNone/>
            </a:pPr>
            <a:r>
              <a:rPr lang="en-US"/>
              <a:t>b</a:t>
            </a:r>
            <a:r>
              <a:rPr lang="en-US" baseline="-25000"/>
              <a:t>0</a:t>
            </a:r>
            <a:r>
              <a:rPr lang="en-US"/>
              <a:t> is the intercept (baseline salary if x1 and x2 are zero),</a:t>
            </a:r>
          </a:p>
          <a:p>
            <a:pPr marL="0" indent="0">
              <a:buNone/>
            </a:pPr>
            <a:r>
              <a:rPr lang="en-US"/>
              <a:t>b</a:t>
            </a:r>
            <a:r>
              <a:rPr lang="en-US" baseline="-25000"/>
              <a:t>1​</a:t>
            </a:r>
            <a:r>
              <a:rPr lang="en-US"/>
              <a:t> and b</a:t>
            </a:r>
            <a:r>
              <a:rPr lang="en-US" baseline="-25000"/>
              <a:t>2</a:t>
            </a:r>
            <a:r>
              <a:rPr lang="en-US"/>
              <a:t> are the coefficients showing how much salary changes with each additional year of education and experience, respectively.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EXample</a:t>
            </a:r>
            <a:endParaRPr lang="en-US"/>
          </a:p>
        </p:txBody>
      </p:sp>
      <p:sp>
        <p:nvSpPr>
          <p:cNvPr id="3" name="Content Placeholder 2"/>
          <p:cNvSpPr>
            <a:spLocks noGrp="1"/>
          </p:cNvSpPr>
          <p:nvPr>
            <p:ph idx="1"/>
          </p:nvPr>
        </p:nvSpPr>
        <p:spPr/>
        <p:txBody>
          <a:bodyPr>
            <a:normAutofit fontScale="85000" lnSpcReduction="10000"/>
          </a:bodyPr>
          <a:lstStyle/>
          <a:p>
            <a:pPr marL="0" indent="0" algn="just">
              <a:buNone/>
            </a:pPr>
            <a:r>
              <a:rPr lang="en-US"/>
              <a:t>Example Model Output</a:t>
            </a:r>
          </a:p>
          <a:p>
            <a:pPr marL="0" indent="0" algn="just">
              <a:buNone/>
            </a:pPr>
            <a:r>
              <a:rPr lang="en-US"/>
              <a:t>Let’s say we use data to fit this model, and the result is:</a:t>
            </a:r>
          </a:p>
          <a:p>
            <a:pPr marL="0" indent="0" algn="just">
              <a:buNone/>
            </a:pPr>
            <a:r>
              <a:rPr lang="en-US"/>
              <a:t>y=2000+1500x</a:t>
            </a:r>
            <a:r>
              <a:rPr lang="en-US" baseline="-25000"/>
              <a:t>1</a:t>
            </a:r>
            <a:r>
              <a:rPr lang="en-US"/>
              <a:t>+800x</a:t>
            </a:r>
            <a:r>
              <a:rPr lang="en-US" baseline="-25000"/>
              <a:t>2</a:t>
            </a:r>
            <a:endParaRPr lang="en-US"/>
          </a:p>
          <a:p>
            <a:pPr marL="0" indent="0" algn="just">
              <a:buNone/>
            </a:pPr>
            <a:r>
              <a:rPr lang="en-US"/>
              <a:t>Interpretation:</a:t>
            </a:r>
          </a:p>
          <a:p>
            <a:pPr marL="0" indent="0" algn="just">
              <a:buNone/>
            </a:pPr>
            <a:r>
              <a:rPr lang="en-US"/>
              <a:t>Intercept (2000): A baseline salary of $2,000 for someone with zero years of education and experience.</a:t>
            </a:r>
          </a:p>
          <a:p>
            <a:pPr marL="0" indent="0" algn="just">
              <a:buNone/>
            </a:pPr>
            <a:r>
              <a:rPr lang="en-US"/>
              <a:t>Coefficient for x</a:t>
            </a:r>
            <a:r>
              <a:rPr lang="en-US" baseline="-25000"/>
              <a:t>1</a:t>
            </a:r>
            <a:r>
              <a:rPr lang="en-US"/>
              <a:t> (1500): Each additional year of education increases the predicted salary by $1,500.</a:t>
            </a:r>
          </a:p>
          <a:p>
            <a:pPr marL="0" indent="0" algn="just">
              <a:buNone/>
            </a:pPr>
            <a:r>
              <a:rPr lang="en-US"/>
              <a:t>Coefficient for x</a:t>
            </a:r>
            <a:r>
              <a:rPr lang="en-US" baseline="-25000"/>
              <a:t>2</a:t>
            </a:r>
            <a:r>
              <a:rPr lang="en-US"/>
              <a:t> (800): Each additional year of work experience increases the predicted salary by $800.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EXample</a:t>
            </a:r>
            <a:endParaRPr lang="en-US"/>
          </a:p>
        </p:txBody>
      </p:sp>
      <p:sp>
        <p:nvSpPr>
          <p:cNvPr id="3" name="Content Placeholder 2"/>
          <p:cNvSpPr>
            <a:spLocks noGrp="1"/>
          </p:cNvSpPr>
          <p:nvPr>
            <p:ph idx="1"/>
          </p:nvPr>
        </p:nvSpPr>
        <p:spPr/>
        <p:txBody>
          <a:bodyPr/>
          <a:lstStyle/>
          <a:p>
            <a:pPr marL="0" indent="0" algn="just">
              <a:buNone/>
            </a:pPr>
            <a:r>
              <a:rPr lang="en-US"/>
              <a:t>Using the Model</a:t>
            </a:r>
          </a:p>
          <a:p>
            <a:pPr marL="0" indent="0" algn="just">
              <a:buNone/>
            </a:pPr>
            <a:r>
              <a:rPr lang="en-US"/>
              <a:t>If a person has 16 years of education and 5 years of work experience, we can predict their salary as follows:</a:t>
            </a:r>
          </a:p>
          <a:p>
            <a:pPr marL="0" indent="0" algn="just">
              <a:buNone/>
            </a:pPr>
            <a:r>
              <a:rPr lang="en-US"/>
              <a:t>y=2000+1500(16)+800(5)=2000+24000+4000=30,000</a:t>
            </a:r>
          </a:p>
          <a:p>
            <a:pPr marL="0" indent="0" algn="just">
              <a:buNone/>
            </a:pPr>
            <a:r>
              <a:rPr lang="en-US"/>
              <a:t>So, based on this model, their predicted monthly salary would be $30,000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The objective of the algorithm is to determine the </a:t>
            </a:r>
            <a:r>
              <a:rPr lang="en-US" sz="1800" b="1" dirty="0">
                <a:solidFill>
                  <a:schemeClr val="tx1"/>
                </a:solidFill>
                <a:latin typeface="Times New Roman" panose="02020603050405020304" pitchFamily="18" charset="0"/>
                <a:cs typeface="Times New Roman" panose="02020603050405020304" pitchFamily="18" charset="0"/>
              </a:rPr>
              <a:t>best-fit line equation </a:t>
            </a:r>
            <a:r>
              <a:rPr lang="en-US" sz="1800" dirty="0">
                <a:solidFill>
                  <a:schemeClr val="tx1"/>
                </a:solidFill>
                <a:latin typeface="Times New Roman" panose="02020603050405020304" pitchFamily="18" charset="0"/>
                <a:cs typeface="Times New Roman" panose="02020603050405020304" pitchFamily="18" charset="0"/>
              </a:rPr>
              <a:t>that can predict values based on the independent variables.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 regression, a dataset with </a:t>
            </a:r>
            <a:r>
              <a:rPr lang="en-US" sz="1800" b="1" dirty="0">
                <a:solidFill>
                  <a:schemeClr val="tx1"/>
                </a:solidFill>
                <a:latin typeface="Times New Roman" panose="02020603050405020304" pitchFamily="18" charset="0"/>
                <a:cs typeface="Times New Roman" panose="02020603050405020304" pitchFamily="18" charset="0"/>
              </a:rPr>
              <a:t>X</a:t>
            </a:r>
            <a:r>
              <a:rPr lang="en-US" sz="1800" dirty="0">
                <a:solidFill>
                  <a:schemeClr val="tx1"/>
                </a:solidFill>
                <a:latin typeface="Times New Roman" panose="02020603050405020304" pitchFamily="18" charset="0"/>
                <a:cs typeface="Times New Roman" panose="02020603050405020304" pitchFamily="18" charset="0"/>
              </a:rPr>
              <a:t> and </a:t>
            </a:r>
            <a:r>
              <a:rPr lang="en-US" sz="1800" b="1" dirty="0">
                <a:solidFill>
                  <a:schemeClr val="tx1"/>
                </a:solidFill>
                <a:latin typeface="Times New Roman" panose="02020603050405020304" pitchFamily="18" charset="0"/>
                <a:cs typeface="Times New Roman" panose="02020603050405020304" pitchFamily="18" charset="0"/>
              </a:rPr>
              <a:t>Y</a:t>
            </a:r>
            <a:r>
              <a:rPr lang="en-US" sz="1800" dirty="0">
                <a:solidFill>
                  <a:schemeClr val="tx1"/>
                </a:solidFill>
                <a:latin typeface="Times New Roman" panose="02020603050405020304" pitchFamily="18" charset="0"/>
                <a:cs typeface="Times New Roman" panose="02020603050405020304" pitchFamily="18" charset="0"/>
              </a:rPr>
              <a:t> values is provided, and these values are used to </a:t>
            </a:r>
            <a:r>
              <a:rPr lang="en-US" sz="1800" b="1" dirty="0">
                <a:solidFill>
                  <a:schemeClr val="tx1"/>
                </a:solidFill>
                <a:latin typeface="Times New Roman" panose="02020603050405020304" pitchFamily="18" charset="0"/>
                <a:cs typeface="Times New Roman" panose="02020603050405020304" pitchFamily="18" charset="0"/>
              </a:rPr>
              <a:t>train</a:t>
            </a:r>
            <a:r>
              <a:rPr lang="en-US" sz="1800" dirty="0">
                <a:solidFill>
                  <a:schemeClr val="tx1"/>
                </a:solidFill>
                <a:latin typeface="Times New Roman" panose="02020603050405020304" pitchFamily="18" charset="0"/>
                <a:cs typeface="Times New Roman" panose="02020603050405020304" pitchFamily="18" charset="0"/>
              </a:rPr>
              <a:t> a function. Once trained, this function can be applied to predict </a:t>
            </a:r>
            <a:r>
              <a:rPr lang="en-US" sz="1800" b="1" dirty="0">
                <a:solidFill>
                  <a:schemeClr val="tx1"/>
                </a:solidFill>
                <a:latin typeface="Times New Roman" panose="02020603050405020304" pitchFamily="18" charset="0"/>
                <a:cs typeface="Times New Roman" panose="02020603050405020304" pitchFamily="18" charset="0"/>
              </a:rPr>
              <a:t>Y</a:t>
            </a:r>
            <a:r>
              <a:rPr lang="en-US" sz="1800" dirty="0">
                <a:solidFill>
                  <a:schemeClr val="tx1"/>
                </a:solidFill>
                <a:latin typeface="Times New Roman" panose="02020603050405020304" pitchFamily="18" charset="0"/>
                <a:cs typeface="Times New Roman" panose="02020603050405020304" pitchFamily="18" charset="0"/>
              </a:rPr>
              <a:t> for an </a:t>
            </a:r>
            <a:r>
              <a:rPr lang="en-US" sz="1800" b="1" dirty="0">
                <a:solidFill>
                  <a:schemeClr val="tx1"/>
                </a:solidFill>
                <a:latin typeface="Times New Roman" panose="02020603050405020304" pitchFamily="18" charset="0"/>
                <a:cs typeface="Times New Roman" panose="02020603050405020304" pitchFamily="18" charset="0"/>
              </a:rPr>
              <a:t>unknown X</a:t>
            </a:r>
            <a:r>
              <a:rPr lang="en-US" sz="1800" dirty="0">
                <a:solidFill>
                  <a:schemeClr val="tx1"/>
                </a:solidFill>
                <a:latin typeface="Times New Roman" panose="02020603050405020304" pitchFamily="18" charset="0"/>
                <a:cs typeface="Times New Roman" panose="02020603050405020304" pitchFamily="18" charset="0"/>
              </a:rPr>
              <a:t>.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 regression, the goal is to estimate the value of </a:t>
            </a:r>
            <a:r>
              <a:rPr lang="en-US" sz="1800" b="1" dirty="0">
                <a:solidFill>
                  <a:schemeClr val="tx1"/>
                </a:solidFill>
                <a:latin typeface="Times New Roman" panose="02020603050405020304" pitchFamily="18" charset="0"/>
                <a:cs typeface="Times New Roman" panose="02020603050405020304" pitchFamily="18" charset="0"/>
              </a:rPr>
              <a:t>Y</a:t>
            </a:r>
            <a:r>
              <a:rPr lang="en-US" sz="1800" dirty="0">
                <a:solidFill>
                  <a:schemeClr val="tx1"/>
                </a:solidFill>
                <a:latin typeface="Times New Roman" panose="02020603050405020304" pitchFamily="18" charset="0"/>
                <a:cs typeface="Times New Roman" panose="02020603050405020304" pitchFamily="18" charset="0"/>
              </a:rPr>
              <a:t>, meaning a function is needed that predicts the continuous </a:t>
            </a:r>
            <a:r>
              <a:rPr lang="en-US" sz="1800" b="1" dirty="0">
                <a:solidFill>
                  <a:schemeClr val="tx1"/>
                </a:solidFill>
                <a:latin typeface="Times New Roman" panose="02020603050405020304" pitchFamily="18" charset="0"/>
                <a:cs typeface="Times New Roman" panose="02020603050405020304" pitchFamily="18" charset="0"/>
              </a:rPr>
              <a:t>Y</a:t>
            </a:r>
            <a:r>
              <a:rPr lang="en-US" sz="1800" dirty="0">
                <a:solidFill>
                  <a:schemeClr val="tx1"/>
                </a:solidFill>
                <a:latin typeface="Times New Roman" panose="02020603050405020304" pitchFamily="18" charset="0"/>
                <a:cs typeface="Times New Roman" panose="02020603050405020304" pitchFamily="18" charset="0"/>
              </a:rPr>
              <a:t> value given </a:t>
            </a:r>
            <a:r>
              <a:rPr lang="en-US" sz="1800" b="1" dirty="0">
                <a:solidFill>
                  <a:schemeClr val="tx1"/>
                </a:solidFill>
                <a:latin typeface="Times New Roman" panose="02020603050405020304" pitchFamily="18" charset="0"/>
                <a:cs typeface="Times New Roman" panose="02020603050405020304" pitchFamily="18" charset="0"/>
              </a:rPr>
              <a:t>X</a:t>
            </a:r>
            <a:r>
              <a:rPr lang="en-US" sz="1800" dirty="0">
                <a:solidFill>
                  <a:schemeClr val="tx1"/>
                </a:solidFill>
                <a:latin typeface="Times New Roman" panose="02020603050405020304" pitchFamily="18" charset="0"/>
                <a:cs typeface="Times New Roman" panose="02020603050405020304" pitchFamily="18" charset="0"/>
              </a:rPr>
              <a:t> as the independent variable(s).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W</a:t>
            </a:r>
            <a:r>
              <a:rPr lang="en-US" sz="1800" b="1" dirty="0">
                <a:solidFill>
                  <a:schemeClr val="tx1"/>
                </a:solidFill>
                <a:latin typeface="Times New Roman" panose="02020603050405020304" pitchFamily="18" charset="0"/>
                <a:cs typeface="Times New Roman" panose="02020603050405020304" pitchFamily="18" charset="0"/>
              </a:rPr>
              <a:t>hat is the best Fit Line?</a:t>
            </a:r>
          </a:p>
          <a:p>
            <a:pPr algn="just"/>
            <a:r>
              <a:rPr lang="en-US" sz="1800" dirty="0">
                <a:solidFill>
                  <a:schemeClr val="tx1"/>
                </a:solidFill>
                <a:latin typeface="Times New Roman" panose="02020603050405020304" pitchFamily="18" charset="0"/>
                <a:cs typeface="Times New Roman" panose="02020603050405020304" pitchFamily="18" charset="0"/>
              </a:rPr>
              <a:t>The main goal of using linear regression is to find the best-fit line, which </a:t>
            </a:r>
            <a:r>
              <a:rPr lang="en-US" sz="1800" b="1" dirty="0">
                <a:solidFill>
                  <a:schemeClr val="tx1"/>
                </a:solidFill>
                <a:latin typeface="Times New Roman" panose="02020603050405020304" pitchFamily="18" charset="0"/>
                <a:cs typeface="Times New Roman" panose="02020603050405020304" pitchFamily="18" charset="0"/>
              </a:rPr>
              <a:t>minimizes the error </a:t>
            </a:r>
            <a:r>
              <a:rPr lang="en-US" sz="1800" dirty="0">
                <a:solidFill>
                  <a:schemeClr val="tx1"/>
                </a:solidFill>
                <a:latin typeface="Times New Roman" panose="02020603050405020304" pitchFamily="18" charset="0"/>
                <a:cs typeface="Times New Roman" panose="02020603050405020304" pitchFamily="18" charset="0"/>
              </a:rPr>
              <a:t>between the predicted and actual values. The best-fit line will have the least amount of error. </a:t>
            </a:r>
          </a:p>
          <a:p>
            <a:pPr algn="just"/>
            <a:r>
              <a:rPr lang="en-US" sz="1800" dirty="0">
                <a:solidFill>
                  <a:schemeClr val="tx1"/>
                </a:solidFill>
                <a:latin typeface="Times New Roman" panose="02020603050405020304" pitchFamily="18" charset="0"/>
                <a:cs typeface="Times New Roman" panose="02020603050405020304" pitchFamily="18" charset="0"/>
              </a:rPr>
              <a:t>The equation of the best-fit line represents the relationship between the dependent and independent variables, with the slope indicating how much the dependent variable changes in response to a unit change in the independent variable(s).</a:t>
            </a:r>
          </a:p>
        </p:txBody>
      </p:sp>
      <p:pic>
        <p:nvPicPr>
          <p:cNvPr id="4098" name="Picture 2" descr="Linear Regression in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429000"/>
            <a:ext cx="4982774" cy="31242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590800" y="6399311"/>
            <a:ext cx="4572000" cy="307777"/>
          </a:xfrm>
          <a:prstGeom prst="rect">
            <a:avLst/>
          </a:prstGeom>
        </p:spPr>
        <p:txBody>
          <a:bodyPr>
            <a:spAutoFit/>
          </a:bodyPr>
          <a:lstStyle/>
          <a:p>
            <a:r>
              <a:rPr lang="en-US" sz="1400" dirty="0">
                <a:solidFill>
                  <a:schemeClr val="bg1">
                    <a:lumMod val="75000"/>
                  </a:schemeClr>
                </a:solidFill>
              </a:rPr>
              <a:t>https://www.geeksforgeeks.org/ml-linear-regression/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Error and Cost Function</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Let </a:t>
                </a:r>
                <a14:m>
                  <m:oMath xmlns:m="http://schemas.openxmlformats.org/officeDocument/2006/math">
                    <m:acc>
                      <m:accPr>
                        <m:chr m:val="̂"/>
                        <m:ctrlPr>
                          <a:rPr lang="en-US" sz="1800" b="1" i="1" smtClean="0">
                            <a:solidFill>
                              <a:schemeClr val="tx1"/>
                            </a:solidFill>
                            <a:latin typeface="Cambria Math" panose="02040503050406030204" pitchFamily="18" charset="0"/>
                            <a:cs typeface="Times New Roman" panose="02020603050405020304" pitchFamily="18" charset="0"/>
                          </a:rPr>
                        </m:ctrlPr>
                      </m:accPr>
                      <m:e>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𝒚</m:t>
                            </m:r>
                          </m:e>
                          <m:sub>
                            <m:r>
                              <a:rPr lang="en-US" sz="1800" b="1" i="1" smtClean="0">
                                <a:solidFill>
                                  <a:schemeClr val="tx1"/>
                                </a:solidFill>
                                <a:latin typeface="Cambria Math" panose="02040503050406030204"/>
                                <a:cs typeface="Times New Roman" panose="02020603050405020304" pitchFamily="18" charset="0"/>
                              </a:rPr>
                              <m:t>𝒊</m:t>
                            </m:r>
                          </m:sub>
                        </m:sSub>
                      </m:e>
                    </m:acc>
                    <m:r>
                      <a:rPr lang="en-US" sz="1800" b="1" i="1" smtClean="0">
                        <a:solidFill>
                          <a:schemeClr val="tx1"/>
                        </a:solidFill>
                        <a:latin typeface="Cambria Math" panose="02040503050406030204"/>
                        <a:cs typeface="Times New Roman" panose="02020603050405020304" pitchFamily="18" charset="0"/>
                      </a:rPr>
                      <m:t>=</m:t>
                    </m:r>
                    <m:sSub>
                      <m:sSubPr>
                        <m:ctrlPr>
                          <a:rPr lang="en-US" sz="1800" b="1" i="1" smtClean="0">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m:t>
                    </m:r>
                    <m:sSub>
                      <m:sSubPr>
                        <m:ctrlPr>
                          <a:rPr lang="en-US" sz="1800" b="1" i="1" smtClean="0">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cs typeface="Times New Roman" panose="02020603050405020304" pitchFamily="18" charset="0"/>
                          </a:rPr>
                          <m:t>𝟐</m:t>
                        </m:r>
                      </m:sub>
                    </m:sSub>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𝒊</m:t>
                        </m:r>
                      </m:sub>
                    </m:sSub>
                  </m:oMath>
                </a14:m>
                <a:r>
                  <a:rPr lang="en-US" sz="1800" b="1"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be the prediction for input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And </a:t>
                </a:r>
                <a14:m>
                  <m:oMath xmlns:m="http://schemas.openxmlformats.org/officeDocument/2006/math">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𝒚</m:t>
                        </m:r>
                      </m:e>
                      <m:sub>
                        <m:r>
                          <a:rPr lang="en-US" sz="1800" b="1" i="1" smtClean="0">
                            <a:solidFill>
                              <a:schemeClr val="tx1"/>
                            </a:solidFill>
                            <a:latin typeface="Cambria Math" panose="02040503050406030204"/>
                            <a:cs typeface="Times New Roman" panose="02020603050405020304" pitchFamily="18" charset="0"/>
                          </a:rPr>
                          <m:t>𝒊</m:t>
                        </m:r>
                      </m:sub>
                    </m:sSub>
                    <m:r>
                      <a:rPr lang="en-US" sz="1800" b="0" i="1" smtClean="0">
                        <a:solidFill>
                          <a:schemeClr val="tx1"/>
                        </a:solidFill>
                        <a:latin typeface="Cambria Math" panose="02040503050406030204"/>
                        <a:cs typeface="Times New Roman" panose="02020603050405020304" pitchFamily="18" charset="0"/>
                      </a:rPr>
                      <m:t> </m:t>
                    </m:r>
                  </m:oMath>
                </a14:m>
                <a:r>
                  <a:rPr lang="en-US" sz="1800" dirty="0">
                    <a:solidFill>
                      <a:schemeClr val="tx1"/>
                    </a:solidFill>
                    <a:latin typeface="Times New Roman" panose="02020603050405020304" pitchFamily="18" charset="0"/>
                    <a:cs typeface="Times New Roman" panose="02020603050405020304" pitchFamily="18" charset="0"/>
                  </a:rPr>
                  <a:t>be the correct value for input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So, the error would be </a:t>
                </a:r>
                <a14:m>
                  <m:oMath xmlns:m="http://schemas.openxmlformats.org/officeDocument/2006/math">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smtClean="0">
                        <a:solidFill>
                          <a:schemeClr val="tx1"/>
                        </a:solidFill>
                        <a:latin typeface="Cambria Math" panose="02040503050406030204"/>
                        <a:cs typeface="Times New Roman" panose="02020603050405020304" pitchFamily="18" charset="0"/>
                      </a:rPr>
                      <m:t>−</m:t>
                    </m:r>
                  </m:oMath>
                </a14:m>
                <a:r>
                  <a:rPr lang="en-US" sz="1800" b="1" dirty="0">
                    <a:solidFill>
                      <a:schemeClr val="tx1"/>
                    </a:solidFill>
                    <a:cs typeface="Times New Roman" panose="02020603050405020304" pitchFamily="18" charset="0"/>
                  </a:rPr>
                  <a:t>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oMath>
                </a14:m>
                <a:r>
                  <a:rPr lang="en-US" sz="1800" dirty="0">
                    <a:solidFill>
                      <a:schemeClr val="tx1"/>
                    </a:solidFill>
                    <a:latin typeface="Times New Roman" panose="02020603050405020304" pitchFamily="18" charset="0"/>
                    <a:cs typeface="Times New Roman" panose="02020603050405020304" pitchFamily="18" charset="0"/>
                  </a:rPr>
                  <a:t>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The objective the best line would be to minimize the Mean Squared Error (MSE) cost function,</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sz="1800" b="1" i="0" smtClean="0">
                        <a:solidFill>
                          <a:schemeClr val="tx1"/>
                        </a:solidFill>
                        <a:latin typeface="Cambria Math" panose="02040503050406030204"/>
                        <a:cs typeface="Times New Roman" panose="02020603050405020304" pitchFamily="18" charset="0"/>
                      </a:rPr>
                      <m:t>𝐉</m:t>
                    </m:r>
                    <m:r>
                      <a:rPr lang="en-US" sz="1800" b="0" i="0" smtClean="0">
                        <a:solidFill>
                          <a:schemeClr val="tx1"/>
                        </a:solidFill>
                        <a:latin typeface="Cambria Math" panose="02040503050406030204"/>
                        <a:cs typeface="Times New Roman" panose="02020603050405020304" pitchFamily="18" charset="0"/>
                      </a:rPr>
                      <m:t>=</m:t>
                    </m:r>
                    <m:f>
                      <m:fPr>
                        <m:ctrlPr>
                          <a:rPr lang="en-US" sz="1800" b="1" i="1" smtClean="0">
                            <a:solidFill>
                              <a:schemeClr val="tx1"/>
                            </a:solidFill>
                            <a:latin typeface="Cambria Math" panose="02040503050406030204"/>
                            <a:cs typeface="Times New Roman" panose="02020603050405020304" pitchFamily="18" charset="0"/>
                          </a:rPr>
                        </m:ctrlPr>
                      </m:fPr>
                      <m:num>
                        <m:r>
                          <a:rPr lang="en-US" sz="1800" b="1" i="1" smtClean="0">
                            <a:solidFill>
                              <a:schemeClr val="tx1"/>
                            </a:solidFill>
                            <a:latin typeface="Cambria Math" panose="02040503050406030204"/>
                            <a:cs typeface="Times New Roman" panose="02020603050405020304" pitchFamily="18" charset="0"/>
                          </a:rPr>
                          <m:t>𝟏</m:t>
                        </m:r>
                      </m:num>
                      <m:den>
                        <m:r>
                          <a:rPr lang="en-US" sz="1800" b="1" i="1" smtClean="0">
                            <a:solidFill>
                              <a:schemeClr val="tx1"/>
                            </a:solidFill>
                            <a:latin typeface="Cambria Math" panose="02040503050406030204"/>
                            <a:cs typeface="Times New Roman" panose="02020603050405020304" pitchFamily="18" charset="0"/>
                          </a:rPr>
                          <m:t>𝒏</m:t>
                        </m:r>
                      </m:den>
                    </m:f>
                    <m:nary>
                      <m:naryPr>
                        <m:chr m:val="∑"/>
                        <m:ctrlPr>
                          <a:rPr lang="en-US" sz="1800" b="1" i="1" smtClean="0">
                            <a:solidFill>
                              <a:schemeClr val="tx1"/>
                            </a:solidFill>
                            <a:latin typeface="Cambria Math" panose="02040503050406030204"/>
                            <a:cs typeface="Times New Roman" panose="02020603050405020304" pitchFamily="18" charset="0"/>
                          </a:rPr>
                        </m:ctrlPr>
                      </m:naryPr>
                      <m:sub>
                        <m:r>
                          <m:rPr>
                            <m:brk m:alnAt="23"/>
                          </m:rPr>
                          <a:rPr lang="en-US" sz="1800" b="1" i="1" smtClean="0">
                            <a:solidFill>
                              <a:schemeClr val="tx1"/>
                            </a:solidFill>
                            <a:latin typeface="Cambria Math" panose="02040503050406030204"/>
                            <a:cs typeface="Times New Roman" panose="02020603050405020304" pitchFamily="18" charset="0"/>
                          </a:rPr>
                          <m:t>𝒊</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m:t>
                        </m:r>
                      </m:sub>
                      <m:sup>
                        <m:r>
                          <a:rPr lang="en-US" sz="1800" b="1" i="1" smtClean="0">
                            <a:solidFill>
                              <a:schemeClr val="tx1"/>
                            </a:solidFill>
                            <a:latin typeface="Cambria Math" panose="02040503050406030204"/>
                            <a:cs typeface="Times New Roman" panose="02020603050405020304" pitchFamily="18" charset="0"/>
                          </a:rPr>
                          <m:t>𝒏</m:t>
                        </m:r>
                      </m:sup>
                      <m:e>
                        <m:sSup>
                          <m:sSupPr>
                            <m:ctrlPr>
                              <a:rPr lang="en-US" sz="1800" b="1" i="1" smtClean="0">
                                <a:solidFill>
                                  <a:schemeClr val="tx1"/>
                                </a:solidFill>
                                <a:latin typeface="Cambria Math" panose="02040503050406030204"/>
                                <a:cs typeface="Times New Roman" panose="02020603050405020304" pitchFamily="18" charset="0"/>
                              </a:rPr>
                            </m:ctrlPr>
                          </m:sSupPr>
                          <m:e>
                            <m:r>
                              <a:rPr lang="en-US" sz="1800" b="1" i="1" smtClean="0">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smtClean="0">
                                <a:solidFill>
                                  <a:schemeClr val="tx1"/>
                                </a:solidFill>
                                <a:latin typeface="Cambria Math" panose="02040503050406030204"/>
                                <a:cs typeface="Times New Roman" panose="02020603050405020304" pitchFamily="18" charset="0"/>
                              </a:rPr>
                              <m:t>)</m:t>
                            </m:r>
                          </m:e>
                          <m:sup>
                            <m:r>
                              <a:rPr lang="en-US" sz="1800" b="1" i="1" smtClean="0">
                                <a:solidFill>
                                  <a:schemeClr val="tx1"/>
                                </a:solidFill>
                                <a:latin typeface="Cambria Math" panose="02040503050406030204"/>
                                <a:cs typeface="Times New Roman" panose="02020603050405020304" pitchFamily="18" charset="0"/>
                              </a:rPr>
                              <m:t>𝟐</m:t>
                            </m:r>
                          </m:sup>
                        </m:sSup>
                      </m:e>
                    </m:nary>
                  </m:oMath>
                </a14:m>
                <a:endParaRPr lang="en-US" sz="1800" b="1" dirty="0">
                  <a:solidFill>
                    <a:schemeClr val="tx1"/>
                  </a:solidFill>
                  <a:latin typeface="Times New Roman" panose="02020603050405020304" pitchFamily="18" charset="0"/>
                  <a:cs typeface="Times New Roman" panose="02020603050405020304" pitchFamily="18" charset="0"/>
                </a:endParaRPr>
              </a:p>
              <a:p>
                <a:pPr algn="just"/>
                <a:endParaRPr lang="en-US" sz="1800"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343400"/>
              </a:xfrm>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Gradient Descent for Linear Regression</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 linear regression model can be </a:t>
                </a:r>
                <a:r>
                  <a:rPr lang="en-US" sz="1800" b="1" dirty="0">
                    <a:solidFill>
                      <a:schemeClr val="tx1"/>
                    </a:solidFill>
                    <a:latin typeface="Times New Roman" panose="02020603050405020304" pitchFamily="18" charset="0"/>
                    <a:cs typeface="Times New Roman" panose="02020603050405020304" pitchFamily="18" charset="0"/>
                  </a:rPr>
                  <a:t>trained</a:t>
                </a:r>
                <a:r>
                  <a:rPr lang="en-US" sz="1800" dirty="0">
                    <a:solidFill>
                      <a:schemeClr val="tx1"/>
                    </a:solidFill>
                    <a:latin typeface="Times New Roman" panose="02020603050405020304" pitchFamily="18" charset="0"/>
                    <a:cs typeface="Times New Roman" panose="02020603050405020304" pitchFamily="18" charset="0"/>
                  </a:rPr>
                  <a:t> using the </a:t>
                </a:r>
                <a:r>
                  <a:rPr lang="en-US" sz="1800" b="1" dirty="0">
                    <a:solidFill>
                      <a:schemeClr val="tx1"/>
                    </a:solidFill>
                    <a:latin typeface="Times New Roman" panose="02020603050405020304" pitchFamily="18" charset="0"/>
                    <a:cs typeface="Times New Roman" panose="02020603050405020304" pitchFamily="18" charset="0"/>
                  </a:rPr>
                  <a:t>gradient descent </a:t>
                </a:r>
                <a:r>
                  <a:rPr lang="en-US" sz="1800" dirty="0">
                    <a:solidFill>
                      <a:schemeClr val="tx1"/>
                    </a:solidFill>
                    <a:latin typeface="Times New Roman" panose="02020603050405020304" pitchFamily="18" charset="0"/>
                    <a:cs typeface="Times New Roman" panose="02020603050405020304" pitchFamily="18" charset="0"/>
                  </a:rPr>
                  <a:t>optimization algorithm, which iteratively adjusts the model's parameters to minimize the mean squared error (MSE) on the training dataset.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To update the values of </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 and reduce the cost function (by minimizing the RMSE), the model applies Gradient Descent.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The process begins with random values for </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 and these values are progressively updated to achieve the lowest possible cost, ultimately resulting in the best-fit line.</a:t>
                </a: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343400"/>
              </a:xfrm>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fontScale="92500" lnSpcReduction="10000"/>
              </a:bodyPr>
              <a:lstStyle/>
              <a:p>
                <a:pPr algn="just"/>
                <a:r>
                  <a:rPr lang="en-US" sz="1800" b="1" dirty="0">
                    <a:solidFill>
                      <a:schemeClr val="tx1"/>
                    </a:solidFill>
                    <a:latin typeface="Times New Roman" panose="02020603050405020304" pitchFamily="18" charset="0"/>
                    <a:cs typeface="Times New Roman" panose="02020603050405020304" pitchFamily="18" charset="0"/>
                  </a:rPr>
                  <a:t>Gradient Descent for Linear Regression</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 gradient is essentially a derivative that describes how slight changes in the inputs of a function affect its outputs.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If we differentiate the cost function </a:t>
                </a:r>
                <a:r>
                  <a:rPr lang="en-US" sz="1800" b="1" dirty="0">
                    <a:solidFill>
                      <a:schemeClr val="tx1"/>
                    </a:solidFill>
                    <a:latin typeface="Times New Roman" panose="02020603050405020304" pitchFamily="18" charset="0"/>
                    <a:cs typeface="Times New Roman" panose="02020603050405020304" pitchFamily="18" charset="0"/>
                  </a:rPr>
                  <a:t>J</a:t>
                </a:r>
                <a:r>
                  <a:rPr lang="en-US" sz="1800" dirty="0">
                    <a:solidFill>
                      <a:schemeClr val="tx1"/>
                    </a:solidFill>
                    <a:latin typeface="Times New Roman" panose="02020603050405020304" pitchFamily="18" charset="0"/>
                    <a:cs typeface="Times New Roman" panose="02020603050405020304" pitchFamily="18" charset="0"/>
                  </a:rPr>
                  <a:t> with respect to ​</a:t>
                </a:r>
                <a:r>
                  <a:rPr lang="en-US" sz="1800" b="1" dirty="0">
                    <a:solidFill>
                      <a:schemeClr val="tx1"/>
                    </a:solidFill>
                    <a:cs typeface="Times New Roman" panose="02020603050405020304" pitchFamily="18" charset="0"/>
                  </a:rPr>
                  <a:t> </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 </a:t>
                </a:r>
              </a:p>
              <a:p>
                <a:pPr algn="l"/>
                <a14:m>
                  <m:oMathPara xmlns:m="http://schemas.openxmlformats.org/officeDocument/2006/math">
                    <m:oMathParaPr>
                      <m:jc m:val="left"/>
                    </m:oMathParaPr>
                    <m:oMath>
                      <m:sSub>
                        <m:sSubPr>
                          <m:ctrlPr>
                            <a:rPr lang="en-US" sz="1800" i="1">
                              <a:solidFill>
                                <a:schemeClr val="tx1"/>
                              </a:solidFill>
                              <a:latin typeface="Cambria Math" panose="02040503050406030204" pitchFamily="18" charset="0"/>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sub>
                      </m:sSub>
                      <m:r>
                        <a:rPr lang="en-US" sz="1800" b="0" i="1" smtClean="0">
                          <a:solidFill>
                            <a:schemeClr val="tx1"/>
                          </a:solidFill>
                          <a:latin typeface="Cambria Math" panose="02040503050406030204"/>
                          <a:cs typeface="Times New Roman" panose="02020603050405020304" pitchFamily="18" charset="0"/>
                        </a:rPr>
                        <m:t>=</m:t>
                      </m:r>
                      <m:f>
                        <m:fPr>
                          <m:ctrlPr>
                            <a:rPr lang="en-US" sz="1800" i="1" dirty="0">
                              <a:solidFill>
                                <a:schemeClr val="tx1"/>
                              </a:solidFill>
                              <a:latin typeface="Cambria Math" panose="02040503050406030204"/>
                              <a:ea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den>
                      </m:f>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sup>
                              <m:r>
                                <a:rPr lang="en-US" sz="1800" b="1" i="1">
                                  <a:solidFill>
                                    <a:schemeClr val="tx1"/>
                                  </a:solidFill>
                                  <a:latin typeface="Cambria Math" panose="02040503050406030204"/>
                                  <a:cs typeface="Times New Roman" panose="02020603050405020304" pitchFamily="18" charset="0"/>
                                </a:rPr>
                                <m:t>𝟐</m:t>
                              </m:r>
                            </m:sup>
                          </m:sSup>
                        </m:e>
                      </m:nary>
                    </m:oMath>
                  </m:oMathPara>
                </a14:m>
                <a:endParaRPr lang="en-US" sz="1800" b="1" i="1" dirty="0">
                  <a:solidFill>
                    <a:schemeClr val="tx1"/>
                  </a:solidFill>
                  <a:latin typeface="Cambria Math" panose="02040503050406030204"/>
                  <a:cs typeface="Times New Roman" panose="02020603050405020304" pitchFamily="18" charset="0"/>
                </a:endParaRPr>
              </a:p>
              <a:p>
                <a:pPr algn="l"/>
                <a14:m>
                  <m:oMathPara xmlns:m="http://schemas.openxmlformats.org/officeDocument/2006/math">
                    <m:oMathParaPr>
                      <m:jc m:val="left"/>
                    </m:oMathParaPr>
                    <m:o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smtClean="0">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f>
                        <m:fPr>
                          <m:ctrlPr>
                            <a:rPr lang="en-US" sz="1800" i="1" dirty="0">
                              <a:solidFill>
                                <a:schemeClr val="tx1"/>
                              </a:solidFill>
                              <a:latin typeface="Cambria Math" panose="02040503050406030204"/>
                              <a:ea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den>
                      </m:f>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US" sz="1800" i="1" smtClean="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f>
                              <m:fPr>
                                <m:ctrlPr>
                                  <a:rPr lang="en-US" sz="1800" i="1" dirty="0">
                                    <a:solidFill>
                                      <a:schemeClr val="tx1"/>
                                    </a:solidFill>
                                    <a:latin typeface="Cambria Math" panose="02040503050406030204"/>
                                    <a:ea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den>
                            </m:f>
                            <m:r>
                              <a:rPr lang="en-US" sz="1800" b="1" i="1" smtClean="0">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smtClean="0">
                            <a:solidFill>
                              <a:schemeClr val="tx1"/>
                            </a:solidFill>
                            <a:latin typeface="Cambria Math" panose="02040503050406030204"/>
                            <a:cs typeface="Times New Roman" panose="02020603050405020304" pitchFamily="18" charset="0"/>
                          </a:rPr>
                          <m:t>)</m:t>
                        </m:r>
                      </m:e>
                    </m:nary>
                  </m:oMath>
                </a14:m>
                <a:r>
                  <a:rPr lang="en-US" sz="1800" dirty="0">
                    <a:solidFill>
                      <a:schemeClr val="tx1"/>
                    </a:solidFill>
                    <a:latin typeface="Times New Roman" panose="02020603050405020304" pitchFamily="18" charset="0"/>
                    <a:cs typeface="Times New Roman" panose="02020603050405020304" pitchFamily="18" charset="0"/>
                  </a:rPr>
                  <a:t> </a:t>
                </a:r>
                <a:endParaRPr lang="en-US" sz="1800" i="1" dirty="0">
                  <a:solidFill>
                    <a:schemeClr val="tx1"/>
                  </a:solidFill>
                  <a:latin typeface="Cambria Math" panose="02040503050406030204"/>
                  <a:cs typeface="Times New Roman" panose="02020603050405020304" pitchFamily="18" charset="0"/>
                </a:endParaRPr>
              </a:p>
              <a:p>
                <a:pPr algn="just"/>
                <a14:m>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 (</m:t>
                        </m:r>
                        <m:r>
                          <a:rPr lang="en-US" sz="1800" b="1" i="1">
                            <a:solidFill>
                              <a:schemeClr val="tx1"/>
                            </a:solidFill>
                            <a:latin typeface="Cambria Math" panose="02040503050406030204"/>
                            <a:cs typeface="Times New Roman" panose="02020603050405020304" pitchFamily="18" charset="0"/>
                          </a:rPr>
                          <m:t>𝟏</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e>
                    </m:nary>
                    <m:r>
                      <a:rPr lang="en-US" sz="1800" b="1" i="1">
                        <a:solidFill>
                          <a:schemeClr val="tx1"/>
                        </a:solidFill>
                        <a:latin typeface="Cambria Math" panose="02040503050406030204"/>
                        <a:cs typeface="Times New Roman" panose="02020603050405020304" pitchFamily="18" charset="0"/>
                      </a:rPr>
                      <m:t>)</m:t>
                    </m:r>
                  </m:oMath>
                </a14:m>
                <a:r>
                  <a:rPr lang="en-US" sz="1800" dirty="0">
                    <a:solidFill>
                      <a:schemeClr val="tx1"/>
                    </a:solidFill>
                    <a:latin typeface="Times New Roman" panose="02020603050405020304" pitchFamily="18" charset="0"/>
                    <a:cs typeface="Times New Roman" panose="02020603050405020304" pitchFamily="18" charset="0"/>
                  </a:rPr>
                  <a:t> </a:t>
                </a:r>
                <a:endParaRPr lang="en-US" sz="1800"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b="-7930"/>
                </a:stretch>
              </a:blipFill>
            </p:spPr>
            <p:txBody>
              <a:bodyPr/>
              <a:lstStyle/>
              <a:p>
                <a:r>
                  <a:rPr lang="en-US"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Gradient Descent for Linear Regression</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If we differentiate the cost function </a:t>
                </a:r>
                <a:r>
                  <a:rPr lang="en-US" sz="1800" b="1" dirty="0">
                    <a:solidFill>
                      <a:schemeClr val="tx1"/>
                    </a:solidFill>
                    <a:latin typeface="Times New Roman" panose="02020603050405020304" pitchFamily="18" charset="0"/>
                    <a:cs typeface="Times New Roman" panose="02020603050405020304" pitchFamily="18" charset="0"/>
                  </a:rPr>
                  <a:t>J</a:t>
                </a:r>
                <a:r>
                  <a:rPr lang="en-US" sz="1800" dirty="0">
                    <a:solidFill>
                      <a:schemeClr val="tx1"/>
                    </a:solidFill>
                    <a:latin typeface="Times New Roman" panose="02020603050405020304" pitchFamily="18" charset="0"/>
                    <a:cs typeface="Times New Roman" panose="02020603050405020304" pitchFamily="18" charset="0"/>
                  </a:rPr>
                  <a:t> with respect to ​</a:t>
                </a:r>
                <a:r>
                  <a:rPr lang="en-US" sz="1800" b="1" dirty="0">
                    <a:solidFill>
                      <a:schemeClr val="tx1"/>
                    </a:solidFill>
                    <a:cs typeface="Times New Roman" panose="02020603050405020304" pitchFamily="18" charset="0"/>
                  </a:rPr>
                  <a:t> </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 </a:t>
                </a:r>
              </a:p>
              <a:p>
                <a:pPr algn="l"/>
                <a14:m>
                  <m:oMathPara xmlns:m="http://schemas.openxmlformats.org/officeDocument/2006/math">
                    <m:oMathParaPr>
                      <m:jc m:val="left"/>
                    </m:oMathParaPr>
                    <m:oMath>
                      <m:sSub>
                        <m:sSubPr>
                          <m:ctrlPr>
                            <a:rPr lang="en-US" sz="1800" i="1">
                              <a:solidFill>
                                <a:schemeClr val="tx1"/>
                              </a:solidFill>
                              <a:latin typeface="Cambria Math" panose="02040503050406030204" pitchFamily="18" charset="0"/>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sub>
                      </m:sSub>
                      <m:r>
                        <a:rPr lang="en-US" sz="1800" b="0" i="1" smtClean="0">
                          <a:solidFill>
                            <a:schemeClr val="tx1"/>
                          </a:solidFill>
                          <a:latin typeface="Cambria Math" panose="02040503050406030204"/>
                          <a:cs typeface="Times New Roman" panose="02020603050405020304" pitchFamily="18" charset="0"/>
                        </a:rPr>
                        <m:t>=</m:t>
                      </m:r>
                      <m:f>
                        <m:fPr>
                          <m:ctrlPr>
                            <a:rPr lang="en-US" sz="1800" i="1" dirty="0">
                              <a:solidFill>
                                <a:schemeClr val="tx1"/>
                              </a:solidFill>
                              <a:latin typeface="Cambria Math" panose="02040503050406030204"/>
                              <a:ea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den>
                      </m:f>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sup>
                              <m:r>
                                <a:rPr lang="en-US" sz="1800" b="1" i="1">
                                  <a:solidFill>
                                    <a:schemeClr val="tx1"/>
                                  </a:solidFill>
                                  <a:latin typeface="Cambria Math" panose="02040503050406030204"/>
                                  <a:cs typeface="Times New Roman" panose="02020603050405020304" pitchFamily="18" charset="0"/>
                                </a:rPr>
                                <m:t>𝟐</m:t>
                              </m:r>
                            </m:sup>
                          </m:sSup>
                        </m:e>
                      </m:nary>
                    </m:oMath>
                  </m:oMathPara>
                </a14:m>
                <a:endParaRPr lang="en-US" sz="1800" b="1" i="1" dirty="0">
                  <a:solidFill>
                    <a:schemeClr val="tx1"/>
                  </a:solidFill>
                  <a:latin typeface="Cambria Math" panose="02040503050406030204"/>
                  <a:cs typeface="Times New Roman" panose="02020603050405020304" pitchFamily="18" charset="0"/>
                </a:endParaRPr>
              </a:p>
              <a:p>
                <a:pPr algn="l"/>
                <a14:m>
                  <m:oMathPara xmlns:m="http://schemas.openxmlformats.org/officeDocument/2006/math">
                    <m:oMathParaPr>
                      <m:jc m:val="left"/>
                    </m:oMathParaPr>
                    <m:o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smtClean="0">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f>
                        <m:fPr>
                          <m:ctrlPr>
                            <a:rPr lang="en-US" sz="1800" i="1" dirty="0">
                              <a:solidFill>
                                <a:schemeClr val="tx1"/>
                              </a:solidFill>
                              <a:latin typeface="Cambria Math" panose="02040503050406030204"/>
                              <a:ea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den>
                      </m:f>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US" sz="1800" i="1" smtClean="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f>
                              <m:fPr>
                                <m:ctrlPr>
                                  <a:rPr lang="en-US" sz="1800" i="1" dirty="0">
                                    <a:solidFill>
                                      <a:schemeClr val="tx1"/>
                                    </a:solidFill>
                                    <a:latin typeface="Cambria Math" panose="02040503050406030204"/>
                                    <a:ea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den>
                            </m:f>
                            <m:r>
                              <a:rPr lang="en-US" sz="1800" b="1" i="1" smtClean="0">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smtClean="0">
                            <a:solidFill>
                              <a:schemeClr val="tx1"/>
                            </a:solidFill>
                            <a:latin typeface="Cambria Math" panose="02040503050406030204"/>
                            <a:cs typeface="Times New Roman" panose="02020603050405020304" pitchFamily="18" charset="0"/>
                          </a:rPr>
                          <m:t>)</m:t>
                        </m:r>
                      </m:e>
                    </m:nary>
                  </m:oMath>
                </a14:m>
                <a:r>
                  <a:rPr lang="en-US" sz="1800" dirty="0">
                    <a:solidFill>
                      <a:schemeClr val="tx1"/>
                    </a:solidFill>
                    <a:latin typeface="Times New Roman" panose="02020603050405020304" pitchFamily="18" charset="0"/>
                    <a:cs typeface="Times New Roman" panose="02020603050405020304" pitchFamily="18" charset="0"/>
                  </a:rPr>
                  <a:t> </a:t>
                </a:r>
                <a:endParaRPr lang="en-US" sz="1800" i="1" dirty="0">
                  <a:solidFill>
                    <a:schemeClr val="tx1"/>
                  </a:solidFill>
                  <a:latin typeface="Cambria Math" panose="02040503050406030204"/>
                  <a:cs typeface="Times New Roman" panose="02020603050405020304" pitchFamily="18" charset="0"/>
                </a:endParaRPr>
              </a:p>
              <a:p>
                <a:pPr algn="just"/>
                <a14:m>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 (</m:t>
                        </m:r>
                        <m:r>
                          <a:rPr lang="en-US" sz="1800" b="1" i="1" smtClean="0">
                            <a:solidFill>
                              <a:schemeClr val="tx1"/>
                            </a:solidFill>
                            <a:latin typeface="Cambria Math" panose="02040503050406030204"/>
                            <a:cs typeface="Times New Roman" panose="02020603050405020304" pitchFamily="18" charset="0"/>
                          </a:rPr>
                          <m:t>𝟎</m:t>
                        </m:r>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e>
                    </m:nary>
                    <m:r>
                      <a:rPr lang="en-US" sz="1800" b="1" i="1">
                        <a:solidFill>
                          <a:schemeClr val="tx1"/>
                        </a:solidFill>
                        <a:latin typeface="Cambria Math" panose="02040503050406030204"/>
                        <a:cs typeface="Times New Roman" panose="02020603050405020304" pitchFamily="18" charset="0"/>
                      </a:rPr>
                      <m:t>)</m:t>
                    </m:r>
                  </m:oMath>
                </a14:m>
                <a:r>
                  <a:rPr lang="en-US" sz="1800" dirty="0">
                    <a:solidFill>
                      <a:schemeClr val="tx1"/>
                    </a:solidFill>
                    <a:latin typeface="Times New Roman" panose="02020603050405020304" pitchFamily="18" charset="0"/>
                    <a:cs typeface="Times New Roman" panose="02020603050405020304" pitchFamily="18" charset="0"/>
                  </a:rPr>
                  <a:t>  </a:t>
                </a:r>
                <a:endParaRPr lang="en-US" sz="1800"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b="-6914"/>
                </a:stretch>
              </a:blipFill>
            </p:spPr>
            <p:txBody>
              <a:bodyPr/>
              <a:lstStyle/>
              <a:p>
                <a:r>
                  <a:rPr lang="en-US"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lnSpcReduction="10000"/>
              </a:bodyPr>
              <a:lstStyle/>
              <a:p>
                <a:pPr algn="just"/>
                <a:r>
                  <a:rPr lang="en-US" sz="1800" b="1" dirty="0">
                    <a:solidFill>
                      <a:schemeClr val="tx1"/>
                    </a:solidFill>
                    <a:latin typeface="Times New Roman" panose="02020603050405020304" pitchFamily="18" charset="0"/>
                    <a:cs typeface="Times New Roman" panose="02020603050405020304" pitchFamily="18" charset="0"/>
                  </a:rPr>
                  <a:t>Update θ</a:t>
                </a:r>
                <a:r>
                  <a:rPr lang="en-US" sz="1800" b="1" baseline="-25000" dirty="0">
                    <a:solidFill>
                      <a:schemeClr val="tx1"/>
                    </a:solidFill>
                    <a:latin typeface="Times New Roman" panose="02020603050405020304" pitchFamily="18" charset="0"/>
                    <a:cs typeface="Times New Roman" panose="02020603050405020304" pitchFamily="18" charset="0"/>
                  </a:rPr>
                  <a:t>1 </a:t>
                </a:r>
                <a:r>
                  <a:rPr lang="en-US" sz="1800" b="1" dirty="0">
                    <a:solidFill>
                      <a:schemeClr val="tx1"/>
                    </a:solidFill>
                    <a:latin typeface="Times New Roman" panose="02020603050405020304" pitchFamily="18" charset="0"/>
                    <a:cs typeface="Times New Roman" panose="02020603050405020304" pitchFamily="18" charset="0"/>
                  </a:rPr>
                  <a:t>and θ</a:t>
                </a:r>
                <a:r>
                  <a:rPr lang="en-US" sz="1800" b="1" baseline="-25000" dirty="0">
                    <a:solidFill>
                      <a:schemeClr val="tx1"/>
                    </a:solidFill>
                    <a:latin typeface="Times New Roman" panose="02020603050405020304" pitchFamily="18" charset="0"/>
                    <a:cs typeface="Times New Roman" panose="02020603050405020304" pitchFamily="18" charset="0"/>
                  </a:rPr>
                  <a:t>2 </a:t>
                </a:r>
                <a:r>
                  <a:rPr lang="en-US" sz="1800" b="1" dirty="0">
                    <a:solidFill>
                      <a:schemeClr val="tx1"/>
                    </a:solidFill>
                    <a:latin typeface="Times New Roman" panose="02020603050405020304" pitchFamily="18" charset="0"/>
                    <a:cs typeface="Times New Roman" panose="02020603050405020304" pitchFamily="18" charset="0"/>
                  </a:rPr>
                  <a:t>values in order to reduce the Cost function</a:t>
                </a:r>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The goal of linear regression is to determine the coefficients of a linear equation that best fits the training data. This is achieved by adjusting the coefficients in the direction of the negative gradient of the Mean Squared Error with respect to those coefficients. </a:t>
                </a:r>
              </a:p>
              <a:p>
                <a:pPr algn="just"/>
                <a:r>
                  <a:rPr lang="en-US" sz="1800" dirty="0">
                    <a:solidFill>
                      <a:schemeClr val="tx1"/>
                    </a:solidFill>
                    <a:latin typeface="Times New Roman" panose="02020603050405020304" pitchFamily="18" charset="0"/>
                    <a:cs typeface="Times New Roman" panose="02020603050405020304" pitchFamily="18" charset="0"/>
                  </a:rPr>
                  <a:t>The respective intercept and coefficient of </a:t>
                </a:r>
                <a:r>
                  <a:rPr lang="en-US" sz="1800" b="1" dirty="0">
                    <a:solidFill>
                      <a:schemeClr val="tx1"/>
                    </a:solidFill>
                    <a:latin typeface="Times New Roman" panose="02020603050405020304" pitchFamily="18" charset="0"/>
                    <a:cs typeface="Times New Roman" panose="02020603050405020304" pitchFamily="18" charset="0"/>
                  </a:rPr>
                  <a:t>X</a:t>
                </a:r>
                <a:r>
                  <a:rPr lang="en-US" sz="1800" dirty="0">
                    <a:solidFill>
                      <a:schemeClr val="tx1"/>
                    </a:solidFill>
                    <a:latin typeface="Times New Roman" panose="02020603050405020304" pitchFamily="18" charset="0"/>
                    <a:cs typeface="Times New Roman" panose="02020603050405020304" pitchFamily="18" charset="0"/>
                  </a:rPr>
                  <a:t> will be adjusted by a factor of </a:t>
                </a:r>
                <a:r>
                  <a:rPr lang="en-US" sz="1800" b="1" dirty="0">
                    <a:solidFill>
                      <a:schemeClr val="tx1"/>
                    </a:solidFill>
                    <a:latin typeface="Times New Roman" panose="02020603050405020304" pitchFamily="18" charset="0"/>
                    <a:cs typeface="Times New Roman" panose="02020603050405020304" pitchFamily="18" charset="0"/>
                  </a:rPr>
                  <a:t>α</a:t>
                </a:r>
                <a:r>
                  <a:rPr lang="en-US" sz="1800" dirty="0">
                    <a:solidFill>
                      <a:schemeClr val="tx1"/>
                    </a:solidFill>
                    <a:latin typeface="Times New Roman" panose="02020603050405020304" pitchFamily="18" charset="0"/>
                    <a:cs typeface="Times New Roman" panose="02020603050405020304" pitchFamily="18" charset="0"/>
                  </a:rPr>
                  <a:t>, where α represents the learning rate.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ea typeface="Cambria Math" panose="02040503050406030204"/>
                        <a:cs typeface="Times New Roman" panose="02020603050405020304" pitchFamily="18" charset="0"/>
                      </a:rPr>
                      <m:t>𝜶</m:t>
                    </m:r>
                    <m:r>
                      <a:rPr lang="en-US" sz="1800" b="1" i="1" smtClean="0">
                        <a:solidFill>
                          <a:schemeClr val="tx1"/>
                        </a:solidFill>
                        <a:latin typeface="Cambria Math" panose="02040503050406030204"/>
                        <a:ea typeface="Cambria Math" panose="02040503050406030204"/>
                        <a:cs typeface="Times New Roman" panose="02020603050405020304" pitchFamily="18" charset="0"/>
                      </a:rPr>
                      <m:t>( </m:t>
                    </m:r>
                    <m:sSub>
                      <m:sSubPr>
                        <m:ctrlPr>
                          <a:rPr lang="en-US" sz="1800" i="1">
                            <a:solidFill>
                              <a:schemeClr val="tx1"/>
                            </a:solidFill>
                            <a:latin typeface="Cambria Math" panose="02040503050406030204" pitchFamily="18" charset="0"/>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sub>
                    </m:sSub>
                    <m:r>
                      <a:rPr lang="en-US" sz="1800" b="1" i="1" smtClean="0">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d>
                          <m:dPr>
                            <m:ctrlPr>
                              <a:rPr lang="en-US" sz="1800" b="1" i="1">
                                <a:solidFill>
                                  <a:schemeClr val="tx1"/>
                                </a:solidFill>
                                <a:latin typeface="Cambria Math" panose="02040503050406030204" pitchFamily="18" charset="0"/>
                                <a:cs typeface="Times New Roman" panose="02020603050405020304" pitchFamily="18" charset="0"/>
                              </a:rPr>
                            </m:ctrlPr>
                          </m:dPr>
                          <m:e>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d>
                      </m:e>
                    </m:nary>
                    <m:r>
                      <a:rPr lang="en-US" sz="1800" b="1" i="1" smtClean="0">
                        <a:solidFill>
                          <a:schemeClr val="tx1"/>
                        </a:solidFill>
                        <a:latin typeface="Cambria Math" panose="02040503050406030204"/>
                        <a:cs typeface="Times New Roman" panose="02020603050405020304" pitchFamily="18" charset="0"/>
                      </a:rPr>
                      <m:t> </m:t>
                    </m:r>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sSub>
                      <m:sSubPr>
                        <m:ctrlPr>
                          <a:rPr lang="en-US" sz="1800" i="1">
                            <a:solidFill>
                              <a:schemeClr val="tx1"/>
                            </a:solidFill>
                            <a:latin typeface="Cambria Math" panose="02040503050406030204" pitchFamily="18" charset="0"/>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sub>
                    </m:sSub>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d>
                          <m:dPr>
                            <m:ctrlPr>
                              <a:rPr lang="en-US" sz="1800" b="1" i="1">
                                <a:solidFill>
                                  <a:schemeClr val="tx1"/>
                                </a:solidFill>
                                <a:latin typeface="Cambria Math" panose="02040503050406030204" pitchFamily="18" charset="0"/>
                                <a:cs typeface="Times New Roman" panose="02020603050405020304" pitchFamily="18" charset="0"/>
                              </a:rPr>
                            </m:ctrlPr>
                          </m:dPr>
                          <m:e>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d>
                      </m:e>
                    </m:nary>
                    <m:r>
                      <a:rPr lang="en-US" sz="1800" b="1" i="1">
                        <a:solidFill>
                          <a:schemeClr val="tx1"/>
                        </a:solidFill>
                        <a:latin typeface="Cambria Math" panose="02040503050406030204"/>
                        <a:cs typeface="Times New Roman" panose="02020603050405020304" pitchFamily="18" charset="0"/>
                      </a:rPr>
                      <m:t> </m:t>
                    </m:r>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rgbClr val="00B050"/>
                    </a:solidFill>
                    <a:latin typeface="Times New Roman" panose="02020603050405020304" pitchFamily="18" charset="0"/>
                    <a:cs typeface="Times New Roman" panose="02020603050405020304" pitchFamily="18" charset="0"/>
                  </a:rPr>
                  <a:t>Repeat until convergence</a:t>
                </a: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b="-8724"/>
                </a:stretch>
              </a:blipFill>
            </p:spPr>
            <p:txBody>
              <a:bodyPr/>
              <a:lstStyle/>
              <a:p>
                <a:r>
                  <a:rPr lang="en-US" altLang="en-US">
                    <a:noFill/>
                  </a:rPr>
                  <a:t> </a:t>
                </a:r>
              </a:p>
            </p:txBody>
          </p:sp>
        </mc:Fallback>
      </mc:AlternateContent>
      <p:sp>
        <p:nvSpPr>
          <p:cNvPr id="4" name="AutoShape 2" descr="Gradient Descent -Geeksforgeek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5" name="AutoShape 4" descr="Gradient Descent -Geeksforgeek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6" name="AutoShape 6" descr="Gradient Descent -Geeksforgeeks"/>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03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3200400"/>
            <a:ext cx="4421464" cy="310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4040464" y="6305550"/>
            <a:ext cx="4572000" cy="276999"/>
          </a:xfrm>
          <a:prstGeom prst="rect">
            <a:avLst/>
          </a:prstGeom>
        </p:spPr>
        <p:txBody>
          <a:bodyPr>
            <a:spAutoFit/>
          </a:bodyPr>
          <a:lstStyle/>
          <a:p>
            <a:r>
              <a:rPr lang="en-US" sz="1200" dirty="0">
                <a:solidFill>
                  <a:schemeClr val="bg1">
                    <a:lumMod val="75000"/>
                  </a:schemeClr>
                </a:solidFill>
              </a:rPr>
              <a:t>https://www.geeksforgeeks.org/ml-linear-regression/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Numerical Example</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b="1" dirty="0">
                  <a:solidFill>
                    <a:schemeClr val="tx1"/>
                  </a:solidFill>
                  <a:latin typeface="Times New Roman" panose="02020603050405020304" pitchFamily="18" charset="0"/>
                  <a:cs typeface="Times New Roman" panose="02020603050405020304" pitchFamily="18" charset="0"/>
                </a:endParaRPr>
              </a:p>
              <a:p>
                <a:pPr algn="l"/>
                <a:endParaRPr lang="en-US" sz="1800" dirty="0">
                  <a:solidFill>
                    <a:schemeClr val="tx1"/>
                  </a:solidFill>
                  <a:latin typeface="Times New Roman" panose="02020603050405020304" pitchFamily="18" charset="0"/>
                  <a:cs typeface="Times New Roman" panose="02020603050405020304" pitchFamily="18" charset="0"/>
                </a:endParaRPr>
              </a:p>
              <a:p>
                <a:pPr algn="l"/>
                <a:r>
                  <a:rPr lang="en-US" sz="1800" dirty="0">
                    <a:solidFill>
                      <a:schemeClr val="tx1"/>
                    </a:solidFill>
                    <a:latin typeface="Times New Roman" panose="02020603050405020304" pitchFamily="18" charset="0"/>
                    <a:cs typeface="Times New Roman" panose="02020603050405020304" pitchFamily="18" charset="0"/>
                  </a:rPr>
                  <a:t>Let </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=300, </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=10</a:t>
                </a:r>
              </a:p>
              <a:p>
                <a:pPr algn="l"/>
                <a:r>
                  <a:rPr lang="en-US" sz="1800" dirty="0">
                    <a:solidFill>
                      <a:schemeClr val="tx1"/>
                    </a:solidFill>
                    <a:latin typeface="Times New Roman" panose="02020603050405020304" pitchFamily="18" charset="0"/>
                    <a:cs typeface="Times New Roman" panose="02020603050405020304" pitchFamily="18" charset="0"/>
                  </a:rPr>
                  <a:t>Learning rate, </a:t>
                </a:r>
                <a14:m>
                  <m:oMath xmlns:m="http://schemas.openxmlformats.org/officeDocument/2006/math">
                    <m:r>
                      <a:rPr lang="en-US" sz="1800" i="1" smtClean="0">
                        <a:solidFill>
                          <a:schemeClr val="tx1"/>
                        </a:solidFill>
                        <a:latin typeface="Cambria Math" panose="02040503050406030204"/>
                        <a:ea typeface="Cambria Math" panose="02040503050406030204"/>
                        <a:cs typeface="Times New Roman" panose="02020603050405020304" pitchFamily="18" charset="0"/>
                      </a:rPr>
                      <m:t>𝛼</m:t>
                    </m:r>
                    <m:r>
                      <a:rPr lang="en-US" sz="1800" b="0" i="1" smtClean="0">
                        <a:solidFill>
                          <a:schemeClr val="tx1"/>
                        </a:solidFill>
                        <a:latin typeface="Cambria Math" panose="02040503050406030204"/>
                        <a:ea typeface="Cambria Math" panose="02040503050406030204"/>
                        <a:cs typeface="Times New Roman" panose="02020603050405020304" pitchFamily="18" charset="0"/>
                      </a:rPr>
                      <m:t>=0.0001</m:t>
                    </m:r>
                  </m:oMath>
                </a14:m>
                <a:endParaRPr lang="en-US" sz="1800" b="0" dirty="0">
                  <a:solidFill>
                    <a:schemeClr val="tx1"/>
                  </a:solidFill>
                  <a:latin typeface="Times New Roman" panose="02020603050405020304" pitchFamily="18" charset="0"/>
                  <a:ea typeface="Cambria Math" panose="02040503050406030204"/>
                  <a:cs typeface="Times New Roman" panose="02020603050405020304" pitchFamily="18" charset="0"/>
                </a:endParaRPr>
              </a:p>
              <a:p>
                <a:pPr algn="l"/>
                <a:endParaRPr lang="en-US" sz="1800" dirty="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𝟏𝟎</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l"/>
                <a:endParaRPr lang="en-US" sz="1800" dirty="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m:r>
                        <a:rPr lang="en-US" sz="1800" b="1">
                          <a:solidFill>
                            <a:schemeClr val="tx1"/>
                          </a:solidFill>
                          <a:latin typeface="Cambria Math" panose="02040503050406030204"/>
                          <a:cs typeface="Times New Roman" panose="02020603050405020304" pitchFamily="18" charset="0"/>
                        </a:rPr>
                        <m:t>𝐉</m:t>
                      </m:r>
                      <m:r>
                        <a:rPr lang="en-US" sz="180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sup>
                              <m:r>
                                <a:rPr lang="en-US" sz="1800" b="1" i="1">
                                  <a:solidFill>
                                    <a:schemeClr val="tx1"/>
                                  </a:solidFill>
                                  <a:latin typeface="Cambria Math" panose="02040503050406030204"/>
                                  <a:cs typeface="Times New Roman" panose="02020603050405020304" pitchFamily="18" charset="0"/>
                                </a:rPr>
                                <m:t>𝟐</m:t>
                              </m:r>
                            </m:sup>
                          </m:sSup>
                        </m:e>
                      </m:nary>
                      <m:r>
                        <a:rPr lang="en-US" sz="1800" b="0" i="1" smtClean="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𝟏𝟎</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sup>
                              <m:r>
                                <a:rPr lang="en-US" sz="1800" b="1" i="1">
                                  <a:solidFill>
                                    <a:schemeClr val="tx1"/>
                                  </a:solidFill>
                                  <a:latin typeface="Cambria Math" panose="02040503050406030204"/>
                                  <a:cs typeface="Times New Roman" panose="02020603050405020304" pitchFamily="18" charset="0"/>
                                </a:rPr>
                                <m:t>𝟐</m:t>
                              </m:r>
                            </m:sup>
                          </m:sSup>
                        </m:e>
                      </m:nary>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l"/>
                <a14:m>
                  <m:oMath xmlns:m="http://schemas.openxmlformats.org/officeDocument/2006/math">
                    <m:r>
                      <a:rPr lang="en-US" sz="1800" b="0" i="1" smtClean="0">
                        <a:solidFill>
                          <a:schemeClr val="tx1"/>
                        </a:solidFill>
                        <a:latin typeface="Cambria Math" panose="02040503050406030204"/>
                        <a:cs typeface="Times New Roman" panose="02020603050405020304" pitchFamily="18" charset="0"/>
                      </a:rPr>
                      <m:t>=</m:t>
                    </m:r>
                    <m:f>
                      <m:fPr>
                        <m:ctrlPr>
                          <a:rPr lang="en-US" sz="1800" b="0" i="1" smtClean="0">
                            <a:solidFill>
                              <a:schemeClr val="tx1"/>
                            </a:solidFill>
                            <a:latin typeface="Cambria Math" panose="02040503050406030204"/>
                            <a:cs typeface="Times New Roman" panose="02020603050405020304" pitchFamily="18" charset="0"/>
                          </a:rPr>
                        </m:ctrlPr>
                      </m:fPr>
                      <m:num>
                        <m:r>
                          <a:rPr lang="en-US" sz="1800" b="0" i="1" smtClean="0">
                            <a:solidFill>
                              <a:schemeClr val="tx1"/>
                            </a:solidFill>
                            <a:latin typeface="Cambria Math" panose="02040503050406030204"/>
                            <a:cs typeface="Times New Roman" panose="02020603050405020304" pitchFamily="18" charset="0"/>
                          </a:rPr>
                          <m:t>1</m:t>
                        </m:r>
                      </m:num>
                      <m:den>
                        <m:r>
                          <a:rPr lang="en-US" sz="1800" b="0" i="1" smtClean="0">
                            <a:solidFill>
                              <a:schemeClr val="tx1"/>
                            </a:solidFill>
                            <a:latin typeface="Cambria Math" panose="02040503050406030204"/>
                            <a:cs typeface="Times New Roman" panose="02020603050405020304" pitchFamily="18" charset="0"/>
                          </a:rPr>
                          <m:t>7</m:t>
                        </m:r>
                      </m:den>
                    </m:f>
                    <m:r>
                      <a:rPr lang="en-US" sz="1800" b="0" i="1" smtClean="0">
                        <a:solidFill>
                          <a:schemeClr val="tx1"/>
                        </a:solidFill>
                        <a:latin typeface="Cambria Math" panose="02040503050406030204"/>
                        <a:cs typeface="Times New Roman" panose="02020603050405020304" pitchFamily="18" charset="0"/>
                      </a:rPr>
                      <m:t>[</m:t>
                    </m:r>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(300−10∗30−800)</m:t>
                        </m:r>
                      </m:e>
                      <m:sup>
                        <m:r>
                          <a:rPr lang="en-US" sz="1800" b="0" i="1" smtClean="0">
                            <a:solidFill>
                              <a:schemeClr val="tx1"/>
                            </a:solidFill>
                            <a:latin typeface="Cambria Math" panose="02040503050406030204"/>
                            <a:cs typeface="Times New Roman" panose="02020603050405020304" pitchFamily="18" charset="0"/>
                          </a:rPr>
                          <m:t>2</m:t>
                        </m:r>
                      </m:sup>
                    </m:sSup>
                  </m:oMath>
                </a14:m>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(300−10∗3</m:t>
                        </m:r>
                        <m:r>
                          <a:rPr lang="en-US" sz="1800" b="0" i="1" smtClean="0">
                            <a:solidFill>
                              <a:schemeClr val="tx1"/>
                            </a:solidFill>
                            <a:latin typeface="Cambria Math" panose="02040503050406030204"/>
                            <a:cs typeface="Times New Roman" panose="02020603050405020304" pitchFamily="18" charset="0"/>
                          </a:rPr>
                          <m:t>7</m:t>
                        </m:r>
                        <m:r>
                          <a:rPr lang="en-US" sz="1800" i="1">
                            <a:solidFill>
                              <a:schemeClr val="tx1"/>
                            </a:solidFill>
                            <a:latin typeface="Cambria Math" panose="02040503050406030204"/>
                            <a:cs typeface="Times New Roman" panose="02020603050405020304" pitchFamily="18" charset="0"/>
                          </a:rPr>
                          <m:t>−</m:t>
                        </m:r>
                        <m:r>
                          <a:rPr lang="en-US" sz="1800" b="0" i="1" smtClean="0">
                            <a:solidFill>
                              <a:schemeClr val="tx1"/>
                            </a:solidFill>
                            <a:latin typeface="Cambria Math" panose="02040503050406030204"/>
                            <a:cs typeface="Times New Roman" panose="02020603050405020304" pitchFamily="18" charset="0"/>
                          </a:rPr>
                          <m:t>95</m:t>
                        </m:r>
                        <m:r>
                          <a:rPr lang="en-US" sz="1800" i="1">
                            <a:solidFill>
                              <a:schemeClr val="tx1"/>
                            </a:solidFill>
                            <a:latin typeface="Cambria Math" panose="02040503050406030204"/>
                            <a:cs typeface="Times New Roman" panose="02020603050405020304" pitchFamily="18" charset="0"/>
                          </a:rPr>
                          <m:t>0)</m:t>
                        </m:r>
                      </m:e>
                      <m:sup>
                        <m:r>
                          <a:rPr lang="en-US" sz="1800" i="1">
                            <a:solidFill>
                              <a:schemeClr val="tx1"/>
                            </a:solidFill>
                            <a:latin typeface="Cambria Math" panose="02040503050406030204"/>
                            <a:cs typeface="Times New Roman" panose="02020603050405020304" pitchFamily="18" charset="0"/>
                          </a:rPr>
                          <m:t>2</m:t>
                        </m:r>
                      </m:sup>
                    </m:sSup>
                  </m:oMath>
                </a14:m>
                <a:r>
                  <a:rPr lang="en-US" sz="1800" dirty="0">
                    <a:solidFill>
                      <a:schemeClr val="tx1"/>
                    </a:solidFill>
                    <a:latin typeface="Times New Roman" panose="02020603050405020304" pitchFamily="18" charset="0"/>
                    <a:cs typeface="Times New Roman" panose="02020603050405020304" pitchFamily="18" charset="0"/>
                  </a:rPr>
                  <a:t>+…..</a:t>
                </a:r>
              </a:p>
              <a:p>
                <a:pPr algn="l"/>
                <a14:m>
                  <m:oMathPara xmlns:m="http://schemas.openxmlformats.org/officeDocument/2006/math">
                    <m:oMathParaPr>
                      <m:jc m:val="left"/>
                    </m:oMathParaPr>
                    <m:oMath>
                      <m:r>
                        <a:rPr lang="en-US" sz="1800" i="1" dirty="0" smtClean="0">
                          <a:solidFill>
                            <a:schemeClr val="tx1"/>
                          </a:solidFill>
                          <a:latin typeface="Cambria Math" panose="02040503050406030204"/>
                          <a:cs typeface="Times New Roman" panose="02020603050405020304" pitchFamily="18" charset="0"/>
                        </a:rPr>
                        <m:t>=74485.714</m:t>
                      </m:r>
                    </m:oMath>
                  </m:oMathPara>
                </a14:m>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a:stretch>
              </a:blipFill>
            </p:spPr>
            <p:txBody>
              <a:bodyPr/>
              <a:lstStyle/>
              <a:p>
                <a:r>
                  <a:rPr lang="en-US" altLang="en-US">
                    <a:noFill/>
                  </a:rPr>
                  <a:t> </a:t>
                </a:r>
              </a:p>
            </p:txBody>
          </p:sp>
        </mc:Fallback>
      </mc:AlternateContent>
      <p:graphicFrame>
        <p:nvGraphicFramePr>
          <p:cNvPr id="4" name="Table 3"/>
          <p:cNvGraphicFramePr>
            <a:graphicFrameLocks noGrp="1"/>
          </p:cNvGraphicFramePr>
          <p:nvPr/>
        </p:nvGraphicFramePr>
        <p:xfrm>
          <a:off x="6705600" y="1219200"/>
          <a:ext cx="2010537" cy="2961640"/>
        </p:xfrm>
        <a:graphic>
          <a:graphicData uri="http://schemas.openxmlformats.org/drawingml/2006/table">
            <a:tbl>
              <a:tblPr firstRow="1" bandRow="1">
                <a:tableStyleId>{5C22544A-7EE6-4342-B048-85BDC9FD1C3A}</a:tableStyleId>
              </a:tblPr>
              <a:tblGrid>
                <a:gridCol w="893191">
                  <a:extLst>
                    <a:ext uri="{9D8B030D-6E8A-4147-A177-3AD203B41FA5}">
                      <a16:colId xmlns:a16="http://schemas.microsoft.com/office/drawing/2014/main" val="20000"/>
                    </a:ext>
                  </a:extLst>
                </a:gridCol>
                <a:gridCol w="1117346">
                  <a:extLst>
                    <a:ext uri="{9D8B030D-6E8A-4147-A177-3AD203B41FA5}">
                      <a16:colId xmlns:a16="http://schemas.microsoft.com/office/drawing/2014/main" val="20001"/>
                    </a:ext>
                  </a:extLst>
                </a:gridCol>
              </a:tblGrid>
              <a:tr h="142240">
                <a:tc>
                  <a:txBody>
                    <a:bodyPr/>
                    <a:lstStyle/>
                    <a:p>
                      <a:r>
                        <a:rPr lang="en-US" dirty="0"/>
                        <a:t>Age (x)</a:t>
                      </a:r>
                    </a:p>
                  </a:txBody>
                  <a:tcPr/>
                </a:tc>
                <a:tc>
                  <a:txBody>
                    <a:bodyPr/>
                    <a:lstStyle/>
                    <a:p>
                      <a:r>
                        <a:rPr lang="en-US" dirty="0"/>
                        <a:t>Salary (y)</a:t>
                      </a:r>
                    </a:p>
                  </a:txBody>
                  <a:tcPr/>
                </a:tc>
                <a:extLst>
                  <a:ext uri="{0D108BD9-81ED-4DB2-BD59-A6C34878D82A}">
                    <a16:rowId xmlns:a16="http://schemas.microsoft.com/office/drawing/2014/main" val="10000"/>
                  </a:ext>
                </a:extLst>
              </a:tr>
              <a:tr h="370840">
                <a:tc>
                  <a:txBody>
                    <a:bodyPr/>
                    <a:lstStyle/>
                    <a:p>
                      <a:r>
                        <a:rPr lang="en-US" dirty="0"/>
                        <a:t>30</a:t>
                      </a:r>
                    </a:p>
                  </a:txBody>
                  <a:tcPr/>
                </a:tc>
                <a:tc>
                  <a:txBody>
                    <a:bodyPr/>
                    <a:lstStyle/>
                    <a:p>
                      <a:r>
                        <a:rPr lang="en-US" dirty="0"/>
                        <a:t>800</a:t>
                      </a:r>
                    </a:p>
                  </a:txBody>
                  <a:tcPr/>
                </a:tc>
                <a:extLst>
                  <a:ext uri="{0D108BD9-81ED-4DB2-BD59-A6C34878D82A}">
                    <a16:rowId xmlns:a16="http://schemas.microsoft.com/office/drawing/2014/main" val="10001"/>
                  </a:ext>
                </a:extLst>
              </a:tr>
              <a:tr h="370840">
                <a:tc>
                  <a:txBody>
                    <a:bodyPr/>
                    <a:lstStyle/>
                    <a:p>
                      <a:r>
                        <a:rPr lang="en-US" dirty="0"/>
                        <a:t>37</a:t>
                      </a:r>
                    </a:p>
                  </a:txBody>
                  <a:tcPr/>
                </a:tc>
                <a:tc>
                  <a:txBody>
                    <a:bodyPr/>
                    <a:lstStyle/>
                    <a:p>
                      <a:r>
                        <a:rPr lang="en-US" dirty="0"/>
                        <a:t>950</a:t>
                      </a:r>
                    </a:p>
                  </a:txBody>
                  <a:tcPr/>
                </a:tc>
                <a:extLst>
                  <a:ext uri="{0D108BD9-81ED-4DB2-BD59-A6C34878D82A}">
                    <a16:rowId xmlns:a16="http://schemas.microsoft.com/office/drawing/2014/main" val="10002"/>
                  </a:ext>
                </a:extLst>
              </a:tr>
              <a:tr h="370840">
                <a:tc>
                  <a:txBody>
                    <a:bodyPr/>
                    <a:lstStyle/>
                    <a:p>
                      <a:r>
                        <a:rPr lang="en-US" dirty="0"/>
                        <a:t>25</a:t>
                      </a:r>
                    </a:p>
                  </a:txBody>
                  <a:tcPr/>
                </a:tc>
                <a:tc>
                  <a:txBody>
                    <a:bodyPr/>
                    <a:lstStyle/>
                    <a:p>
                      <a:r>
                        <a:rPr lang="en-US" dirty="0"/>
                        <a:t>600</a:t>
                      </a:r>
                    </a:p>
                  </a:txBody>
                  <a:tcPr/>
                </a:tc>
                <a:extLst>
                  <a:ext uri="{0D108BD9-81ED-4DB2-BD59-A6C34878D82A}">
                    <a16:rowId xmlns:a16="http://schemas.microsoft.com/office/drawing/2014/main" val="10003"/>
                  </a:ext>
                </a:extLst>
              </a:tr>
              <a:tr h="370840">
                <a:tc>
                  <a:txBody>
                    <a:bodyPr/>
                    <a:lstStyle/>
                    <a:p>
                      <a:r>
                        <a:rPr lang="en-US" dirty="0"/>
                        <a:t>43</a:t>
                      </a:r>
                    </a:p>
                  </a:txBody>
                  <a:tcPr/>
                </a:tc>
                <a:tc>
                  <a:txBody>
                    <a:bodyPr/>
                    <a:lstStyle/>
                    <a:p>
                      <a:r>
                        <a:rPr lang="en-US" dirty="0"/>
                        <a:t>1050</a:t>
                      </a:r>
                    </a:p>
                  </a:txBody>
                  <a:tcPr/>
                </a:tc>
                <a:extLst>
                  <a:ext uri="{0D108BD9-81ED-4DB2-BD59-A6C34878D82A}">
                    <a16:rowId xmlns:a16="http://schemas.microsoft.com/office/drawing/2014/main" val="10004"/>
                  </a:ext>
                </a:extLst>
              </a:tr>
              <a:tr h="370840">
                <a:tc>
                  <a:txBody>
                    <a:bodyPr/>
                    <a:lstStyle/>
                    <a:p>
                      <a:r>
                        <a:rPr lang="en-US" dirty="0"/>
                        <a:t>50</a:t>
                      </a:r>
                    </a:p>
                  </a:txBody>
                  <a:tcPr/>
                </a:tc>
                <a:tc>
                  <a:txBody>
                    <a:bodyPr/>
                    <a:lstStyle/>
                    <a:p>
                      <a:r>
                        <a:rPr lang="en-US" dirty="0"/>
                        <a:t>1200</a:t>
                      </a:r>
                    </a:p>
                  </a:txBody>
                  <a:tcPr/>
                </a:tc>
                <a:extLst>
                  <a:ext uri="{0D108BD9-81ED-4DB2-BD59-A6C34878D82A}">
                    <a16:rowId xmlns:a16="http://schemas.microsoft.com/office/drawing/2014/main" val="10005"/>
                  </a:ext>
                </a:extLst>
              </a:tr>
              <a:tr h="370840">
                <a:tc>
                  <a:txBody>
                    <a:bodyPr/>
                    <a:lstStyle/>
                    <a:p>
                      <a:r>
                        <a:rPr lang="en-US" dirty="0"/>
                        <a:t>29</a:t>
                      </a:r>
                    </a:p>
                  </a:txBody>
                  <a:tcPr/>
                </a:tc>
                <a:tc>
                  <a:txBody>
                    <a:bodyPr/>
                    <a:lstStyle/>
                    <a:p>
                      <a:r>
                        <a:rPr lang="en-US" dirty="0"/>
                        <a:t>740</a:t>
                      </a:r>
                    </a:p>
                  </a:txBody>
                  <a:tcPr/>
                </a:tc>
                <a:extLst>
                  <a:ext uri="{0D108BD9-81ED-4DB2-BD59-A6C34878D82A}">
                    <a16:rowId xmlns:a16="http://schemas.microsoft.com/office/drawing/2014/main" val="10006"/>
                  </a:ext>
                </a:extLst>
              </a:tr>
              <a:tr h="370840">
                <a:tc>
                  <a:txBody>
                    <a:bodyPr/>
                    <a:lstStyle/>
                    <a:p>
                      <a:r>
                        <a:rPr lang="en-US" dirty="0"/>
                        <a:t>46</a:t>
                      </a:r>
                    </a:p>
                  </a:txBody>
                  <a:tcPr/>
                </a:tc>
                <a:tc>
                  <a:txBody>
                    <a:bodyPr/>
                    <a:lstStyle/>
                    <a:p>
                      <a:r>
                        <a:rPr lang="en-US" dirty="0"/>
                        <a:t>1100</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Numerical Example: Learning (updating </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b="1"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b="1" dirty="0">
                    <a:solidFill>
                      <a:schemeClr val="tx1"/>
                    </a:solidFill>
                    <a:latin typeface="Times New Roman" panose="02020603050405020304" pitchFamily="18" charset="0"/>
                    <a:cs typeface="Times New Roman" panose="02020603050405020304" pitchFamily="18" charset="0"/>
                  </a:rPr>
                  <a:t>) </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b="1" i="1"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sSub>
                        <m:sSubPr>
                          <m:ctrlPr>
                            <a:rPr lang="en-US" sz="1800" i="1">
                              <a:solidFill>
                                <a:schemeClr val="tx1"/>
                              </a:solidFill>
                              <a:latin typeface="Cambria Math" panose="02040503050406030204" pitchFamily="18" charset="0"/>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ea typeface="Cambria Math" panose="02040503050406030204"/>
                                  <a:cs typeface="Times New Roman" panose="02020603050405020304" pitchFamily="18" charset="0"/>
                                </a:rPr>
                                <m:t>𝟐</m:t>
                              </m:r>
                            </m:sub>
                          </m:sSub>
                        </m:sub>
                      </m:sSub>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m:r>
                        <a:rPr lang="en-US" sz="1800" b="1" i="1" smtClean="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𝟏𝟎</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𝟐𝟎𝟑𝟖𝟖</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𝟓𝟕𝟒𝟏𝟐</m:t>
                      </m:r>
                    </m:oMath>
                  </m:oMathPara>
                </a14:m>
                <a:endParaRPr lang="en-US" sz="1800" b="1" i="1" dirty="0">
                  <a:solidFill>
                    <a:schemeClr val="tx1"/>
                  </a:solidFill>
                  <a:latin typeface="Cambria Math" panose="02040503050406030204"/>
                  <a:cs typeface="Times New Roman" panose="02020603050405020304" pitchFamily="18" charset="0"/>
                </a:endParaRPr>
              </a:p>
              <a:p>
                <a:pPr algn="just"/>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m:sSub>
                        <m:sSubPr>
                          <m:ctrlPr>
                            <a:rPr lang="en-US" sz="1800" i="1">
                              <a:solidFill>
                                <a:schemeClr val="tx1"/>
                              </a:solidFill>
                              <a:latin typeface="Cambria Math" panose="02040503050406030204" pitchFamily="18" charset="0"/>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𝟏</m:t>
                              </m:r>
                            </m:sub>
                          </m:sSub>
                        </m:sub>
                      </m:sSub>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oMath>
                  </m:oMathPara>
                </a14:m>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m:r>
                        <a:rPr lang="en-US" sz="1800" b="1"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𝟏𝟎</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oMath>
                  </m:oMathPara>
                </a14:m>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𝟒𝟗𝟕</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𝟏𝟒𝟏𝟐</m:t>
                      </m:r>
                    </m:oMath>
                  </m:oMathPara>
                </a14:m>
                <a:endParaRPr lang="en-US" sz="1800" b="1" i="1" dirty="0">
                  <a:solidFill>
                    <a:schemeClr val="tx1"/>
                  </a:solidFill>
                  <a:latin typeface="Cambria Math" panose="02040503050406030204"/>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a:stretch>
              </a:blipFill>
            </p:spPr>
            <p:txBody>
              <a:bodyPr/>
              <a:lstStyle/>
              <a:p>
                <a:r>
                  <a:rPr lang="en-US" altLang="en-US">
                    <a:noFill/>
                  </a:rPr>
                  <a:t> </a:t>
                </a:r>
              </a:p>
            </p:txBody>
          </p:sp>
        </mc:Fallback>
      </mc:AlternateContent>
      <p:graphicFrame>
        <p:nvGraphicFramePr>
          <p:cNvPr id="4" name="Table 3"/>
          <p:cNvGraphicFramePr>
            <a:graphicFrameLocks noGrp="1"/>
          </p:cNvGraphicFramePr>
          <p:nvPr/>
        </p:nvGraphicFramePr>
        <p:xfrm>
          <a:off x="6705600" y="1219200"/>
          <a:ext cx="2010537" cy="2961640"/>
        </p:xfrm>
        <a:graphic>
          <a:graphicData uri="http://schemas.openxmlformats.org/drawingml/2006/table">
            <a:tbl>
              <a:tblPr firstRow="1" bandRow="1">
                <a:tableStyleId>{5C22544A-7EE6-4342-B048-85BDC9FD1C3A}</a:tableStyleId>
              </a:tblPr>
              <a:tblGrid>
                <a:gridCol w="893191">
                  <a:extLst>
                    <a:ext uri="{9D8B030D-6E8A-4147-A177-3AD203B41FA5}">
                      <a16:colId xmlns:a16="http://schemas.microsoft.com/office/drawing/2014/main" val="20000"/>
                    </a:ext>
                  </a:extLst>
                </a:gridCol>
                <a:gridCol w="1117346">
                  <a:extLst>
                    <a:ext uri="{9D8B030D-6E8A-4147-A177-3AD203B41FA5}">
                      <a16:colId xmlns:a16="http://schemas.microsoft.com/office/drawing/2014/main" val="20001"/>
                    </a:ext>
                  </a:extLst>
                </a:gridCol>
              </a:tblGrid>
              <a:tr h="142240">
                <a:tc>
                  <a:txBody>
                    <a:bodyPr/>
                    <a:lstStyle/>
                    <a:p>
                      <a:r>
                        <a:rPr lang="en-US" dirty="0"/>
                        <a:t>Age (x)</a:t>
                      </a:r>
                    </a:p>
                  </a:txBody>
                  <a:tcPr/>
                </a:tc>
                <a:tc>
                  <a:txBody>
                    <a:bodyPr/>
                    <a:lstStyle/>
                    <a:p>
                      <a:r>
                        <a:rPr lang="en-US" dirty="0"/>
                        <a:t>Salary (y)</a:t>
                      </a:r>
                    </a:p>
                  </a:txBody>
                  <a:tcPr/>
                </a:tc>
                <a:extLst>
                  <a:ext uri="{0D108BD9-81ED-4DB2-BD59-A6C34878D82A}">
                    <a16:rowId xmlns:a16="http://schemas.microsoft.com/office/drawing/2014/main" val="10000"/>
                  </a:ext>
                </a:extLst>
              </a:tr>
              <a:tr h="370840">
                <a:tc>
                  <a:txBody>
                    <a:bodyPr/>
                    <a:lstStyle/>
                    <a:p>
                      <a:r>
                        <a:rPr lang="en-US" dirty="0"/>
                        <a:t>30</a:t>
                      </a:r>
                    </a:p>
                  </a:txBody>
                  <a:tcPr/>
                </a:tc>
                <a:tc>
                  <a:txBody>
                    <a:bodyPr/>
                    <a:lstStyle/>
                    <a:p>
                      <a:r>
                        <a:rPr lang="en-US" dirty="0"/>
                        <a:t>800</a:t>
                      </a:r>
                    </a:p>
                  </a:txBody>
                  <a:tcPr/>
                </a:tc>
                <a:extLst>
                  <a:ext uri="{0D108BD9-81ED-4DB2-BD59-A6C34878D82A}">
                    <a16:rowId xmlns:a16="http://schemas.microsoft.com/office/drawing/2014/main" val="10001"/>
                  </a:ext>
                </a:extLst>
              </a:tr>
              <a:tr h="370840">
                <a:tc>
                  <a:txBody>
                    <a:bodyPr/>
                    <a:lstStyle/>
                    <a:p>
                      <a:r>
                        <a:rPr lang="en-US" dirty="0"/>
                        <a:t>37</a:t>
                      </a:r>
                    </a:p>
                  </a:txBody>
                  <a:tcPr/>
                </a:tc>
                <a:tc>
                  <a:txBody>
                    <a:bodyPr/>
                    <a:lstStyle/>
                    <a:p>
                      <a:r>
                        <a:rPr lang="en-US" dirty="0"/>
                        <a:t>950</a:t>
                      </a:r>
                    </a:p>
                  </a:txBody>
                  <a:tcPr/>
                </a:tc>
                <a:extLst>
                  <a:ext uri="{0D108BD9-81ED-4DB2-BD59-A6C34878D82A}">
                    <a16:rowId xmlns:a16="http://schemas.microsoft.com/office/drawing/2014/main" val="10002"/>
                  </a:ext>
                </a:extLst>
              </a:tr>
              <a:tr h="370840">
                <a:tc>
                  <a:txBody>
                    <a:bodyPr/>
                    <a:lstStyle/>
                    <a:p>
                      <a:r>
                        <a:rPr lang="en-US" dirty="0"/>
                        <a:t>25</a:t>
                      </a:r>
                    </a:p>
                  </a:txBody>
                  <a:tcPr/>
                </a:tc>
                <a:tc>
                  <a:txBody>
                    <a:bodyPr/>
                    <a:lstStyle/>
                    <a:p>
                      <a:r>
                        <a:rPr lang="en-US" dirty="0"/>
                        <a:t>600</a:t>
                      </a:r>
                    </a:p>
                  </a:txBody>
                  <a:tcPr/>
                </a:tc>
                <a:extLst>
                  <a:ext uri="{0D108BD9-81ED-4DB2-BD59-A6C34878D82A}">
                    <a16:rowId xmlns:a16="http://schemas.microsoft.com/office/drawing/2014/main" val="10003"/>
                  </a:ext>
                </a:extLst>
              </a:tr>
              <a:tr h="370840">
                <a:tc>
                  <a:txBody>
                    <a:bodyPr/>
                    <a:lstStyle/>
                    <a:p>
                      <a:r>
                        <a:rPr lang="en-US" dirty="0"/>
                        <a:t>43</a:t>
                      </a:r>
                    </a:p>
                  </a:txBody>
                  <a:tcPr/>
                </a:tc>
                <a:tc>
                  <a:txBody>
                    <a:bodyPr/>
                    <a:lstStyle/>
                    <a:p>
                      <a:r>
                        <a:rPr lang="en-US" dirty="0"/>
                        <a:t>1050</a:t>
                      </a:r>
                    </a:p>
                  </a:txBody>
                  <a:tcPr/>
                </a:tc>
                <a:extLst>
                  <a:ext uri="{0D108BD9-81ED-4DB2-BD59-A6C34878D82A}">
                    <a16:rowId xmlns:a16="http://schemas.microsoft.com/office/drawing/2014/main" val="10004"/>
                  </a:ext>
                </a:extLst>
              </a:tr>
              <a:tr h="370840">
                <a:tc>
                  <a:txBody>
                    <a:bodyPr/>
                    <a:lstStyle/>
                    <a:p>
                      <a:r>
                        <a:rPr lang="en-US" dirty="0"/>
                        <a:t>50</a:t>
                      </a:r>
                    </a:p>
                  </a:txBody>
                  <a:tcPr/>
                </a:tc>
                <a:tc>
                  <a:txBody>
                    <a:bodyPr/>
                    <a:lstStyle/>
                    <a:p>
                      <a:r>
                        <a:rPr lang="en-US" dirty="0"/>
                        <a:t>1200</a:t>
                      </a:r>
                    </a:p>
                  </a:txBody>
                  <a:tcPr/>
                </a:tc>
                <a:extLst>
                  <a:ext uri="{0D108BD9-81ED-4DB2-BD59-A6C34878D82A}">
                    <a16:rowId xmlns:a16="http://schemas.microsoft.com/office/drawing/2014/main" val="10005"/>
                  </a:ext>
                </a:extLst>
              </a:tr>
              <a:tr h="370840">
                <a:tc>
                  <a:txBody>
                    <a:bodyPr/>
                    <a:lstStyle/>
                    <a:p>
                      <a:r>
                        <a:rPr lang="en-US" dirty="0"/>
                        <a:t>29</a:t>
                      </a:r>
                    </a:p>
                  </a:txBody>
                  <a:tcPr/>
                </a:tc>
                <a:tc>
                  <a:txBody>
                    <a:bodyPr/>
                    <a:lstStyle/>
                    <a:p>
                      <a:r>
                        <a:rPr lang="en-US" dirty="0"/>
                        <a:t>740</a:t>
                      </a:r>
                    </a:p>
                  </a:txBody>
                  <a:tcPr/>
                </a:tc>
                <a:extLst>
                  <a:ext uri="{0D108BD9-81ED-4DB2-BD59-A6C34878D82A}">
                    <a16:rowId xmlns:a16="http://schemas.microsoft.com/office/drawing/2014/main" val="10006"/>
                  </a:ext>
                </a:extLst>
              </a:tr>
              <a:tr h="370840">
                <a:tc>
                  <a:txBody>
                    <a:bodyPr/>
                    <a:lstStyle/>
                    <a:p>
                      <a:r>
                        <a:rPr lang="en-US" dirty="0"/>
                        <a:t>46</a:t>
                      </a:r>
                    </a:p>
                  </a:txBody>
                  <a:tcPr/>
                </a:tc>
                <a:tc>
                  <a:txBody>
                    <a:bodyPr/>
                    <a:lstStyle/>
                    <a:p>
                      <a:r>
                        <a:rPr lang="en-US" dirty="0"/>
                        <a:t>1100</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fontScale="92500" lnSpcReduction="10000"/>
              </a:bodyPr>
              <a:lstStyle/>
              <a:p>
                <a:pPr algn="just"/>
                <a:r>
                  <a:rPr lang="en-US" sz="1800" b="1" dirty="0">
                    <a:solidFill>
                      <a:schemeClr val="tx1"/>
                    </a:solidFill>
                    <a:latin typeface="Times New Roman" panose="02020603050405020304" pitchFamily="18" charset="0"/>
                    <a:cs typeface="Times New Roman" panose="02020603050405020304" pitchFamily="18" charset="0"/>
                  </a:rPr>
                  <a:t>Numerical Example: Learning (updating </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b="1"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b="1" dirty="0">
                    <a:solidFill>
                      <a:schemeClr val="tx1"/>
                    </a:solidFill>
                    <a:latin typeface="Times New Roman" panose="02020603050405020304" pitchFamily="18" charset="0"/>
                    <a:cs typeface="Times New Roman" panose="02020603050405020304" pitchFamily="18" charset="0"/>
                  </a:rPr>
                  <a:t>) </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b="1" i="1"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(new)=</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sSub>
                      <m:sSubPr>
                        <m:ctrlPr>
                          <a:rPr lang="en-US" sz="1800" i="1">
                            <a:solidFill>
                              <a:schemeClr val="tx1"/>
                            </a:solidFill>
                            <a:latin typeface="Cambria Math" panose="02040503050406030204" pitchFamily="18" charset="0"/>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sub>
                    </m:sSub>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𝟎𝟎𝟎𝟏</m:t>
                    </m:r>
                    <m:r>
                      <a:rPr lang="en-US" sz="1800" b="1" i="1">
                        <a:solidFill>
                          <a:schemeClr val="tx1"/>
                        </a:solidFill>
                        <a:latin typeface="Cambria Math" panose="02040503050406030204"/>
                        <a:cs typeface="Times New Roman" panose="02020603050405020304" pitchFamily="18" charset="0"/>
                      </a:rPr>
                      <m:t>∗</m:t>
                    </m:r>
                  </m:oMath>
                </a14:m>
                <a:r>
                  <a:rPr lang="en-US" sz="1800" b="1" i="1" dirty="0">
                    <a:solidFill>
                      <a:schemeClr val="tx1"/>
                    </a:solidFill>
                    <a:latin typeface="Cambria Math" panose="02040503050406030204"/>
                    <a:cs typeface="Times New Roman" panose="02020603050405020304" pitchFamily="18" charset="0"/>
                  </a:rPr>
                  <a:t>(</a:t>
                </a:r>
                <a14:m>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𝟒𝟗𝟕</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𝟏𝟒𝟏𝟐</m:t>
                    </m:r>
                  </m:oMath>
                </a14:m>
                <a:r>
                  <a:rPr lang="en-US" sz="1800" b="1" i="1" dirty="0">
                    <a:solidFill>
                      <a:schemeClr val="tx1"/>
                    </a:solidFill>
                    <a:latin typeface="Cambria Math" panose="02040503050406030204"/>
                    <a:cs typeface="Times New Roman" panose="02020603050405020304" pitchFamily="18" charset="0"/>
                  </a:rPr>
                  <a:t>)</a:t>
                </a:r>
              </a:p>
              <a:p>
                <a:pPr algn="just"/>
                <a14:m>
                  <m:oMathPara xmlns:m="http://schemas.openxmlformats.org/officeDocument/2006/math">
                    <m:oMathParaPr>
                      <m:jc m:val="left"/>
                    </m:oMathParaPr>
                    <m:oMath>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𝟑𝟎𝟎</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𝟎𝟒𝟗𝟕</m:t>
                      </m:r>
                    </m:oMath>
                  </m:oMathPara>
                </a14:m>
                <a:endParaRPr lang="en-US" sz="1800" b="1" i="1" dirty="0">
                  <a:solidFill>
                    <a:schemeClr val="tx1"/>
                  </a:solidFill>
                  <a:latin typeface="Cambria Math" panose="02040503050406030204"/>
                  <a:cs typeface="Times New Roman" panose="02020603050405020304" pitchFamily="18" charset="0"/>
                </a:endParaRPr>
              </a:p>
              <a:p>
                <a:pPr algn="just"/>
                <a:endParaRPr lang="en-US" sz="1800" b="1" i="1" dirty="0">
                  <a:solidFill>
                    <a:schemeClr val="tx1"/>
                  </a:solidFill>
                  <a:latin typeface="Cambria Math" panose="02040503050406030204"/>
                  <a:cs typeface="Times New Roman" panose="02020603050405020304" pitchFamily="18" charset="0"/>
                </a:endParaRPr>
              </a:p>
              <a:p>
                <a:pPr algn="just"/>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(new)=</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sSub>
                      <m:sSubPr>
                        <m:ctrlPr>
                          <a:rPr lang="en-US" sz="1800" i="1">
                            <a:solidFill>
                              <a:schemeClr val="tx1"/>
                            </a:solidFill>
                            <a:latin typeface="Cambria Math" panose="02040503050406030204" pitchFamily="18" charset="0"/>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sub>
                    </m:sSub>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𝟎𝟎𝟎𝟏</m:t>
                    </m:r>
                    <m:r>
                      <a:rPr lang="en-US" sz="1800" b="1" i="1">
                        <a:solidFill>
                          <a:schemeClr val="tx1"/>
                        </a:solidFill>
                        <a:latin typeface="Cambria Math" panose="02040503050406030204"/>
                        <a:cs typeface="Times New Roman" panose="02020603050405020304" pitchFamily="18" charset="0"/>
                      </a:rPr>
                      <m:t>∗</m:t>
                    </m:r>
                  </m:oMath>
                </a14:m>
                <a:r>
                  <a:rPr lang="en-US" sz="1800" b="1" i="1" dirty="0">
                    <a:solidFill>
                      <a:schemeClr val="tx1"/>
                    </a:solidFill>
                    <a:latin typeface="Cambria Math" panose="02040503050406030204"/>
                    <a:cs typeface="Times New Roman" panose="02020603050405020304" pitchFamily="18" charset="0"/>
                  </a:rPr>
                  <a:t>(</a:t>
                </a:r>
                <a14:m>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𝟐𝟎𝟑𝟖𝟖</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𝟓𝟕𝟒𝟏𝟐</m:t>
                    </m:r>
                  </m:oMath>
                </a14:m>
                <a:r>
                  <a:rPr lang="en-US" sz="1800" b="1" i="1" dirty="0">
                    <a:solidFill>
                      <a:schemeClr val="tx1"/>
                    </a:solidFill>
                    <a:latin typeface="Cambria Math" panose="02040503050406030204"/>
                    <a:cs typeface="Times New Roman" panose="02020603050405020304" pitchFamily="18" charset="0"/>
                  </a:rPr>
                  <a:t>)</a:t>
                </a:r>
              </a:p>
              <a:p>
                <a:pPr algn="just"/>
                <a14:m>
                  <m:oMathPara xmlns:m="http://schemas.openxmlformats.org/officeDocument/2006/math">
                    <m:oMathParaPr>
                      <m:jc m:val="left"/>
                    </m:oMathParaPr>
                    <m:oMath>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𝟏𝟐</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𝟎𝟑</m:t>
                      </m:r>
                    </m:oMath>
                  </m:oMathPara>
                </a14:m>
                <a:endParaRPr lang="en-US" sz="1800" b="1" i="1" dirty="0">
                  <a:solidFill>
                    <a:schemeClr val="tx1"/>
                  </a:solidFill>
                  <a:latin typeface="Cambria Math" panose="02040503050406030204"/>
                  <a:cs typeface="Times New Roman" panose="02020603050405020304" pitchFamily="18" charset="0"/>
                </a:endParaRPr>
              </a:p>
              <a:p>
                <a:pPr algn="just"/>
                <a:endParaRPr lang="en-US" sz="1800" b="1" i="1" dirty="0">
                  <a:solidFill>
                    <a:schemeClr val="tx1"/>
                  </a:solidFill>
                  <a:latin typeface="Cambria Math" panose="02040503050406030204"/>
                  <a:cs typeface="Times New Roman" panose="02020603050405020304" pitchFamily="18" charset="0"/>
                </a:endParaRPr>
              </a:p>
              <a:p>
                <a:pPr algn="just"/>
                <a:r>
                  <a:rPr lang="en-US" sz="1800" b="1" dirty="0">
                    <a:solidFill>
                      <a:schemeClr val="tx1"/>
                    </a:solidFill>
                    <a:latin typeface="Cambria Math" panose="02040503050406030204"/>
                    <a:cs typeface="Times New Roman" panose="02020603050405020304" pitchFamily="18" charset="0"/>
                  </a:rPr>
                  <a:t>Updated equation be</a:t>
                </a:r>
              </a:p>
              <a:p>
                <a:pPr algn="just"/>
                <a:endParaRPr lang="en-US" sz="1800" b="1" dirty="0">
                  <a:solidFill>
                    <a:schemeClr val="tx1"/>
                  </a:solidFill>
                  <a:latin typeface="Cambria Math" panose="02040503050406030204"/>
                  <a:cs typeface="Times New Roman" panose="02020603050405020304" pitchFamily="18" charset="0"/>
                </a:endParaRPr>
              </a:p>
              <a:p>
                <a:pPr algn="l"/>
                <a14:m>
                  <m:oMathPara xmlns:m="http://schemas.openxmlformats.org/officeDocument/2006/math">
                    <m:oMathParaPr>
                      <m:jc m:val="left"/>
                    </m:oMathParaPr>
                    <m:oMath>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𝟎𝟒𝟗𝟕</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𝟏𝟐</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𝟎𝟑</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l"/>
                <a:endParaRPr lang="en-US" sz="1800" dirty="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m:r>
                        <a:rPr lang="en-US" sz="1800" b="1">
                          <a:solidFill>
                            <a:schemeClr val="tx1"/>
                          </a:solidFill>
                          <a:latin typeface="Cambria Math" panose="02040503050406030204"/>
                          <a:cs typeface="Times New Roman" panose="02020603050405020304" pitchFamily="18" charset="0"/>
                        </a:rPr>
                        <m:t>𝐉</m:t>
                      </m:r>
                      <m:r>
                        <a:rPr lang="en-US" sz="1800" b="1" i="0" smtClean="0">
                          <a:solidFill>
                            <a:schemeClr val="tx1"/>
                          </a:solidFill>
                          <a:latin typeface="Cambria Math" panose="02040503050406030204"/>
                          <a:cs typeface="Times New Roman" panose="02020603050405020304" pitchFamily="18" charset="0"/>
                        </a:rPr>
                        <m:t>(</m:t>
                      </m:r>
                      <m:r>
                        <a:rPr lang="en-US" sz="1800" b="1" i="0" smtClean="0">
                          <a:solidFill>
                            <a:schemeClr val="tx1"/>
                          </a:solidFill>
                          <a:latin typeface="Cambria Math" panose="02040503050406030204"/>
                          <a:cs typeface="Times New Roman" panose="02020603050405020304" pitchFamily="18" charset="0"/>
                        </a:rPr>
                        <m:t>𝐧𝐞𝐰</m:t>
                      </m:r>
                      <m:r>
                        <a:rPr lang="en-US" sz="1800" b="1" i="0" smtClean="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pitchFamily="18" charset="0"/>
                                  <a:cs typeface="Times New Roman" panose="02020603050405020304" pitchFamily="18" charset="0"/>
                                </a:rPr>
                              </m:ctrlPr>
                            </m:sSupPr>
                            <m:e>
                              <m:d>
                                <m:dPr>
                                  <m:ctrlPr>
                                    <a:rPr lang="en-US" sz="1800" b="1" i="1">
                                      <a:solidFill>
                                        <a:schemeClr val="tx1"/>
                                      </a:solidFill>
                                      <a:latin typeface="Cambria Math" panose="02040503050406030204" pitchFamily="18" charset="0"/>
                                      <a:cs typeface="Times New Roman" panose="02020603050405020304" pitchFamily="18" charset="0"/>
                                    </a:rPr>
                                  </m:ctrlPr>
                                </m:dPr>
                                <m:e>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i="0"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d>
                            </m:e>
                            <m:sup>
                              <m:r>
                                <a:rPr lang="en-US" sz="1800" b="1" i="1">
                                  <a:solidFill>
                                    <a:schemeClr val="tx1"/>
                                  </a:solidFill>
                                  <a:latin typeface="Cambria Math" panose="02040503050406030204"/>
                                  <a:cs typeface="Times New Roman" panose="02020603050405020304" pitchFamily="18" charset="0"/>
                                </a:rPr>
                                <m:t>𝟐</m:t>
                              </m:r>
                            </m:sup>
                          </m:sSup>
                        </m:e>
                      </m:nary>
                      <m:r>
                        <a:rPr lang="en-US" sz="1800" i="1">
                          <a:solidFill>
                            <a:schemeClr val="tx1"/>
                          </a:solidFill>
                          <a:latin typeface="Cambria Math" panose="02040503050406030204"/>
                          <a:cs typeface="Times New Roman" panose="02020603050405020304" pitchFamily="18" charset="0"/>
                        </a:rPr>
                        <m:t>=</m:t>
                      </m:r>
                      <m:r>
                        <a:rPr lang="en-US" sz="1800" b="0" i="1" smtClean="0">
                          <a:solidFill>
                            <a:schemeClr val="tx1"/>
                          </a:solidFill>
                          <a:latin typeface="Cambria Math" panose="02040503050406030204"/>
                          <a:cs typeface="Times New Roman" panose="02020603050405020304" pitchFamily="18" charset="0"/>
                        </a:rPr>
                        <m:t>39084.8289</m:t>
                      </m:r>
                    </m:oMath>
                  </m:oMathPara>
                </a14:m>
                <a:endParaRPr lang="en-US" sz="1800" b="1" i="1" dirty="0">
                  <a:solidFill>
                    <a:schemeClr val="tx1"/>
                  </a:solidFill>
                  <a:latin typeface="Cambria Math" panose="02040503050406030204"/>
                  <a:cs typeface="Times New Roman" panose="02020603050405020304" pitchFamily="18" charset="0"/>
                </a:endParaRPr>
              </a:p>
              <a:p>
                <a:pPr algn="just"/>
                <a:endParaRPr lang="en-US" sz="1800" b="1" i="1" dirty="0">
                  <a:solidFill>
                    <a:schemeClr val="tx1"/>
                  </a:solidFill>
                  <a:latin typeface="Cambria Math" panose="02040503050406030204"/>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a:stretch>
              </a:blipFill>
            </p:spPr>
            <p:txBody>
              <a:bodyPr/>
              <a:lstStyle/>
              <a:p>
                <a:r>
                  <a:rPr lang="en-US" altLang="en-US">
                    <a:noFill/>
                  </a:rPr>
                  <a:t> </a:t>
                </a:r>
              </a:p>
            </p:txBody>
          </p:sp>
        </mc:Fallback>
      </mc:AlternateContent>
      <p:graphicFrame>
        <p:nvGraphicFramePr>
          <p:cNvPr id="4" name="Table 3"/>
          <p:cNvGraphicFramePr>
            <a:graphicFrameLocks noGrp="1"/>
          </p:cNvGraphicFramePr>
          <p:nvPr/>
        </p:nvGraphicFramePr>
        <p:xfrm>
          <a:off x="6705600" y="1219200"/>
          <a:ext cx="2010537" cy="2961640"/>
        </p:xfrm>
        <a:graphic>
          <a:graphicData uri="http://schemas.openxmlformats.org/drawingml/2006/table">
            <a:tbl>
              <a:tblPr firstRow="1" bandRow="1">
                <a:tableStyleId>{5C22544A-7EE6-4342-B048-85BDC9FD1C3A}</a:tableStyleId>
              </a:tblPr>
              <a:tblGrid>
                <a:gridCol w="893191">
                  <a:extLst>
                    <a:ext uri="{9D8B030D-6E8A-4147-A177-3AD203B41FA5}">
                      <a16:colId xmlns:a16="http://schemas.microsoft.com/office/drawing/2014/main" val="20000"/>
                    </a:ext>
                  </a:extLst>
                </a:gridCol>
                <a:gridCol w="1117346">
                  <a:extLst>
                    <a:ext uri="{9D8B030D-6E8A-4147-A177-3AD203B41FA5}">
                      <a16:colId xmlns:a16="http://schemas.microsoft.com/office/drawing/2014/main" val="20001"/>
                    </a:ext>
                  </a:extLst>
                </a:gridCol>
              </a:tblGrid>
              <a:tr h="142240">
                <a:tc>
                  <a:txBody>
                    <a:bodyPr/>
                    <a:lstStyle/>
                    <a:p>
                      <a:r>
                        <a:rPr lang="en-US" dirty="0"/>
                        <a:t>Age (x)</a:t>
                      </a:r>
                    </a:p>
                  </a:txBody>
                  <a:tcPr/>
                </a:tc>
                <a:tc>
                  <a:txBody>
                    <a:bodyPr/>
                    <a:lstStyle/>
                    <a:p>
                      <a:r>
                        <a:rPr lang="en-US" dirty="0"/>
                        <a:t>Salary (y)</a:t>
                      </a:r>
                    </a:p>
                  </a:txBody>
                  <a:tcPr/>
                </a:tc>
                <a:extLst>
                  <a:ext uri="{0D108BD9-81ED-4DB2-BD59-A6C34878D82A}">
                    <a16:rowId xmlns:a16="http://schemas.microsoft.com/office/drawing/2014/main" val="10000"/>
                  </a:ext>
                </a:extLst>
              </a:tr>
              <a:tr h="370840">
                <a:tc>
                  <a:txBody>
                    <a:bodyPr/>
                    <a:lstStyle/>
                    <a:p>
                      <a:r>
                        <a:rPr lang="en-US" dirty="0"/>
                        <a:t>30</a:t>
                      </a:r>
                    </a:p>
                  </a:txBody>
                  <a:tcPr/>
                </a:tc>
                <a:tc>
                  <a:txBody>
                    <a:bodyPr/>
                    <a:lstStyle/>
                    <a:p>
                      <a:r>
                        <a:rPr lang="en-US" dirty="0"/>
                        <a:t>800</a:t>
                      </a:r>
                    </a:p>
                  </a:txBody>
                  <a:tcPr/>
                </a:tc>
                <a:extLst>
                  <a:ext uri="{0D108BD9-81ED-4DB2-BD59-A6C34878D82A}">
                    <a16:rowId xmlns:a16="http://schemas.microsoft.com/office/drawing/2014/main" val="10001"/>
                  </a:ext>
                </a:extLst>
              </a:tr>
              <a:tr h="370840">
                <a:tc>
                  <a:txBody>
                    <a:bodyPr/>
                    <a:lstStyle/>
                    <a:p>
                      <a:r>
                        <a:rPr lang="en-US" dirty="0"/>
                        <a:t>37</a:t>
                      </a:r>
                    </a:p>
                  </a:txBody>
                  <a:tcPr/>
                </a:tc>
                <a:tc>
                  <a:txBody>
                    <a:bodyPr/>
                    <a:lstStyle/>
                    <a:p>
                      <a:r>
                        <a:rPr lang="en-US" dirty="0"/>
                        <a:t>950</a:t>
                      </a:r>
                    </a:p>
                  </a:txBody>
                  <a:tcPr/>
                </a:tc>
                <a:extLst>
                  <a:ext uri="{0D108BD9-81ED-4DB2-BD59-A6C34878D82A}">
                    <a16:rowId xmlns:a16="http://schemas.microsoft.com/office/drawing/2014/main" val="10002"/>
                  </a:ext>
                </a:extLst>
              </a:tr>
              <a:tr h="370840">
                <a:tc>
                  <a:txBody>
                    <a:bodyPr/>
                    <a:lstStyle/>
                    <a:p>
                      <a:r>
                        <a:rPr lang="en-US" dirty="0"/>
                        <a:t>25</a:t>
                      </a:r>
                    </a:p>
                  </a:txBody>
                  <a:tcPr/>
                </a:tc>
                <a:tc>
                  <a:txBody>
                    <a:bodyPr/>
                    <a:lstStyle/>
                    <a:p>
                      <a:r>
                        <a:rPr lang="en-US" dirty="0"/>
                        <a:t>600</a:t>
                      </a:r>
                    </a:p>
                  </a:txBody>
                  <a:tcPr/>
                </a:tc>
                <a:extLst>
                  <a:ext uri="{0D108BD9-81ED-4DB2-BD59-A6C34878D82A}">
                    <a16:rowId xmlns:a16="http://schemas.microsoft.com/office/drawing/2014/main" val="10003"/>
                  </a:ext>
                </a:extLst>
              </a:tr>
              <a:tr h="370840">
                <a:tc>
                  <a:txBody>
                    <a:bodyPr/>
                    <a:lstStyle/>
                    <a:p>
                      <a:r>
                        <a:rPr lang="en-US" dirty="0"/>
                        <a:t>43</a:t>
                      </a:r>
                    </a:p>
                  </a:txBody>
                  <a:tcPr/>
                </a:tc>
                <a:tc>
                  <a:txBody>
                    <a:bodyPr/>
                    <a:lstStyle/>
                    <a:p>
                      <a:r>
                        <a:rPr lang="en-US" dirty="0"/>
                        <a:t>1050</a:t>
                      </a:r>
                    </a:p>
                  </a:txBody>
                  <a:tcPr/>
                </a:tc>
                <a:extLst>
                  <a:ext uri="{0D108BD9-81ED-4DB2-BD59-A6C34878D82A}">
                    <a16:rowId xmlns:a16="http://schemas.microsoft.com/office/drawing/2014/main" val="10004"/>
                  </a:ext>
                </a:extLst>
              </a:tr>
              <a:tr h="370840">
                <a:tc>
                  <a:txBody>
                    <a:bodyPr/>
                    <a:lstStyle/>
                    <a:p>
                      <a:r>
                        <a:rPr lang="en-US" dirty="0"/>
                        <a:t>50</a:t>
                      </a:r>
                    </a:p>
                  </a:txBody>
                  <a:tcPr/>
                </a:tc>
                <a:tc>
                  <a:txBody>
                    <a:bodyPr/>
                    <a:lstStyle/>
                    <a:p>
                      <a:r>
                        <a:rPr lang="en-US" dirty="0"/>
                        <a:t>1200</a:t>
                      </a:r>
                    </a:p>
                  </a:txBody>
                  <a:tcPr/>
                </a:tc>
                <a:extLst>
                  <a:ext uri="{0D108BD9-81ED-4DB2-BD59-A6C34878D82A}">
                    <a16:rowId xmlns:a16="http://schemas.microsoft.com/office/drawing/2014/main" val="10005"/>
                  </a:ext>
                </a:extLst>
              </a:tr>
              <a:tr h="370840">
                <a:tc>
                  <a:txBody>
                    <a:bodyPr/>
                    <a:lstStyle/>
                    <a:p>
                      <a:r>
                        <a:rPr lang="en-US" dirty="0"/>
                        <a:t>29</a:t>
                      </a:r>
                    </a:p>
                  </a:txBody>
                  <a:tcPr/>
                </a:tc>
                <a:tc>
                  <a:txBody>
                    <a:bodyPr/>
                    <a:lstStyle/>
                    <a:p>
                      <a:r>
                        <a:rPr lang="en-US" dirty="0"/>
                        <a:t>740</a:t>
                      </a:r>
                    </a:p>
                  </a:txBody>
                  <a:tcPr/>
                </a:tc>
                <a:extLst>
                  <a:ext uri="{0D108BD9-81ED-4DB2-BD59-A6C34878D82A}">
                    <a16:rowId xmlns:a16="http://schemas.microsoft.com/office/drawing/2014/main" val="10006"/>
                  </a:ext>
                </a:extLst>
              </a:tr>
              <a:tr h="370840">
                <a:tc>
                  <a:txBody>
                    <a:bodyPr/>
                    <a:lstStyle/>
                    <a:p>
                      <a:r>
                        <a:rPr lang="en-US" dirty="0"/>
                        <a:t>46</a:t>
                      </a:r>
                    </a:p>
                  </a:txBody>
                  <a:tcPr/>
                </a:tc>
                <a:tc>
                  <a:txBody>
                    <a:bodyPr/>
                    <a:lstStyle/>
                    <a:p>
                      <a:r>
                        <a:rPr lang="en-US" dirty="0"/>
                        <a:t>1100</a:t>
                      </a:r>
                    </a:p>
                  </a:txBody>
                  <a:tcPr/>
                </a:tc>
                <a:extLst>
                  <a:ext uri="{0D108BD9-81ED-4DB2-BD59-A6C34878D82A}">
                    <a16:rowId xmlns:a16="http://schemas.microsoft.com/office/drawing/2014/main" val="10007"/>
                  </a:ext>
                </a:extLst>
              </a:tr>
            </a:tbl>
          </a:graphicData>
        </a:graphic>
      </p:graphicFrame>
      <p:sp>
        <p:nvSpPr>
          <p:cNvPr id="5" name="Cloud 4"/>
          <p:cNvSpPr/>
          <p:nvPr/>
        </p:nvSpPr>
        <p:spPr>
          <a:xfrm>
            <a:off x="4724400" y="4495800"/>
            <a:ext cx="3962400" cy="1981200"/>
          </a:xfrm>
          <a:prstGeom prst="cloud">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FF0000"/>
                </a:solidFill>
              </a:rPr>
              <a:t>Repeat until convergence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p:txBody>
          <a:bodyPr>
            <a:normAutofit fontScale="90000"/>
          </a:bodyPr>
          <a:lstStyle/>
          <a:p>
            <a:pPr eaLnBrk="1" hangingPunct="1"/>
            <a:r>
              <a:rPr lang="en-US" dirty="0"/>
              <a:t>Some Linear Algebra - The Solution!</a:t>
            </a:r>
            <a:endParaRPr lang="tr-TR"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p>
        </p:txBody>
      </p:sp>
      <p:pic>
        <p:nvPicPr>
          <p:cNvPr id="7" name="Picture 6" descr="ex6-ch2.jpg"/>
          <p:cNvPicPr>
            <a:picLocks noChangeAspect="1"/>
          </p:cNvPicPr>
          <p:nvPr/>
        </p:nvPicPr>
        <p:blipFill rotWithShape="1">
          <a:blip r:embed="rId3" cstate="print"/>
          <a:srcRect t="42654"/>
          <a:stretch>
            <a:fillRect/>
          </a:stretch>
        </p:blipFill>
        <p:spPr>
          <a:xfrm>
            <a:off x="380159" y="2147184"/>
            <a:ext cx="8431999" cy="300039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a:xfrm>
            <a:off x="214282" y="357166"/>
            <a:ext cx="8715436" cy="631844"/>
          </a:xfrm>
        </p:spPr>
        <p:txBody>
          <a:bodyPr>
            <a:normAutofit/>
          </a:bodyPr>
          <a:lstStyle/>
          <a:p>
            <a:pPr eaLnBrk="1" hangingPunct="1"/>
            <a:r>
              <a:rPr lang="en-US" sz="3200" dirty="0"/>
              <a:t>Example of Linear Regression - Data Matrices</a:t>
            </a:r>
            <a:endParaRPr lang="tr-TR" sz="3200"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p>
        </p:txBody>
      </p:sp>
      <p:pic>
        <p:nvPicPr>
          <p:cNvPr id="6" name="Picture 5" descr="ex07-ch2.jpg"/>
          <p:cNvPicPr>
            <a:picLocks noChangeAspect="1"/>
          </p:cNvPicPr>
          <p:nvPr/>
        </p:nvPicPr>
        <p:blipFill>
          <a:blip r:embed="rId3" cstate="print"/>
          <a:stretch>
            <a:fillRect/>
          </a:stretch>
        </p:blipFill>
        <p:spPr>
          <a:xfrm>
            <a:off x="142844" y="2740371"/>
            <a:ext cx="3291931" cy="2260265"/>
          </a:xfrm>
          <a:prstGeom prst="rect">
            <a:avLst/>
          </a:prstGeom>
          <a:ln>
            <a:solidFill>
              <a:schemeClr val="tx1"/>
            </a:solidFill>
          </a:ln>
        </p:spPr>
      </p:pic>
      <p:pic>
        <p:nvPicPr>
          <p:cNvPr id="8" name="Picture 7" descr="ex08-ch2.jpg"/>
          <p:cNvPicPr>
            <a:picLocks noChangeAspect="1"/>
          </p:cNvPicPr>
          <p:nvPr/>
        </p:nvPicPr>
        <p:blipFill>
          <a:blip r:embed="rId4" cstate="print"/>
          <a:stretch>
            <a:fillRect/>
          </a:stretch>
        </p:blipFill>
        <p:spPr>
          <a:xfrm>
            <a:off x="3457608" y="2000240"/>
            <a:ext cx="5543548" cy="370561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a:xfrm>
            <a:off x="914400" y="142852"/>
            <a:ext cx="7772400" cy="703282"/>
          </a:xfrm>
        </p:spPr>
        <p:txBody>
          <a:bodyPr>
            <a:normAutofit fontScale="90000"/>
          </a:bodyPr>
          <a:lstStyle/>
          <a:p>
            <a:pPr eaLnBrk="1" hangingPunct="1"/>
            <a:r>
              <a:rPr lang="en-US" b="1" i="1" dirty="0"/>
              <a:t>X</a:t>
            </a:r>
            <a:r>
              <a:rPr lang="en-US" b="1" i="1" baseline="30000" dirty="0"/>
              <a:t>T</a:t>
            </a:r>
            <a:r>
              <a:rPr lang="en-US" b="1" i="1" dirty="0"/>
              <a:t>X</a:t>
            </a:r>
            <a:endParaRPr lang="tr-TR" b="1" i="1"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p>
        </p:txBody>
      </p:sp>
      <p:pic>
        <p:nvPicPr>
          <p:cNvPr id="10" name="Picture 9" descr="ex09-ch2.jpg"/>
          <p:cNvPicPr>
            <a:picLocks noChangeAspect="1"/>
          </p:cNvPicPr>
          <p:nvPr/>
        </p:nvPicPr>
        <p:blipFill>
          <a:blip r:embed="rId3" cstate="print"/>
          <a:stretch>
            <a:fillRect/>
          </a:stretch>
        </p:blipFill>
        <p:spPr>
          <a:xfrm>
            <a:off x="142844" y="1571612"/>
            <a:ext cx="8885990" cy="407196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a:xfrm>
            <a:off x="914400" y="142852"/>
            <a:ext cx="7772400" cy="703282"/>
          </a:xfrm>
        </p:spPr>
        <p:txBody>
          <a:bodyPr>
            <a:normAutofit fontScale="90000"/>
          </a:bodyPr>
          <a:lstStyle/>
          <a:p>
            <a:r>
              <a:rPr lang="en-US" b="1" i="1" dirty="0"/>
              <a:t>X</a:t>
            </a:r>
            <a:r>
              <a:rPr lang="en-US" b="1" i="1" baseline="30000" dirty="0"/>
              <a:t>T</a:t>
            </a:r>
            <a:r>
              <a:rPr lang="en-US" b="1" i="1" dirty="0"/>
              <a:t>Y</a:t>
            </a:r>
            <a:endParaRPr lang="tr-TR"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p>
        </p:txBody>
      </p:sp>
      <p:pic>
        <p:nvPicPr>
          <p:cNvPr id="8" name="Picture 7" descr="ex10-ch2.jpg"/>
          <p:cNvPicPr>
            <a:picLocks noChangeAspect="1"/>
          </p:cNvPicPr>
          <p:nvPr/>
        </p:nvPicPr>
        <p:blipFill>
          <a:blip r:embed="rId3" cstate="print"/>
          <a:stretch>
            <a:fillRect/>
          </a:stretch>
        </p:blipFill>
        <p:spPr>
          <a:xfrm>
            <a:off x="145742" y="1355329"/>
            <a:ext cx="8783976" cy="464543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a:xfrm>
            <a:off x="914400" y="142852"/>
            <a:ext cx="7772400" cy="703282"/>
          </a:xfrm>
        </p:spPr>
        <p:txBody>
          <a:bodyPr>
            <a:normAutofit fontScale="90000"/>
          </a:bodyPr>
          <a:lstStyle/>
          <a:p>
            <a:pPr eaLnBrk="1" hangingPunct="1"/>
            <a:r>
              <a:rPr lang="en-US" dirty="0"/>
              <a:t>Solving for </a:t>
            </a:r>
            <a:r>
              <a:rPr lang="en-US" b="1" i="1" dirty="0"/>
              <a:t>w</a:t>
            </a:r>
            <a:r>
              <a:rPr lang="en-US" dirty="0"/>
              <a:t> – Regression Curve</a:t>
            </a:r>
            <a:endParaRPr lang="tr-TR"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p>
        </p:txBody>
      </p:sp>
      <p:pic>
        <p:nvPicPr>
          <p:cNvPr id="6" name="Picture 5" descr="ex11-ch2.jpg"/>
          <p:cNvPicPr>
            <a:picLocks noChangeAspect="1"/>
          </p:cNvPicPr>
          <p:nvPr/>
        </p:nvPicPr>
        <p:blipFill>
          <a:blip r:embed="rId3" cstate="print"/>
          <a:stretch>
            <a:fillRect/>
          </a:stretch>
        </p:blipFill>
        <p:spPr>
          <a:xfrm>
            <a:off x="142844" y="752468"/>
            <a:ext cx="8815479" cy="1885952"/>
          </a:xfrm>
          <a:prstGeom prst="rect">
            <a:avLst/>
          </a:prstGeom>
        </p:spPr>
      </p:pic>
      <p:pic>
        <p:nvPicPr>
          <p:cNvPr id="7" name="Picture 6" descr="ex12-ch2.jpg"/>
          <p:cNvPicPr>
            <a:picLocks noChangeAspect="1"/>
          </p:cNvPicPr>
          <p:nvPr/>
        </p:nvPicPr>
        <p:blipFill>
          <a:blip r:embed="rId4" cstate="print"/>
          <a:stretch>
            <a:fillRect/>
          </a:stretch>
        </p:blipFill>
        <p:spPr>
          <a:xfrm>
            <a:off x="2071670" y="2786058"/>
            <a:ext cx="4899115" cy="392909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Logistic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Logistic regression (also called </a:t>
                </a:r>
                <a:r>
                  <a:rPr lang="en-US" sz="1800" dirty="0" err="1">
                    <a:solidFill>
                      <a:schemeClr val="tx1"/>
                    </a:solidFill>
                    <a:latin typeface="Times New Roman" panose="02020603050405020304" pitchFamily="18" charset="0"/>
                    <a:cs typeface="Times New Roman" panose="02020603050405020304" pitchFamily="18" charset="0"/>
                  </a:rPr>
                  <a:t>logit</a:t>
                </a:r>
                <a:r>
                  <a:rPr lang="en-US" sz="1800" dirty="0">
                    <a:solidFill>
                      <a:schemeClr val="tx1"/>
                    </a:solidFill>
                    <a:latin typeface="Times New Roman" panose="02020603050405020304" pitchFamily="18" charset="0"/>
                    <a:cs typeface="Times New Roman" panose="02020603050405020304" pitchFamily="18" charset="0"/>
                  </a:rPr>
                  <a:t> regression) is commonly used to estimate the probability that an instance belongs to a particular class (e.g., what is the probability that this email is spam?).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If the estimated probability is greater than a given threshold (typically 50%), then the model predicts that the instance belongs to that class (called the positive class, labeled “1”), and otherwise it predicts that it does not (i.e., it belongs to the negative class, labeled “0”). This makes it a binary classifier. </a:t>
                </a:r>
              </a:p>
              <a:p>
                <a:pPr algn="just"/>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Just like a </a:t>
                </a:r>
                <a:r>
                  <a:rPr lang="en-US" sz="1800" b="1" dirty="0">
                    <a:solidFill>
                      <a:schemeClr val="tx1"/>
                    </a:solidFill>
                    <a:latin typeface="Times New Roman" panose="02020603050405020304" pitchFamily="18" charset="0"/>
                    <a:cs typeface="Times New Roman" panose="02020603050405020304" pitchFamily="18" charset="0"/>
                  </a:rPr>
                  <a:t>linear regression </a:t>
                </a:r>
                <a:r>
                  <a:rPr lang="en-US" sz="1800" dirty="0">
                    <a:solidFill>
                      <a:schemeClr val="tx1"/>
                    </a:solidFill>
                    <a:latin typeface="Times New Roman" panose="02020603050405020304" pitchFamily="18" charset="0"/>
                    <a:cs typeface="Times New Roman" panose="02020603050405020304" pitchFamily="18" charset="0"/>
                  </a:rPr>
                  <a:t>model, a </a:t>
                </a:r>
                <a:r>
                  <a:rPr lang="en-US" sz="1800" b="1" dirty="0">
                    <a:solidFill>
                      <a:schemeClr val="tx1"/>
                    </a:solidFill>
                    <a:latin typeface="Times New Roman" panose="02020603050405020304" pitchFamily="18" charset="0"/>
                    <a:cs typeface="Times New Roman" panose="02020603050405020304" pitchFamily="18" charset="0"/>
                  </a:rPr>
                  <a:t>logistic regression </a:t>
                </a:r>
                <a:r>
                  <a:rPr lang="en-US" sz="1800" dirty="0">
                    <a:solidFill>
                      <a:schemeClr val="tx1"/>
                    </a:solidFill>
                    <a:latin typeface="Times New Roman" panose="02020603050405020304" pitchFamily="18" charset="0"/>
                    <a:cs typeface="Times New Roman" panose="02020603050405020304" pitchFamily="18" charset="0"/>
                  </a:rPr>
                  <a:t>model computes a weighted sum of the input features (plus a bias term), but instead of outputting the result directly like the linear regression model does, it outputs the logistic of this result.</a:t>
                </a:r>
              </a:p>
              <a:p>
                <a:pPr algn="just"/>
                <a14:m>
                  <m:oMathPara xmlns:m="http://schemas.openxmlformats.org/officeDocument/2006/math">
                    <m:oMath>
                      <m:r>
                        <a:rPr lang="en-US" sz="1800" b="1" i="1" smtClean="0">
                          <a:solidFill>
                            <a:schemeClr val="tx1"/>
                          </a:solidFill>
                          <a:latin typeface="Cambria Math" panose="02040503050406030204"/>
                          <a:ea typeface="Cambria Math" panose="02040503050406030204"/>
                          <a:cs typeface="Times New Roman" panose="02020603050405020304" pitchFamily="18" charset="0"/>
                        </a:rPr>
                        <m:t>𝝈</m:t>
                      </m:r>
                      <m:r>
                        <a:rPr lang="en-US" sz="1800" b="1" i="1" smtClean="0">
                          <a:solidFill>
                            <a:schemeClr val="tx1"/>
                          </a:solidFill>
                          <a:latin typeface="Cambria Math" panose="02040503050406030204"/>
                          <a:ea typeface="Cambria Math" panose="02040503050406030204"/>
                          <a:cs typeface="Times New Roman" panose="02020603050405020304" pitchFamily="18" charset="0"/>
                        </a:rPr>
                        <m:t>(</m:t>
                      </m:r>
                      <m:r>
                        <a:rPr lang="en-US" sz="1800" b="1" i="1" smtClean="0">
                          <a:solidFill>
                            <a:schemeClr val="tx1"/>
                          </a:solidFill>
                          <a:latin typeface="Cambria Math" panose="02040503050406030204"/>
                          <a:ea typeface="Cambria Math" panose="02040503050406030204"/>
                          <a:cs typeface="Times New Roman" panose="02020603050405020304" pitchFamily="18" charset="0"/>
                        </a:rPr>
                        <m:t>𝒕</m:t>
                      </m:r>
                      <m:r>
                        <a:rPr lang="en-US" sz="1800" b="1" i="1" smtClean="0">
                          <a:solidFill>
                            <a:schemeClr val="tx1"/>
                          </a:solidFill>
                          <a:latin typeface="Cambria Math" panose="02040503050406030204"/>
                          <a:ea typeface="Cambria Math" panose="02040503050406030204"/>
                          <a:cs typeface="Times New Roman" panose="02020603050405020304" pitchFamily="18" charset="0"/>
                        </a:rPr>
                        <m:t>)=</m:t>
                      </m:r>
                      <m:f>
                        <m:fPr>
                          <m:ctrlPr>
                            <a:rPr lang="en-US" sz="1800" b="1" i="1" smtClean="0">
                              <a:solidFill>
                                <a:schemeClr val="tx1"/>
                              </a:solidFill>
                              <a:latin typeface="Cambria Math" panose="02040503050406030204"/>
                              <a:cs typeface="Times New Roman" panose="02020603050405020304" pitchFamily="18" charset="0"/>
                            </a:rPr>
                          </m:ctrlPr>
                        </m:fPr>
                        <m:num>
                          <m:r>
                            <a:rPr lang="en-US" sz="1800" b="1" i="1" smtClean="0">
                              <a:solidFill>
                                <a:schemeClr val="tx1"/>
                              </a:solidFill>
                              <a:latin typeface="Cambria Math" panose="02040503050406030204"/>
                              <a:cs typeface="Times New Roman" panose="02020603050405020304" pitchFamily="18" charset="0"/>
                            </a:rPr>
                            <m:t>𝟏</m:t>
                          </m:r>
                        </m:num>
                        <m:den>
                          <m:r>
                            <a:rPr lang="en-US" sz="1800" b="1" i="1" smtClean="0">
                              <a:solidFill>
                                <a:schemeClr val="tx1"/>
                              </a:solidFill>
                              <a:latin typeface="Cambria Math" panose="02040503050406030204"/>
                              <a:cs typeface="Times New Roman" panose="02020603050405020304" pitchFamily="18" charset="0"/>
                            </a:rPr>
                            <m:t>𝟏</m:t>
                          </m:r>
                          <m:r>
                            <a:rPr lang="en-US" sz="1800" b="1" i="1" smtClean="0">
                              <a:solidFill>
                                <a:schemeClr val="tx1"/>
                              </a:solidFill>
                              <a:latin typeface="Cambria Math" panose="02040503050406030204"/>
                              <a:cs typeface="Times New Roman" panose="02020603050405020304" pitchFamily="18" charset="0"/>
                            </a:rPr>
                            <m:t>+</m:t>
                          </m:r>
                          <m:sSup>
                            <m:sSupPr>
                              <m:ctrlPr>
                                <a:rPr lang="en-US" sz="1800" b="1" i="1" smtClean="0">
                                  <a:solidFill>
                                    <a:schemeClr val="tx1"/>
                                  </a:solidFill>
                                  <a:latin typeface="Cambria Math" panose="02040503050406030204"/>
                                  <a:cs typeface="Times New Roman" panose="02020603050405020304" pitchFamily="18" charset="0"/>
                                </a:rPr>
                              </m:ctrlPr>
                            </m:sSupPr>
                            <m:e>
                              <m:r>
                                <a:rPr lang="en-US" sz="1800" b="1" i="1" smtClean="0">
                                  <a:solidFill>
                                    <a:schemeClr val="tx1"/>
                                  </a:solidFill>
                                  <a:latin typeface="Cambria Math" panose="02040503050406030204"/>
                                  <a:cs typeface="Times New Roman" panose="02020603050405020304" pitchFamily="18" charset="0"/>
                                </a:rPr>
                                <m:t>𝒆</m:t>
                              </m:r>
                            </m:e>
                            <m:sup>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𝒕</m:t>
                              </m:r>
                            </m:sup>
                          </m:sSup>
                        </m:den>
                      </m:f>
                    </m:oMath>
                  </m:oMathPara>
                </a14:m>
                <a:endParaRPr lang="en-US" sz="1800" b="1"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Logistic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a:bodyPr>
              <a:lstStyle/>
              <a:p>
                <a:pPr algn="just"/>
                <a14:m>
                  <m:oMath xmlns:m="http://schemas.openxmlformats.org/officeDocument/2006/math">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r>
                  <a:rPr lang="en-US" sz="1800" dirty="0">
                    <a:solidFill>
                      <a:schemeClr val="tx1"/>
                    </a:solidFill>
                    <a:latin typeface="Times New Roman" panose="02020603050405020304" pitchFamily="18" charset="0"/>
                    <a:cs typeface="Times New Roman" panose="02020603050405020304" pitchFamily="18" charset="0"/>
                  </a:rPr>
                  <a:t> becomes </a:t>
                </a:r>
                <a14:m>
                  <m:oMath xmlns:m="http://schemas.openxmlformats.org/officeDocument/2006/math">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𝝈</m:t>
                        </m:r>
                        <m:r>
                          <a:rPr lang="en-US" sz="1800" b="1" i="1" smtClean="0">
                            <a:solidFill>
                              <a:schemeClr val="tx1"/>
                            </a:solidFill>
                            <a:latin typeface="Cambria Math" panose="02040503050406030204"/>
                            <a:ea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smtClean="0">
                        <a:solidFill>
                          <a:schemeClr val="tx1"/>
                        </a:solidFill>
                        <a:latin typeface="Cambria Math" panose="02040503050406030204"/>
                        <a:cs typeface="Times New Roman" panose="02020603050405020304" pitchFamily="18" charset="0"/>
                      </a:rPr>
                      <m:t>)</m:t>
                    </m:r>
                  </m:oMath>
                </a14:m>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ea typeface="Cambria Math" panose="02040503050406030204"/>
                    <a:cs typeface="Times New Roman" panose="02020603050405020304" pitchFamily="18" charset="0"/>
                  </a:rPr>
                  <a:t>where</a:t>
                </a:r>
                <a:r>
                  <a:rPr lang="en-US" sz="1800" b="1" dirty="0">
                    <a:solidFill>
                      <a:schemeClr val="tx1"/>
                    </a:solidFill>
                    <a:ea typeface="Cambria Math" panose="02040503050406030204"/>
                    <a:cs typeface="Times New Roman" panose="02020603050405020304" pitchFamily="18" charset="0"/>
                  </a:rPr>
                  <a:t> </a:t>
                </a:r>
                <a14:m>
                  <m:oMath xmlns:m="http://schemas.openxmlformats.org/officeDocument/2006/math">
                    <m:r>
                      <a:rPr lang="en-US" sz="1800" b="1" i="1">
                        <a:solidFill>
                          <a:schemeClr val="tx1"/>
                        </a:solidFill>
                        <a:latin typeface="Cambria Math" panose="02040503050406030204"/>
                        <a:ea typeface="Cambria Math" panose="02040503050406030204"/>
                        <a:cs typeface="Times New Roman" panose="02020603050405020304" pitchFamily="18" charset="0"/>
                      </a:rPr>
                      <m:t>𝝈</m:t>
                    </m:r>
                    <m:r>
                      <a:rPr lang="en-US" sz="1800" b="1" i="1">
                        <a:solidFill>
                          <a:schemeClr val="tx1"/>
                        </a:solidFill>
                        <a:latin typeface="Cambria Math" panose="02040503050406030204"/>
                        <a:ea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𝒕</m:t>
                    </m:r>
                    <m:r>
                      <a:rPr lang="en-US" sz="1800" b="1" i="1">
                        <a:solidFill>
                          <a:schemeClr val="tx1"/>
                        </a:solidFill>
                        <a:latin typeface="Cambria Math" panose="02040503050406030204"/>
                        <a:ea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𝟏</m:t>
                        </m:r>
                        <m:r>
                          <a:rPr lang="en-US" sz="1800" b="1" i="1">
                            <a:solidFill>
                              <a:schemeClr val="tx1"/>
                            </a:solidFill>
                            <a:latin typeface="Cambria Math" panose="02040503050406030204"/>
                            <a:cs typeface="Times New Roman" panose="02020603050405020304" pitchFamily="18" charset="0"/>
                          </a:rPr>
                          <m:t>+</m:t>
                        </m:r>
                        <m:sSup>
                          <m:sSupPr>
                            <m:ctrlPr>
                              <a:rPr lang="en-US" sz="1800" b="1" i="1">
                                <a:solidFill>
                                  <a:schemeClr val="tx1"/>
                                </a:solidFill>
                                <a:latin typeface="Cambria Math" panose="02040503050406030204"/>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𝒆</m:t>
                            </m:r>
                          </m:e>
                          <m:sup>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𝒕</m:t>
                            </m:r>
                          </m:sup>
                        </m:sSup>
                      </m:den>
                    </m:f>
                  </m:oMath>
                </a14:m>
                <a:endParaRPr lang="en-US" sz="1800" b="1" dirty="0">
                  <a:solidFill>
                    <a:schemeClr val="tx1"/>
                  </a:solidFill>
                  <a:latin typeface="Times New Roman" panose="02020603050405020304" pitchFamily="18" charset="0"/>
                  <a:cs typeface="Times New Roman" panose="02020603050405020304" pitchFamily="18" charset="0"/>
                </a:endParaRPr>
              </a:p>
              <a:p>
                <a:pPr algn="just"/>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The function is also know as sigmoid function.</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Notice that </a:t>
                </a:r>
                <a14:m>
                  <m:oMath xmlns:m="http://schemas.openxmlformats.org/officeDocument/2006/math">
                    <m:r>
                      <a:rPr lang="en-US" sz="1800" b="1" i="1" dirty="0" smtClean="0">
                        <a:solidFill>
                          <a:schemeClr val="tx1"/>
                        </a:solidFill>
                        <a:latin typeface="Cambria Math" panose="02040503050406030204"/>
                        <a:cs typeface="Times New Roman" panose="02020603050405020304" pitchFamily="18" charset="0"/>
                      </a:rPr>
                      <m:t>𝝈</m:t>
                    </m:r>
                    <m:r>
                      <a:rPr lang="en-US" sz="1800" b="1" i="1" dirty="0" smtClean="0">
                        <a:solidFill>
                          <a:schemeClr val="tx1"/>
                        </a:solidFill>
                        <a:latin typeface="Cambria Math" panose="02040503050406030204"/>
                        <a:cs typeface="Times New Roman" panose="02020603050405020304" pitchFamily="18" charset="0"/>
                      </a:rPr>
                      <m:t>(</m:t>
                    </m:r>
                    <m:r>
                      <a:rPr lang="en-US" sz="1800" b="1" i="1" dirty="0" smtClean="0">
                        <a:solidFill>
                          <a:schemeClr val="tx1"/>
                        </a:solidFill>
                        <a:latin typeface="Cambria Math" panose="02040503050406030204"/>
                        <a:cs typeface="Times New Roman" panose="02020603050405020304" pitchFamily="18" charset="0"/>
                      </a:rPr>
                      <m:t>𝒕</m:t>
                    </m:r>
                    <m:r>
                      <a:rPr lang="en-US" sz="1800" b="1" i="1" dirty="0" smtClean="0">
                        <a:solidFill>
                          <a:schemeClr val="tx1"/>
                        </a:solidFill>
                        <a:latin typeface="Cambria Math" panose="02040503050406030204"/>
                        <a:cs typeface="Times New Roman" panose="02020603050405020304" pitchFamily="18" charset="0"/>
                      </a:rPr>
                      <m:t>)&lt;</m:t>
                    </m:r>
                    <m:r>
                      <a:rPr lang="en-US" sz="1800" b="1" i="1" dirty="0" smtClean="0">
                        <a:solidFill>
                          <a:schemeClr val="tx1"/>
                        </a:solidFill>
                        <a:latin typeface="Cambria Math" panose="02040503050406030204"/>
                        <a:cs typeface="Times New Roman" panose="02020603050405020304" pitchFamily="18" charset="0"/>
                      </a:rPr>
                      <m:t>𝟎</m:t>
                    </m:r>
                    <m:r>
                      <a:rPr lang="en-US" sz="1800" b="1" i="1" dirty="0" smtClean="0">
                        <a:solidFill>
                          <a:schemeClr val="tx1"/>
                        </a:solidFill>
                        <a:latin typeface="Cambria Math" panose="02040503050406030204"/>
                        <a:cs typeface="Times New Roman" panose="02020603050405020304" pitchFamily="18" charset="0"/>
                      </a:rPr>
                      <m:t>.</m:t>
                    </m:r>
                    <m:r>
                      <a:rPr lang="en-US" sz="1800" b="1" i="1" dirty="0" smtClean="0">
                        <a:solidFill>
                          <a:schemeClr val="tx1"/>
                        </a:solidFill>
                        <a:latin typeface="Cambria Math" panose="02040503050406030204"/>
                        <a:cs typeface="Times New Roman" panose="02020603050405020304" pitchFamily="18" charset="0"/>
                      </a:rPr>
                      <m:t>𝟓</m:t>
                    </m:r>
                    <m:r>
                      <a:rPr lang="en-US" sz="1800" b="1" i="1" dirty="0" smtClean="0">
                        <a:solidFill>
                          <a:schemeClr val="tx1"/>
                        </a:solidFill>
                        <a:latin typeface="Cambria Math" panose="02040503050406030204"/>
                        <a:cs typeface="Times New Roman" panose="02020603050405020304" pitchFamily="18" charset="0"/>
                      </a:rPr>
                      <m:t> </m:t>
                    </m:r>
                  </m:oMath>
                </a14:m>
                <a:r>
                  <a:rPr lang="en-US" sz="1800" dirty="0">
                    <a:solidFill>
                      <a:schemeClr val="tx1"/>
                    </a:solidFill>
                    <a:latin typeface="Times New Roman" panose="02020603050405020304" pitchFamily="18" charset="0"/>
                    <a:cs typeface="Times New Roman" panose="02020603050405020304" pitchFamily="18" charset="0"/>
                  </a:rPr>
                  <a:t>when </a:t>
                </a:r>
                <a14:m>
                  <m:oMath xmlns:m="http://schemas.openxmlformats.org/officeDocument/2006/math">
                    <m:r>
                      <a:rPr lang="en-US" sz="1800" b="1" i="1" dirty="0" smtClean="0">
                        <a:solidFill>
                          <a:schemeClr val="tx1"/>
                        </a:solidFill>
                        <a:latin typeface="Cambria Math" panose="02040503050406030204"/>
                        <a:cs typeface="Times New Roman" panose="02020603050405020304" pitchFamily="18" charset="0"/>
                      </a:rPr>
                      <m:t>𝒕</m:t>
                    </m:r>
                    <m:r>
                      <a:rPr lang="en-US" sz="1800" b="1" i="1" dirty="0" smtClean="0">
                        <a:solidFill>
                          <a:schemeClr val="tx1"/>
                        </a:solidFill>
                        <a:latin typeface="Cambria Math" panose="02040503050406030204"/>
                        <a:cs typeface="Times New Roman" panose="02020603050405020304" pitchFamily="18" charset="0"/>
                      </a:rPr>
                      <m:t>&lt; </m:t>
                    </m:r>
                    <m:r>
                      <a:rPr lang="en-US" sz="1800" b="1" i="1" dirty="0" smtClean="0">
                        <a:solidFill>
                          <a:schemeClr val="tx1"/>
                        </a:solidFill>
                        <a:latin typeface="Cambria Math" panose="02040503050406030204"/>
                        <a:cs typeface="Times New Roman" panose="02020603050405020304" pitchFamily="18" charset="0"/>
                      </a:rPr>
                      <m:t>𝟎</m:t>
                    </m:r>
                  </m:oMath>
                </a14:m>
                <a:r>
                  <a:rPr lang="en-US" sz="1800"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r>
                      <a:rPr lang="en-US" sz="1800" b="1" i="1" dirty="0" smtClean="0">
                        <a:solidFill>
                          <a:schemeClr val="tx1"/>
                        </a:solidFill>
                        <a:latin typeface="Cambria Math" panose="02040503050406030204"/>
                        <a:cs typeface="Times New Roman" panose="02020603050405020304" pitchFamily="18" charset="0"/>
                      </a:rPr>
                      <m:t>𝝈</m:t>
                    </m:r>
                    <m:r>
                      <a:rPr lang="en-US" sz="1800" b="1" i="1" dirty="0" smtClean="0">
                        <a:solidFill>
                          <a:schemeClr val="tx1"/>
                        </a:solidFill>
                        <a:latin typeface="Cambria Math" panose="02040503050406030204"/>
                        <a:cs typeface="Times New Roman" panose="02020603050405020304" pitchFamily="18" charset="0"/>
                      </a:rPr>
                      <m:t>(</m:t>
                    </m:r>
                    <m:r>
                      <a:rPr lang="en-US" sz="1800" b="1" i="1" dirty="0" smtClean="0">
                        <a:solidFill>
                          <a:schemeClr val="tx1"/>
                        </a:solidFill>
                        <a:latin typeface="Cambria Math" panose="02040503050406030204"/>
                        <a:cs typeface="Times New Roman" panose="02020603050405020304" pitchFamily="18" charset="0"/>
                      </a:rPr>
                      <m:t>𝒕</m:t>
                    </m:r>
                    <m:r>
                      <a:rPr lang="en-US" sz="1800" b="1" i="1" dirty="0" smtClean="0">
                        <a:solidFill>
                          <a:schemeClr val="tx1"/>
                        </a:solidFill>
                        <a:latin typeface="Cambria Math" panose="02040503050406030204"/>
                        <a:cs typeface="Times New Roman" panose="02020603050405020304" pitchFamily="18" charset="0"/>
                      </a:rPr>
                      <m:t>) ≥ </m:t>
                    </m:r>
                    <m:r>
                      <a:rPr lang="en-US" sz="1800" b="1" i="1" dirty="0" smtClean="0">
                        <a:solidFill>
                          <a:schemeClr val="tx1"/>
                        </a:solidFill>
                        <a:latin typeface="Cambria Math" panose="02040503050406030204"/>
                        <a:cs typeface="Times New Roman" panose="02020603050405020304" pitchFamily="18" charset="0"/>
                      </a:rPr>
                      <m:t>𝟎</m:t>
                    </m:r>
                    <m:r>
                      <a:rPr lang="en-US" sz="1800" b="1" i="1" dirty="0" smtClean="0">
                        <a:solidFill>
                          <a:schemeClr val="tx1"/>
                        </a:solidFill>
                        <a:latin typeface="Cambria Math" panose="02040503050406030204"/>
                        <a:cs typeface="Times New Roman" panose="02020603050405020304" pitchFamily="18" charset="0"/>
                      </a:rPr>
                      <m:t>.</m:t>
                    </m:r>
                    <m:r>
                      <a:rPr lang="en-US" sz="1800" b="1" i="1" dirty="0" smtClean="0">
                        <a:solidFill>
                          <a:schemeClr val="tx1"/>
                        </a:solidFill>
                        <a:latin typeface="Cambria Math" panose="02040503050406030204"/>
                        <a:cs typeface="Times New Roman" panose="02020603050405020304" pitchFamily="18" charset="0"/>
                      </a:rPr>
                      <m:t>𝟓</m:t>
                    </m:r>
                    <m:r>
                      <a:rPr lang="en-US" sz="1800" b="1" i="1" dirty="0" smtClean="0">
                        <a:solidFill>
                          <a:schemeClr val="tx1"/>
                        </a:solidFill>
                        <a:latin typeface="Cambria Math" panose="02040503050406030204"/>
                        <a:cs typeface="Times New Roman" panose="02020603050405020304" pitchFamily="18" charset="0"/>
                      </a:rPr>
                      <m:t> </m:t>
                    </m:r>
                  </m:oMath>
                </a14:m>
                <a:r>
                  <a:rPr lang="en-US" sz="1800" dirty="0">
                    <a:solidFill>
                      <a:schemeClr val="tx1"/>
                    </a:solidFill>
                    <a:latin typeface="Times New Roman" panose="02020603050405020304" pitchFamily="18" charset="0"/>
                    <a:cs typeface="Times New Roman" panose="02020603050405020304" pitchFamily="18" charset="0"/>
                  </a:rPr>
                  <a:t>when </a:t>
                </a:r>
                <a14:m>
                  <m:oMath xmlns:m="http://schemas.openxmlformats.org/officeDocument/2006/math">
                    <m:r>
                      <a:rPr lang="en-US" sz="1800" b="1" i="1" dirty="0" smtClean="0">
                        <a:solidFill>
                          <a:schemeClr val="tx1"/>
                        </a:solidFill>
                        <a:latin typeface="Cambria Math" panose="02040503050406030204"/>
                        <a:cs typeface="Times New Roman" panose="02020603050405020304" pitchFamily="18" charset="0"/>
                      </a:rPr>
                      <m:t>𝒕</m:t>
                    </m:r>
                    <m:r>
                      <a:rPr lang="en-US" sz="1800" b="1" i="1" dirty="0" smtClean="0">
                        <a:solidFill>
                          <a:schemeClr val="tx1"/>
                        </a:solidFill>
                        <a:latin typeface="Cambria Math" panose="02040503050406030204"/>
                        <a:cs typeface="Times New Roman" panose="02020603050405020304" pitchFamily="18" charset="0"/>
                      </a:rPr>
                      <m:t> ≥ </m:t>
                    </m:r>
                    <m:r>
                      <a:rPr lang="en-US" sz="1800" b="1" i="1" dirty="0" smtClean="0">
                        <a:solidFill>
                          <a:schemeClr val="tx1"/>
                        </a:solidFill>
                        <a:latin typeface="Cambria Math" panose="02040503050406030204"/>
                        <a:cs typeface="Times New Roman" panose="02020603050405020304" pitchFamily="18" charset="0"/>
                      </a:rPr>
                      <m:t>𝟎</m:t>
                    </m:r>
                  </m:oMath>
                </a14:m>
                <a:r>
                  <a:rPr lang="en-US" sz="1800" dirty="0">
                    <a:solidFill>
                      <a:schemeClr val="tx1"/>
                    </a:solidFill>
                    <a:latin typeface="Times New Roman" panose="02020603050405020304" pitchFamily="18" charset="0"/>
                    <a:cs typeface="Times New Roman" panose="02020603050405020304" pitchFamily="18" charset="0"/>
                  </a:rPr>
                  <a:t>, so a logistic regression model using the default threshold of </a:t>
                </a:r>
                <a:r>
                  <a:rPr lang="en-US" sz="1800" b="1" dirty="0">
                    <a:solidFill>
                      <a:schemeClr val="tx1"/>
                    </a:solidFill>
                    <a:latin typeface="Times New Roman" panose="02020603050405020304" pitchFamily="18" charset="0"/>
                    <a:cs typeface="Times New Roman" panose="02020603050405020304" pitchFamily="18" charset="0"/>
                  </a:rPr>
                  <a:t>50%</a:t>
                </a:r>
                <a:r>
                  <a:rPr lang="en-US" sz="1800" dirty="0">
                    <a:solidFill>
                      <a:schemeClr val="tx1"/>
                    </a:solidFill>
                    <a:latin typeface="Times New Roman" panose="02020603050405020304" pitchFamily="18" charset="0"/>
                    <a:cs typeface="Times New Roman" panose="02020603050405020304" pitchFamily="18" charset="0"/>
                  </a:rPr>
                  <a:t> probability predicts </a:t>
                </a:r>
                <a:r>
                  <a:rPr lang="en-US" sz="1800" b="1" dirty="0">
                    <a:solidFill>
                      <a:schemeClr val="tx1"/>
                    </a:solidFill>
                    <a:latin typeface="Times New Roman" panose="02020603050405020304" pitchFamily="18" charset="0"/>
                    <a:cs typeface="Times New Roman" panose="02020603050405020304" pitchFamily="18" charset="0"/>
                  </a:rPr>
                  <a:t>1</a:t>
                </a:r>
                <a:r>
                  <a:rPr lang="en-US" sz="1800" dirty="0">
                    <a:solidFill>
                      <a:schemeClr val="tx1"/>
                    </a:solidFill>
                    <a:latin typeface="Times New Roman" panose="02020603050405020304" pitchFamily="18" charset="0"/>
                    <a:cs typeface="Times New Roman" panose="02020603050405020304" pitchFamily="18" charset="0"/>
                  </a:rPr>
                  <a:t> if </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r>
                  <a:rPr lang="en-US" sz="1800" dirty="0">
                    <a:solidFill>
                      <a:schemeClr val="tx1"/>
                    </a:solidFill>
                    <a:latin typeface="Times New Roman" panose="02020603050405020304" pitchFamily="18" charset="0"/>
                    <a:cs typeface="Times New Roman" panose="02020603050405020304" pitchFamily="18" charset="0"/>
                  </a:rPr>
                  <a:t> is positive and </a:t>
                </a:r>
                <a:r>
                  <a:rPr lang="en-US" sz="1800" b="1" dirty="0">
                    <a:solidFill>
                      <a:schemeClr val="tx1"/>
                    </a:solidFill>
                    <a:latin typeface="Times New Roman" panose="02020603050405020304" pitchFamily="18" charset="0"/>
                    <a:cs typeface="Times New Roman" panose="02020603050405020304" pitchFamily="18" charset="0"/>
                  </a:rPr>
                  <a:t>0</a:t>
                </a:r>
                <a:r>
                  <a:rPr lang="en-US" sz="1800" dirty="0">
                    <a:solidFill>
                      <a:schemeClr val="tx1"/>
                    </a:solidFill>
                    <a:latin typeface="Times New Roman" panose="02020603050405020304" pitchFamily="18" charset="0"/>
                    <a:cs typeface="Times New Roman" panose="02020603050405020304" pitchFamily="18" charset="0"/>
                  </a:rPr>
                  <a:t> if it </a:t>
                </a:r>
                <a14:m>
                  <m:oMath xmlns:m="http://schemas.openxmlformats.org/officeDocument/2006/math">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ea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r>
                  <a:rPr lang="en-US" sz="1800" dirty="0">
                    <a:solidFill>
                      <a:schemeClr val="tx1"/>
                    </a:solidFill>
                    <a:latin typeface="Times New Roman" panose="02020603050405020304" pitchFamily="18" charset="0"/>
                    <a:cs typeface="Times New Roman" panose="02020603050405020304" pitchFamily="18" charset="0"/>
                  </a:rPr>
                  <a:t> is negative.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 this way Logistic Regression can be used as a binary classifier. </a:t>
                </a: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a:stretch>
              </a:blipFill>
            </p:spPr>
            <p:txBody>
              <a:bodyPr/>
              <a:lstStyle/>
              <a:p>
                <a:r>
                  <a:rPr lang="en-US" altLang="en-US">
                    <a:noFill/>
                  </a:rPr>
                  <a:t> </a:t>
                </a:r>
              </a:p>
            </p:txBody>
          </p:sp>
        </mc:Fallback>
      </mc:AlternateContent>
      <p:pic>
        <p:nvPicPr>
          <p:cNvPr id="1028" name="Picture 4" descr="https://upload.wikimedia.org/wikipedia/commons/thumb/8/88/Logistic-curve.svg/320px-Logistic-curve.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143000"/>
            <a:ext cx="3418318" cy="2286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566249" y="5776823"/>
            <a:ext cx="4572000" cy="307777"/>
          </a:xfrm>
          <a:prstGeom prst="rect">
            <a:avLst/>
          </a:prstGeom>
        </p:spPr>
        <p:txBody>
          <a:bodyPr>
            <a:spAutoFit/>
          </a:bodyPr>
          <a:lstStyle/>
          <a:p>
            <a:r>
              <a:rPr lang="en-US" sz="1400" dirty="0">
                <a:solidFill>
                  <a:schemeClr val="bg1">
                    <a:lumMod val="75000"/>
                  </a:schemeClr>
                </a:solidFill>
              </a:rPr>
              <a:t>https://en.wikipedia.org/wiki/Sigmoid_function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9BC3-1D2F-02EE-7891-4E343C410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F8F28D-4D54-03E6-A788-8AB296B810FF}"/>
              </a:ext>
            </a:extLst>
          </p:cNvPr>
          <p:cNvSpPr>
            <a:spLocks noGrp="1"/>
          </p:cNvSpPr>
          <p:nvPr>
            <p:ph type="ctrTitle"/>
          </p:nvPr>
        </p:nvSpPr>
        <p:spPr>
          <a:xfrm>
            <a:off x="1600200" y="381000"/>
            <a:ext cx="6096000" cy="708025"/>
          </a:xfrm>
        </p:spPr>
        <p:txBody>
          <a:bodyPr>
            <a:normAutofit fontScale="90000"/>
          </a:bodyPr>
          <a:lstStyle/>
          <a:p>
            <a:pPr marL="285750" indent="-285750"/>
            <a:r>
              <a:rPr lang="en-US" sz="3200" dirty="0"/>
              <a:t>Linear Regression Analysis – Application Scenarios (Best)</a:t>
            </a:r>
            <a:endParaRPr lang="en-US" sz="32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BE95CBCF-9AF5-6F8F-D283-0274DBE2FFDF}"/>
              </a:ext>
            </a:extLst>
          </p:cNvPr>
          <p:cNvSpPr/>
          <p:nvPr/>
        </p:nvSpPr>
        <p:spPr>
          <a:xfrm>
            <a:off x="4566249" y="5776823"/>
            <a:ext cx="4572000" cy="307777"/>
          </a:xfrm>
          <a:prstGeom prst="rect">
            <a:avLst/>
          </a:prstGeom>
        </p:spPr>
        <p:txBody>
          <a:bodyPr>
            <a:spAutoFit/>
          </a:bodyPr>
          <a:lstStyle/>
          <a:p>
            <a:r>
              <a:rPr lang="en-US" sz="1400" dirty="0">
                <a:solidFill>
                  <a:schemeClr val="bg1">
                    <a:lumMod val="75000"/>
                  </a:schemeClr>
                </a:solidFill>
              </a:rPr>
              <a:t>https://en.wikipedia.org/wiki/Sigmoid_function</a:t>
            </a:r>
          </a:p>
        </p:txBody>
      </p:sp>
      <p:sp>
        <p:nvSpPr>
          <p:cNvPr id="8" name="TextBox 7">
            <a:extLst>
              <a:ext uri="{FF2B5EF4-FFF2-40B4-BE49-F238E27FC236}">
                <a16:creationId xmlns:a16="http://schemas.microsoft.com/office/drawing/2014/main" id="{9B1A616D-E09B-B211-BE4F-2F76D51B2ADA}"/>
              </a:ext>
            </a:extLst>
          </p:cNvPr>
          <p:cNvSpPr txBox="1"/>
          <p:nvPr/>
        </p:nvSpPr>
        <p:spPr>
          <a:xfrm>
            <a:off x="76200" y="1219200"/>
            <a:ext cx="8686800" cy="3693319"/>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Target Application:</a:t>
            </a:r>
            <a:r>
              <a:rPr lang="en-US" dirty="0">
                <a:latin typeface="Times New Roman" panose="02020603050405020304" pitchFamily="18" charset="0"/>
                <a:cs typeface="Times New Roman" panose="02020603050405020304" pitchFamily="18" charset="0"/>
              </a:rPr>
              <a:t> Real Estate Pricing &amp; Marketing ROI Forecasting Linear regression thrives in environments where variables possess a fundamentally additive and proportional relationship. It provides unmatched transparency for business stakeholders who need to understand the exact financial weight of individual metrics.</a:t>
            </a:r>
          </a:p>
          <a:p>
            <a:pPr>
              <a:buNone/>
            </a:pPr>
            <a:r>
              <a:rPr lang="en-US" b="1" dirty="0">
                <a:latin typeface="Times New Roman" panose="02020603050405020304" pitchFamily="18" charset="0"/>
                <a:cs typeface="Times New Roman" panose="02020603050405020304" pitchFamily="18" charset="0"/>
              </a:rPr>
              <a:t>Core Justifications:</a:t>
            </a:r>
            <a:endParaRPr lang="en-US"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High Interpretability:</a:t>
            </a:r>
            <a:r>
              <a:rPr lang="en-US" dirty="0">
                <a:latin typeface="Times New Roman" panose="02020603050405020304" pitchFamily="18" charset="0"/>
                <a:cs typeface="Times New Roman" panose="02020603050405020304" pitchFamily="18" charset="0"/>
              </a:rPr>
              <a:t> The model produces distinct coefficients for each independent variable. A real estate firm can explicitly state that adding one square meter increases a property's value by $500, holding all else constant.</a:t>
            </a:r>
          </a:p>
          <a:p>
            <a:pPr marL="342900" lvl="0" indent="-34290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Low Computational Overhead:</a:t>
            </a:r>
            <a:r>
              <a:rPr lang="en-US" dirty="0">
                <a:latin typeface="Times New Roman" panose="02020603050405020304" pitchFamily="18" charset="0"/>
                <a:cs typeface="Times New Roman" panose="02020603050405020304" pitchFamily="18" charset="0"/>
              </a:rPr>
              <a:t> Matrix operations (like the Normal Equation) allow for near-instantaneous model updates when new data is ingested, without requiring prolonged training epochs.</a:t>
            </a:r>
          </a:p>
          <a:p>
            <a:pPr marL="342900" lvl="0" indent="-34290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Baseline Stability:</a:t>
            </a:r>
            <a:r>
              <a:rPr lang="en-US" dirty="0">
                <a:latin typeface="Times New Roman" panose="02020603050405020304" pitchFamily="18" charset="0"/>
                <a:cs typeface="Times New Roman" panose="02020603050405020304" pitchFamily="18" charset="0"/>
              </a:rPr>
              <a:t> It serves as a highly stable, deterministic benchmark to validate whether deploying a more complex, expensive model is actually worth the investment.</a:t>
            </a:r>
          </a:p>
        </p:txBody>
      </p:sp>
    </p:spTree>
    <p:extLst>
      <p:ext uri="{BB962C8B-B14F-4D97-AF65-F5344CB8AC3E}">
        <p14:creationId xmlns:p14="http://schemas.microsoft.com/office/powerpoint/2010/main" val="5193275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88491-DFCD-4928-4F1F-A193E9993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C1D6A-AB59-EC87-D744-A15B2000CAB1}"/>
              </a:ext>
            </a:extLst>
          </p:cNvPr>
          <p:cNvSpPr>
            <a:spLocks noGrp="1"/>
          </p:cNvSpPr>
          <p:nvPr>
            <p:ph type="ctrTitle"/>
          </p:nvPr>
        </p:nvSpPr>
        <p:spPr>
          <a:xfrm>
            <a:off x="1600200" y="381000"/>
            <a:ext cx="6096000" cy="708025"/>
          </a:xfrm>
        </p:spPr>
        <p:txBody>
          <a:bodyPr>
            <a:normAutofit fontScale="90000"/>
          </a:bodyPr>
          <a:lstStyle/>
          <a:p>
            <a:pPr marL="285750" indent="-285750"/>
            <a:r>
              <a:rPr lang="en-US" sz="3200" dirty="0"/>
              <a:t>Logistic Regression Analysis – Application Scenarios (Best)</a:t>
            </a:r>
            <a:endParaRPr lang="en-US" sz="32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09E232C9-3B2E-31D3-E66E-ACE4DF2EC264}"/>
              </a:ext>
            </a:extLst>
          </p:cNvPr>
          <p:cNvSpPr/>
          <p:nvPr/>
        </p:nvSpPr>
        <p:spPr>
          <a:xfrm>
            <a:off x="4566249" y="5776823"/>
            <a:ext cx="4572000" cy="307777"/>
          </a:xfrm>
          <a:prstGeom prst="rect">
            <a:avLst/>
          </a:prstGeom>
        </p:spPr>
        <p:txBody>
          <a:bodyPr>
            <a:spAutoFit/>
          </a:bodyPr>
          <a:lstStyle/>
          <a:p>
            <a:r>
              <a:rPr lang="en-US" sz="1400" dirty="0">
                <a:solidFill>
                  <a:schemeClr val="bg1">
                    <a:lumMod val="75000"/>
                  </a:schemeClr>
                </a:solidFill>
              </a:rPr>
              <a:t>https://en.wikipedia.org/wiki/Sigmoid_function</a:t>
            </a:r>
          </a:p>
        </p:txBody>
      </p:sp>
      <p:sp>
        <p:nvSpPr>
          <p:cNvPr id="8" name="TextBox 7">
            <a:extLst>
              <a:ext uri="{FF2B5EF4-FFF2-40B4-BE49-F238E27FC236}">
                <a16:creationId xmlns:a16="http://schemas.microsoft.com/office/drawing/2014/main" id="{3A08DBED-220D-37EA-D13F-85BB12A18368}"/>
              </a:ext>
            </a:extLst>
          </p:cNvPr>
          <p:cNvSpPr txBox="1"/>
          <p:nvPr/>
        </p:nvSpPr>
        <p:spPr>
          <a:xfrm>
            <a:off x="76200" y="1219200"/>
            <a:ext cx="8686800" cy="3970318"/>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Target Application:</a:t>
            </a:r>
            <a:r>
              <a:rPr lang="en-US" dirty="0">
                <a:latin typeface="Times New Roman" panose="02020603050405020304" pitchFamily="18" charset="0"/>
                <a:cs typeface="Times New Roman" panose="02020603050405020304" pitchFamily="18" charset="0"/>
              </a:rPr>
              <a:t> Credit Card Fraud Detection &amp; Medical Diagnostics Logistic regression is the industry standard for binary classification tasks where understanding the calibrated </a:t>
            </a:r>
            <a:r>
              <a:rPr lang="en-US" i="1" dirty="0">
                <a:latin typeface="Times New Roman" panose="02020603050405020304" pitchFamily="18" charset="0"/>
                <a:cs typeface="Times New Roman" panose="02020603050405020304" pitchFamily="18" charset="0"/>
              </a:rPr>
              <a:t>probability</a:t>
            </a:r>
            <a:r>
              <a:rPr lang="en-US" dirty="0">
                <a:latin typeface="Times New Roman" panose="02020603050405020304" pitchFamily="18" charset="0"/>
                <a:cs typeface="Times New Roman" panose="02020603050405020304" pitchFamily="18" charset="0"/>
              </a:rPr>
              <a:t> of an outcome is just as critical as the final Yes/No decision.</a:t>
            </a:r>
          </a:p>
          <a:p>
            <a:pPr algn="just"/>
            <a:r>
              <a:rPr lang="en-US" b="1" dirty="0">
                <a:latin typeface="Times New Roman" panose="02020603050405020304" pitchFamily="18" charset="0"/>
                <a:cs typeface="Times New Roman" panose="02020603050405020304" pitchFamily="18" charset="0"/>
              </a:rPr>
              <a:t>Core Justifications:</a:t>
            </a:r>
            <a:endParaRPr lang="en-US" dirty="0">
              <a:latin typeface="Times New Roman" panose="02020603050405020304" pitchFamily="18" charset="0"/>
              <a:cs typeface="Times New Roman" panose="02020603050405020304" pitchFamily="18" charset="0"/>
            </a:endParaRPr>
          </a:p>
          <a:p>
            <a:pPr lvl="0" algn="just"/>
            <a:r>
              <a:rPr lang="en-US" b="1" dirty="0">
                <a:latin typeface="Times New Roman" panose="02020603050405020304" pitchFamily="18" charset="0"/>
                <a:cs typeface="Times New Roman" panose="02020603050405020304" pitchFamily="18" charset="0"/>
              </a:rPr>
              <a:t>Probabilistic Confidence:</a:t>
            </a:r>
            <a:r>
              <a:rPr lang="en-US" dirty="0">
                <a:latin typeface="Times New Roman" panose="02020603050405020304" pitchFamily="18" charset="0"/>
                <a:cs typeface="Times New Roman" panose="02020603050405020304" pitchFamily="18" charset="0"/>
              </a:rPr>
              <a:t> The Sigmoid function naturally bounds outputs between 0 and 1. Predicting that a transaction is 92% likely to be fraudulent allows a bank to automatically freeze an account, whereas a 65% probability might just trigger an SMS verification.</a:t>
            </a:r>
          </a:p>
          <a:p>
            <a:pPr lvl="0" algn="just"/>
            <a:r>
              <a:rPr lang="en-US" b="1" dirty="0">
                <a:latin typeface="Times New Roman" panose="02020603050405020304" pitchFamily="18" charset="0"/>
                <a:cs typeface="Times New Roman" panose="02020603050405020304" pitchFamily="18" charset="0"/>
              </a:rPr>
              <a:t>Ultra-Low Latency:</a:t>
            </a:r>
            <a:r>
              <a:rPr lang="en-US" dirty="0">
                <a:latin typeface="Times New Roman" panose="02020603050405020304" pitchFamily="18" charset="0"/>
                <a:cs typeface="Times New Roman" panose="02020603050405020304" pitchFamily="18" charset="0"/>
              </a:rPr>
              <a:t> Computing a linear combination and passing it through a Sigmoid function takes microseconds, making it perfect for screening thousands of global transactions per second.</a:t>
            </a:r>
          </a:p>
          <a:p>
            <a:pPr algn="just"/>
            <a:r>
              <a:rPr lang="en-US" b="1" dirty="0">
                <a:latin typeface="Times New Roman" panose="02020603050405020304" pitchFamily="18" charset="0"/>
                <a:cs typeface="Times New Roman" panose="02020603050405020304" pitchFamily="18" charset="0"/>
              </a:rPr>
              <a:t>Additional Examples:</a:t>
            </a:r>
            <a:endParaRPr lang="en-US" dirty="0">
              <a:latin typeface="Times New Roman" panose="02020603050405020304" pitchFamily="18" charset="0"/>
              <a:cs typeface="Times New Roman" panose="02020603050405020304" pitchFamily="18" charset="0"/>
            </a:endParaRPr>
          </a:p>
          <a:p>
            <a:pPr lvl="0" algn="just"/>
            <a:r>
              <a:rPr lang="en-US" dirty="0">
                <a:latin typeface="Times New Roman" panose="02020603050405020304" pitchFamily="18" charset="0"/>
                <a:cs typeface="Times New Roman" panose="02020603050405020304" pitchFamily="18" charset="0"/>
              </a:rPr>
              <a:t>Email Spam Filtering (Classifying incoming mail as Spam vs. Not Spam based on keyword frequencies).</a:t>
            </a:r>
          </a:p>
          <a:p>
            <a:pPr lvl="0" algn="just"/>
            <a:r>
              <a:rPr lang="en-US" dirty="0">
                <a:latin typeface="Times New Roman" panose="02020603050405020304" pitchFamily="18" charset="0"/>
                <a:cs typeface="Times New Roman" panose="02020603050405020304" pitchFamily="18" charset="0"/>
              </a:rPr>
              <a:t>Customer Conversion Prediction (Will a website visitor click the "Buy" button?).</a:t>
            </a:r>
          </a:p>
        </p:txBody>
      </p:sp>
    </p:spTree>
    <p:extLst>
      <p:ext uri="{BB962C8B-B14F-4D97-AF65-F5344CB8AC3E}">
        <p14:creationId xmlns:p14="http://schemas.microsoft.com/office/powerpoint/2010/main" val="2983503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EA7E4-10F9-5648-691B-507A0DCE9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635D3-37CF-8012-C089-CB3E109B68DF}"/>
              </a:ext>
            </a:extLst>
          </p:cNvPr>
          <p:cNvSpPr>
            <a:spLocks noGrp="1"/>
          </p:cNvSpPr>
          <p:nvPr>
            <p:ph type="ctrTitle"/>
          </p:nvPr>
        </p:nvSpPr>
        <p:spPr>
          <a:xfrm>
            <a:off x="1600200" y="381000"/>
            <a:ext cx="6096000" cy="708025"/>
          </a:xfrm>
        </p:spPr>
        <p:txBody>
          <a:bodyPr>
            <a:normAutofit fontScale="90000"/>
          </a:bodyPr>
          <a:lstStyle/>
          <a:p>
            <a:pPr marL="285750" indent="-285750"/>
            <a:r>
              <a:rPr lang="en-US" sz="3200" dirty="0"/>
              <a:t>Linear Regression Analysis – Application Scenarios (Worst)</a:t>
            </a:r>
            <a:endParaRPr lang="en-US" sz="32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474AE8F3-D87F-7E7A-6C1D-C3692085C639}"/>
              </a:ext>
            </a:extLst>
          </p:cNvPr>
          <p:cNvSpPr/>
          <p:nvPr/>
        </p:nvSpPr>
        <p:spPr>
          <a:xfrm>
            <a:off x="4566249" y="5776823"/>
            <a:ext cx="4572000" cy="307777"/>
          </a:xfrm>
          <a:prstGeom prst="rect">
            <a:avLst/>
          </a:prstGeom>
        </p:spPr>
        <p:txBody>
          <a:bodyPr>
            <a:spAutoFit/>
          </a:bodyPr>
          <a:lstStyle/>
          <a:p>
            <a:r>
              <a:rPr lang="en-US" sz="1400" dirty="0">
                <a:solidFill>
                  <a:schemeClr val="bg1">
                    <a:lumMod val="75000"/>
                  </a:schemeClr>
                </a:solidFill>
              </a:rPr>
              <a:t>https://en.wikipedia.org/wiki/Sigmoid_function</a:t>
            </a:r>
          </a:p>
        </p:txBody>
      </p:sp>
      <p:sp>
        <p:nvSpPr>
          <p:cNvPr id="8" name="TextBox 7">
            <a:extLst>
              <a:ext uri="{FF2B5EF4-FFF2-40B4-BE49-F238E27FC236}">
                <a16:creationId xmlns:a16="http://schemas.microsoft.com/office/drawing/2014/main" id="{B17FA9D4-EC0E-B06A-F99C-78D08BCF2B52}"/>
              </a:ext>
            </a:extLst>
          </p:cNvPr>
          <p:cNvSpPr txBox="1"/>
          <p:nvPr/>
        </p:nvSpPr>
        <p:spPr>
          <a:xfrm>
            <a:off x="76200" y="1219200"/>
            <a:ext cx="8686800" cy="424731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Target Application:</a:t>
            </a:r>
            <a:r>
              <a:rPr lang="en-US" dirty="0">
                <a:latin typeface="Times New Roman" panose="02020603050405020304" pitchFamily="18" charset="0"/>
                <a:cs typeface="Times New Roman" panose="02020603050405020304" pitchFamily="18" charset="0"/>
              </a:rPr>
              <a:t> Stock Market Prediction &amp; Epidemiological Forecasting Linear regression assumes a straight-line relationship and constant variance (homoscedasticity). It completely fails in chaotic, volatile, or exponentially compounding systems.</a:t>
            </a:r>
          </a:p>
          <a:p>
            <a:r>
              <a:rPr lang="en-US" b="1" dirty="0">
                <a:latin typeface="Times New Roman" panose="02020603050405020304" pitchFamily="18" charset="0"/>
                <a:cs typeface="Times New Roman" panose="02020603050405020304" pitchFamily="18" charset="0"/>
              </a:rPr>
              <a:t>Core Justifications:</a:t>
            </a:r>
            <a:endParaRPr lang="en-US" dirty="0">
              <a:latin typeface="Times New Roman" panose="02020603050405020304" pitchFamily="18"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Inability to Capture Non-Linearity:</a:t>
            </a:r>
            <a:r>
              <a:rPr lang="en-US" dirty="0">
                <a:latin typeface="Times New Roman" panose="02020603050405020304" pitchFamily="18" charset="0"/>
                <a:cs typeface="Times New Roman" panose="02020603050405020304" pitchFamily="18" charset="0"/>
              </a:rPr>
              <a:t> Standard linear regression cannot mathematically model sudden macroeconomic shocks, market crashes, or periods of exponential growth.</a:t>
            </a:r>
          </a:p>
          <a:p>
            <a:pPr lvl="0"/>
            <a:r>
              <a:rPr lang="en-US" b="1" dirty="0">
                <a:latin typeface="Times New Roman" panose="02020603050405020304" pitchFamily="18" charset="0"/>
                <a:cs typeface="Times New Roman" panose="02020603050405020304" pitchFamily="18" charset="0"/>
              </a:rPr>
              <a:t>Assumption of Independence:</a:t>
            </a:r>
            <a:r>
              <a:rPr lang="en-US" dirty="0">
                <a:latin typeface="Times New Roman" panose="02020603050405020304" pitchFamily="18" charset="0"/>
                <a:cs typeface="Times New Roman" panose="02020603050405020304" pitchFamily="18" charset="0"/>
              </a:rPr>
              <a:t> Linear regression assumes each data point is independent. It ignores the sequential, time-dependent nature of financial or health data (where today's value heavily depends on yesterday's value).</a:t>
            </a:r>
          </a:p>
          <a:p>
            <a:pPr lvl="0"/>
            <a:r>
              <a:rPr lang="en-US" b="1" dirty="0">
                <a:latin typeface="Times New Roman" panose="02020603050405020304" pitchFamily="18" charset="0"/>
                <a:cs typeface="Times New Roman" panose="02020603050405020304" pitchFamily="18" charset="0"/>
              </a:rPr>
              <a:t>Dangerous Extrapolation:</a:t>
            </a:r>
            <a:r>
              <a:rPr lang="en-US" dirty="0">
                <a:latin typeface="Times New Roman" panose="02020603050405020304" pitchFamily="18" charset="0"/>
                <a:cs typeface="Times New Roman" panose="02020603050405020304" pitchFamily="18" charset="0"/>
              </a:rPr>
              <a:t> Projecting a linear trend indefinitely into the future for a stock price will inevitably lead to drastically inaccurate, financially ruinous predictions.</a:t>
            </a:r>
          </a:p>
          <a:p>
            <a:r>
              <a:rPr lang="en-US" b="1" dirty="0">
                <a:latin typeface="Times New Roman" panose="02020603050405020304" pitchFamily="18" charset="0"/>
                <a:cs typeface="Times New Roman" panose="02020603050405020304" pitchFamily="18" charset="0"/>
              </a:rPr>
              <a:t>Additional Examples:</a:t>
            </a:r>
            <a:endParaRPr lang="en-US"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Predicting the peak infection rate of a viral outbreak (which follows an S-curve, not a straight line).</a:t>
            </a:r>
          </a:p>
          <a:p>
            <a:pPr lvl="0"/>
            <a:r>
              <a:rPr lang="en-US" dirty="0">
                <a:latin typeface="Times New Roman" panose="02020603050405020304" pitchFamily="18" charset="0"/>
                <a:cs typeface="Times New Roman" panose="02020603050405020304" pitchFamily="18" charset="0"/>
              </a:rPr>
              <a:t>Forecasting cryptocurrency prices based on social media sentiment over time.</a:t>
            </a:r>
          </a:p>
        </p:txBody>
      </p:sp>
    </p:spTree>
    <p:extLst>
      <p:ext uri="{BB962C8B-B14F-4D97-AF65-F5344CB8AC3E}">
        <p14:creationId xmlns:p14="http://schemas.microsoft.com/office/powerpoint/2010/main" val="16437752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BEEB8-1952-440C-BC21-C652286ABA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F78BD-9472-B0C3-47A1-5DFF1FF7150F}"/>
              </a:ext>
            </a:extLst>
          </p:cNvPr>
          <p:cNvSpPr>
            <a:spLocks noGrp="1"/>
          </p:cNvSpPr>
          <p:nvPr>
            <p:ph type="ctrTitle"/>
          </p:nvPr>
        </p:nvSpPr>
        <p:spPr>
          <a:xfrm>
            <a:off x="1600200" y="381000"/>
            <a:ext cx="6096000" cy="708025"/>
          </a:xfrm>
        </p:spPr>
        <p:txBody>
          <a:bodyPr>
            <a:normAutofit fontScale="90000"/>
          </a:bodyPr>
          <a:lstStyle/>
          <a:p>
            <a:pPr marL="285750" indent="-285750"/>
            <a:r>
              <a:rPr lang="en-US" sz="3200" dirty="0"/>
              <a:t>Logistic Regression Analysis – Application Scenarios (Worst)</a:t>
            </a:r>
            <a:endParaRPr lang="en-US" sz="32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BE5B3B54-4E3A-AA6E-A669-11F76AAA2F41}"/>
              </a:ext>
            </a:extLst>
          </p:cNvPr>
          <p:cNvSpPr/>
          <p:nvPr/>
        </p:nvSpPr>
        <p:spPr>
          <a:xfrm>
            <a:off x="4566249" y="5776823"/>
            <a:ext cx="4572000" cy="307777"/>
          </a:xfrm>
          <a:prstGeom prst="rect">
            <a:avLst/>
          </a:prstGeom>
        </p:spPr>
        <p:txBody>
          <a:bodyPr>
            <a:spAutoFit/>
          </a:bodyPr>
          <a:lstStyle/>
          <a:p>
            <a:r>
              <a:rPr lang="en-US" sz="1400" dirty="0">
                <a:solidFill>
                  <a:schemeClr val="bg1">
                    <a:lumMod val="75000"/>
                  </a:schemeClr>
                </a:solidFill>
              </a:rPr>
              <a:t>https://en.wikipedia.org/wiki/Sigmoid_function</a:t>
            </a:r>
          </a:p>
        </p:txBody>
      </p:sp>
      <p:sp>
        <p:nvSpPr>
          <p:cNvPr id="8" name="TextBox 7">
            <a:extLst>
              <a:ext uri="{FF2B5EF4-FFF2-40B4-BE49-F238E27FC236}">
                <a16:creationId xmlns:a16="http://schemas.microsoft.com/office/drawing/2014/main" id="{4DEA4D5A-E647-489A-57F4-A0EE696F2534}"/>
              </a:ext>
            </a:extLst>
          </p:cNvPr>
          <p:cNvSpPr txBox="1"/>
          <p:nvPr/>
        </p:nvSpPr>
        <p:spPr>
          <a:xfrm>
            <a:off x="76200" y="1219200"/>
            <a:ext cx="8686800" cy="341632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Target Application:</a:t>
            </a:r>
            <a:r>
              <a:rPr lang="en-US" dirty="0">
                <a:latin typeface="Times New Roman" panose="02020603050405020304" pitchFamily="18" charset="0"/>
                <a:cs typeface="Times New Roman" panose="02020603050405020304" pitchFamily="18" charset="0"/>
              </a:rPr>
              <a:t> Computer Vision (Image Recognition) &amp; Complex NLP Logistic regression struggles heavily when the target depends on complex, non-linear interactions between thousands or millions of raw, un-engineered features.</a:t>
            </a:r>
          </a:p>
          <a:p>
            <a:r>
              <a:rPr lang="en-US" b="1" dirty="0">
                <a:latin typeface="Times New Roman" panose="02020603050405020304" pitchFamily="18" charset="0"/>
                <a:cs typeface="Times New Roman" panose="02020603050405020304" pitchFamily="18" charset="0"/>
              </a:rPr>
              <a:t>Core Justifications:</a:t>
            </a:r>
            <a:endParaRPr lang="en-US" dirty="0">
              <a:latin typeface="Times New Roman" panose="02020603050405020304" pitchFamily="18"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No Spatial Awareness:</a:t>
            </a:r>
            <a:r>
              <a:rPr lang="en-US" dirty="0">
                <a:latin typeface="Times New Roman" panose="02020603050405020304" pitchFamily="18" charset="0"/>
                <a:cs typeface="Times New Roman" panose="02020603050405020304" pitchFamily="18" charset="0"/>
              </a:rPr>
              <a:t> Logistic regression treats every pixel in an image as an isolated, independent feature. It completely ignores the spatial structure and proximity of pixels that actually form shapes and edges.</a:t>
            </a:r>
          </a:p>
          <a:p>
            <a:pPr lvl="0"/>
            <a:r>
              <a:rPr lang="en-US" b="1" dirty="0">
                <a:latin typeface="Times New Roman" panose="02020603050405020304" pitchFamily="18" charset="0"/>
                <a:cs typeface="Times New Roman" panose="02020603050405020304" pitchFamily="18" charset="0"/>
              </a:rPr>
              <a:t>Inability to Learn Hierarchies:</a:t>
            </a:r>
            <a:r>
              <a:rPr lang="en-US" dirty="0">
                <a:latin typeface="Times New Roman" panose="02020603050405020304" pitchFamily="18" charset="0"/>
                <a:cs typeface="Times New Roman" panose="02020603050405020304" pitchFamily="18" charset="0"/>
              </a:rPr>
              <a:t> The model cannot build composite features natively (e.g., combining pixels to find a line, combining lines to find a square).</a:t>
            </a:r>
          </a:p>
          <a:p>
            <a:pPr lvl="0"/>
            <a:r>
              <a:rPr lang="en-US" b="1" dirty="0">
                <a:latin typeface="Times New Roman" panose="02020603050405020304" pitchFamily="18" charset="0"/>
                <a:cs typeface="Times New Roman" panose="02020603050405020304" pitchFamily="18" charset="0"/>
              </a:rPr>
              <a:t>Feature Engineering Bottleneck:</a:t>
            </a:r>
            <a:r>
              <a:rPr lang="en-US" dirty="0">
                <a:latin typeface="Times New Roman" panose="02020603050405020304" pitchFamily="18" charset="0"/>
                <a:cs typeface="Times New Roman" panose="02020603050405020304" pitchFamily="18" charset="0"/>
              </a:rPr>
              <a:t> Achieving good performance on complex data requires humans to manually engineer non-linear features (like polynomial expansions), which is impossible for million-pixel images.</a:t>
            </a:r>
          </a:p>
        </p:txBody>
      </p:sp>
    </p:spTree>
    <p:extLst>
      <p:ext uri="{BB962C8B-B14F-4D97-AF65-F5344CB8AC3E}">
        <p14:creationId xmlns:p14="http://schemas.microsoft.com/office/powerpoint/2010/main" val="39382828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267EB-9E7A-432B-3738-E718D95DB1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56927-21AE-BCE1-69DC-CA5CABA18375}"/>
              </a:ext>
            </a:extLst>
          </p:cNvPr>
          <p:cNvSpPr>
            <a:spLocks noGrp="1"/>
          </p:cNvSpPr>
          <p:nvPr>
            <p:ph type="ctrTitle"/>
          </p:nvPr>
        </p:nvSpPr>
        <p:spPr>
          <a:xfrm>
            <a:off x="1600200" y="381000"/>
            <a:ext cx="6096000" cy="708025"/>
          </a:xfrm>
        </p:spPr>
        <p:txBody>
          <a:bodyPr>
            <a:normAutofit fontScale="90000"/>
          </a:bodyPr>
          <a:lstStyle/>
          <a:p>
            <a:pPr marL="285750" indent="-285750"/>
            <a:r>
              <a:rPr lang="en-US" sz="3200" dirty="0"/>
              <a:t>High-Dimensional Regression &amp; Sparsity Guarantees</a:t>
            </a:r>
            <a:endParaRPr lang="en-US" sz="32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F14DB447-99BF-2F1D-0102-3C0FE9F3CBCD}"/>
              </a:ext>
            </a:extLst>
          </p:cNvPr>
          <p:cNvSpPr/>
          <p:nvPr/>
        </p:nvSpPr>
        <p:spPr>
          <a:xfrm>
            <a:off x="4566249" y="5776823"/>
            <a:ext cx="4572000" cy="307777"/>
          </a:xfrm>
          <a:prstGeom prst="rect">
            <a:avLst/>
          </a:prstGeom>
        </p:spPr>
        <p:txBody>
          <a:bodyPr>
            <a:spAutoFit/>
          </a:bodyPr>
          <a:lstStyle/>
          <a:p>
            <a:r>
              <a:rPr lang="en-US" sz="1400" dirty="0">
                <a:solidFill>
                  <a:schemeClr val="bg1">
                    <a:lumMod val="75000"/>
                  </a:schemeClr>
                </a:solidFill>
              </a:rPr>
              <a:t>https://en.wikipedia.org/wiki/Sigmoid_function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04B0A41-621C-E8AA-CC0C-688BD3DF8BD2}"/>
                  </a:ext>
                </a:extLst>
              </p:cNvPr>
              <p:cNvSpPr txBox="1"/>
              <p:nvPr/>
            </p:nvSpPr>
            <p:spPr>
              <a:xfrm>
                <a:off x="76200" y="1219200"/>
                <a:ext cx="8686800" cy="3832652"/>
              </a:xfrm>
              <a:prstGeom prst="rect">
                <a:avLst/>
              </a:prstGeom>
              <a:noFill/>
            </p:spPr>
            <p:txBody>
              <a:bodyPr wrap="square">
                <a:spAutoFit/>
              </a:bodyPr>
              <a:lstStyle/>
              <a:p>
                <a:r>
                  <a:rPr lang="en-US" dirty="0"/>
                  <a:t>In modern statistical learning, datasets frequently exhibit the </a:t>
                </a:r>
                <a14:m>
                  <m:oMath xmlns:m="http://schemas.openxmlformats.org/officeDocument/2006/math">
                    <m:r>
                      <a:rPr lang="en-US" i="1">
                        <a:latin typeface="Cambria Math" panose="02040503050406030204" pitchFamily="18" charset="0"/>
                      </a:rPr>
                      <m:t>𝑝</m:t>
                    </m:r>
                    <m:r>
                      <a:rPr lang="en-US">
                        <a:latin typeface="Cambria Math" panose="02040503050406030204" pitchFamily="18" charset="0"/>
                      </a:rPr>
                      <m:t>≫</m:t>
                    </m:r>
                    <m:r>
                      <a:rPr lang="en-US" i="1">
                        <a:latin typeface="Cambria Math" panose="02040503050406030204" pitchFamily="18" charset="0"/>
                      </a:rPr>
                      <m:t>𝑛</m:t>
                    </m:r>
                  </m:oMath>
                </a14:m>
                <a:r>
                  <a:rPr lang="en-US" dirty="0"/>
                  <a:t>regime, where the number of features (</a:t>
                </a:r>
                <a14:m>
                  <m:oMath xmlns:m="http://schemas.openxmlformats.org/officeDocument/2006/math">
                    <m:r>
                      <a:rPr lang="en-US" i="1">
                        <a:latin typeface="Cambria Math" panose="02040503050406030204" pitchFamily="18" charset="0"/>
                      </a:rPr>
                      <m:t>𝑝</m:t>
                    </m:r>
                  </m:oMath>
                </a14:m>
                <a:r>
                  <a:rPr lang="en-US" dirty="0"/>
                  <a:t>) vastly exceeds the number of observations (</a:t>
                </a:r>
                <a14:m>
                  <m:oMath xmlns:m="http://schemas.openxmlformats.org/officeDocument/2006/math">
                    <m:r>
                      <a:rPr lang="en-US" i="1">
                        <a:latin typeface="Cambria Math" panose="02040503050406030204" pitchFamily="18" charset="0"/>
                      </a:rPr>
                      <m:t>𝑛</m:t>
                    </m:r>
                  </m:oMath>
                </a14:m>
                <a:r>
                  <a:rPr lang="en-US" dirty="0"/>
                  <a:t>). Standard Ordinary Least Squares (OLS) fails completely here, as the covariance matrix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𝑇</m:t>
                        </m:r>
                      </m:sup>
                    </m:sSup>
                    <m:r>
                      <a:rPr lang="en-US" i="1">
                        <a:latin typeface="Cambria Math" panose="02040503050406030204" pitchFamily="18" charset="0"/>
                      </a:rPr>
                      <m:t>𝑋</m:t>
                    </m:r>
                  </m:oMath>
                </a14:m>
                <a:r>
                  <a:rPr lang="en-US" dirty="0"/>
                  <a:t>becomes singular and non-invertible. Research in high-dimensional statistics resolves this by imposing structural sparsity assumptions on the parameter vector </a:t>
                </a:r>
                <a14:m>
                  <m:oMath xmlns:m="http://schemas.openxmlformats.org/officeDocument/2006/math">
                    <m:r>
                      <a:rPr lang="en-US" i="1">
                        <a:latin typeface="Cambria Math" panose="02040503050406030204" pitchFamily="18" charset="0"/>
                      </a:rPr>
                      <m:t>𝜃</m:t>
                    </m:r>
                  </m:oMath>
                </a14:m>
                <a:r>
                  <a:rPr lang="en-US" dirty="0"/>
                  <a:t>.</a:t>
                </a:r>
              </a:p>
              <a:p>
                <a:pPr lvl="0"/>
                <a:r>
                  <a:rPr lang="en-US" b="1" dirty="0"/>
                  <a:t>The Lasso Estimator:</a:t>
                </a:r>
                <a:r>
                  <a:rPr lang="en-US" dirty="0"/>
                  <a:t> By applying an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a:latin typeface="Cambria Math" panose="02040503050406030204" pitchFamily="18" charset="0"/>
                          </a:rPr>
                          <m:t>1</m:t>
                        </m:r>
                      </m:sub>
                    </m:sSub>
                  </m:oMath>
                </a14:m>
                <a:r>
                  <a:rPr lang="en-US" dirty="0"/>
                  <a:t>penalty, the Lasso performs simultaneous continuous shrinkage and variable selection: </a:t>
                </a:r>
                <a14:m>
                  <m:oMath xmlns:m="http://schemas.openxmlformats.org/officeDocument/2006/math">
                    <m:sSub>
                      <m:sSubPr>
                        <m:ctrlPr>
                          <a:rPr lang="en-US" i="1">
                            <a:latin typeface="Cambria Math" panose="02040503050406030204" pitchFamily="18" charset="0"/>
                          </a:rPr>
                        </m:ctrlPr>
                      </m:sSubPr>
                      <m:e>
                        <m:acc>
                          <m:accPr>
                            <m:chr m:val="ˆ"/>
                            <m:ctrlPr>
                              <a:rPr lang="en-US" i="1">
                                <a:latin typeface="Cambria Math" panose="02040503050406030204" pitchFamily="18" charset="0"/>
                              </a:rPr>
                            </m:ctrlPr>
                          </m:accPr>
                          <m:e>
                            <m:r>
                              <a:rPr lang="en-US" i="1">
                                <a:latin typeface="Cambria Math" panose="02040503050406030204" pitchFamily="18" charset="0"/>
                              </a:rPr>
                              <m:t>𝜃</m:t>
                            </m:r>
                          </m:e>
                        </m:acc>
                      </m:e>
                      <m:sub>
                        <m:r>
                          <m:rPr>
                            <m:nor/>
                          </m:rPr>
                          <a:rPr lang="en-US" i="0"/>
                          <m:t>Lasso</m:t>
                        </m:r>
                      </m:sub>
                    </m:sSub>
                    <m:r>
                      <a:rPr lang="en-US">
                        <a:latin typeface="Cambria Math" panose="02040503050406030204" pitchFamily="18" charset="0"/>
                      </a:rPr>
                      <m:t>=</m:t>
                    </m:r>
                    <m:func>
                      <m:funcPr>
                        <m:ctrlPr>
                          <a:rPr lang="en-US">
                            <a:latin typeface="Cambria Math" panose="02040503050406030204" pitchFamily="18" charset="0"/>
                          </a:rPr>
                        </m:ctrlPr>
                      </m:funcPr>
                      <m:fName>
                        <m:r>
                          <m:rPr>
                            <m:sty m:val="p"/>
                          </m:rPr>
                          <a:rPr lang="en-US">
                            <a:latin typeface="Cambria Math" panose="02040503050406030204" pitchFamily="18" charset="0"/>
                          </a:rPr>
                          <m:t>arg</m:t>
                        </m:r>
                      </m:fName>
                      <m:e>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min</m:t>
                                </m:r>
                              </m:e>
                              <m:lim>
                                <m:r>
                                  <a:rPr lang="en-US" i="1">
                                    <a:latin typeface="Cambria Math" panose="02040503050406030204" pitchFamily="18" charset="0"/>
                                  </a:rPr>
                                  <m:t>𝜃</m:t>
                                </m:r>
                              </m:lim>
                            </m:limLow>
                          </m:fName>
                          <m:e>
                            <m:f>
                              <m:fPr>
                                <m:ctrlPr>
                                  <a:rPr lang="en-US">
                                    <a:latin typeface="Cambria Math" panose="02040503050406030204" pitchFamily="18" charset="0"/>
                                  </a:rPr>
                                </m:ctrlPr>
                              </m:fPr>
                              <m:num>
                                <m:r>
                                  <a:rPr lang="en-US">
                                    <a:latin typeface="Cambria Math" panose="02040503050406030204" pitchFamily="18" charset="0"/>
                                  </a:rPr>
                                  <m:t>1</m:t>
                                </m:r>
                              </m:num>
                              <m:den>
                                <m:r>
                                  <a:rPr lang="en-US">
                                    <a:latin typeface="Cambria Math" panose="02040503050406030204" pitchFamily="18" charset="0"/>
                                  </a:rPr>
                                  <m:t>2</m:t>
                                </m:r>
                                <m:r>
                                  <a:rPr lang="en-US" i="1">
                                    <a:latin typeface="Cambria Math" panose="02040503050406030204" pitchFamily="18" charset="0"/>
                                  </a:rPr>
                                  <m:t>𝑚</m:t>
                                </m:r>
                              </m:den>
                            </m:f>
                          </m:e>
                        </m:func>
                      </m:e>
                    </m:func>
                    <m:r>
                      <a:rPr lang="en-US">
                        <a:latin typeface="Cambria Math" panose="02040503050406030204" pitchFamily="18" charset="0"/>
                      </a:rPr>
                      <m:t>‖</m:t>
                    </m:r>
                    <m:r>
                      <a:rPr lang="en-US" i="1">
                        <a:latin typeface="Cambria Math" panose="02040503050406030204" pitchFamily="18" charset="0"/>
                      </a:rPr>
                      <m:t>𝑦</m:t>
                    </m:r>
                    <m:r>
                      <a:rPr lang="en-US">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𝜃</m:t>
                    </m:r>
                    <m:r>
                      <a:rPr lang="en-US">
                        <a:latin typeface="Cambria Math" panose="02040503050406030204" pitchFamily="18" charset="0"/>
                      </a:rPr>
                      <m:t>‖</m:t>
                    </m:r>
                    <m:sSubSup>
                      <m:sSubSupPr>
                        <m:ctrlPr>
                          <a:rPr lang="en-US">
                            <a:latin typeface="Cambria Math" panose="02040503050406030204" pitchFamily="18" charset="0"/>
                          </a:rPr>
                        </m:ctrlPr>
                      </m:sSubSupPr>
                      <m:e>
                        <m:r>
                          <a:rPr lang="en-US">
                            <a:latin typeface="Cambria Math" panose="02040503050406030204" pitchFamily="18" charset="0"/>
                          </a:rPr>
                          <m:t>​</m:t>
                        </m:r>
                      </m:e>
                      <m:sub>
                        <m:r>
                          <a:rPr lang="en-US">
                            <a:latin typeface="Cambria Math" panose="02040503050406030204" pitchFamily="18" charset="0"/>
                          </a:rPr>
                          <m:t>2</m:t>
                        </m:r>
                      </m:sub>
                      <m:sup>
                        <m:r>
                          <a:rPr lang="en-US">
                            <a:latin typeface="Cambria Math" panose="02040503050406030204" pitchFamily="18" charset="0"/>
                          </a:rPr>
                          <m:t>2</m:t>
                        </m:r>
                      </m:sup>
                    </m:sSubSup>
                    <m:r>
                      <a:rPr lang="en-US">
                        <a:latin typeface="Cambria Math" panose="02040503050406030204" pitchFamily="18" charset="0"/>
                      </a:rPr>
                      <m:t>+</m:t>
                    </m:r>
                    <m:r>
                      <a:rPr lang="en-US" i="1">
                        <a:latin typeface="Cambria Math" panose="02040503050406030204" pitchFamily="18" charset="0"/>
                      </a:rPr>
                      <m:t>𝜆</m:t>
                    </m:r>
                    <m:r>
                      <a:rPr lang="en-US">
                        <a:latin typeface="Cambria Math" panose="02040503050406030204" pitchFamily="18" charset="0"/>
                      </a:rPr>
                      <m:t>‖</m:t>
                    </m:r>
                    <m:r>
                      <a:rPr lang="en-US" i="1">
                        <a:latin typeface="Cambria Math" panose="02040503050406030204" pitchFamily="18" charset="0"/>
                      </a:rPr>
                      <m:t>𝜃</m:t>
                    </m:r>
                    <m:r>
                      <a:rPr lang="en-US">
                        <a:latin typeface="Cambria Math" panose="02040503050406030204" pitchFamily="18" charset="0"/>
                      </a:rPr>
                      <m:t>‖</m:t>
                    </m:r>
                    <m:sSub>
                      <m:sSubPr>
                        <m:ctrlPr>
                          <a:rPr lang="en-US">
                            <a:latin typeface="Cambria Math" panose="02040503050406030204" pitchFamily="18" charset="0"/>
                          </a:rPr>
                        </m:ctrlPr>
                      </m:sSubPr>
                      <m:e>
                        <m:r>
                          <a:rPr lang="en-US">
                            <a:latin typeface="Cambria Math" panose="02040503050406030204" pitchFamily="18" charset="0"/>
                          </a:rPr>
                          <m:t>​</m:t>
                        </m:r>
                      </m:e>
                      <m:sub>
                        <m:r>
                          <a:rPr lang="en-US">
                            <a:latin typeface="Cambria Math" panose="02040503050406030204" pitchFamily="18" charset="0"/>
                          </a:rPr>
                          <m:t>1</m:t>
                        </m:r>
                      </m:sub>
                    </m:sSub>
                  </m:oMath>
                </a14:m>
                <a:r>
                  <a:rPr lang="en-US" dirty="0"/>
                  <a:t>.</a:t>
                </a:r>
              </a:p>
              <a:p>
                <a:pPr lvl="0"/>
                <a:r>
                  <a:rPr lang="en-US" b="1" dirty="0"/>
                  <a:t>Restricted Isometry Property (RIP):</a:t>
                </a:r>
                <a:r>
                  <a:rPr lang="en-US" dirty="0"/>
                  <a:t> Theoretical guarantees by </a:t>
                </a:r>
                <a:r>
                  <a:rPr lang="en-US" dirty="0" err="1"/>
                  <a:t>Candès</a:t>
                </a:r>
                <a:r>
                  <a:rPr lang="en-US" dirty="0"/>
                  <a:t> and Tao demonstrate that if the design matrix </a:t>
                </a:r>
                <a14:m>
                  <m:oMath xmlns:m="http://schemas.openxmlformats.org/officeDocument/2006/math">
                    <m:r>
                      <a:rPr lang="en-US" i="1">
                        <a:latin typeface="Cambria Math" panose="02040503050406030204" pitchFamily="18" charset="0"/>
                      </a:rPr>
                      <m:t>𝑋</m:t>
                    </m:r>
                  </m:oMath>
                </a14:m>
                <a:r>
                  <a:rPr lang="en-US" dirty="0"/>
                  <a:t>satisfies the RIP, the Lasso estimator will recover the exact sparse signal with high probability, even when </a:t>
                </a:r>
                <a14:m>
                  <m:oMath xmlns:m="http://schemas.openxmlformats.org/officeDocument/2006/math">
                    <m:r>
                      <a:rPr lang="en-US" i="1">
                        <a:latin typeface="Cambria Math" panose="02040503050406030204" pitchFamily="18" charset="0"/>
                      </a:rPr>
                      <m:t>𝑝</m:t>
                    </m:r>
                  </m:oMath>
                </a14:m>
                <a:r>
                  <a:rPr lang="en-US" dirty="0"/>
                  <a:t>is exponentially larger than </a:t>
                </a:r>
                <a14:m>
                  <m:oMath xmlns:m="http://schemas.openxmlformats.org/officeDocument/2006/math">
                    <m:r>
                      <a:rPr lang="en-US" i="1">
                        <a:latin typeface="Cambria Math" panose="02040503050406030204" pitchFamily="18" charset="0"/>
                      </a:rPr>
                      <m:t>𝑛</m:t>
                    </m:r>
                  </m:oMath>
                </a14:m>
                <a:r>
                  <a:rPr lang="en-US" dirty="0"/>
                  <a:t>.</a:t>
                </a:r>
              </a:p>
              <a:p>
                <a:pPr lvl="0"/>
                <a:r>
                  <a:rPr lang="en-US" b="1" dirty="0"/>
                  <a:t>Elastic Net:</a:t>
                </a:r>
                <a:r>
                  <a:rPr lang="en-US" dirty="0"/>
                  <a:t> Proposed by Zou and Hastie, this combines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a:latin typeface="Cambria Math" panose="02040503050406030204" pitchFamily="18" charset="0"/>
                          </a:rPr>
                          <m:t>1</m:t>
                        </m:r>
                      </m:sub>
                    </m:sSub>
                  </m:oMath>
                </a14:m>
                <a:r>
                  <a:rPr lang="en-US" dirty="0"/>
                  <a:t>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a:latin typeface="Cambria Math" panose="02040503050406030204" pitchFamily="18" charset="0"/>
                          </a:rPr>
                          <m:t>2</m:t>
                        </m:r>
                      </m:sub>
                    </m:sSub>
                  </m:oMath>
                </a14:m>
                <a:r>
                  <a:rPr lang="en-US" dirty="0"/>
                  <a:t>penalties to handle highly correlated variables, where Lasso tends to arbitrarily select only one feature from a correlated group.</a:t>
                </a:r>
              </a:p>
            </p:txBody>
          </p:sp>
        </mc:Choice>
        <mc:Fallback xmlns="">
          <p:sp>
            <p:nvSpPr>
              <p:cNvPr id="8" name="TextBox 7">
                <a:extLst>
                  <a:ext uri="{FF2B5EF4-FFF2-40B4-BE49-F238E27FC236}">
                    <a16:creationId xmlns:a16="http://schemas.microsoft.com/office/drawing/2014/main" id="{C04B0A41-621C-E8AA-CC0C-688BD3DF8BD2}"/>
                  </a:ext>
                </a:extLst>
              </p:cNvPr>
              <p:cNvSpPr txBox="1">
                <a:spLocks noRot="1" noChangeAspect="1" noMove="1" noResize="1" noEditPoints="1" noAdjustHandles="1" noChangeArrowheads="1" noChangeShapeType="1" noTextEdit="1"/>
              </p:cNvSpPr>
              <p:nvPr/>
            </p:nvSpPr>
            <p:spPr>
              <a:xfrm>
                <a:off x="76200" y="1219200"/>
                <a:ext cx="8686800" cy="3832652"/>
              </a:xfrm>
              <a:prstGeom prst="rect">
                <a:avLst/>
              </a:prstGeom>
              <a:blipFill>
                <a:blip r:embed="rId2"/>
                <a:stretch>
                  <a:fillRect l="-632" t="-795" r="-982" b="-1908"/>
                </a:stretch>
              </a:blipFill>
            </p:spPr>
            <p:txBody>
              <a:bodyPr/>
              <a:lstStyle/>
              <a:p>
                <a:r>
                  <a:rPr lang="en-US">
                    <a:noFill/>
                  </a:rPr>
                  <a:t> </a:t>
                </a:r>
              </a:p>
            </p:txBody>
          </p:sp>
        </mc:Fallback>
      </mc:AlternateContent>
    </p:spTree>
    <p:extLst>
      <p:ext uri="{BB962C8B-B14F-4D97-AF65-F5344CB8AC3E}">
        <p14:creationId xmlns:p14="http://schemas.microsoft.com/office/powerpoint/2010/main" val="34382819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C5086-120C-E265-5FDD-799050278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6A7088-06C8-F0BA-731B-2B5E33D06429}"/>
              </a:ext>
            </a:extLst>
          </p:cNvPr>
          <p:cNvSpPr>
            <a:spLocks noGrp="1"/>
          </p:cNvSpPr>
          <p:nvPr>
            <p:ph type="ctrTitle"/>
          </p:nvPr>
        </p:nvSpPr>
        <p:spPr>
          <a:xfrm>
            <a:off x="1600200" y="381000"/>
            <a:ext cx="6096000" cy="708025"/>
          </a:xfrm>
        </p:spPr>
        <p:txBody>
          <a:bodyPr>
            <a:normAutofit fontScale="90000"/>
          </a:bodyPr>
          <a:lstStyle/>
          <a:p>
            <a:pPr marL="285750" indent="-285750"/>
            <a:r>
              <a:rPr lang="en-US" sz="3200" dirty="0"/>
              <a:t>Logistic Regression Analysis – Application Scenarios (Worst)</a:t>
            </a:r>
            <a:endParaRPr lang="en-US" sz="32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0C5AF2F7-CB94-DD87-C60F-B841006247C0}"/>
              </a:ext>
            </a:extLst>
          </p:cNvPr>
          <p:cNvSpPr/>
          <p:nvPr/>
        </p:nvSpPr>
        <p:spPr>
          <a:xfrm>
            <a:off x="4566249" y="5776823"/>
            <a:ext cx="4572000" cy="307777"/>
          </a:xfrm>
          <a:prstGeom prst="rect">
            <a:avLst/>
          </a:prstGeom>
        </p:spPr>
        <p:txBody>
          <a:bodyPr>
            <a:spAutoFit/>
          </a:bodyPr>
          <a:lstStyle/>
          <a:p>
            <a:r>
              <a:rPr lang="en-US" sz="1400" dirty="0">
                <a:solidFill>
                  <a:schemeClr val="bg1">
                    <a:lumMod val="75000"/>
                  </a:schemeClr>
                </a:solidFill>
              </a:rPr>
              <a:t>https://en.wikipedia.org/wiki/Sigmoid_function</a:t>
            </a:r>
          </a:p>
        </p:txBody>
      </p:sp>
      <p:sp>
        <p:nvSpPr>
          <p:cNvPr id="8" name="TextBox 7">
            <a:extLst>
              <a:ext uri="{FF2B5EF4-FFF2-40B4-BE49-F238E27FC236}">
                <a16:creationId xmlns:a16="http://schemas.microsoft.com/office/drawing/2014/main" id="{15ACA467-F6A1-5F1F-ED60-D65F7228BD35}"/>
              </a:ext>
            </a:extLst>
          </p:cNvPr>
          <p:cNvSpPr txBox="1"/>
          <p:nvPr/>
        </p:nvSpPr>
        <p:spPr>
          <a:xfrm>
            <a:off x="76200" y="1219200"/>
            <a:ext cx="8686800" cy="341632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Target Application:</a:t>
            </a:r>
            <a:r>
              <a:rPr lang="en-US" dirty="0">
                <a:latin typeface="Times New Roman" panose="02020603050405020304" pitchFamily="18" charset="0"/>
                <a:cs typeface="Times New Roman" panose="02020603050405020304" pitchFamily="18" charset="0"/>
              </a:rPr>
              <a:t> Computer Vision (Image Recognition) &amp; Complex NLP Logistic regression struggles heavily when the target depends on complex, non-linear interactions between thousands or millions of raw, un-engineered features.</a:t>
            </a:r>
          </a:p>
          <a:p>
            <a:r>
              <a:rPr lang="en-US" b="1" dirty="0">
                <a:latin typeface="Times New Roman" panose="02020603050405020304" pitchFamily="18" charset="0"/>
                <a:cs typeface="Times New Roman" panose="02020603050405020304" pitchFamily="18" charset="0"/>
              </a:rPr>
              <a:t>Core Justifications:</a:t>
            </a:r>
            <a:endParaRPr lang="en-US" dirty="0">
              <a:latin typeface="Times New Roman" panose="02020603050405020304" pitchFamily="18"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No Spatial Awareness:</a:t>
            </a:r>
            <a:r>
              <a:rPr lang="en-US" dirty="0">
                <a:latin typeface="Times New Roman" panose="02020603050405020304" pitchFamily="18" charset="0"/>
                <a:cs typeface="Times New Roman" panose="02020603050405020304" pitchFamily="18" charset="0"/>
              </a:rPr>
              <a:t> Logistic regression treats every pixel in an image as an isolated, independent feature. It completely ignores the spatial structure and proximity of pixels that actually form shapes and edges.</a:t>
            </a:r>
          </a:p>
          <a:p>
            <a:pPr lvl="0"/>
            <a:r>
              <a:rPr lang="en-US" b="1" dirty="0">
                <a:latin typeface="Times New Roman" panose="02020603050405020304" pitchFamily="18" charset="0"/>
                <a:cs typeface="Times New Roman" panose="02020603050405020304" pitchFamily="18" charset="0"/>
              </a:rPr>
              <a:t>Inability to Learn Hierarchies:</a:t>
            </a:r>
            <a:r>
              <a:rPr lang="en-US" dirty="0">
                <a:latin typeface="Times New Roman" panose="02020603050405020304" pitchFamily="18" charset="0"/>
                <a:cs typeface="Times New Roman" panose="02020603050405020304" pitchFamily="18" charset="0"/>
              </a:rPr>
              <a:t> The model cannot build composite features natively (e.g., combining pixels to find a line, combining lines to find a square).</a:t>
            </a:r>
          </a:p>
          <a:p>
            <a:pPr lvl="0"/>
            <a:r>
              <a:rPr lang="en-US" b="1" dirty="0">
                <a:latin typeface="Times New Roman" panose="02020603050405020304" pitchFamily="18" charset="0"/>
                <a:cs typeface="Times New Roman" panose="02020603050405020304" pitchFamily="18" charset="0"/>
              </a:rPr>
              <a:t>Feature Engineering Bottleneck:</a:t>
            </a:r>
            <a:r>
              <a:rPr lang="en-US" dirty="0">
                <a:latin typeface="Times New Roman" panose="02020603050405020304" pitchFamily="18" charset="0"/>
                <a:cs typeface="Times New Roman" panose="02020603050405020304" pitchFamily="18" charset="0"/>
              </a:rPr>
              <a:t> Achieving good performance on complex data requires humans to manually engineer non-linear features (like polynomial expansions), which is impossible for million-pixel images.</a:t>
            </a:r>
          </a:p>
        </p:txBody>
      </p:sp>
    </p:spTree>
    <p:extLst>
      <p:ext uri="{BB962C8B-B14F-4D97-AF65-F5344CB8AC3E}">
        <p14:creationId xmlns:p14="http://schemas.microsoft.com/office/powerpoint/2010/main" val="37877889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F189B-7987-9489-1FE4-8765C67551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AA3B57-2B81-3CCD-2770-C8AE8FFA4E06}"/>
              </a:ext>
            </a:extLst>
          </p:cNvPr>
          <p:cNvSpPr>
            <a:spLocks noGrp="1"/>
          </p:cNvSpPr>
          <p:nvPr>
            <p:ph type="ctrTitle"/>
          </p:nvPr>
        </p:nvSpPr>
        <p:spPr>
          <a:xfrm>
            <a:off x="1600200" y="381000"/>
            <a:ext cx="6096000" cy="708025"/>
          </a:xfrm>
        </p:spPr>
        <p:txBody>
          <a:bodyPr>
            <a:normAutofit fontScale="90000"/>
          </a:bodyPr>
          <a:lstStyle/>
          <a:p>
            <a:pPr marL="285750" indent="-285750"/>
            <a:r>
              <a:rPr lang="en-US" sz="3200" dirty="0"/>
              <a:t>Non-Convex Optimization &amp; The Double Descent Phenomenon</a:t>
            </a:r>
            <a:endParaRPr lang="en-US" sz="32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E9410474-894C-4B21-83A1-F71BDDA46074}"/>
              </a:ext>
            </a:extLst>
          </p:cNvPr>
          <p:cNvSpPr/>
          <p:nvPr/>
        </p:nvSpPr>
        <p:spPr>
          <a:xfrm>
            <a:off x="4566249" y="5776823"/>
            <a:ext cx="4572000" cy="307777"/>
          </a:xfrm>
          <a:prstGeom prst="rect">
            <a:avLst/>
          </a:prstGeom>
        </p:spPr>
        <p:txBody>
          <a:bodyPr>
            <a:spAutoFit/>
          </a:bodyPr>
          <a:lstStyle/>
          <a:p>
            <a:r>
              <a:rPr lang="en-US" sz="1400" dirty="0">
                <a:solidFill>
                  <a:schemeClr val="bg1">
                    <a:lumMod val="75000"/>
                  </a:schemeClr>
                </a:solidFill>
              </a:rPr>
              <a:t>https://en.wikipedia.org/wiki/Sigmoid_function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7C305FC-8015-271F-1876-FD5289D3BB74}"/>
                  </a:ext>
                </a:extLst>
              </p:cNvPr>
              <p:cNvSpPr txBox="1"/>
              <p:nvPr/>
            </p:nvSpPr>
            <p:spPr>
              <a:xfrm>
                <a:off x="76200" y="1219200"/>
                <a:ext cx="8686800" cy="3832652"/>
              </a:xfrm>
              <a:prstGeom prst="rect">
                <a:avLst/>
              </a:prstGeom>
              <a:noFill/>
            </p:spPr>
            <p:txBody>
              <a:bodyPr wrap="square">
                <a:spAutoFit/>
              </a:bodyPr>
              <a:lstStyle/>
              <a:p>
                <a:r>
                  <a:rPr lang="en-US" dirty="0"/>
                  <a:t>Classical statistical learning theory dictates a strict bias-variance tradeoff: as model capacity increases, test error follows a U-shaped curve, eventually overfitting. However, recent empirical research in overparameterized regression models (like linear networks) demonstrates the "Double Descent" phenomenon, fundamentally challenging classical limits.</a:t>
                </a:r>
              </a:p>
              <a:p>
                <a:pPr lvl="0"/>
                <a:r>
                  <a:rPr lang="en-US" b="1" dirty="0"/>
                  <a:t>The Interpolation Threshold:</a:t>
                </a:r>
                <a:r>
                  <a:rPr lang="en-US" dirty="0"/>
                  <a:t> Once the model reaches enough capacity to perfectly interpolate the training data (zero training error), adding even more parameters causes the test error to </a:t>
                </a:r>
                <a:r>
                  <a:rPr lang="en-US" i="1" dirty="0"/>
                  <a:t>decrease</a:t>
                </a:r>
                <a:r>
                  <a:rPr lang="en-US" dirty="0"/>
                  <a:t> again.</a:t>
                </a:r>
              </a:p>
              <a:p>
                <a:pPr lvl="0"/>
                <a:r>
                  <a:rPr lang="en-US" b="1" dirty="0"/>
                  <a:t>Implicit Regularization:</a:t>
                </a:r>
                <a:r>
                  <a:rPr lang="en-US" dirty="0"/>
                  <a:t> Gradient descent inherently biases the optimization trajectory toward minimum-norm solutions. Even without explicit regularization terms, GD finds the solution </a:t>
                </a:r>
                <a14:m>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𝜃</m:t>
                        </m:r>
                      </m:e>
                    </m:acc>
                  </m:oMath>
                </a14:m>
                <a:r>
                  <a:rPr lang="en-US" dirty="0"/>
                  <a:t>that minimizes </a:t>
                </a:r>
                <a14:m>
                  <m:oMath xmlns:m="http://schemas.openxmlformats.org/officeDocument/2006/math">
                    <m:r>
                      <a:rPr lang="en-US">
                        <a:latin typeface="Cambria Math" panose="02040503050406030204" pitchFamily="18" charset="0"/>
                      </a:rPr>
                      <m:t>‖</m:t>
                    </m:r>
                    <m:r>
                      <a:rPr lang="en-US" i="1">
                        <a:latin typeface="Cambria Math" panose="02040503050406030204" pitchFamily="18" charset="0"/>
                      </a:rPr>
                      <m:t>𝜃</m:t>
                    </m:r>
                    <m:r>
                      <a:rPr lang="en-US">
                        <a:latin typeface="Cambria Math" panose="02040503050406030204" pitchFamily="18" charset="0"/>
                      </a:rPr>
                      <m:t>‖</m:t>
                    </m:r>
                    <m:sSub>
                      <m:sSubPr>
                        <m:ctrlPr>
                          <a:rPr lang="en-US">
                            <a:latin typeface="Cambria Math" panose="02040503050406030204" pitchFamily="18" charset="0"/>
                          </a:rPr>
                        </m:ctrlPr>
                      </m:sSubPr>
                      <m:e>
                        <m:r>
                          <a:rPr lang="en-US">
                            <a:latin typeface="Cambria Math" panose="02040503050406030204" pitchFamily="18" charset="0"/>
                          </a:rPr>
                          <m:t>​</m:t>
                        </m:r>
                      </m:e>
                      <m:sub>
                        <m:r>
                          <a:rPr lang="en-US">
                            <a:latin typeface="Cambria Math" panose="02040503050406030204" pitchFamily="18" charset="0"/>
                          </a:rPr>
                          <m:t>2</m:t>
                        </m:r>
                      </m:sub>
                    </m:sSub>
                  </m:oMath>
                </a14:m>
                <a:r>
                  <a:rPr lang="en-US" dirty="0"/>
                  <a:t>among all global minimizers of the empirical risk.</a:t>
                </a:r>
              </a:p>
              <a:p>
                <a:pPr lvl="0"/>
                <a:r>
                  <a:rPr lang="en-US" b="1" dirty="0"/>
                  <a:t>Mathematical Representation of Minimum Norm:</a:t>
                </a:r>
                <a:r>
                  <a:rPr lang="en-US" dirty="0"/>
                  <a:t> In the overparameterized linear regime (</a:t>
                </a:r>
                <a14:m>
                  <m:oMath xmlns:m="http://schemas.openxmlformats.org/officeDocument/2006/math">
                    <m:r>
                      <a:rPr lang="en-US" i="1">
                        <a:latin typeface="Cambria Math" panose="02040503050406030204" pitchFamily="18" charset="0"/>
                      </a:rPr>
                      <m:t>𝑝</m:t>
                    </m:r>
                    <m:r>
                      <a:rPr lang="en-US">
                        <a:latin typeface="Cambria Math" panose="02040503050406030204" pitchFamily="18" charset="0"/>
                      </a:rPr>
                      <m:t>&gt;</m:t>
                    </m:r>
                    <m:r>
                      <a:rPr lang="en-US" i="1">
                        <a:latin typeface="Cambria Math" panose="02040503050406030204" pitchFamily="18" charset="0"/>
                      </a:rPr>
                      <m:t>𝑛</m:t>
                    </m:r>
                  </m:oMath>
                </a14:m>
                <a:r>
                  <a:rPr lang="en-US" dirty="0"/>
                  <a:t>), the implicit solution converges to </a:t>
                </a:r>
                <a14:m>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𝜃</m:t>
                        </m:r>
                      </m:e>
                    </m:acc>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𝑇</m:t>
                        </m:r>
                      </m:sup>
                    </m:sSup>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𝑋</m:t>
                            </m:r>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𝑇</m:t>
                                </m:r>
                              </m:sup>
                            </m:sSup>
                          </m:e>
                        </m:d>
                      </m:e>
                      <m:sup>
                        <m:r>
                          <a:rPr lang="en-US">
                            <a:latin typeface="Cambria Math" panose="02040503050406030204" pitchFamily="18" charset="0"/>
                          </a:rPr>
                          <m:t>−1</m:t>
                        </m:r>
                      </m:sup>
                    </m:sSup>
                    <m:r>
                      <a:rPr lang="en-US" i="1">
                        <a:latin typeface="Cambria Math" panose="02040503050406030204" pitchFamily="18" charset="0"/>
                      </a:rPr>
                      <m:t>𝑦</m:t>
                    </m:r>
                  </m:oMath>
                </a14:m>
                <a:r>
                  <a:rPr lang="en-US" dirty="0"/>
                  <a:t>.</a:t>
                </a:r>
              </a:p>
            </p:txBody>
          </p:sp>
        </mc:Choice>
        <mc:Fallback xmlns="">
          <p:sp>
            <p:nvSpPr>
              <p:cNvPr id="8" name="TextBox 7">
                <a:extLst>
                  <a:ext uri="{FF2B5EF4-FFF2-40B4-BE49-F238E27FC236}">
                    <a16:creationId xmlns:a16="http://schemas.microsoft.com/office/drawing/2014/main" id="{D7C305FC-8015-271F-1876-FD5289D3BB74}"/>
                  </a:ext>
                </a:extLst>
              </p:cNvPr>
              <p:cNvSpPr txBox="1">
                <a:spLocks noRot="1" noChangeAspect="1" noMove="1" noResize="1" noEditPoints="1" noAdjustHandles="1" noChangeArrowheads="1" noChangeShapeType="1" noTextEdit="1"/>
              </p:cNvSpPr>
              <p:nvPr/>
            </p:nvSpPr>
            <p:spPr>
              <a:xfrm>
                <a:off x="76200" y="1219200"/>
                <a:ext cx="8686800" cy="3832652"/>
              </a:xfrm>
              <a:prstGeom prst="rect">
                <a:avLst/>
              </a:prstGeom>
              <a:blipFill>
                <a:blip r:embed="rId2"/>
                <a:stretch>
                  <a:fillRect l="-632" t="-795" r="-912" b="-636"/>
                </a:stretch>
              </a:blipFill>
            </p:spPr>
            <p:txBody>
              <a:bodyPr/>
              <a:lstStyle/>
              <a:p>
                <a:r>
                  <a:rPr lang="en-US">
                    <a:noFill/>
                  </a:rPr>
                  <a:t> </a:t>
                </a:r>
              </a:p>
            </p:txBody>
          </p:sp>
        </mc:Fallback>
      </mc:AlternateContent>
    </p:spTree>
    <p:extLst>
      <p:ext uri="{BB962C8B-B14F-4D97-AF65-F5344CB8AC3E}">
        <p14:creationId xmlns:p14="http://schemas.microsoft.com/office/powerpoint/2010/main" val="6080654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9D3A8-7E3B-D345-43BB-AB563F0B96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9B1790-F7B0-EBE8-D6B4-C837E4A30328}"/>
              </a:ext>
            </a:extLst>
          </p:cNvPr>
          <p:cNvSpPr>
            <a:spLocks noGrp="1"/>
          </p:cNvSpPr>
          <p:nvPr>
            <p:ph type="ctrTitle"/>
          </p:nvPr>
        </p:nvSpPr>
        <p:spPr>
          <a:xfrm>
            <a:off x="-152400" y="294536"/>
            <a:ext cx="9144000" cy="708025"/>
          </a:xfrm>
        </p:spPr>
        <p:txBody>
          <a:bodyPr>
            <a:normAutofit/>
          </a:bodyPr>
          <a:lstStyle/>
          <a:p>
            <a:pPr marL="285750" indent="-285750"/>
            <a:r>
              <a:rPr lang="en-US" sz="3200" dirty="0"/>
              <a:t>Robust Regression &amp; Outlier Resistance</a:t>
            </a:r>
            <a:endParaRPr lang="en-US" sz="32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D69FE35B-4829-5A10-AEA7-D0A97FA4B3EE}"/>
              </a:ext>
            </a:extLst>
          </p:cNvPr>
          <p:cNvSpPr/>
          <p:nvPr/>
        </p:nvSpPr>
        <p:spPr>
          <a:xfrm>
            <a:off x="4566249" y="5776823"/>
            <a:ext cx="4572000" cy="307777"/>
          </a:xfrm>
          <a:prstGeom prst="rect">
            <a:avLst/>
          </a:prstGeom>
        </p:spPr>
        <p:txBody>
          <a:bodyPr>
            <a:spAutoFit/>
          </a:bodyPr>
          <a:lstStyle/>
          <a:p>
            <a:r>
              <a:rPr lang="en-US" sz="1400" dirty="0">
                <a:solidFill>
                  <a:schemeClr val="bg1">
                    <a:lumMod val="75000"/>
                  </a:schemeClr>
                </a:solidFill>
              </a:rPr>
              <a:t>https://en.wikipedia.org/wiki/Sigmoid_function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C2D563A-105E-D92A-E0C2-43489EF5C859}"/>
                  </a:ext>
                </a:extLst>
              </p:cNvPr>
              <p:cNvSpPr txBox="1"/>
              <p:nvPr/>
            </p:nvSpPr>
            <p:spPr>
              <a:xfrm>
                <a:off x="76200" y="1219200"/>
                <a:ext cx="8686800" cy="4664867"/>
              </a:xfrm>
              <a:prstGeom prst="rect">
                <a:avLst/>
              </a:prstGeom>
              <a:noFill/>
            </p:spPr>
            <p:txBody>
              <a:bodyPr wrap="square">
                <a:spAutoFit/>
              </a:bodyPr>
              <a:lstStyle/>
              <a:p>
                <a:r>
                  <a:rPr lang="en-US" dirty="0"/>
                  <a:t>Standard Mean Squared Error (MSE) is highly sensitive to outliers because the quadratic penalty </a:t>
                </a:r>
                <a14:m>
                  <m:oMath xmlns:m="http://schemas.openxmlformats.org/officeDocument/2006/math">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ℎ</m:t>
                                </m:r>
                              </m:e>
                              <m:sub>
                                <m:r>
                                  <a:rPr lang="en-US" i="1">
                                    <a:latin typeface="Cambria Math" panose="02040503050406030204" pitchFamily="18" charset="0"/>
                                  </a:rPr>
                                  <m:t>𝜃</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a:latin typeface="Cambria Math" panose="02040503050406030204" pitchFamily="18" charset="0"/>
                              </a:rPr>
                              <m:t>−</m:t>
                            </m:r>
                            <m:r>
                              <a:rPr lang="en-US" i="1">
                                <a:latin typeface="Cambria Math" panose="02040503050406030204" pitchFamily="18" charset="0"/>
                              </a:rPr>
                              <m:t>𝑦</m:t>
                            </m:r>
                          </m:e>
                        </m:d>
                      </m:e>
                      <m:sup>
                        <m:r>
                          <a:rPr lang="en-US">
                            <a:latin typeface="Cambria Math" panose="02040503050406030204" pitchFamily="18" charset="0"/>
                          </a:rPr>
                          <m:t>2</m:t>
                        </m:r>
                      </m:sup>
                    </m:sSup>
                  </m:oMath>
                </a14:m>
                <a:r>
                  <a:rPr lang="en-US" dirty="0"/>
                  <a:t>grows infinitely large. A single arbitrarily corrupted data point can pull the entire regression line away from the true distribution, yielding a breakdown point of </a:t>
                </a:r>
                <a14:m>
                  <m:oMath xmlns:m="http://schemas.openxmlformats.org/officeDocument/2006/math">
                    <m:r>
                      <a:rPr lang="en-US">
                        <a:latin typeface="Cambria Math" panose="02040503050406030204" pitchFamily="18" charset="0"/>
                      </a:rPr>
                      <m:t>0%</m:t>
                    </m:r>
                  </m:oMath>
                </a14:m>
                <a:r>
                  <a:rPr lang="en-US" dirty="0"/>
                  <a:t>. Robust statistics focuses on estimators that resist adversarial corruption.</a:t>
                </a:r>
              </a:p>
              <a:p>
                <a:pPr lvl="0"/>
                <a:r>
                  <a:rPr lang="en-US" b="1" dirty="0"/>
                  <a:t>The Breakdown Point:</a:t>
                </a:r>
                <a:r>
                  <a:rPr lang="en-US" dirty="0"/>
                  <a:t> The theoretical limit of a model's robustness, defined as the maximum fraction of outliers the estimator can handle before yielding arbitrarily large errors.</a:t>
                </a:r>
              </a:p>
              <a:p>
                <a:pPr lvl="0"/>
                <a:r>
                  <a:rPr lang="en-US" b="1" dirty="0"/>
                  <a:t>Huber Loss:</a:t>
                </a:r>
                <a:r>
                  <a:rPr lang="en-US" dirty="0"/>
                  <a:t> A piecewise function that acts as MSE for small errors and Mean Absolute Error (MAE) for large errors, bounding the influence of severe outliers:</a:t>
                </a:r>
              </a:p>
              <a:p>
                <a:pPr lvl="0"/>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𝛿</m:t>
                          </m:r>
                        </m:sub>
                      </m:sSub>
                      <m:d>
                        <m:dPr>
                          <m:ctrlPr>
                            <a:rPr lang="en-US" i="1">
                              <a:latin typeface="Cambria Math" panose="02040503050406030204" pitchFamily="18" charset="0"/>
                            </a:rPr>
                          </m:ctrlPr>
                        </m:dPr>
                        <m:e>
                          <m:r>
                            <a:rPr lang="en-US" i="1">
                              <a:latin typeface="Cambria Math" panose="02040503050406030204" pitchFamily="18" charset="0"/>
                            </a:rPr>
                            <m:t>𝑎</m:t>
                          </m:r>
                        </m:e>
                      </m:d>
                      <m:r>
                        <a:rPr lang="en-US">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f>
                                  <m:fPr>
                                    <m:ctrlPr>
                                      <a:rPr lang="en-US">
                                        <a:latin typeface="Cambria Math" panose="02040503050406030204" pitchFamily="18" charset="0"/>
                                      </a:rPr>
                                    </m:ctrlPr>
                                  </m:fPr>
                                  <m:num>
                                    <m:r>
                                      <a:rPr lang="en-US">
                                        <a:latin typeface="Cambria Math" panose="02040503050406030204" pitchFamily="18" charset="0"/>
                                      </a:rPr>
                                      <m:t>1</m:t>
                                    </m:r>
                                  </m:num>
                                  <m:den>
                                    <m:r>
                                      <a:rPr lang="en-US">
                                        <a:latin typeface="Cambria Math" panose="02040503050406030204" pitchFamily="18" charset="0"/>
                                      </a:rPr>
                                      <m:t>2</m:t>
                                    </m:r>
                                  </m:den>
                                </m:f>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a:latin typeface="Cambria Math" panose="02040503050406030204" pitchFamily="18" charset="0"/>
                                      </a:rPr>
                                      <m:t>2</m:t>
                                    </m:r>
                                  </m:sup>
                                </m:sSup>
                              </m:e>
                              <m:e>
                                <m:r>
                                  <m:rPr>
                                    <m:nor/>
                                  </m:rPr>
                                  <a:rPr lang="en-US" i="0"/>
                                  <m:t>for </m:t>
                                </m:r>
                                <m:r>
                                  <a:rPr lang="en-US">
                                    <a:latin typeface="Cambria Math" panose="02040503050406030204" pitchFamily="18" charset="0"/>
                                  </a:rPr>
                                  <m:t>|</m:t>
                                </m:r>
                                <m:r>
                                  <a:rPr lang="en-US" i="1">
                                    <a:latin typeface="Cambria Math" panose="02040503050406030204" pitchFamily="18" charset="0"/>
                                  </a:rPr>
                                  <m:t>𝑎</m:t>
                                </m:r>
                                <m:r>
                                  <a:rPr lang="en-US">
                                    <a:latin typeface="Cambria Math" panose="02040503050406030204" pitchFamily="18" charset="0"/>
                                  </a:rPr>
                                  <m:t>|≤</m:t>
                                </m:r>
                                <m:r>
                                  <a:rPr lang="en-US" i="1">
                                    <a:latin typeface="Cambria Math" panose="02040503050406030204" pitchFamily="18" charset="0"/>
                                  </a:rPr>
                                  <m:t>𝛿</m:t>
                                </m:r>
                              </m:e>
                            </m:mr>
                            <m:mr>
                              <m:e>
                                <m:r>
                                  <a:rPr lang="en-US" i="1">
                                    <a:latin typeface="Cambria Math" panose="02040503050406030204" pitchFamily="18" charset="0"/>
                                  </a:rPr>
                                  <m:t>𝛿</m:t>
                                </m:r>
                                <m:d>
                                  <m:dPr>
                                    <m:ctrlPr>
                                      <a:rPr lang="en-US">
                                        <a:latin typeface="Cambria Math" panose="02040503050406030204" pitchFamily="18" charset="0"/>
                                      </a:rPr>
                                    </m:ctrlPr>
                                  </m:dPr>
                                  <m:e>
                                    <m:r>
                                      <a:rPr lang="en-US">
                                        <a:latin typeface="Cambria Math" panose="02040503050406030204" pitchFamily="18" charset="0"/>
                                      </a:rPr>
                                      <m:t>|</m:t>
                                    </m:r>
                                    <m:r>
                                      <a:rPr lang="en-US" i="1">
                                        <a:latin typeface="Cambria Math" panose="02040503050406030204" pitchFamily="18" charset="0"/>
                                      </a:rPr>
                                      <m:t>𝑎</m:t>
                                    </m:r>
                                    <m:r>
                                      <a:rPr lang="en-US">
                                        <a:latin typeface="Cambria Math" panose="02040503050406030204" pitchFamily="18" charset="0"/>
                                      </a:rPr>
                                      <m:t>|−</m:t>
                                    </m:r>
                                    <m:f>
                                      <m:fPr>
                                        <m:ctrlPr>
                                          <a:rPr lang="en-US">
                                            <a:latin typeface="Cambria Math" panose="02040503050406030204" pitchFamily="18" charset="0"/>
                                          </a:rPr>
                                        </m:ctrlPr>
                                      </m:fPr>
                                      <m:num>
                                        <m:r>
                                          <a:rPr lang="en-US">
                                            <a:latin typeface="Cambria Math" panose="02040503050406030204" pitchFamily="18" charset="0"/>
                                          </a:rPr>
                                          <m:t>1</m:t>
                                        </m:r>
                                      </m:num>
                                      <m:den>
                                        <m:r>
                                          <a:rPr lang="en-US">
                                            <a:latin typeface="Cambria Math" panose="02040503050406030204" pitchFamily="18" charset="0"/>
                                          </a:rPr>
                                          <m:t>2</m:t>
                                        </m:r>
                                      </m:den>
                                    </m:f>
                                    <m:r>
                                      <a:rPr lang="en-US" i="1">
                                        <a:latin typeface="Cambria Math" panose="02040503050406030204" pitchFamily="18" charset="0"/>
                                      </a:rPr>
                                      <m:t>𝛿</m:t>
                                    </m:r>
                                  </m:e>
                                </m:d>
                              </m:e>
                              <m:e>
                                <m:r>
                                  <m:rPr>
                                    <m:nor/>
                                  </m:rPr>
                                  <a:rPr lang="en-US" i="0"/>
                                  <m:t>otherwise</m:t>
                                </m:r>
                              </m:e>
                            </m:mr>
                          </m:m>
                        </m:e>
                      </m:d>
                    </m:oMath>
                  </m:oMathPara>
                </a14:m>
                <a:endParaRPr lang="en-US" dirty="0"/>
              </a:p>
              <a:p>
                <a:pPr lvl="0"/>
                <a:r>
                  <a:rPr lang="en-US" b="1" dirty="0"/>
                  <a:t>RANSAC (Random Sample Consensus):</a:t>
                </a:r>
                <a:r>
                  <a:rPr lang="en-US" dirty="0"/>
                  <a:t> An iterative algorithm heavily used in computer vision research that randomly subsets data to find a consensus set of inliers, calculating the regression exclusively on the uncorrupted subset.</a:t>
                </a:r>
              </a:p>
            </p:txBody>
          </p:sp>
        </mc:Choice>
        <mc:Fallback xmlns="">
          <p:sp>
            <p:nvSpPr>
              <p:cNvPr id="8" name="TextBox 7">
                <a:extLst>
                  <a:ext uri="{FF2B5EF4-FFF2-40B4-BE49-F238E27FC236}">
                    <a16:creationId xmlns:a16="http://schemas.microsoft.com/office/drawing/2014/main" id="{9C2D563A-105E-D92A-E0C2-43489EF5C859}"/>
                  </a:ext>
                </a:extLst>
              </p:cNvPr>
              <p:cNvSpPr txBox="1">
                <a:spLocks noRot="1" noChangeAspect="1" noMove="1" noResize="1" noEditPoints="1" noAdjustHandles="1" noChangeArrowheads="1" noChangeShapeType="1" noTextEdit="1"/>
              </p:cNvSpPr>
              <p:nvPr/>
            </p:nvSpPr>
            <p:spPr>
              <a:xfrm>
                <a:off x="76200" y="1219200"/>
                <a:ext cx="8686800" cy="4664867"/>
              </a:xfrm>
              <a:prstGeom prst="rect">
                <a:avLst/>
              </a:prstGeom>
              <a:blipFill>
                <a:blip r:embed="rId2"/>
                <a:stretch>
                  <a:fillRect l="-632" t="-654" r="-842" b="-1307"/>
                </a:stretch>
              </a:blipFill>
            </p:spPr>
            <p:txBody>
              <a:bodyPr/>
              <a:lstStyle/>
              <a:p>
                <a:r>
                  <a:rPr lang="en-US">
                    <a:noFill/>
                  </a:rPr>
                  <a:t> </a:t>
                </a:r>
              </a:p>
            </p:txBody>
          </p:sp>
        </mc:Fallback>
      </mc:AlternateContent>
    </p:spTree>
    <p:extLst>
      <p:ext uri="{BB962C8B-B14F-4D97-AF65-F5344CB8AC3E}">
        <p14:creationId xmlns:p14="http://schemas.microsoft.com/office/powerpoint/2010/main" val="39263042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3E014-AABA-88B6-80F1-2BD37B163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0845B9-6903-75D6-D830-3B24D07C6013}"/>
              </a:ext>
            </a:extLst>
          </p:cNvPr>
          <p:cNvSpPr>
            <a:spLocks noGrp="1"/>
          </p:cNvSpPr>
          <p:nvPr>
            <p:ph type="ctrTitle"/>
          </p:nvPr>
        </p:nvSpPr>
        <p:spPr>
          <a:xfrm>
            <a:off x="-152400" y="294536"/>
            <a:ext cx="9144000" cy="708025"/>
          </a:xfrm>
        </p:spPr>
        <p:txBody>
          <a:bodyPr>
            <a:normAutofit fontScale="90000"/>
          </a:bodyPr>
          <a:lstStyle/>
          <a:p>
            <a:pPr marL="285750" indent="-285750"/>
            <a:r>
              <a:rPr lang="en-US" sz="3200" dirty="0"/>
              <a:t>Generalized Additive Models (GAMs) &amp; Neural Additive Models (NAMs)</a:t>
            </a:r>
            <a:endParaRPr lang="en-US" sz="32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36473638-11DE-EA58-696C-6A5450E8487A}"/>
              </a:ext>
            </a:extLst>
          </p:cNvPr>
          <p:cNvSpPr/>
          <p:nvPr/>
        </p:nvSpPr>
        <p:spPr>
          <a:xfrm>
            <a:off x="4566249" y="5776823"/>
            <a:ext cx="4572000" cy="307777"/>
          </a:xfrm>
          <a:prstGeom prst="rect">
            <a:avLst/>
          </a:prstGeom>
        </p:spPr>
        <p:txBody>
          <a:bodyPr>
            <a:spAutoFit/>
          </a:bodyPr>
          <a:lstStyle/>
          <a:p>
            <a:r>
              <a:rPr lang="en-US" sz="1400" dirty="0">
                <a:solidFill>
                  <a:schemeClr val="bg1">
                    <a:lumMod val="75000"/>
                  </a:schemeClr>
                </a:solidFill>
              </a:rPr>
              <a:t>https://en.wikipedia.org/wiki/Sigmoid_function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5899D97-4508-7B93-E7CC-A71049FCB91D}"/>
                  </a:ext>
                </a:extLst>
              </p:cNvPr>
              <p:cNvSpPr txBox="1"/>
              <p:nvPr/>
            </p:nvSpPr>
            <p:spPr>
              <a:xfrm>
                <a:off x="76200" y="1219200"/>
                <a:ext cx="8686800" cy="3457485"/>
              </a:xfrm>
              <a:prstGeom prst="rect">
                <a:avLst/>
              </a:prstGeom>
              <a:noFill/>
            </p:spPr>
            <p:txBody>
              <a:bodyPr wrap="square">
                <a:spAutoFit/>
              </a:bodyPr>
              <a:lstStyle/>
              <a:p>
                <a:r>
                  <a:rPr lang="en-US" dirty="0"/>
                  <a:t>While linear regression is perfectly interpretable, it forces strict linear assumptions. Deep neural networks learn complex non-linearities but operate as black boxes. GAMs bridge this gap by learning non-linear shape functions for individual features while maintaining additive interpretability.</a:t>
                </a:r>
              </a:p>
              <a:p>
                <a:pPr lvl="0"/>
                <a:r>
                  <a:rPr lang="en-US" b="1" dirty="0"/>
                  <a:t>GAM Formulation:</a:t>
                </a:r>
                <a:r>
                  <a:rPr lang="en-US" dirty="0"/>
                  <a:t> The hypothesis is generalized via smooth non-linear functions (like regression splines) applied to each feature independently: </a:t>
                </a:r>
                <a14:m>
                  <m:oMath xmlns:m="http://schemas.openxmlformats.org/officeDocument/2006/math">
                    <m:r>
                      <a:rPr lang="en-US" i="1">
                        <a:latin typeface="Cambria Math" panose="02040503050406030204" pitchFamily="18" charset="0"/>
                      </a:rPr>
                      <m:t>𝑔</m:t>
                    </m:r>
                    <m:d>
                      <m:dPr>
                        <m:ctrlPr>
                          <a:rPr lang="en-US" i="1">
                            <a:latin typeface="Cambria Math" panose="02040503050406030204" pitchFamily="18" charset="0"/>
                          </a:rPr>
                        </m:ctrlPr>
                      </m:dPr>
                      <m:e>
                        <m:r>
                          <a:rPr lang="en-US" i="1">
                            <a:latin typeface="Cambria Math" panose="02040503050406030204" pitchFamily="18" charset="0"/>
                          </a:rPr>
                          <m:t>𝐸</m:t>
                        </m:r>
                        <m:d>
                          <m:dPr>
                            <m:begChr m:val="["/>
                            <m:endChr m:val="]"/>
                            <m:ctrlPr>
                              <a:rPr lang="en-US" i="1">
                                <a:latin typeface="Cambria Math" panose="02040503050406030204" pitchFamily="18" charset="0"/>
                              </a:rPr>
                            </m:ctrlPr>
                          </m:dPr>
                          <m:e>
                            <m:r>
                              <a:rPr lang="en-US" i="1">
                                <a:latin typeface="Cambria Math" panose="02040503050406030204" pitchFamily="18" charset="0"/>
                              </a:rPr>
                              <m:t>𝑦</m:t>
                            </m:r>
                            <m:r>
                              <a:rPr lang="en-US">
                                <a:latin typeface="Cambria Math" panose="02040503050406030204" pitchFamily="18" charset="0"/>
                              </a:rPr>
                              <m:t>|</m:t>
                            </m:r>
                            <m:r>
                              <a:rPr lang="en-US" i="1">
                                <a:latin typeface="Cambria Math" panose="02040503050406030204" pitchFamily="18" charset="0"/>
                              </a:rPr>
                              <m:t>𝑥</m:t>
                            </m:r>
                          </m:e>
                        </m:d>
                      </m:e>
                    </m:d>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a:latin typeface="Cambria Math" panose="02040503050406030204" pitchFamily="18" charset="0"/>
                          </a:rPr>
                          <m:t>0</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a:latin typeface="Cambria Math" panose="02040503050406030204" pitchFamily="18" charset="0"/>
                          </a:rPr>
                          <m:t>1</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a:latin typeface="Cambria Math" panose="02040503050406030204" pitchFamily="18" charset="0"/>
                              </a:rPr>
                              <m:t>1</m:t>
                            </m:r>
                          </m:sub>
                        </m:sSub>
                      </m:e>
                    </m:d>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a:latin typeface="Cambria Math" panose="02040503050406030204" pitchFamily="18" charset="0"/>
                          </a:rPr>
                          <m:t>2</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a:latin typeface="Cambria Math" panose="02040503050406030204" pitchFamily="18" charset="0"/>
                              </a:rPr>
                              <m:t>2</m:t>
                            </m:r>
                          </m:sub>
                        </m:sSub>
                      </m:e>
                    </m:d>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𝑝</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𝑝</m:t>
                            </m:r>
                          </m:sub>
                        </m:sSub>
                      </m:e>
                    </m:d>
                  </m:oMath>
                </a14:m>
                <a:r>
                  <a:rPr lang="en-US" dirty="0"/>
                  <a:t>.</a:t>
                </a:r>
              </a:p>
              <a:p>
                <a:pPr lvl="0"/>
                <a:r>
                  <a:rPr lang="en-US" b="1" dirty="0"/>
                  <a:t>Neural Additive Models (NAMs):</a:t>
                </a:r>
                <a:r>
                  <a:rPr lang="en-US" dirty="0"/>
                  <a:t> Recent research replaces spline functions with independent deep neural networks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m:t>
                        </m:r>
                      </m:sub>
                    </m:sSub>
                  </m:oMath>
                </a14:m>
                <a:r>
                  <a:rPr lang="en-US" dirty="0"/>
                  <a:t>for each feature. The outputs are linearly summed.</a:t>
                </a:r>
              </a:p>
              <a:p>
                <a:pPr lvl="0"/>
                <a:r>
                  <a:rPr lang="en-US" b="1" dirty="0"/>
                  <a:t>Interpretability:</a:t>
                </a:r>
                <a:r>
                  <a:rPr lang="en-US" dirty="0"/>
                  <a:t> Because the functions are strictly additive, researchers can plot the exact contribution curve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oMath>
                </a14:m>
                <a:r>
                  <a:rPr lang="en-US" dirty="0"/>
                  <a:t>against the prediction, completely isolating its non-linear effect from all other variables.</a:t>
                </a:r>
              </a:p>
            </p:txBody>
          </p:sp>
        </mc:Choice>
        <mc:Fallback xmlns="">
          <p:sp>
            <p:nvSpPr>
              <p:cNvPr id="8" name="TextBox 7">
                <a:extLst>
                  <a:ext uri="{FF2B5EF4-FFF2-40B4-BE49-F238E27FC236}">
                    <a16:creationId xmlns:a16="http://schemas.microsoft.com/office/drawing/2014/main" id="{95899D97-4508-7B93-E7CC-A71049FCB91D}"/>
                  </a:ext>
                </a:extLst>
              </p:cNvPr>
              <p:cNvSpPr txBox="1">
                <a:spLocks noRot="1" noChangeAspect="1" noMove="1" noResize="1" noEditPoints="1" noAdjustHandles="1" noChangeArrowheads="1" noChangeShapeType="1" noTextEdit="1"/>
              </p:cNvSpPr>
              <p:nvPr/>
            </p:nvSpPr>
            <p:spPr>
              <a:xfrm>
                <a:off x="76200" y="1219200"/>
                <a:ext cx="8686800" cy="3457485"/>
              </a:xfrm>
              <a:prstGeom prst="rect">
                <a:avLst/>
              </a:prstGeom>
              <a:blipFill>
                <a:blip r:embed="rId2"/>
                <a:stretch>
                  <a:fillRect l="-632" t="-882" r="-982" b="-1940"/>
                </a:stretch>
              </a:blipFill>
            </p:spPr>
            <p:txBody>
              <a:bodyPr/>
              <a:lstStyle/>
              <a:p>
                <a:r>
                  <a:rPr lang="en-US">
                    <a:noFill/>
                  </a:rPr>
                  <a:t> </a:t>
                </a:r>
              </a:p>
            </p:txBody>
          </p:sp>
        </mc:Fallback>
      </mc:AlternateContent>
    </p:spTree>
    <p:extLst>
      <p:ext uri="{BB962C8B-B14F-4D97-AF65-F5344CB8AC3E}">
        <p14:creationId xmlns:p14="http://schemas.microsoft.com/office/powerpoint/2010/main" val="34688837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1E037-5F68-EC76-5702-8A8B78A29F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348BE-931D-E38D-E2F3-517D94A58E4E}"/>
              </a:ext>
            </a:extLst>
          </p:cNvPr>
          <p:cNvSpPr>
            <a:spLocks noGrp="1"/>
          </p:cNvSpPr>
          <p:nvPr>
            <p:ph type="ctrTitle"/>
          </p:nvPr>
        </p:nvSpPr>
        <p:spPr>
          <a:xfrm>
            <a:off x="-152400" y="294536"/>
            <a:ext cx="9144000" cy="708025"/>
          </a:xfrm>
        </p:spPr>
        <p:txBody>
          <a:bodyPr>
            <a:normAutofit fontScale="90000"/>
          </a:bodyPr>
          <a:lstStyle/>
          <a:p>
            <a:pPr marL="285750" indent="-285750"/>
            <a:r>
              <a:rPr lang="en-US" sz="3200" dirty="0"/>
              <a:t>Causal Inference &amp; Instrumental Variables in Regression</a:t>
            </a:r>
            <a:endParaRPr lang="en-US" sz="32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80C26703-0E6A-BD17-38C5-E1192F177BF8}"/>
              </a:ext>
            </a:extLst>
          </p:cNvPr>
          <p:cNvSpPr/>
          <p:nvPr/>
        </p:nvSpPr>
        <p:spPr>
          <a:xfrm>
            <a:off x="4566249" y="5776823"/>
            <a:ext cx="4572000" cy="307777"/>
          </a:xfrm>
          <a:prstGeom prst="rect">
            <a:avLst/>
          </a:prstGeom>
        </p:spPr>
        <p:txBody>
          <a:bodyPr>
            <a:spAutoFit/>
          </a:bodyPr>
          <a:lstStyle/>
          <a:p>
            <a:r>
              <a:rPr lang="en-US" sz="1400" dirty="0">
                <a:solidFill>
                  <a:schemeClr val="bg1">
                    <a:lumMod val="75000"/>
                  </a:schemeClr>
                </a:solidFill>
              </a:rPr>
              <a:t>https://en.wikipedia.org/wiki/Sigmoid_function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66D2136-FEFC-0F71-4D31-DBA0D5D21DAB}"/>
                  </a:ext>
                </a:extLst>
              </p:cNvPr>
              <p:cNvSpPr txBox="1"/>
              <p:nvPr/>
            </p:nvSpPr>
            <p:spPr>
              <a:xfrm>
                <a:off x="76200" y="1219200"/>
                <a:ext cx="8686800" cy="3722173"/>
              </a:xfrm>
              <a:prstGeom prst="rect">
                <a:avLst/>
              </a:prstGeom>
              <a:noFill/>
            </p:spPr>
            <p:txBody>
              <a:bodyPr wrap="square">
                <a:spAutoFit/>
              </a:bodyPr>
              <a:lstStyle/>
              <a:p>
                <a:r>
                  <a:rPr lang="en-US" dirty="0"/>
                  <a:t>Observational linear regression measures correlation, heavily suffering from Omitted Variable Bias (Confounding). If an unmeasured variable </a:t>
                </a:r>
                <a14:m>
                  <m:oMath xmlns:m="http://schemas.openxmlformats.org/officeDocument/2006/math">
                    <m:r>
                      <a:rPr lang="en-US" i="1">
                        <a:latin typeface="Cambria Math" panose="02040503050406030204" pitchFamily="18" charset="0"/>
                      </a:rPr>
                      <m:t>𝑍</m:t>
                    </m:r>
                  </m:oMath>
                </a14:m>
                <a:r>
                  <a:rPr lang="en-US" dirty="0"/>
                  <a:t>affects both feature </a:t>
                </a:r>
                <a14:m>
                  <m:oMath xmlns:m="http://schemas.openxmlformats.org/officeDocument/2006/math">
                    <m:r>
                      <a:rPr lang="en-US" i="1">
                        <a:latin typeface="Cambria Math" panose="02040503050406030204" pitchFamily="18" charset="0"/>
                      </a:rPr>
                      <m:t>𝑋</m:t>
                    </m:r>
                  </m:oMath>
                </a14:m>
                <a:r>
                  <a:rPr lang="en-US" dirty="0"/>
                  <a:t>and target </a:t>
                </a:r>
                <a14:m>
                  <m:oMath xmlns:m="http://schemas.openxmlformats.org/officeDocument/2006/math">
                    <m:r>
                      <a:rPr lang="en-US" i="1">
                        <a:latin typeface="Cambria Math" panose="02040503050406030204" pitchFamily="18" charset="0"/>
                      </a:rPr>
                      <m:t>𝑌</m:t>
                    </m:r>
                  </m:oMath>
                </a14:m>
                <a:r>
                  <a:rPr lang="en-US" dirty="0"/>
                  <a:t>, regression incorrectly assigns the effect of </a:t>
                </a:r>
                <a14:m>
                  <m:oMath xmlns:m="http://schemas.openxmlformats.org/officeDocument/2006/math">
                    <m:r>
                      <a:rPr lang="en-US" i="1">
                        <a:latin typeface="Cambria Math" panose="02040503050406030204" pitchFamily="18" charset="0"/>
                      </a:rPr>
                      <m:t>𝑍</m:t>
                    </m:r>
                  </m:oMath>
                </a14:m>
                <a:r>
                  <a:rPr lang="en-US" dirty="0"/>
                  <a:t>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𝑋</m:t>
                        </m:r>
                      </m:sub>
                    </m:sSub>
                  </m:oMath>
                </a14:m>
                <a:r>
                  <a:rPr lang="en-US" dirty="0"/>
                  <a:t>. Research in causal inference adapts regression to extract true causal effects.</a:t>
                </a:r>
              </a:p>
              <a:p>
                <a:pPr lvl="0"/>
                <a:r>
                  <a:rPr lang="en-US" b="1" dirty="0"/>
                  <a:t>Instrumental Variables (IV):</a:t>
                </a:r>
                <a:r>
                  <a:rPr lang="en-US" dirty="0"/>
                  <a:t> To estimate the causal effect of </a:t>
                </a:r>
                <a14:m>
                  <m:oMath xmlns:m="http://schemas.openxmlformats.org/officeDocument/2006/math">
                    <m:r>
                      <a:rPr lang="en-US" i="1">
                        <a:latin typeface="Cambria Math" panose="02040503050406030204" pitchFamily="18" charset="0"/>
                      </a:rPr>
                      <m:t>𝑋</m:t>
                    </m:r>
                  </m:oMath>
                </a14:m>
                <a:r>
                  <a:rPr lang="en-US" dirty="0"/>
                  <a:t>on </a:t>
                </a:r>
                <a14:m>
                  <m:oMath xmlns:m="http://schemas.openxmlformats.org/officeDocument/2006/math">
                    <m:r>
                      <a:rPr lang="en-US" i="1">
                        <a:latin typeface="Cambria Math" panose="02040503050406030204" pitchFamily="18" charset="0"/>
                      </a:rPr>
                      <m:t>𝑌</m:t>
                    </m:r>
                  </m:oMath>
                </a14:m>
                <a:r>
                  <a:rPr lang="en-US" dirty="0"/>
                  <a:t>in the presence of confounding, researchers identify an instrument </a:t>
                </a:r>
                <a14:m>
                  <m:oMath xmlns:m="http://schemas.openxmlformats.org/officeDocument/2006/math">
                    <m:r>
                      <a:rPr lang="en-US" i="1">
                        <a:latin typeface="Cambria Math" panose="02040503050406030204" pitchFamily="18" charset="0"/>
                      </a:rPr>
                      <m:t>𝐼</m:t>
                    </m:r>
                  </m:oMath>
                </a14:m>
                <a:r>
                  <a:rPr lang="en-US" dirty="0"/>
                  <a:t>that causes changes in </a:t>
                </a:r>
                <a14:m>
                  <m:oMath xmlns:m="http://schemas.openxmlformats.org/officeDocument/2006/math">
                    <m:r>
                      <a:rPr lang="en-US" i="1">
                        <a:latin typeface="Cambria Math" panose="02040503050406030204" pitchFamily="18" charset="0"/>
                      </a:rPr>
                      <m:t>𝑋</m:t>
                    </m:r>
                  </m:oMath>
                </a14:m>
                <a:r>
                  <a:rPr lang="en-US" dirty="0"/>
                  <a:t>but only affects </a:t>
                </a:r>
                <a14:m>
                  <m:oMath xmlns:m="http://schemas.openxmlformats.org/officeDocument/2006/math">
                    <m:r>
                      <a:rPr lang="en-US" i="1">
                        <a:latin typeface="Cambria Math" panose="02040503050406030204" pitchFamily="18" charset="0"/>
                      </a:rPr>
                      <m:t>𝑌</m:t>
                    </m:r>
                  </m:oMath>
                </a14:m>
                <a:r>
                  <a:rPr lang="en-US" i="1" dirty="0"/>
                  <a:t>through</a:t>
                </a:r>
                <a:r>
                  <a:rPr lang="en-US" dirty="0"/>
                  <a:t> </a:t>
                </a:r>
                <a14:m>
                  <m:oMath xmlns:m="http://schemas.openxmlformats.org/officeDocument/2006/math">
                    <m:r>
                      <a:rPr lang="en-US" i="1">
                        <a:latin typeface="Cambria Math" panose="02040503050406030204" pitchFamily="18" charset="0"/>
                      </a:rPr>
                      <m:t>𝑋</m:t>
                    </m:r>
                  </m:oMath>
                </a14:m>
                <a:r>
                  <a:rPr lang="en-US" dirty="0"/>
                  <a:t>.</a:t>
                </a:r>
              </a:p>
              <a:p>
                <a:pPr lvl="0"/>
                <a:r>
                  <a:rPr lang="en-US" b="1" dirty="0"/>
                  <a:t>Two-Stage Least Squares (2SLS):</a:t>
                </a:r>
                <a:r>
                  <a:rPr lang="en-US" dirty="0"/>
                  <a:t> A foundational causal regression algorithm. Stage 1 regresses </a:t>
                </a:r>
                <a14:m>
                  <m:oMath xmlns:m="http://schemas.openxmlformats.org/officeDocument/2006/math">
                    <m:r>
                      <a:rPr lang="en-US" i="1">
                        <a:latin typeface="Cambria Math" panose="02040503050406030204" pitchFamily="18" charset="0"/>
                      </a:rPr>
                      <m:t>𝑋</m:t>
                    </m:r>
                  </m:oMath>
                </a14:m>
                <a:r>
                  <a:rPr lang="en-US" dirty="0"/>
                  <a:t>on </a:t>
                </a:r>
                <a14:m>
                  <m:oMath xmlns:m="http://schemas.openxmlformats.org/officeDocument/2006/math">
                    <m:r>
                      <a:rPr lang="en-US" i="1">
                        <a:latin typeface="Cambria Math" panose="02040503050406030204" pitchFamily="18" charset="0"/>
                      </a:rPr>
                      <m:t>𝐼</m:t>
                    </m:r>
                  </m:oMath>
                </a14:m>
                <a:r>
                  <a:rPr lang="en-US" dirty="0"/>
                  <a:t>to isolate the unconfounded variance: </a:t>
                </a:r>
                <a14:m>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𝑋</m:t>
                        </m:r>
                      </m:e>
                    </m:acc>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a:latin typeface="Cambria Math" panose="02040503050406030204" pitchFamily="18" charset="0"/>
                          </a:rPr>
                          <m:t>0</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a:latin typeface="Cambria Math" panose="02040503050406030204" pitchFamily="18" charset="0"/>
                          </a:rPr>
                          <m:t>1</m:t>
                        </m:r>
                      </m:sub>
                    </m:sSub>
                    <m:r>
                      <a:rPr lang="en-US" i="1">
                        <a:latin typeface="Cambria Math" panose="02040503050406030204" pitchFamily="18" charset="0"/>
                      </a:rPr>
                      <m:t>𝐼</m:t>
                    </m:r>
                  </m:oMath>
                </a14:m>
                <a:r>
                  <a:rPr lang="en-US" dirty="0"/>
                  <a:t>. Stage 2 regresses </a:t>
                </a:r>
                <a14:m>
                  <m:oMath xmlns:m="http://schemas.openxmlformats.org/officeDocument/2006/math">
                    <m:r>
                      <a:rPr lang="en-US" i="1">
                        <a:latin typeface="Cambria Math" panose="02040503050406030204" pitchFamily="18" charset="0"/>
                      </a:rPr>
                      <m:t>𝑌</m:t>
                    </m:r>
                  </m:oMath>
                </a14:m>
                <a:r>
                  <a:rPr lang="en-US" dirty="0"/>
                  <a:t>on </a:t>
                </a:r>
                <a14:m>
                  <m:oMath xmlns:m="http://schemas.openxmlformats.org/officeDocument/2006/math">
                    <m:acc>
                      <m:accPr>
                        <m:chr m:val="ˆ"/>
                        <m:ctrlPr>
                          <a:rPr lang="en-US" i="1">
                            <a:latin typeface="Cambria Math" panose="02040503050406030204" pitchFamily="18" charset="0"/>
                          </a:rPr>
                        </m:ctrlPr>
                      </m:accPr>
                      <m:e>
                        <m:r>
                          <a:rPr lang="en-US" i="1">
                            <a:latin typeface="Cambria Math" panose="02040503050406030204" pitchFamily="18" charset="0"/>
                          </a:rPr>
                          <m:t>𝑋</m:t>
                        </m:r>
                      </m:e>
                    </m:acc>
                  </m:oMath>
                </a14:m>
                <a:r>
                  <a:rPr lang="en-US" dirty="0"/>
                  <a:t>to find the true causal parameter: </a:t>
                </a:r>
                <a14:m>
                  <m:oMath xmlns:m="http://schemas.openxmlformats.org/officeDocument/2006/math">
                    <m:r>
                      <a:rPr lang="en-US" i="1">
                        <a:latin typeface="Cambria Math" panose="02040503050406030204" pitchFamily="18" charset="0"/>
                      </a:rPr>
                      <m:t>𝑌</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a:latin typeface="Cambria Math" panose="02040503050406030204" pitchFamily="18" charset="0"/>
                          </a:rPr>
                          <m:t>0</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a:latin typeface="Cambria Math" panose="02040503050406030204" pitchFamily="18" charset="0"/>
                          </a:rPr>
                          <m:t>1</m:t>
                        </m:r>
                      </m:sub>
                    </m:sSub>
                    <m:acc>
                      <m:accPr>
                        <m:chr m:val="ˆ"/>
                        <m:ctrlPr>
                          <a:rPr lang="en-US" i="1">
                            <a:latin typeface="Cambria Math" panose="02040503050406030204" pitchFamily="18" charset="0"/>
                          </a:rPr>
                        </m:ctrlPr>
                      </m:accPr>
                      <m:e>
                        <m:r>
                          <a:rPr lang="en-US" i="1">
                            <a:latin typeface="Cambria Math" panose="02040503050406030204" pitchFamily="18" charset="0"/>
                          </a:rPr>
                          <m:t>𝑋</m:t>
                        </m:r>
                      </m:e>
                    </m:acc>
                  </m:oMath>
                </a14:m>
                <a:r>
                  <a:rPr lang="en-US" dirty="0"/>
                  <a:t>.</a:t>
                </a:r>
              </a:p>
              <a:p>
                <a:pPr lvl="0"/>
                <a:r>
                  <a:rPr lang="en-US" b="1" dirty="0"/>
                  <a:t>Structural Causal Models (SCMs):</a:t>
                </a:r>
                <a:r>
                  <a:rPr lang="en-US" dirty="0"/>
                  <a:t> Modern frameworks formalize these relationships using Directed Acyclic Graphs (DAGs) to mathematically prove whether a causal regression coefficient is identifiable from observational data.</a:t>
                </a:r>
              </a:p>
            </p:txBody>
          </p:sp>
        </mc:Choice>
        <mc:Fallback xmlns="">
          <p:sp>
            <p:nvSpPr>
              <p:cNvPr id="8" name="TextBox 7">
                <a:extLst>
                  <a:ext uri="{FF2B5EF4-FFF2-40B4-BE49-F238E27FC236}">
                    <a16:creationId xmlns:a16="http://schemas.microsoft.com/office/drawing/2014/main" id="{066D2136-FEFC-0F71-4D31-DBA0D5D21DAB}"/>
                  </a:ext>
                </a:extLst>
              </p:cNvPr>
              <p:cNvSpPr txBox="1">
                <a:spLocks noRot="1" noChangeAspect="1" noMove="1" noResize="1" noEditPoints="1" noAdjustHandles="1" noChangeArrowheads="1" noChangeShapeType="1" noTextEdit="1"/>
              </p:cNvSpPr>
              <p:nvPr/>
            </p:nvSpPr>
            <p:spPr>
              <a:xfrm>
                <a:off x="76200" y="1219200"/>
                <a:ext cx="8686800" cy="3722173"/>
              </a:xfrm>
              <a:prstGeom prst="rect">
                <a:avLst/>
              </a:prstGeom>
              <a:blipFill>
                <a:blip r:embed="rId2"/>
                <a:stretch>
                  <a:fillRect l="-632" t="-818" r="-1053" b="-1637"/>
                </a:stretch>
              </a:blipFill>
            </p:spPr>
            <p:txBody>
              <a:bodyPr/>
              <a:lstStyle/>
              <a:p>
                <a:r>
                  <a:rPr lang="en-US">
                    <a:noFill/>
                  </a:rPr>
                  <a:t> </a:t>
                </a:r>
              </a:p>
            </p:txBody>
          </p:sp>
        </mc:Fallback>
      </mc:AlternateContent>
    </p:spTree>
    <p:extLst>
      <p:ext uri="{BB962C8B-B14F-4D97-AF65-F5344CB8AC3E}">
        <p14:creationId xmlns:p14="http://schemas.microsoft.com/office/powerpoint/2010/main" val="21224500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2B7C4-A984-63E3-BA66-C793845AB08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E0ABBE2-E28F-CC44-5A22-9323D73255CC}"/>
                  </a:ext>
                </a:extLst>
              </p:cNvPr>
              <p:cNvSpPr>
                <a:spLocks noGrp="1"/>
              </p:cNvSpPr>
              <p:nvPr>
                <p:ph type="ctrTitle"/>
              </p:nvPr>
            </p:nvSpPr>
            <p:spPr>
              <a:xfrm>
                <a:off x="-152400" y="294536"/>
                <a:ext cx="9144000" cy="708025"/>
              </a:xfrm>
            </p:spPr>
            <p:txBody>
              <a:bodyPr>
                <a:normAutofit fontScale="90000"/>
              </a:bodyPr>
              <a:lstStyle/>
              <a:p>
                <a:pPr marL="285750" indent="-285750"/>
                <a:r>
                  <a:rPr lang="en-US" sz="3200" dirty="0"/>
                  <a:t>Research Frontier: High-Dimensional Regression (</a:t>
                </a:r>
                <a14:m>
                  <m:oMath xmlns:m="http://schemas.openxmlformats.org/officeDocument/2006/math">
                    <m:r>
                      <a:rPr lang="en-US" i="1">
                        <a:latin typeface="Cambria Math" panose="02040503050406030204" pitchFamily="18" charset="0"/>
                      </a:rPr>
                      <m:t>𝑝</m:t>
                    </m:r>
                    <m:r>
                      <a:rPr lang="en-US">
                        <a:latin typeface="Cambria Math" panose="02040503050406030204" pitchFamily="18" charset="0"/>
                      </a:rPr>
                      <m:t>&gt;</m:t>
                    </m:r>
                    <m:r>
                      <a:rPr lang="en-US" i="1">
                        <a:latin typeface="Cambria Math" panose="02040503050406030204" pitchFamily="18" charset="0"/>
                      </a:rPr>
                      <m:t>𝑛</m:t>
                    </m:r>
                  </m:oMath>
                </a14:m>
                <a:r>
                  <a:rPr lang="en-US" sz="3200" dirty="0"/>
                  <a:t>)</a:t>
                </a:r>
                <a:endParaRPr lang="en-US" sz="3200" dirty="0">
                  <a:latin typeface="Times New Roman" panose="02020603050405020304" pitchFamily="18" charset="0"/>
                  <a:cs typeface="Times New Roman" panose="02020603050405020304" pitchFamily="18" charset="0"/>
                </a:endParaRPr>
              </a:p>
            </p:txBody>
          </p:sp>
        </mc:Choice>
        <mc:Fallback xmlns="">
          <p:sp>
            <p:nvSpPr>
              <p:cNvPr id="2" name="Title 1">
                <a:extLst>
                  <a:ext uri="{FF2B5EF4-FFF2-40B4-BE49-F238E27FC236}">
                    <a16:creationId xmlns:a16="http://schemas.microsoft.com/office/drawing/2014/main" id="{EE0ABBE2-E28F-CC44-5A22-9323D73255CC}"/>
                  </a:ext>
                </a:extLst>
              </p:cNvPr>
              <p:cNvSpPr>
                <a:spLocks noGrp="1" noRot="1" noChangeAspect="1" noMove="1" noResize="1" noEditPoints="1" noAdjustHandles="1" noChangeArrowheads="1" noChangeShapeType="1" noTextEdit="1"/>
              </p:cNvSpPr>
              <p:nvPr>
                <p:ph type="ctrTitle"/>
              </p:nvPr>
            </p:nvSpPr>
            <p:spPr>
              <a:xfrm>
                <a:off x="-152400" y="294536"/>
                <a:ext cx="9144000" cy="708025"/>
              </a:xfrm>
              <a:blipFill>
                <a:blip r:embed="rId2"/>
                <a:stretch>
                  <a:fillRect l="-67" r="-133" b="-21552"/>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F8CF2AC2-A987-89B5-86E2-A2AD27E920F0}"/>
              </a:ext>
            </a:extLst>
          </p:cNvPr>
          <p:cNvSpPr/>
          <p:nvPr/>
        </p:nvSpPr>
        <p:spPr>
          <a:xfrm>
            <a:off x="4566249" y="5776823"/>
            <a:ext cx="4572000" cy="307777"/>
          </a:xfrm>
          <a:prstGeom prst="rect">
            <a:avLst/>
          </a:prstGeom>
        </p:spPr>
        <p:txBody>
          <a:bodyPr>
            <a:spAutoFit/>
          </a:bodyPr>
          <a:lstStyle/>
          <a:p>
            <a:r>
              <a:rPr lang="en-US" sz="1400" dirty="0">
                <a:solidFill>
                  <a:schemeClr val="bg1">
                    <a:lumMod val="75000"/>
                  </a:schemeClr>
                </a:solidFill>
              </a:rPr>
              <a:t>https://en.wikipedia.org/wiki/Sigmoid_function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16F3B63-5280-E149-DA6E-49E916727A04}"/>
                  </a:ext>
                </a:extLst>
              </p:cNvPr>
              <p:cNvSpPr txBox="1"/>
              <p:nvPr/>
            </p:nvSpPr>
            <p:spPr>
              <a:xfrm>
                <a:off x="76200" y="1219200"/>
                <a:ext cx="8686800" cy="3416320"/>
              </a:xfrm>
              <a:prstGeom prst="rect">
                <a:avLst/>
              </a:prstGeom>
              <a:noFill/>
            </p:spPr>
            <p:txBody>
              <a:bodyPr wrap="square">
                <a:spAutoFit/>
              </a:bodyPr>
              <a:lstStyle/>
              <a:p>
                <a:r>
                  <a:rPr lang="en-US" dirty="0"/>
                  <a:t>In modern deep learning and bioinformatics, we frequently encounter the high-dimensional regime where the number of features (</a:t>
                </a:r>
                <a14:m>
                  <m:oMath xmlns:m="http://schemas.openxmlformats.org/officeDocument/2006/math">
                    <m:r>
                      <a:rPr lang="en-US" i="1">
                        <a:latin typeface="Cambria Math" panose="02040503050406030204" pitchFamily="18" charset="0"/>
                      </a:rPr>
                      <m:t>𝑝</m:t>
                    </m:r>
                  </m:oMath>
                </a14:m>
                <a:r>
                  <a:rPr lang="en-US" dirty="0"/>
                  <a:t>) vastly exceeds the number of observations (</a:t>
                </a:r>
                <a14:m>
                  <m:oMath xmlns:m="http://schemas.openxmlformats.org/officeDocument/2006/math">
                    <m:r>
                      <a:rPr lang="en-US" i="1">
                        <a:latin typeface="Cambria Math" panose="02040503050406030204" pitchFamily="18" charset="0"/>
                      </a:rPr>
                      <m:t>𝑛</m:t>
                    </m:r>
                  </m:oMath>
                </a14:m>
                <a:r>
                  <a:rPr lang="en-US" dirty="0"/>
                  <a:t>). Under these conditions, Ordinary Least Squares (OLS) is mathematically undefined because the covariance matrix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𝑇</m:t>
                        </m:r>
                      </m:sup>
                    </m:sSup>
                    <m:r>
                      <a:rPr lang="en-US" i="1">
                        <a:latin typeface="Cambria Math" panose="02040503050406030204" pitchFamily="18" charset="0"/>
                      </a:rPr>
                      <m:t>𝑋</m:t>
                    </m:r>
                  </m:oMath>
                </a14:m>
                <a:r>
                  <a:rPr lang="en-US" dirty="0"/>
                  <a:t>is singular.</a:t>
                </a:r>
              </a:p>
              <a:p>
                <a:r>
                  <a:rPr lang="en-US" dirty="0"/>
                  <a:t>To solve this, researchers impose structural sparsity using the Lasso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a:latin typeface="Cambria Math" panose="02040503050406030204" pitchFamily="18" charset="0"/>
                          </a:rPr>
                          <m:t>1</m:t>
                        </m:r>
                      </m:sub>
                    </m:sSub>
                  </m:oMath>
                </a14:m>
                <a:r>
                  <a:rPr lang="en-US" dirty="0"/>
                  <a:t>) penalty, which performs simultaneous continuous shrinkage and feature selection:</a:t>
                </a:r>
              </a:p>
              <a:p>
                <a:pPr/>
                <a14:m>
                  <m:oMathPara xmlns:m="http://schemas.openxmlformats.org/officeDocument/2006/math">
                    <m:oMath>
                      <m:sSub>
                        <m:sSubPr>
                          <m:ctrlPr>
                            <a:rPr lang="en-US" i="1">
                              <a:latin typeface="Cambria Math" panose="02040503050406030204" pitchFamily="18" charset="0"/>
                            </a:rPr>
                          </m:ctrlPr>
                        </m:sSubPr>
                        <m:e>
                          <m:acc>
                            <m:accPr>
                              <m:chr m:val="ˆ"/>
                              <m:ctrlPr>
                                <a:rPr lang="en-US" i="1">
                                  <a:latin typeface="Cambria Math" panose="02040503050406030204" pitchFamily="18" charset="0"/>
                                </a:rPr>
                              </m:ctrlPr>
                            </m:accPr>
                            <m:e>
                              <m:r>
                                <a:rPr lang="en-US" i="1">
                                  <a:latin typeface="Cambria Math" panose="02040503050406030204" pitchFamily="18" charset="0"/>
                                </a:rPr>
                                <m:t>𝜃</m:t>
                              </m:r>
                            </m:e>
                          </m:acc>
                        </m:e>
                        <m:sub>
                          <m:r>
                            <m:rPr>
                              <m:nor/>
                            </m:rPr>
                            <a:rPr lang="en-US" i="0"/>
                            <m:t>Lasso</m:t>
                          </m:r>
                        </m:sub>
                      </m:sSub>
                      <m:r>
                        <a:rPr lang="en-US">
                          <a:latin typeface="Cambria Math" panose="02040503050406030204" pitchFamily="18" charset="0"/>
                        </a:rPr>
                        <m:t>=</m:t>
                      </m:r>
                      <m:func>
                        <m:funcPr>
                          <m:ctrlPr>
                            <a:rPr lang="en-US">
                              <a:latin typeface="Cambria Math" panose="02040503050406030204" pitchFamily="18" charset="0"/>
                            </a:rPr>
                          </m:ctrlPr>
                        </m:funcPr>
                        <m:fName>
                          <m:r>
                            <m:rPr>
                              <m:sty m:val="p"/>
                            </m:rPr>
                            <a:rPr lang="en-US">
                              <a:latin typeface="Cambria Math" panose="02040503050406030204" pitchFamily="18" charset="0"/>
                            </a:rPr>
                            <m:t>arg</m:t>
                          </m:r>
                        </m:fName>
                        <m:e>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min</m:t>
                                  </m:r>
                                </m:e>
                                <m:lim>
                                  <m:r>
                                    <a:rPr lang="en-US" i="1">
                                      <a:latin typeface="Cambria Math" panose="02040503050406030204" pitchFamily="18" charset="0"/>
                                    </a:rPr>
                                    <m:t>𝜃</m:t>
                                  </m:r>
                                </m:lim>
                              </m:limLow>
                            </m:fName>
                            <m:e>
                              <m:f>
                                <m:fPr>
                                  <m:ctrlPr>
                                    <a:rPr lang="en-US">
                                      <a:latin typeface="Cambria Math" panose="02040503050406030204" pitchFamily="18" charset="0"/>
                                    </a:rPr>
                                  </m:ctrlPr>
                                </m:fPr>
                                <m:num>
                                  <m:r>
                                    <a:rPr lang="en-US">
                                      <a:latin typeface="Cambria Math" panose="02040503050406030204" pitchFamily="18" charset="0"/>
                                    </a:rPr>
                                    <m:t>1</m:t>
                                  </m:r>
                                </m:num>
                                <m:den>
                                  <m:r>
                                    <a:rPr lang="en-US">
                                      <a:latin typeface="Cambria Math" panose="02040503050406030204" pitchFamily="18" charset="0"/>
                                    </a:rPr>
                                    <m:t>2</m:t>
                                  </m:r>
                                  <m:r>
                                    <a:rPr lang="en-US" i="1">
                                      <a:latin typeface="Cambria Math" panose="02040503050406030204" pitchFamily="18" charset="0"/>
                                    </a:rPr>
                                    <m:t>𝑛</m:t>
                                  </m:r>
                                </m:den>
                              </m:f>
                            </m:e>
                          </m:func>
                        </m:e>
                      </m:func>
                      <m:r>
                        <a:rPr lang="en-US">
                          <a:latin typeface="Cambria Math" panose="02040503050406030204" pitchFamily="18" charset="0"/>
                        </a:rPr>
                        <m:t>‖</m:t>
                      </m:r>
                      <m:r>
                        <a:rPr lang="en-US" i="1">
                          <a:latin typeface="Cambria Math" panose="02040503050406030204" pitchFamily="18" charset="0"/>
                        </a:rPr>
                        <m:t>𝑦</m:t>
                      </m:r>
                      <m:r>
                        <a:rPr lang="en-US">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𝜃</m:t>
                      </m:r>
                      <m:r>
                        <a:rPr lang="en-US">
                          <a:latin typeface="Cambria Math" panose="02040503050406030204" pitchFamily="18" charset="0"/>
                        </a:rPr>
                        <m:t>‖</m:t>
                      </m:r>
                      <m:sSubSup>
                        <m:sSubSupPr>
                          <m:ctrlPr>
                            <a:rPr lang="en-US">
                              <a:latin typeface="Cambria Math" panose="02040503050406030204" pitchFamily="18" charset="0"/>
                            </a:rPr>
                          </m:ctrlPr>
                        </m:sSubSupPr>
                        <m:e>
                          <m:r>
                            <a:rPr lang="en-US">
                              <a:latin typeface="Cambria Math" panose="02040503050406030204" pitchFamily="18" charset="0"/>
                            </a:rPr>
                            <m:t>​</m:t>
                          </m:r>
                        </m:e>
                        <m:sub>
                          <m:r>
                            <a:rPr lang="en-US">
                              <a:latin typeface="Cambria Math" panose="02040503050406030204" pitchFamily="18" charset="0"/>
                            </a:rPr>
                            <m:t>2</m:t>
                          </m:r>
                        </m:sub>
                        <m:sup>
                          <m:r>
                            <a:rPr lang="en-US">
                              <a:latin typeface="Cambria Math" panose="02040503050406030204" pitchFamily="18" charset="0"/>
                            </a:rPr>
                            <m:t>2</m:t>
                          </m:r>
                        </m:sup>
                      </m:sSubSup>
                      <m:r>
                        <a:rPr lang="en-US">
                          <a:latin typeface="Cambria Math" panose="02040503050406030204" pitchFamily="18" charset="0"/>
                        </a:rPr>
                        <m:t>+</m:t>
                      </m:r>
                      <m:r>
                        <a:rPr lang="en-US" i="1">
                          <a:latin typeface="Cambria Math" panose="02040503050406030204" pitchFamily="18" charset="0"/>
                        </a:rPr>
                        <m:t>𝜆</m:t>
                      </m:r>
                      <m:r>
                        <a:rPr lang="en-US">
                          <a:latin typeface="Cambria Math" panose="02040503050406030204" pitchFamily="18" charset="0"/>
                        </a:rPr>
                        <m:t>‖</m:t>
                      </m:r>
                      <m:r>
                        <a:rPr lang="en-US" i="1">
                          <a:latin typeface="Cambria Math" panose="02040503050406030204" pitchFamily="18" charset="0"/>
                        </a:rPr>
                        <m:t>𝜃</m:t>
                      </m:r>
                      <m:r>
                        <a:rPr lang="en-US">
                          <a:latin typeface="Cambria Math" panose="02040503050406030204" pitchFamily="18" charset="0"/>
                        </a:rPr>
                        <m:t>‖</m:t>
                      </m:r>
                      <m:sSub>
                        <m:sSubPr>
                          <m:ctrlPr>
                            <a:rPr lang="en-US">
                              <a:latin typeface="Cambria Math" panose="02040503050406030204" pitchFamily="18" charset="0"/>
                            </a:rPr>
                          </m:ctrlPr>
                        </m:sSubPr>
                        <m:e>
                          <m:r>
                            <a:rPr lang="en-US">
                              <a:latin typeface="Cambria Math" panose="02040503050406030204" pitchFamily="18" charset="0"/>
                            </a:rPr>
                            <m:t>​</m:t>
                          </m:r>
                        </m:e>
                        <m:sub>
                          <m:r>
                            <a:rPr lang="en-US">
                              <a:latin typeface="Cambria Math" panose="02040503050406030204" pitchFamily="18" charset="0"/>
                            </a:rPr>
                            <m:t>1</m:t>
                          </m:r>
                        </m:sub>
                      </m:sSub>
                    </m:oMath>
                  </m:oMathPara>
                </a14:m>
                <a:endParaRPr lang="en-US" dirty="0"/>
              </a:p>
              <a:p>
                <a:r>
                  <a:rPr lang="en-US" dirty="0"/>
                  <a:t>In this experiment, we generate a synthetic high-dimensional dataset (simulating compressed sensing or synthetic latent representations) where only a tiny fraction of features actually drive the target variable. We will demonstrate how OLS overfits entirely, while Lasso perfectly recovers the sparse underlying signal.</a:t>
                </a:r>
              </a:p>
            </p:txBody>
          </p:sp>
        </mc:Choice>
        <mc:Fallback xmlns="">
          <p:sp>
            <p:nvSpPr>
              <p:cNvPr id="8" name="TextBox 7">
                <a:extLst>
                  <a:ext uri="{FF2B5EF4-FFF2-40B4-BE49-F238E27FC236}">
                    <a16:creationId xmlns:a16="http://schemas.microsoft.com/office/drawing/2014/main" id="{716F3B63-5280-E149-DA6E-49E916727A04}"/>
                  </a:ext>
                </a:extLst>
              </p:cNvPr>
              <p:cNvSpPr txBox="1">
                <a:spLocks noRot="1" noChangeAspect="1" noMove="1" noResize="1" noEditPoints="1" noAdjustHandles="1" noChangeArrowheads="1" noChangeShapeType="1" noTextEdit="1"/>
              </p:cNvSpPr>
              <p:nvPr/>
            </p:nvSpPr>
            <p:spPr>
              <a:xfrm>
                <a:off x="76200" y="1219200"/>
                <a:ext cx="8686800" cy="3416320"/>
              </a:xfrm>
              <a:prstGeom prst="rect">
                <a:avLst/>
              </a:prstGeom>
              <a:blipFill>
                <a:blip r:embed="rId3"/>
                <a:stretch>
                  <a:fillRect l="-632" t="-893" b="-1071"/>
                </a:stretch>
              </a:blipFill>
            </p:spPr>
            <p:txBody>
              <a:bodyPr/>
              <a:lstStyle/>
              <a:p>
                <a:r>
                  <a:rPr lang="en-US">
                    <a:noFill/>
                  </a:rPr>
                  <a:t> </a:t>
                </a:r>
              </a:p>
            </p:txBody>
          </p:sp>
        </mc:Fallback>
      </mc:AlternateContent>
    </p:spTree>
    <p:extLst>
      <p:ext uri="{BB962C8B-B14F-4D97-AF65-F5344CB8AC3E}">
        <p14:creationId xmlns:p14="http://schemas.microsoft.com/office/powerpoint/2010/main" val="39964029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5627E-F338-745F-4E8B-EF5C0546A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709DB-F677-6690-B50A-B2693300D435}"/>
              </a:ext>
            </a:extLst>
          </p:cNvPr>
          <p:cNvSpPr>
            <a:spLocks noGrp="1"/>
          </p:cNvSpPr>
          <p:nvPr>
            <p:ph type="ctrTitle"/>
          </p:nvPr>
        </p:nvSpPr>
        <p:spPr>
          <a:xfrm>
            <a:off x="1600200" y="3810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Regression Code Example</a:t>
            </a:r>
          </a:p>
        </p:txBody>
      </p:sp>
      <p:sp>
        <p:nvSpPr>
          <p:cNvPr id="6" name="Rectangle 5">
            <a:extLst>
              <a:ext uri="{FF2B5EF4-FFF2-40B4-BE49-F238E27FC236}">
                <a16:creationId xmlns:a16="http://schemas.microsoft.com/office/drawing/2014/main" id="{5344E98A-DEA7-2D34-6AF1-BEA19C21045C}"/>
              </a:ext>
            </a:extLst>
          </p:cNvPr>
          <p:cNvSpPr/>
          <p:nvPr/>
        </p:nvSpPr>
        <p:spPr>
          <a:xfrm>
            <a:off x="4566249" y="5776823"/>
            <a:ext cx="4572000" cy="307777"/>
          </a:xfrm>
          <a:prstGeom prst="rect">
            <a:avLst/>
          </a:prstGeom>
        </p:spPr>
        <p:txBody>
          <a:bodyPr>
            <a:spAutoFit/>
          </a:bodyPr>
          <a:lstStyle/>
          <a:p>
            <a:r>
              <a:rPr lang="en-US" sz="1400" dirty="0">
                <a:solidFill>
                  <a:schemeClr val="bg1">
                    <a:lumMod val="75000"/>
                  </a:schemeClr>
                </a:solidFill>
              </a:rPr>
              <a:t>https://en.wikipedia.org/wiki/Sigmoid_function</a:t>
            </a:r>
          </a:p>
        </p:txBody>
      </p:sp>
      <p:sp>
        <p:nvSpPr>
          <p:cNvPr id="8" name="TextBox 7">
            <a:extLst>
              <a:ext uri="{FF2B5EF4-FFF2-40B4-BE49-F238E27FC236}">
                <a16:creationId xmlns:a16="http://schemas.microsoft.com/office/drawing/2014/main" id="{1579E41C-2D45-CABF-B1D8-10A7AF0229A1}"/>
              </a:ext>
            </a:extLst>
          </p:cNvPr>
          <p:cNvSpPr txBox="1"/>
          <p:nvPr/>
        </p:nvSpPr>
        <p:spPr>
          <a:xfrm>
            <a:off x="152400" y="1676400"/>
            <a:ext cx="8839201" cy="646331"/>
          </a:xfrm>
          <a:prstGeom prst="rect">
            <a:avLst/>
          </a:prstGeom>
          <a:noFill/>
        </p:spPr>
        <p:txBody>
          <a:bodyPr wrap="square" rtlCol="0">
            <a:spAutoFit/>
          </a:bodyPr>
          <a:lstStyle/>
          <a:p>
            <a:r>
              <a:rPr lang="en-US" b="1" dirty="0"/>
              <a:t>Code Example : </a:t>
            </a:r>
            <a:r>
              <a:rPr lang="en-US" dirty="0"/>
              <a:t>https://colab.research.google.com/drive/1zAcokcuNleXEgiQN9azdITZ7z1PpUjsg?usp=sharing</a:t>
            </a:r>
          </a:p>
        </p:txBody>
      </p:sp>
      <p:sp>
        <p:nvSpPr>
          <p:cNvPr id="4" name="TextBox 3">
            <a:extLst>
              <a:ext uri="{FF2B5EF4-FFF2-40B4-BE49-F238E27FC236}">
                <a16:creationId xmlns:a16="http://schemas.microsoft.com/office/drawing/2014/main" id="{E1FDF346-5DFC-FBED-7799-F63611000BFC}"/>
              </a:ext>
            </a:extLst>
          </p:cNvPr>
          <p:cNvSpPr txBox="1"/>
          <p:nvPr/>
        </p:nvSpPr>
        <p:spPr>
          <a:xfrm>
            <a:off x="152400" y="3177273"/>
            <a:ext cx="9220200" cy="646331"/>
          </a:xfrm>
          <a:prstGeom prst="rect">
            <a:avLst/>
          </a:prstGeom>
          <a:noFill/>
        </p:spPr>
        <p:txBody>
          <a:bodyPr wrap="square" rtlCol="0">
            <a:spAutoFit/>
          </a:bodyPr>
          <a:lstStyle/>
          <a:p>
            <a:r>
              <a:rPr lang="en-US" b="1" dirty="0"/>
              <a:t>Example with Real Dataset:</a:t>
            </a:r>
          </a:p>
          <a:p>
            <a:r>
              <a:rPr lang="en-US" dirty="0"/>
              <a:t>https://colab.research.google.com/drive/1-e3nUtLiCdLZrHhV1PtL2WyvByCf_QY2?usp=sharing</a:t>
            </a:r>
          </a:p>
        </p:txBody>
      </p:sp>
    </p:spTree>
    <p:extLst>
      <p:ext uri="{BB962C8B-B14F-4D97-AF65-F5344CB8AC3E}">
        <p14:creationId xmlns:p14="http://schemas.microsoft.com/office/powerpoint/2010/main" val="37415130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3982</Words>
  <Application>Microsoft Office PowerPoint</Application>
  <PresentationFormat>On-screen Show (4:3)</PresentationFormat>
  <Paragraphs>346</Paragraphs>
  <Slides>41</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Calibri</vt:lpstr>
      <vt:lpstr>Cambria Math</vt:lpstr>
      <vt:lpstr>Times New Roman</vt:lpstr>
      <vt:lpstr>Wingdings</vt:lpstr>
      <vt:lpstr>Office Theme</vt:lpstr>
      <vt:lpstr>Supervised Learning: Regression</vt:lpstr>
      <vt:lpstr>Supervised Learning</vt:lpstr>
      <vt:lpstr>Regression</vt:lpstr>
      <vt:lpstr>Linear Regression</vt:lpstr>
      <vt:lpstr>Linear Regression</vt:lpstr>
      <vt:lpstr>Simple Linear Regression</vt:lpstr>
      <vt:lpstr>Example</vt:lpstr>
      <vt:lpstr>PowerPoint Presentation</vt:lpstr>
      <vt:lpstr>Multiple Linear Regression</vt:lpstr>
      <vt:lpstr>EXample</vt:lpstr>
      <vt:lpstr>EXample</vt:lpstr>
      <vt:lpstr>EXample</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Some Linear Algebra - The Solution!</vt:lpstr>
      <vt:lpstr>Example of Linear Regression - Data Matrices</vt:lpstr>
      <vt:lpstr>XTX</vt:lpstr>
      <vt:lpstr>XTY</vt:lpstr>
      <vt:lpstr>Solving for w – Regression Curve</vt:lpstr>
      <vt:lpstr>Logistic Regression</vt:lpstr>
      <vt:lpstr>Logistic Regression</vt:lpstr>
      <vt:lpstr>Linear Regression Analysis – Application Scenarios (Best)</vt:lpstr>
      <vt:lpstr>Logistic Regression Analysis – Application Scenarios (Best)</vt:lpstr>
      <vt:lpstr>Linear Regression Analysis – Application Scenarios (Worst)</vt:lpstr>
      <vt:lpstr>Logistic Regression Analysis – Application Scenarios (Worst)</vt:lpstr>
      <vt:lpstr>High-Dimensional Regression &amp; Sparsity Guarantees</vt:lpstr>
      <vt:lpstr>Logistic Regression Analysis – Application Scenarios (Worst)</vt:lpstr>
      <vt:lpstr>Non-Convex Optimization &amp; The Double Descent Phenomenon</vt:lpstr>
      <vt:lpstr>Robust Regression &amp; Outlier Resistance</vt:lpstr>
      <vt:lpstr>Generalized Additive Models (GAMs) &amp; Neural Additive Models (NAMs)</vt:lpstr>
      <vt:lpstr>Causal Inference &amp; Instrumental Variables in Regression</vt:lpstr>
      <vt:lpstr>Research Frontier: High-Dimensional Regression (p&gt;n)</vt:lpstr>
      <vt:lpstr>Regression Code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Ashraf</dc:creator>
  <cp:lastModifiedBy>TOUHID ALAM</cp:lastModifiedBy>
  <cp:revision>214</cp:revision>
  <dcterms:created xsi:type="dcterms:W3CDTF">2024-10-19T07:49:00Z</dcterms:created>
  <dcterms:modified xsi:type="dcterms:W3CDTF">2026-09-26T09:56:10Z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90A52C70376E4B5F95023107E6D28B23_12</vt:lpwstr>
  </property>
  <property fmtid="{D5CDD505-2E9C-101B-9397-08002B2CF9AE}" pid="3" name="KSOProductBuildVer">
    <vt:lpwstr>1033-12.2.0.18607</vt:lpwstr>
  </property>
</Properties>
</file>