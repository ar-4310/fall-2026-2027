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3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1" r:id="rId1"/>
  </p:sldMasterIdLst>
  <p:notesMasterIdLst>
    <p:notesMasterId r:id="rId35"/>
  </p:notesMasterIdLst>
  <p:handoutMasterIdLst>
    <p:handoutMasterId r:id="rId36"/>
  </p:handoutMasterIdLst>
  <p:sldIdLst>
    <p:sldId id="460" r:id="rId2"/>
    <p:sldId id="953" r:id="rId3"/>
    <p:sldId id="1354" r:id="rId4"/>
    <p:sldId id="1352" r:id="rId5"/>
    <p:sldId id="1353" r:id="rId6"/>
    <p:sldId id="1360" r:id="rId7"/>
    <p:sldId id="1361" r:id="rId8"/>
    <p:sldId id="1359" r:id="rId9"/>
    <p:sldId id="1358" r:id="rId10"/>
    <p:sldId id="1355" r:id="rId11"/>
    <p:sldId id="1357" r:id="rId12"/>
    <p:sldId id="1156" r:id="rId13"/>
    <p:sldId id="278" r:id="rId14"/>
    <p:sldId id="1349" r:id="rId15"/>
    <p:sldId id="1350" r:id="rId16"/>
    <p:sldId id="462" r:id="rId17"/>
    <p:sldId id="1362" r:id="rId18"/>
    <p:sldId id="1364" r:id="rId19"/>
    <p:sldId id="1363" r:id="rId20"/>
    <p:sldId id="269" r:id="rId21"/>
    <p:sldId id="1366" r:id="rId22"/>
    <p:sldId id="1367" r:id="rId23"/>
    <p:sldId id="1157" r:id="rId24"/>
    <p:sldId id="1158" r:id="rId25"/>
    <p:sldId id="341" r:id="rId26"/>
    <p:sldId id="325" r:id="rId27"/>
    <p:sldId id="309" r:id="rId28"/>
    <p:sldId id="277" r:id="rId29"/>
    <p:sldId id="264" r:id="rId30"/>
    <p:sldId id="275" r:id="rId31"/>
    <p:sldId id="1159" r:id="rId32"/>
    <p:sldId id="1351" r:id="rId33"/>
    <p:sldId id="461" r:id="rId34"/>
  </p:sldIdLst>
  <p:sldSz cx="9144000" cy="6858000" type="screen4x3"/>
  <p:notesSz cx="10234613" cy="70993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Palatino Linotype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66FF33"/>
    <a:srgbClr val="3333FF"/>
    <a:srgbClr val="990033"/>
    <a:srgbClr val="FF6600"/>
    <a:srgbClr val="FF00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647" autoAdjust="0"/>
    <p:restoredTop sz="94225" autoAdjust="0"/>
  </p:normalViewPr>
  <p:slideViewPr>
    <p:cSldViewPr>
      <p:cViewPr varScale="1">
        <p:scale>
          <a:sx n="116" d="100"/>
          <a:sy n="116" d="100"/>
        </p:scale>
        <p:origin x="53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13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1800" y="72"/>
      </p:cViewPr>
      <p:guideLst>
        <p:guide orient="horz" pos="2236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fld id="{5FF5AA11-6FE7-4D92-860D-F09A5A1025BA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03686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798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1688" y="531813"/>
            <a:ext cx="3549650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9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79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fld id="{8B153843-1CF4-4938-B773-3DA6477B563D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96357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843-1CF4-4938-B773-3DA6477B563D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676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B1AB1339-8965-E0EC-71C5-6D401DA987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EDE618B-651C-41A3-9B7E-02067E710D69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72C28-296B-AD8E-75E8-516F0CC05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7458190E-8652-F7DF-C50A-70A1E5F16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0298657-4F4D-4114-BD83-BCADD0D47F5B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CF61C6E5-E013-4CCD-41BB-2E9738CA7D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228B322F-5819-BFD0-31D7-F636D271F4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5424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E9F59-0C02-D7AD-72BC-F0E95E6F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E30F9221-E82B-913D-6855-7091F58649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0298657-4F4D-4114-BD83-BCADD0D47F5B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2A12405C-4857-A263-CD98-919F62DE1D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08E67880-F30C-9B47-5FC3-655482BDA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810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5B92B-25F4-F82E-CA0D-BA0FE1EA8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8B09BC1E-E0B6-0D69-893D-831DED639D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0298657-4F4D-4114-BD83-BCADD0D47F5B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1FE96B39-FF57-D6FB-55B8-597F5A9DB0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B02808CB-DB4B-A5DB-97D2-7ED874FC7E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22523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A8EC8-D944-6B5F-C040-969FD3B4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A59EBE59-FFD9-A93F-0F0E-737996F591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0298657-4F4D-4114-BD83-BCADD0D47F5B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E53AE04C-DCE8-1663-D2C7-FFA0EC8765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D634F324-B10B-256A-2649-FAC4AC26DE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6142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ACF7D-884C-41BA-9931-0F44B4CF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13AED4B7-33EE-9092-AD5B-AE97D93590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0298657-4F4D-4114-BD83-BCADD0D47F5B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A1982E81-B9AB-1139-B268-C6F0B004A0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2A565022-6301-B489-4544-73004C047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195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AF566-C12D-F596-8416-917C4052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81B8E675-B7AA-C0D9-4805-4BB3ADA87B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0298657-4F4D-4114-BD83-BCADD0D47F5B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C63C1073-3904-0EC9-A055-16C126914F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0ACBE2C1-36AD-B031-98F7-4E6D2A7D3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854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DEE8-F66F-524A-8609-149CD70C8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D0E3AB5A-038F-9966-8FDF-1C7D585EB5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0298657-4F4D-4114-BD83-BCADD0D47F5B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6BA04DF8-C14A-7DE2-C48F-5FB13FF0AC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947FFC7B-DB88-6CCF-C53A-42E191C5F7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6642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89BA-0952-74E3-7978-5E444AFC4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542C255C-C54A-4FE9-7FBD-CB9864D3D0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0298657-4F4D-4114-BD83-BCADD0D47F5B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C5D067C8-A03A-D194-3AF6-97639286A2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1EEC458B-90F3-8C45-DC3A-D1567048C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49752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9095555B-F002-6D80-3528-36676942BB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FEE8BB2-00C6-46D4-B26D-D70BC16528B3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D7E4AD31-11A3-922A-FE70-F0D830C25E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F1E61C15-3BC9-97AE-3A0F-6B4633A871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A3CBA54-1E8A-45BC-BF56-E2199F353E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E675F6-557D-453F-92DE-F8241779821B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C6CF47BC-2026-4584-ADE1-02F5410266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38143CE2-26A1-4C54-934B-7CB521779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2567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8CA87E5-5FD3-4098-9661-ABA66E935C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581417-58CC-476F-96F7-00B342DD3680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912FDA25-F3FA-4593-BAB2-7A17BAAF97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E13BE20C-48A9-4693-9C75-1091A8B43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87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C436083-43C0-4C4C-B60B-A028AE848E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D3D030-ECFD-496A-B220-8D9A1B80B3E8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3458530C-72A5-4403-999B-5C941EEA08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C1BE80FE-B930-487A-8561-B6597666D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7420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116D1-8E14-6A36-889B-A2BF6160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FBF2AF1-E04D-D8A9-910E-0B461853A7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D3D030-ECFD-496A-B220-8D9A1B80B3E8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2342213C-62FB-D341-79B3-743060FF56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41E44549-5230-D334-6F2D-09D3176148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8087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109B-FC3B-93C3-DE9B-CCA37D60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7672C32-6CC9-3A6C-C3C4-AF50AC7514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D3D030-ECFD-496A-B220-8D9A1B80B3E8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22DF4AE7-29F0-23AB-A50A-EA8FAE0CF8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54C9720B-5224-6FC2-7779-DEFCF06CB4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6057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5078637E-C138-A8E6-AA3A-B691398C4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198EBA5-845A-42D4-ABA8-6086A6C81EB1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DE71A245-B285-3E82-851C-9E3824C491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74131747-5F6E-7EB0-5FD1-724B68198F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AC99B14C-DD44-927D-7444-550DF9D9FF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9403DE5-0E3C-4D26-B9A3-54ACE6A4FA61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5AAA8E6D-AF77-57D1-1695-4EA53B9D00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A2B7CA32-880F-58F3-252A-AA01E1C531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A183FDAD-67E5-40C9-80FA-A2FE89DE62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1EC233ED-3693-425F-BD7E-A450539CA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B9AEBC7C-E09E-4751-9768-B03EF4878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EF13BF67-FFD3-44D0-A727-5D730E486A1B}" type="slidenum">
              <a:rPr lang="tr-TR" altLang="en-US" sz="1300">
                <a:latin typeface="Arial" panose="020B0604020202020204" pitchFamily="34" charset="0"/>
              </a:rPr>
              <a:pPr eaLnBrk="1" hangingPunct="1"/>
              <a:t>25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C9762AB0-97E3-49C4-ADF0-5C90B4C524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4EF781FF-E8F7-472C-829E-84A8F5715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F9FF7AD9-5600-4BAD-91F2-7838E21C2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2BF61BBC-17C3-4274-9F4C-314F7E5FFA9E}" type="slidenum">
              <a:rPr lang="tr-TR" altLang="en-US" sz="1300">
                <a:latin typeface="Arial" panose="020B0604020202020204" pitchFamily="34" charset="0"/>
              </a:rPr>
              <a:pPr eaLnBrk="1" hangingPunct="1"/>
              <a:t>26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CBDDBBF4-07B9-4142-90C4-36A5250CDC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061DCA8E-62F4-43CB-9E2E-B48235290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A010CFDD-5D27-4D44-8C9E-C25D7AD9B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defTabSz="990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fld id="{A4FC75E0-E88B-4766-BAED-66D69B585FD8}" type="slidenum">
              <a:rPr lang="tr-TR" altLang="en-US" sz="1300">
                <a:latin typeface="Arial" panose="020B0604020202020204" pitchFamily="34" charset="0"/>
              </a:rPr>
              <a:pPr eaLnBrk="1" hangingPunct="1"/>
              <a:t>27</a:t>
            </a:fld>
            <a:endParaRPr lang="tr-TR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6290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50E2841-9212-481A-AF58-341C0747CB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6F06FC-0C2F-4683-8686-0491FD39BF29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E071FDA5-FE8C-47D2-956A-4A368E0630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1AC726D-4F52-46AC-8A47-2ED5F6A76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36358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8458D3C-E711-400E-AB85-8CACEEB53F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ACB5CF-9202-44A4-B554-B02EF75EE251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353BA469-BA9F-45EF-8A58-BFF72E43EF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B00DD13B-117D-476D-8C24-92F655C99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2403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359722D-8EE5-4256-9C32-4E9D7F0E2C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EDE09E-3622-49EF-BD8B-4B7D8D732501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C22CA625-FA44-4920-AC82-0A84ED7932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42B8415-D54E-4B35-8A09-54CCAE2E8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6126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808B0C7F-3E49-5143-8363-01623BF4C5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A3E2BC2-7AD8-4951-A5F5-FBE73B36CBBC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E69F566F-10EA-CBBB-4DFC-0D664D6A24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79C2EC1B-2C1B-275C-7FCE-6CC2D79219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980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4" name="Picture 2" descr="Image result for AIUB logo">
            <a:extLst>
              <a:ext uri="{FF2B5EF4-FFF2-40B4-BE49-F238E27FC236}">
                <a16:creationId xmlns:a16="http://schemas.microsoft.com/office/drawing/2014/main" id="{5C7DCE2F-1962-4B17-AD52-97F3EE93B1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236" y="112659"/>
            <a:ext cx="1233449" cy="1241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D769C6-8701-4ED3-8041-44BC45A52C01}"/>
              </a:ext>
            </a:extLst>
          </p:cNvPr>
          <p:cNvSpPr txBox="1"/>
          <p:nvPr userDrawn="1"/>
        </p:nvSpPr>
        <p:spPr>
          <a:xfrm>
            <a:off x="33261" y="2549455"/>
            <a:ext cx="3570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Course </a:t>
            </a:r>
            <a:r>
              <a:rPr lang="en-US" sz="2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4232: Machine Learning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075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0779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 userDrawn="1"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79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01322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4B957E-0032-4005-8291-D6D7E52CD262}"/>
              </a:ext>
            </a:extLst>
          </p:cNvPr>
          <p:cNvSpPr txBox="1"/>
          <p:nvPr userDrawn="1"/>
        </p:nvSpPr>
        <p:spPr>
          <a:xfrm>
            <a:off x="3473671" y="6453324"/>
            <a:ext cx="21064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rgbClr val="696464"/>
                </a:solidFill>
              </a:rPr>
              <a:t>Dr. M </a:t>
            </a:r>
            <a:r>
              <a:rPr lang="en-US" sz="1100" dirty="0" err="1">
                <a:solidFill>
                  <a:srgbClr val="696464"/>
                </a:solidFill>
              </a:rPr>
              <a:t>M</a:t>
            </a:r>
            <a:r>
              <a:rPr lang="en-US" sz="1100" dirty="0">
                <a:solidFill>
                  <a:srgbClr val="696464"/>
                </a:solidFill>
              </a:rPr>
              <a:t> Manjurul Islam</a:t>
            </a:r>
            <a:endParaRPr lang="tr-TR" sz="1100" dirty="0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34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5632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A072F8-515B-4CBB-95B6-790F172F0DFE}"/>
              </a:ext>
            </a:extLst>
          </p:cNvPr>
          <p:cNvSpPr txBox="1"/>
          <p:nvPr userDrawn="1"/>
        </p:nvSpPr>
        <p:spPr>
          <a:xfrm>
            <a:off x="3473671" y="6453324"/>
            <a:ext cx="21064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dirty="0">
                <a:solidFill>
                  <a:srgbClr val="696464"/>
                </a:solidFill>
              </a:rPr>
              <a:t>Dr. M </a:t>
            </a:r>
            <a:r>
              <a:rPr lang="en-US" sz="1100" dirty="0" err="1">
                <a:solidFill>
                  <a:srgbClr val="696464"/>
                </a:solidFill>
              </a:rPr>
              <a:t>M</a:t>
            </a:r>
            <a:r>
              <a:rPr lang="en-US" sz="1100" dirty="0">
                <a:solidFill>
                  <a:srgbClr val="696464"/>
                </a:solidFill>
              </a:rPr>
              <a:t> Manjurul Islam</a:t>
            </a:r>
            <a:endParaRPr lang="tr-TR" sz="1100" dirty="0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06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95239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</p:spPr>
        <p:txBody>
          <a:bodyPr/>
          <a:lstStyle/>
          <a:p>
            <a:pPr>
              <a:defRPr/>
            </a:pPr>
            <a:fld id="{774CDB6B-34EF-4499-93D7-CDE73CE55E2B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7379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/>
          <a:lstStyle/>
          <a:p>
            <a:pPr>
              <a:defRPr/>
            </a:pPr>
            <a:fld id="{33AA1F7C-A0DB-4A2F-83FB-084B476C72CF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3853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1/3/2010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</p:spPr>
        <p:txBody>
          <a:bodyPr/>
          <a:lstStyle/>
          <a:p>
            <a:pPr>
              <a:defRPr/>
            </a:pPr>
            <a:fld id="{10C795C2-9663-4CD9-B7AF-0C67447055CB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781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0758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0" y="6642100"/>
            <a:ext cx="6048375" cy="215900"/>
          </a:xfrm>
        </p:spPr>
        <p:txBody>
          <a:bodyPr/>
          <a:lstStyle>
            <a:lvl1pPr>
              <a:defRPr/>
            </a:lvl1pPr>
          </a:lstStyle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42261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577EAA4-500B-4054-BEDF-CE8F77DBBA3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Lecture Notes for E Alpaydın 2004 Introduction to Machine Learning © The MIT Press (V1.1)</a:t>
            </a:r>
          </a:p>
        </p:txBody>
      </p:sp>
    </p:spTree>
    <p:extLst>
      <p:ext uri="{BB962C8B-B14F-4D97-AF65-F5344CB8AC3E}">
        <p14:creationId xmlns:p14="http://schemas.microsoft.com/office/powerpoint/2010/main" val="25510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584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6" r:id="rId13"/>
    <p:sldLayoutId id="2147483737" r:id="rId14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4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28.png"/><Relationship Id="rId7" Type="http://schemas.openxmlformats.org/officeDocument/2006/relationships/image" Target="../media/image30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3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16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6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229D37F-B35F-42B9-8717-77AC43D80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9632" y="3407229"/>
            <a:ext cx="6400800" cy="757472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DC2F3B-DB8C-4A90-8A4C-F9C309988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786813"/>
              </p:ext>
            </p:extLst>
          </p:nvPr>
        </p:nvGraphicFramePr>
        <p:xfrm>
          <a:off x="327901" y="5661248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104691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00346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Instructor: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Prof. Dr. </a:t>
                      </a:r>
                      <a:r>
                        <a:rPr lang="en-US" i="1" dirty="0" err="1"/>
                        <a:t>Kamruddin</a:t>
                      </a:r>
                      <a:r>
                        <a:rPr lang="en-US" i="1" dirty="0"/>
                        <a:t> </a:t>
                      </a:r>
                      <a:r>
                        <a:rPr lang="en-US" i="1" dirty="0" err="1"/>
                        <a:t>Nur</a:t>
                      </a:r>
                      <a:r>
                        <a:rPr lang="en-US" i="1" dirty="0"/>
                        <a:t> (</a:t>
                      </a:r>
                      <a:r>
                        <a:rPr lang="en-US" i="1" dirty="0" err="1"/>
                        <a:t>kamruddin@aiub.edu</a:t>
                      </a:r>
                      <a:r>
                        <a:rPr lang="en-US" i="1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D8F1DA3-3DE8-4BEF-B6BE-2115A4940107}"/>
              </a:ext>
            </a:extLst>
          </p:cNvPr>
          <p:cNvSpPr txBox="1">
            <a:spLocks/>
          </p:cNvSpPr>
          <p:nvPr/>
        </p:nvSpPr>
        <p:spPr>
          <a:xfrm>
            <a:off x="0" y="1556792"/>
            <a:ext cx="7808976" cy="1088136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Bayesian Theory &amp; Naïve Bayes Classifiers</a:t>
            </a:r>
          </a:p>
        </p:txBody>
      </p:sp>
    </p:spTree>
    <p:extLst>
      <p:ext uri="{BB962C8B-B14F-4D97-AF65-F5344CB8AC3E}">
        <p14:creationId xmlns:p14="http://schemas.microsoft.com/office/powerpoint/2010/main" val="194978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C38F7118-8538-D106-BEA3-A2213FF76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696200" cy="6858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en-US" dirty="0"/>
              <a:t>Bayesian Classifier</a:t>
            </a:r>
            <a:endParaRPr lang="en-US" altLang="en-US" sz="2400" dirty="0"/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F8902F5F-E554-5864-AA57-8AAC03B9E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1342793"/>
            <a:ext cx="8189540" cy="4246447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A statistical classifier</a:t>
            </a:r>
            <a:r>
              <a:rPr lang="en-US" altLang="en-US" sz="2400" dirty="0"/>
              <a:t>: performs </a:t>
            </a:r>
            <a:r>
              <a:rPr lang="en-US" altLang="en-US" sz="2400" i="1" dirty="0"/>
              <a:t>probabilistic prediction, i.e.,</a:t>
            </a:r>
            <a:r>
              <a:rPr lang="en-US" altLang="en-US" sz="2400" dirty="0"/>
              <a:t> predicts class membership probabilities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Foundation:</a:t>
            </a:r>
            <a:r>
              <a:rPr lang="en-US" altLang="en-US" sz="2400" dirty="0"/>
              <a:t> Based on Bayes’ Theorem.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Performance:</a:t>
            </a:r>
            <a:r>
              <a:rPr lang="en-US" altLang="en-US" sz="2400" dirty="0"/>
              <a:t> A basic Bayesian classifier, </a:t>
            </a:r>
            <a:r>
              <a:rPr lang="en-US" altLang="en-US" sz="2400" i="1" dirty="0"/>
              <a:t>naïve Bayesian classifier</a:t>
            </a:r>
            <a:r>
              <a:rPr lang="en-US" altLang="en-US" sz="2400" dirty="0"/>
              <a:t>, has comparable performance with decision tree and selected neural network classifiers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Standard</a:t>
            </a:r>
            <a:r>
              <a:rPr lang="en-US" altLang="en-US" sz="2400" dirty="0"/>
              <a:t>: Even when Bayesian methods are computationally intractable, they can provide a standard of optimal decision making against which other methods can be measured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97C5-62B9-FCBB-F378-B413A83D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white paper with black text&#10;&#10;Description automatically generated">
            <a:extLst>
              <a:ext uri="{FF2B5EF4-FFF2-40B4-BE49-F238E27FC236}">
                <a16:creationId xmlns:a16="http://schemas.microsoft.com/office/drawing/2014/main" id="{E4906493-DEAA-253E-7489-F409CE859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43" y="692696"/>
            <a:ext cx="8210513" cy="45365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14A699-0748-1087-1DD9-E79F9A1A2ED6}"/>
              </a:ext>
            </a:extLst>
          </p:cNvPr>
          <p:cNvSpPr txBox="1"/>
          <p:nvPr/>
        </p:nvSpPr>
        <p:spPr>
          <a:xfrm>
            <a:off x="466743" y="5445224"/>
            <a:ext cx="8569753" cy="437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posteriori = likelihood x prior/evidence</a:t>
            </a:r>
          </a:p>
        </p:txBody>
      </p:sp>
    </p:spTree>
    <p:extLst>
      <p:ext uri="{BB962C8B-B14F-4D97-AF65-F5344CB8AC3E}">
        <p14:creationId xmlns:p14="http://schemas.microsoft.com/office/powerpoint/2010/main" val="3502674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6BCEB-2FEC-4615-386E-666449C8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6844A3A-2FD0-3D4D-418C-1E1DF303C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40"/>
            <a:ext cx="8208912" cy="641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1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F7539-EDC4-ADDD-13BB-EA2BDA761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647BA9F8-E0F1-0004-CB67-D3A3F9BDD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848600" cy="762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i="0" u="none" strike="noStrike" dirty="0">
                <a:solidFill>
                  <a:srgbClr val="404040"/>
                </a:solidFill>
                <a:effectLst/>
                <a:latin typeface="Franklin Gothic Book" panose="020B0503020102020204" pitchFamily="34" charset="0"/>
              </a:rPr>
              <a:t>Example: Spam Email Posterior Probability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845B2DA-CEF6-C645-DCA0-26BB64246669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219200"/>
            <a:ext cx="8610600" cy="285787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0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If an email contains the word </a:t>
            </a:r>
            <a:r>
              <a:rPr lang="en-US" sz="2000" b="1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"Free"</a:t>
            </a:r>
            <a:r>
              <a:rPr lang="en-US" sz="2000" b="0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, what is the probability it is spam?</a:t>
            </a:r>
            <a:br>
              <a:rPr lang="en-US" sz="2000" b="0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</a:br>
            <a:r>
              <a:rPr lang="en-US" sz="2000" b="0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→ We want P(</a:t>
            </a:r>
            <a:r>
              <a:rPr lang="en-US" sz="2000" b="0" i="0" u="none" strike="noStrike" dirty="0" err="1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S∣"Free</a:t>
            </a:r>
            <a:r>
              <a:rPr lang="en-US" sz="2000" b="0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").</a:t>
            </a:r>
          </a:p>
        </p:txBody>
      </p:sp>
      <p:pic>
        <p:nvPicPr>
          <p:cNvPr id="5" name="Picture 4" descr="A screenshot of a math test&#10;&#10;Description automatically generated">
            <a:extLst>
              <a:ext uri="{FF2B5EF4-FFF2-40B4-BE49-F238E27FC236}">
                <a16:creationId xmlns:a16="http://schemas.microsoft.com/office/drawing/2014/main" id="{C7F85DCA-F030-6022-49ED-A63ABBC3B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029696"/>
            <a:ext cx="5719688" cy="427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2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08C40-9A64-B568-4DB2-D9247FD8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E7CC7A7A-9A29-A96B-5236-E5908DDDD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848600" cy="762000"/>
          </a:xfrm>
        </p:spPr>
        <p:txBody>
          <a:bodyPr>
            <a:normAutofit/>
          </a:bodyPr>
          <a:lstStyle/>
          <a:p>
            <a:pPr algn="l"/>
            <a:r>
              <a:rPr lang="en-US" sz="3600" i="0" u="none" strike="noStrike" dirty="0">
                <a:solidFill>
                  <a:srgbClr val="404040"/>
                </a:solidFill>
                <a:effectLst/>
                <a:latin typeface="Franklin Gothic Book" panose="020B0503020102020204" pitchFamily="34" charset="0"/>
              </a:rPr>
              <a:t>Example: Spam Email Detection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F700A18-AF1E-F388-4583-BD2FBD7E6D66}"/>
              </a:ext>
            </a:extLst>
          </p:cNvPr>
          <p:cNvSpPr txBox="1">
            <a:spLocks noChangeArrowheads="1"/>
          </p:cNvSpPr>
          <p:nvPr/>
        </p:nvSpPr>
        <p:spPr>
          <a:xfrm>
            <a:off x="303207" y="3501008"/>
            <a:ext cx="8610600" cy="2857872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>
              <a:solidFill>
                <a:srgbClr val="404040"/>
              </a:solidFill>
              <a:latin typeface="Perpetua" panose="02020502060401020303" pitchFamily="18" charset="77"/>
            </a:endParaRPr>
          </a:p>
          <a:p>
            <a:pPr algn="l"/>
            <a:endParaRPr lang="en-US" sz="2000" dirty="0">
              <a:solidFill>
                <a:srgbClr val="404040"/>
              </a:solidFill>
              <a:latin typeface="Perpetua" panose="02020502060401020303" pitchFamily="18" charset="77"/>
            </a:endParaRPr>
          </a:p>
          <a:p>
            <a:pPr algn="l"/>
            <a:endParaRPr lang="en-US" sz="2000" dirty="0">
              <a:solidFill>
                <a:srgbClr val="404040"/>
              </a:solidFill>
              <a:latin typeface="Perpetua" panose="02020502060401020303" pitchFamily="18" charset="77"/>
            </a:endParaRPr>
          </a:p>
          <a:p>
            <a:pPr algn="l"/>
            <a:endParaRPr lang="en-US" sz="2000" b="0" i="0" u="none" strike="noStrike" dirty="0">
              <a:solidFill>
                <a:srgbClr val="404040"/>
              </a:solidFill>
              <a:effectLst/>
              <a:latin typeface="Perpetua" panose="02020502060401020303" pitchFamily="18" charset="77"/>
            </a:endParaRPr>
          </a:p>
          <a:p>
            <a:pPr marL="0" indent="0" algn="l">
              <a:buNone/>
            </a:pPr>
            <a:endParaRPr lang="en-US" sz="2000" b="1" i="0" u="none" strike="noStrike" dirty="0">
              <a:solidFill>
                <a:srgbClr val="404040"/>
              </a:solidFill>
              <a:effectLst/>
              <a:latin typeface="Perpetua" panose="02020502060401020303" pitchFamily="18" charset="77"/>
            </a:endParaRPr>
          </a:p>
          <a:p>
            <a:pPr marL="0" indent="0" algn="l">
              <a:buNone/>
            </a:pPr>
            <a:r>
              <a:rPr lang="en-US" sz="2000" b="1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Interpretation: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Even though only </a:t>
            </a:r>
            <a:r>
              <a:rPr lang="en-US" sz="2000" b="1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30% of all emails are spam</a:t>
            </a:r>
            <a:r>
              <a:rPr lang="en-US" sz="2000" b="0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, the presence of the word </a:t>
            </a:r>
            <a:r>
              <a:rPr lang="en-US" sz="2000" b="1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"Free"</a:t>
            </a:r>
            <a:r>
              <a:rPr lang="en-US" sz="2000" b="0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 raises the probability to </a:t>
            </a:r>
            <a:r>
              <a:rPr lang="en-US" sz="2000" b="1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72%</a:t>
            </a:r>
            <a:r>
              <a:rPr lang="en-US" sz="2000" b="0" i="0" u="none" strike="noStrike" dirty="0">
                <a:solidFill>
                  <a:srgbClr val="404040"/>
                </a:solidFill>
                <a:effectLst/>
                <a:latin typeface="Perpetua" panose="02020502060401020303" pitchFamily="18" charset="77"/>
              </a:rPr>
              <a:t> that this email is spam.</a:t>
            </a:r>
          </a:p>
        </p:txBody>
      </p:sp>
      <p:pic>
        <p:nvPicPr>
          <p:cNvPr id="4" name="Picture 3" descr="A math problem with numbers&#10;&#10;Description automatically generated with medium confidence">
            <a:extLst>
              <a:ext uri="{FF2B5EF4-FFF2-40B4-BE49-F238E27FC236}">
                <a16:creationId xmlns:a16="http://schemas.microsoft.com/office/drawing/2014/main" id="{4B5384D4-35A4-3F41-B659-A6320D22B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3" y="333151"/>
            <a:ext cx="6798925" cy="489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71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D0CA-24B0-0ACD-DD6C-68A003F4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white paper with black text&#10;&#10;Description automatically generated">
            <a:extLst>
              <a:ext uri="{FF2B5EF4-FFF2-40B4-BE49-F238E27FC236}">
                <a16:creationId xmlns:a16="http://schemas.microsoft.com/office/drawing/2014/main" id="{04666331-2FD4-E07C-824F-49916C7C8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43" y="692696"/>
            <a:ext cx="8210513" cy="45365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750657-EEF9-783F-4F92-52BBC2BCE31B}"/>
              </a:ext>
            </a:extLst>
          </p:cNvPr>
          <p:cNvSpPr txBox="1"/>
          <p:nvPr/>
        </p:nvSpPr>
        <p:spPr>
          <a:xfrm>
            <a:off x="466743" y="5445224"/>
            <a:ext cx="8569753" cy="437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posteriori = likelihood x prior/evidence</a:t>
            </a:r>
          </a:p>
        </p:txBody>
      </p:sp>
    </p:spTree>
    <p:extLst>
      <p:ext uri="{BB962C8B-B14F-4D97-AF65-F5344CB8AC3E}">
        <p14:creationId xmlns:p14="http://schemas.microsoft.com/office/powerpoint/2010/main" val="46036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1F74C-CBD8-EA18-6325-EB46F4F2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black text&#10;&#10;Description automatically generated">
            <a:extLst>
              <a:ext uri="{FF2B5EF4-FFF2-40B4-BE49-F238E27FC236}">
                <a16:creationId xmlns:a16="http://schemas.microsoft.com/office/drawing/2014/main" id="{C4131B42-C538-F378-7320-83F3E44C3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57" y="332656"/>
            <a:ext cx="8301886" cy="6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04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E47C5-04BF-E7BF-9503-69030E821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paper&#10;&#10;Description automatically generated">
            <a:extLst>
              <a:ext uri="{FF2B5EF4-FFF2-40B4-BE49-F238E27FC236}">
                <a16:creationId xmlns:a16="http://schemas.microsoft.com/office/drawing/2014/main" id="{E7B0E985-AF00-8015-2642-C40FBCC09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73294"/>
            <a:ext cx="6236618" cy="651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0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244D5-3D60-4084-69E8-9A79AF0C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ACBDDAC8-F549-9F18-FED0-372EDE44F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50" y="133350"/>
            <a:ext cx="697230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43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CFBDD762-EFA4-E63D-79EF-DAB0E3CDDC3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536280"/>
            <a:ext cx="6519368" cy="3785439"/>
          </a:xfrm>
        </p:spPr>
      </p:pic>
    </p:spTree>
    <p:extLst>
      <p:ext uri="{BB962C8B-B14F-4D97-AF65-F5344CB8AC3E}">
        <p14:creationId xmlns:p14="http://schemas.microsoft.com/office/powerpoint/2010/main" val="2881751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7">
            <a:extLst>
              <a:ext uri="{FF2B5EF4-FFF2-40B4-BE49-F238E27FC236}">
                <a16:creationId xmlns:a16="http://schemas.microsoft.com/office/drawing/2014/main" id="{0B566D64-99E9-33E2-339C-DC4FA8951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8ED959A-D8FD-348D-2C84-6F1105003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991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dirty="0"/>
              <a:t>Classification Is to Derive the Maximum Posteriori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3F61E44A-BDD0-2468-62B0-571D7516D11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19200"/>
            <a:ext cx="8458200" cy="5181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dirty="0"/>
              <a:t>Let D be a training set of tuples and their associated class labels, and each tuple is represented by an n-D attribute vector </a:t>
            </a:r>
            <a:r>
              <a:rPr lang="en-US" altLang="en-US" sz="2400" b="1" dirty="0"/>
              <a:t>X</a:t>
            </a:r>
            <a:r>
              <a:rPr lang="en-US" altLang="en-US" sz="2400" dirty="0"/>
              <a:t> = (x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x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</a:t>
            </a:r>
            <a:r>
              <a:rPr lang="en-US" altLang="en-US" sz="2400" dirty="0" err="1"/>
              <a:t>x</a:t>
            </a:r>
            <a:r>
              <a:rPr lang="en-US" altLang="en-US" sz="2400" baseline="-25000" dirty="0" err="1"/>
              <a:t>n</a:t>
            </a:r>
            <a:r>
              <a:rPr lang="en-US" altLang="en-US" sz="2400" dirty="0"/>
              <a:t>)</a:t>
            </a:r>
          </a:p>
          <a:p>
            <a:pPr eaLnBrk="1" hangingPunct="1"/>
            <a:r>
              <a:rPr lang="en-US" altLang="en-US" sz="2400" dirty="0"/>
              <a:t>Suppose there are </a:t>
            </a:r>
            <a:r>
              <a:rPr lang="en-US" altLang="en-US" sz="2400" i="1" dirty="0"/>
              <a:t>m</a:t>
            </a:r>
            <a:r>
              <a:rPr lang="en-US" altLang="en-US" sz="2400" dirty="0"/>
              <a:t> classes C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C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C</a:t>
            </a:r>
            <a:r>
              <a:rPr lang="en-US" altLang="en-US" sz="2400" baseline="-25000" dirty="0"/>
              <a:t>m</a:t>
            </a:r>
            <a:r>
              <a:rPr lang="en-US" altLang="en-US" sz="24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Classification is to derive the maximum posteriori, i.e., the maximal P(</a:t>
            </a:r>
            <a:r>
              <a:rPr lang="en-US" altLang="en-US" sz="2400" dirty="0" err="1"/>
              <a:t>C</a:t>
            </a:r>
            <a:r>
              <a:rPr lang="en-US" altLang="en-US" sz="2400" baseline="-25000" dirty="0" err="1"/>
              <a:t>i</a:t>
            </a:r>
            <a:r>
              <a:rPr lang="en-US" altLang="en-US" sz="2400" dirty="0" err="1"/>
              <a:t>|</a:t>
            </a:r>
            <a:r>
              <a:rPr lang="en-US" altLang="en-US" sz="2400" b="1" dirty="0" err="1"/>
              <a:t>X</a:t>
            </a:r>
            <a:r>
              <a:rPr lang="en-US" altLang="en-US" sz="24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This can be derived from Bayes’ theorem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Since P(X) is constant for all classes, only                                       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needs to be maximized</a:t>
            </a:r>
          </a:p>
        </p:txBody>
      </p:sp>
      <p:graphicFrame>
        <p:nvGraphicFramePr>
          <p:cNvPr id="36869" name="Object 5">
            <a:extLst>
              <a:ext uri="{FF2B5EF4-FFF2-40B4-BE49-F238E27FC236}">
                <a16:creationId xmlns:a16="http://schemas.microsoft.com/office/drawing/2014/main" id="{78D1D902-1C9A-FD70-E5B1-247F95A2B661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705988977"/>
              </p:ext>
            </p:extLst>
          </p:nvPr>
        </p:nvGraphicFramePr>
        <p:xfrm>
          <a:off x="2555776" y="3455193"/>
          <a:ext cx="27432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01900" imgH="647700" progId="Equation.3">
                  <p:embed/>
                </p:oleObj>
              </mc:Choice>
              <mc:Fallback>
                <p:oleObj name="Equation" r:id="rId3" imgW="2501900" imgH="647700" progId="Equation.3">
                  <p:embed/>
                  <p:pic>
                    <p:nvPicPr>
                      <p:cNvPr id="36869" name="Object 5">
                        <a:extLst>
                          <a:ext uri="{FF2B5EF4-FFF2-40B4-BE49-F238E27FC236}">
                            <a16:creationId xmlns:a16="http://schemas.microsoft.com/office/drawing/2014/main" id="{78D1D902-1C9A-FD70-E5B1-247F95A2B6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455193"/>
                        <a:ext cx="27432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7">
            <a:extLst>
              <a:ext uri="{FF2B5EF4-FFF2-40B4-BE49-F238E27FC236}">
                <a16:creationId xmlns:a16="http://schemas.microsoft.com/office/drawing/2014/main" id="{F438EA2A-1E14-24B2-1E90-60AD310F5DCB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225003420"/>
              </p:ext>
            </p:extLst>
          </p:nvPr>
        </p:nvGraphicFramePr>
        <p:xfrm>
          <a:off x="3024187" y="5059759"/>
          <a:ext cx="28956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76500" imgH="381000" progId="Equation.3">
                  <p:embed/>
                </p:oleObj>
              </mc:Choice>
              <mc:Fallback>
                <p:oleObj name="Equation" r:id="rId5" imgW="2476500" imgH="381000" progId="Equation.3">
                  <p:embed/>
                  <p:pic>
                    <p:nvPicPr>
                      <p:cNvPr id="36870" name="Object 7">
                        <a:extLst>
                          <a:ext uri="{FF2B5EF4-FFF2-40B4-BE49-F238E27FC236}">
                            <a16:creationId xmlns:a16="http://schemas.microsoft.com/office/drawing/2014/main" id="{F438EA2A-1E14-24B2-1E90-60AD310F5D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7" y="5059759"/>
                        <a:ext cx="28956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E289858-3B89-4971-ABEE-AF7CF5EEB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1371600"/>
          </a:xfrm>
        </p:spPr>
        <p:txBody>
          <a:bodyPr/>
          <a:lstStyle/>
          <a:p>
            <a:r>
              <a:rPr lang="en-GB" altLang="en-US" sz="3500" dirty="0"/>
              <a:t>Does patient have cancer or not?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84ED1D0-5CD8-444C-A831-5620E365CE5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2281239"/>
            <a:ext cx="8077200" cy="2747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200" dirty="0"/>
              <a:t>A patient takes a lab test and the result comes back positive. It is known that the test returns a correct positive result in only 99% of the cases and a correct negative result in only 95% of the cases. Furthermore, only 0.03 of the entire population has this disease.</a:t>
            </a:r>
          </a:p>
          <a:p>
            <a:pPr marL="742950" lvl="1" indent="-28575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GB" altLang="en-US" sz="2000" dirty="0"/>
          </a:p>
          <a:p>
            <a:pPr marL="742950" lvl="1" indent="-28575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2000" dirty="0"/>
              <a:t>1. What is the probability that this patient has cancer?</a:t>
            </a:r>
          </a:p>
          <a:p>
            <a:pPr marL="742950" lvl="1" indent="-28575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2000" dirty="0"/>
              <a:t>2. What is the probability that he does not have cancer?</a:t>
            </a:r>
          </a:p>
          <a:p>
            <a:pPr marL="742950" lvl="1" indent="-28575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2000" dirty="0"/>
              <a:t>3. What is the diagnosis?</a:t>
            </a:r>
          </a:p>
          <a:p>
            <a:pPr>
              <a:lnSpc>
                <a:spcPct val="90000"/>
              </a:lnSpc>
            </a:pPr>
            <a:endParaRPr lang="en-GB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641895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D07AEF-2CD9-FA6E-C1CD-DECC19DBB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698978"/>
            <a:ext cx="6654977" cy="10881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FB107B-B300-CBD2-2BFA-E499FAF75BA5}"/>
              </a:ext>
            </a:extLst>
          </p:cNvPr>
          <p:cNvSpPr/>
          <p:nvPr/>
        </p:nvSpPr>
        <p:spPr>
          <a:xfrm>
            <a:off x="517753" y="2924944"/>
            <a:ext cx="80467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The conditional probability </a:t>
            </a:r>
            <a:r>
              <a:rPr lang="en-US" sz="2400" b="1" dirty="0"/>
              <a:t>P(</a:t>
            </a:r>
            <a:r>
              <a:rPr lang="en-US" sz="2400" b="1" i="1" dirty="0"/>
              <a:t>effect </a:t>
            </a:r>
            <a:r>
              <a:rPr lang="en-US" sz="2400" b="1" dirty="0"/>
              <a:t>| </a:t>
            </a:r>
            <a:r>
              <a:rPr lang="en-US" sz="2400" b="1" i="1" dirty="0"/>
              <a:t>cause</a:t>
            </a:r>
            <a:r>
              <a:rPr lang="en-US" sz="2400" b="1" dirty="0"/>
              <a:t>) </a:t>
            </a:r>
            <a:r>
              <a:rPr lang="en-US" sz="2400" dirty="0"/>
              <a:t>quantifies the relationship in the </a:t>
            </a:r>
            <a:r>
              <a:rPr lang="en-US" sz="2400" b="1" dirty="0"/>
              <a:t>causal </a:t>
            </a:r>
            <a:r>
              <a:rPr lang="en-US" sz="2400" dirty="0"/>
              <a:t>direction, </a:t>
            </a:r>
          </a:p>
          <a:p>
            <a:pPr algn="just"/>
            <a:r>
              <a:rPr lang="en-US" sz="2400" dirty="0"/>
              <a:t>whereas </a:t>
            </a:r>
            <a:r>
              <a:rPr lang="en-US" sz="2400" b="1" dirty="0"/>
              <a:t>P(cause | </a:t>
            </a:r>
            <a:r>
              <a:rPr lang="en-US" sz="2400" b="1" i="1" dirty="0"/>
              <a:t>effect</a:t>
            </a:r>
            <a:r>
              <a:rPr lang="en-US" sz="2400" b="1" dirty="0"/>
              <a:t>) </a:t>
            </a:r>
            <a:r>
              <a:rPr lang="en-US" sz="2400" dirty="0"/>
              <a:t>describes the </a:t>
            </a:r>
            <a:r>
              <a:rPr lang="en-US" sz="2400" b="1" dirty="0"/>
              <a:t>diagnostic </a:t>
            </a:r>
            <a:r>
              <a:rPr lang="en-US" sz="2400" dirty="0"/>
              <a:t>direction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2ED433-62B4-6012-3FEA-AE3FD12F4146}"/>
              </a:ext>
            </a:extLst>
          </p:cNvPr>
          <p:cNvSpPr/>
          <p:nvPr/>
        </p:nvSpPr>
        <p:spPr>
          <a:xfrm>
            <a:off x="517753" y="4770264"/>
            <a:ext cx="80467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In a task such as medical diagnosis, we often have conditional probabilities on causal relationships (that is, the doctor knows P(symptoms | disease)) and  want to derive a diagnosis, P(disease | symptoms).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4C835-E0A7-0A0D-B027-DE9D83CD8436}"/>
              </a:ext>
            </a:extLst>
          </p:cNvPr>
          <p:cNvSpPr txBox="1"/>
          <p:nvPr/>
        </p:nvSpPr>
        <p:spPr>
          <a:xfrm>
            <a:off x="501304" y="291540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Applying Bayes’ rule: </a:t>
            </a:r>
            <a:br>
              <a:rPr lang="en-US" b="1" dirty="0"/>
            </a:br>
            <a:r>
              <a:rPr lang="en-US" b="1" dirty="0"/>
              <a:t>A basic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139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5D41DC-1E59-E255-6B59-F86848D94F16}"/>
              </a:ext>
            </a:extLst>
          </p:cNvPr>
          <p:cNvSpPr txBox="1">
            <a:spLocks/>
          </p:cNvSpPr>
          <p:nvPr/>
        </p:nvSpPr>
        <p:spPr>
          <a:xfrm>
            <a:off x="323528" y="268929"/>
            <a:ext cx="7808976" cy="1088136"/>
          </a:xfrm>
          <a:prstGeom prst="rect">
            <a:avLst/>
          </a:prstGeom>
        </p:spPr>
        <p:txBody>
          <a:bodyPr bIns="91440" anchor="b" anchorCtr="0">
            <a:normAutofit fontScale="90000" lnSpcReduction="2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b="1" dirty="0"/>
              <a:t>Applying Bayes’ rule: </a:t>
            </a:r>
            <a:br>
              <a:rPr lang="en-US" b="1" dirty="0"/>
            </a:br>
            <a:r>
              <a:rPr lang="en-US" b="1" dirty="0"/>
              <a:t>A basic Example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56D087-E6F2-57EF-9470-FA6E85C03B84}"/>
              </a:ext>
            </a:extLst>
          </p:cNvPr>
          <p:cNvSpPr/>
          <p:nvPr/>
        </p:nvSpPr>
        <p:spPr>
          <a:xfrm>
            <a:off x="301577" y="1793313"/>
            <a:ext cx="866291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doctor knows that the disease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meningitis causes the patient to have a stiff neck, say, 70% of the time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The doctor also knows some unconditional facts: the prior probability</a:t>
            </a:r>
          </a:p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 patient has meningitis is 1/50,000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and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prior probability that any patient has a stiff neck is 1%. 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Letting </a:t>
            </a:r>
          </a:p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be the proposition that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patient has a stiff neck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</a:p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be the proposition that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patient has meningitis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we have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7717CC-EFB5-AB3D-3482-C128D6173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00" y="4267412"/>
            <a:ext cx="8352928" cy="152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88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701FBD0-EC1D-4B6C-AC89-857EC1A9A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576" y="39914"/>
            <a:ext cx="7931224" cy="1143000"/>
          </a:xfrm>
        </p:spPr>
        <p:txBody>
          <a:bodyPr/>
          <a:lstStyle/>
          <a:p>
            <a:r>
              <a:rPr lang="en-US" altLang="zh-CN" dirty="0"/>
              <a:t>Bayesian Methods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B2232AF-DAAA-4945-8CCF-7FDB6DEC4A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600" dirty="0"/>
              <a:t>Learning and classification methods based on probability theory.</a:t>
            </a:r>
          </a:p>
          <a:p>
            <a:pPr>
              <a:lnSpc>
                <a:spcPct val="90000"/>
              </a:lnSpc>
            </a:pPr>
            <a:r>
              <a:rPr lang="en-US" altLang="zh-CN" sz="2600" dirty="0"/>
              <a:t>Bayes theorem plays a critical role in probabilistic learning and classification.</a:t>
            </a:r>
          </a:p>
          <a:p>
            <a:pPr>
              <a:lnSpc>
                <a:spcPct val="90000"/>
              </a:lnSpc>
            </a:pPr>
            <a:r>
              <a:rPr lang="en-US" altLang="zh-CN" sz="2600" dirty="0"/>
              <a:t>Uses </a:t>
            </a:r>
            <a:r>
              <a:rPr lang="en-US" altLang="zh-CN" sz="2600" i="1" dirty="0"/>
              <a:t>prior</a:t>
            </a:r>
            <a:r>
              <a:rPr lang="en-US" altLang="zh-CN" sz="2600" dirty="0"/>
              <a:t> probability of each category given no information about an item.</a:t>
            </a:r>
          </a:p>
          <a:p>
            <a:pPr>
              <a:lnSpc>
                <a:spcPct val="90000"/>
              </a:lnSpc>
            </a:pPr>
            <a:r>
              <a:rPr lang="en-US" altLang="zh-CN" sz="2600" dirty="0"/>
              <a:t>Categorization produces a </a:t>
            </a:r>
            <a:r>
              <a:rPr lang="en-US" altLang="zh-CN" sz="2600" i="1" dirty="0"/>
              <a:t>posterior</a:t>
            </a:r>
            <a:r>
              <a:rPr lang="en-US" altLang="zh-CN" sz="2600" dirty="0"/>
              <a:t> probability distribution over the possible categories given a description of an item.</a:t>
            </a:r>
          </a:p>
        </p:txBody>
      </p:sp>
    </p:spTree>
    <p:extLst>
      <p:ext uri="{BB962C8B-B14F-4D97-AF65-F5344CB8AC3E}">
        <p14:creationId xmlns:p14="http://schemas.microsoft.com/office/powerpoint/2010/main" val="189414462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6E79-05E5-1EE2-AC28-C8105FD3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Bayes classifier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562AF-09ED-C3FC-2300-FBF761DEBAA0}"/>
              </a:ext>
            </a:extLst>
          </p:cNvPr>
          <p:cNvSpPr txBox="1"/>
          <p:nvPr/>
        </p:nvSpPr>
        <p:spPr>
          <a:xfrm>
            <a:off x="914400" y="1417638"/>
            <a:ext cx="7315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Naive Bayes classifier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is a probabilistic machine learning model based on 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Bayes' Theorem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that assumes all features are 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independent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given the class label (the "naive" part). It calculates the probability of a data point belonging to each class and picks the class with the highest probability. It’s fast, simple, and works well especially for text classification like spam detection.</a:t>
            </a:r>
            <a:endParaRPr lang="en-US" sz="1800" dirty="0"/>
          </a:p>
        </p:txBody>
      </p:sp>
      <p:pic>
        <p:nvPicPr>
          <p:cNvPr id="7" name="Picture 6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572F38D6-A320-329F-D730-DCCDACDEC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1" y="3177108"/>
            <a:ext cx="7977292" cy="270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12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DFD70-4706-B845-5084-747CBD951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B191-C5FF-2A6C-837D-6CE68BAB1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Naive Bayes classifier</a:t>
            </a:r>
            <a:endParaRPr lang="en-US" dirty="0"/>
          </a:p>
        </p:txBody>
      </p:sp>
      <p:pic>
        <p:nvPicPr>
          <p:cNvPr id="7" name="Picture 6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7D27C435-3014-6975-2236-2EA9AEF8D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556792"/>
            <a:ext cx="7977292" cy="2700164"/>
          </a:xfrm>
          <a:prstGeom prst="rect">
            <a:avLst/>
          </a:prstGeom>
        </p:spPr>
      </p:pic>
      <p:pic>
        <p:nvPicPr>
          <p:cNvPr id="10" name="Picture 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9AC5CEC1-8039-650B-6E46-2FC6910407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409881"/>
            <a:ext cx="6033864" cy="109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44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001F9-2F9B-20F0-9C0C-F918C5D0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2368C-12A0-48EC-7C14-820494B8E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i="0" u="none" strike="noStrike" dirty="0">
                <a:solidFill>
                  <a:srgbClr val="000000"/>
                </a:solidFill>
                <a:effectLst/>
              </a:rPr>
              <a:t>Naive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Bayes classifier (cont’d)</a:t>
            </a:r>
            <a:endParaRPr lang="en-US" dirty="0"/>
          </a:p>
        </p:txBody>
      </p:sp>
      <p:pic>
        <p:nvPicPr>
          <p:cNvPr id="4" name="Picture 3" descr="A white paper with black text&#10;&#10;Description automatically generated">
            <a:extLst>
              <a:ext uri="{FF2B5EF4-FFF2-40B4-BE49-F238E27FC236}">
                <a16:creationId xmlns:a16="http://schemas.microsoft.com/office/drawing/2014/main" id="{21940056-DE88-CE45-7089-482149534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772816"/>
            <a:ext cx="6867880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25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E02EF165-1458-4F6D-BBD3-85BEBD6DC9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Parameter Estimation in Naive Bayes</a:t>
            </a:r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E9863-A387-73F5-1C19-9D0F80C38758}"/>
              </a:ext>
            </a:extLst>
          </p:cNvPr>
          <p:cNvSpPr txBox="1"/>
          <p:nvPr/>
        </p:nvSpPr>
        <p:spPr>
          <a:xfrm>
            <a:off x="914400" y="1484784"/>
            <a:ext cx="7546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Naive Bayes classifier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parameter estimation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means calculating the probabilities required for classification from the training data:</a:t>
            </a:r>
            <a:endParaRPr lang="en-US" sz="2000" dirty="0"/>
          </a:p>
        </p:txBody>
      </p:sp>
      <p:pic>
        <p:nvPicPr>
          <p:cNvPr id="7" name="Picture 6" descr="A math problem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08C44B8B-02EC-A9F6-C289-F77E59B47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476830"/>
            <a:ext cx="7772400" cy="224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056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F15D6-5876-DC32-2443-95D3EC1DA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09CDC34-2612-91FA-39C1-087A6B391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Parameter Estimation in Naive Bayes</a:t>
            </a:r>
            <a:endParaRPr lang="en-US" altLang="zh-CN" dirty="0"/>
          </a:p>
        </p:txBody>
      </p:sp>
      <p:pic>
        <p:nvPicPr>
          <p:cNvPr id="3" name="Picture 2" descr="A math equations and numbers&#10;&#10;Description automatically generated with medium confidence">
            <a:extLst>
              <a:ext uri="{FF2B5EF4-FFF2-40B4-BE49-F238E27FC236}">
                <a16:creationId xmlns:a16="http://schemas.microsoft.com/office/drawing/2014/main" id="{8F8D579A-6390-A7CB-4806-9021F7BA3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772816"/>
            <a:ext cx="7772400" cy="367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9259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A9B51-3C8E-E039-4C3A-85E065F2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934648F-0107-D73C-E6DF-7F93F3BC72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Parameter Estimation in Naive Bayes</a:t>
            </a:r>
            <a:endParaRPr lang="en-US" altLang="zh-CN" dirty="0"/>
          </a:p>
        </p:txBody>
      </p:sp>
      <p:pic>
        <p:nvPicPr>
          <p:cNvPr id="4" name="Picture 3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6F1DDE62-E283-177B-71FE-796151ED0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449006"/>
            <a:ext cx="7772400" cy="1979994"/>
          </a:xfrm>
          <a:prstGeom prst="rect">
            <a:avLst/>
          </a:prstGeom>
        </p:spPr>
      </p:pic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5408D61A-F11F-8F76-2EB7-883207D574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77" y="3449145"/>
            <a:ext cx="76581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3189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8FF5301B-9001-3FF6-83A4-71846EAD1C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Naïve Bayes Classifier: Training Dataset</a:t>
            </a:r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0D0671E6-8788-9A48-E856-9C791FD6A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828800"/>
            <a:ext cx="3411488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Class: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C1:buys_computer = ‘yes’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C2:buys_computer = ‘no’</a:t>
            </a:r>
          </a:p>
          <a:p>
            <a:pPr eaLnBrk="1" hangingPunct="1">
              <a:lnSpc>
                <a:spcPct val="110000"/>
              </a:lnSpc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Data to be classified: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X = (age &lt;=30,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Income = medium,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Student = yes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 err="1">
                <a:latin typeface="Calibri" panose="020F0502020204030204" pitchFamily="34" charset="0"/>
              </a:rPr>
              <a:t>Credit_rating</a:t>
            </a:r>
            <a:r>
              <a:rPr lang="en-US" altLang="en-US" sz="2400" dirty="0">
                <a:latin typeface="Calibri" panose="020F0502020204030204" pitchFamily="34" charset="0"/>
              </a:rPr>
              <a:t> = Fair)</a:t>
            </a:r>
          </a:p>
        </p:txBody>
      </p:sp>
      <p:graphicFrame>
        <p:nvGraphicFramePr>
          <p:cNvPr id="38917" name="Object 5">
            <a:extLst>
              <a:ext uri="{FF2B5EF4-FFF2-40B4-BE49-F238E27FC236}">
                <a16:creationId xmlns:a16="http://schemas.microsoft.com/office/drawing/2014/main" id="{E20AE381-A311-D94B-ECB8-A90ED4971A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2552417"/>
              </p:ext>
            </p:extLst>
          </p:nvPr>
        </p:nvGraphicFramePr>
        <p:xfrm>
          <a:off x="3616742" y="1073944"/>
          <a:ext cx="5356275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24418" imgH="4457621" progId="Excel.Sheet.8">
                  <p:embed/>
                </p:oleObj>
              </mc:Choice>
              <mc:Fallback>
                <p:oleObj name="Worksheet" r:id="rId3" imgW="4324418" imgH="4457621" progId="Excel.Sheet.8">
                  <p:embed/>
                  <p:pic>
                    <p:nvPicPr>
                      <p:cNvPr id="38917" name="Object 5">
                        <a:extLst>
                          <a:ext uri="{FF2B5EF4-FFF2-40B4-BE49-F238E27FC236}">
                            <a16:creationId xmlns:a16="http://schemas.microsoft.com/office/drawing/2014/main" id="{E20AE381-A311-D94B-ECB8-A90ED4971A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742" y="1073944"/>
                        <a:ext cx="5356275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AB77969B-B0B9-D3F2-B152-46C0D5385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0678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Naïve Bayes Classifier: Computer Purchase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554354A9-AB42-4C54-17A2-EC759A08A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52525"/>
            <a:ext cx="8686800" cy="5715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P(C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):    P(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 = 9/14 = 0.643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              P(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5/14= 0.357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Compute P(</a:t>
            </a:r>
            <a:r>
              <a:rPr lang="en-US" altLang="en-US" sz="2000" dirty="0" err="1"/>
              <a:t>X|C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) for each class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P(age = “&lt;=30”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 = 2/9 = 0.222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P(age = “&lt;= 30”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3/5 = 0.6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P(income = “medium”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= 4/9 = 0.444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P(income = “medium”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2/5 = 0.4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P(student = “yes”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“yes) = 6/9 = 0.667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P(student = “yes”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1/5 = 0.2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</a:t>
            </a:r>
            <a:r>
              <a:rPr lang="en-US" altLang="en-US" sz="2000" dirty="0" err="1"/>
              <a:t>credit_rating</a:t>
            </a:r>
            <a:r>
              <a:rPr lang="en-US" altLang="en-US" sz="2000" dirty="0"/>
              <a:t> = “fair”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= 6/9 = 0.667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</a:t>
            </a:r>
            <a:r>
              <a:rPr lang="en-US" altLang="en-US" sz="2000" dirty="0" err="1"/>
              <a:t>credit_rating</a:t>
            </a:r>
            <a:r>
              <a:rPr lang="en-US" altLang="en-US" sz="2000" dirty="0"/>
              <a:t> = “fair”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2/5 = 0.4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 X = (age &lt;= 30 , income = medium, student = yes, </a:t>
            </a:r>
            <a:r>
              <a:rPr lang="en-US" altLang="en-US" sz="2000" b="1" dirty="0" err="1"/>
              <a:t>credit_rating</a:t>
            </a:r>
            <a:r>
              <a:rPr lang="en-US" altLang="en-US" sz="2000" b="1" dirty="0"/>
              <a:t> = fair)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</a:t>
            </a:r>
            <a:r>
              <a:rPr lang="en-US" altLang="en-US" sz="2000" b="1" dirty="0"/>
              <a:t>P(</a:t>
            </a:r>
            <a:r>
              <a:rPr lang="en-US" altLang="en-US" sz="2000" b="1" dirty="0" err="1"/>
              <a:t>X|C</a:t>
            </a:r>
            <a:r>
              <a:rPr lang="en-US" altLang="en-US" sz="2000" b="1" baseline="-25000" dirty="0" err="1"/>
              <a:t>i</a:t>
            </a:r>
            <a:r>
              <a:rPr lang="en-US" altLang="en-US" sz="2000" b="1" dirty="0"/>
              <a:t>) :</a:t>
            </a:r>
            <a:r>
              <a:rPr lang="en-US" altLang="en-US" sz="2000" dirty="0"/>
              <a:t> P(</a:t>
            </a:r>
            <a:r>
              <a:rPr lang="en-US" altLang="en-US" sz="2000" dirty="0" err="1"/>
              <a:t>X|buys_computer</a:t>
            </a:r>
            <a:r>
              <a:rPr lang="en-US" altLang="en-US" sz="2000" dirty="0"/>
              <a:t> = “yes”) = 0.222 x 0.444 x 0.667 x 0.667 = 0.044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           P(</a:t>
            </a:r>
            <a:r>
              <a:rPr lang="en-US" altLang="en-US" sz="2000" dirty="0" err="1"/>
              <a:t>X|buys_computer</a:t>
            </a:r>
            <a:r>
              <a:rPr lang="en-US" altLang="en-US" sz="2000" dirty="0"/>
              <a:t> = “no”) = 0.6 x 0.4 x 0.2 x 0.4 = 0.019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 dirty="0"/>
              <a:t>P(</a:t>
            </a:r>
            <a:r>
              <a:rPr lang="en-US" altLang="en-US" sz="2000" b="1" dirty="0" err="1"/>
              <a:t>X|C</a:t>
            </a:r>
            <a:r>
              <a:rPr lang="en-US" altLang="en-US" sz="2000" b="1" baseline="-25000" dirty="0" err="1"/>
              <a:t>i</a:t>
            </a:r>
            <a:r>
              <a:rPr lang="en-US" altLang="en-US" sz="2000" b="1" dirty="0"/>
              <a:t>)*P(C</a:t>
            </a:r>
            <a:r>
              <a:rPr lang="en-US" altLang="en-US" sz="2000" b="1" baseline="-25000" dirty="0"/>
              <a:t>i</a:t>
            </a:r>
            <a:r>
              <a:rPr lang="en-US" altLang="en-US" sz="2000" b="1" dirty="0"/>
              <a:t>) : </a:t>
            </a:r>
            <a:r>
              <a:rPr lang="en-US" altLang="en-US" sz="2000" dirty="0"/>
              <a:t>P(</a:t>
            </a:r>
            <a:r>
              <a:rPr lang="en-US" altLang="en-US" sz="2000" dirty="0" err="1"/>
              <a:t>X|buys_computer</a:t>
            </a:r>
            <a:r>
              <a:rPr lang="en-US" altLang="en-US" sz="2000" dirty="0"/>
              <a:t> = “yes”) * P(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= 0.028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 dirty="0"/>
              <a:t>		             </a:t>
            </a:r>
            <a:r>
              <a:rPr lang="en-US" altLang="en-US" sz="2000" dirty="0"/>
              <a:t>P(</a:t>
            </a:r>
            <a:r>
              <a:rPr lang="en-US" altLang="en-US" sz="2000" dirty="0" err="1"/>
              <a:t>X|buys_computer</a:t>
            </a:r>
            <a:r>
              <a:rPr lang="en-US" altLang="en-US" sz="2000" dirty="0"/>
              <a:t> = “no”) * P(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0.007</a:t>
            </a:r>
            <a:endParaRPr lang="en-US" altLang="en-US" sz="2000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 dirty="0"/>
              <a:t>Therefore,  X belongs to class (“</a:t>
            </a:r>
            <a:r>
              <a:rPr lang="en-US" altLang="en-US" sz="2000" b="1" dirty="0" err="1"/>
              <a:t>buys_computer</a:t>
            </a:r>
            <a:r>
              <a:rPr lang="en-US" altLang="en-US" sz="2000" b="1" dirty="0"/>
              <a:t> = yes”)	</a:t>
            </a:r>
            <a:r>
              <a:rPr lang="en-US" altLang="en-US" sz="1800" b="1" dirty="0"/>
              <a:t>	</a:t>
            </a:r>
          </a:p>
        </p:txBody>
      </p:sp>
      <p:graphicFrame>
        <p:nvGraphicFramePr>
          <p:cNvPr id="39941" name="Object 1">
            <a:extLst>
              <a:ext uri="{FF2B5EF4-FFF2-40B4-BE49-F238E27FC236}">
                <a16:creationId xmlns:a16="http://schemas.microsoft.com/office/drawing/2014/main" id="{8C28D2AC-128C-C40C-C55F-A3883753FD7F}"/>
              </a:ext>
            </a:extLst>
          </p:cNvPr>
          <p:cNvGraphicFramePr>
            <a:graphicFrameLocks/>
          </p:cNvGraphicFramePr>
          <p:nvPr/>
        </p:nvGraphicFramePr>
        <p:xfrm>
          <a:off x="7062788" y="762000"/>
          <a:ext cx="2062162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24438" imgH="4457652" progId="Excel.Sheet.8">
                  <p:embed/>
                </p:oleObj>
              </mc:Choice>
              <mc:Fallback>
                <p:oleObj name="Worksheet" r:id="rId3" imgW="4324438" imgH="4457652" progId="Excel.Sheet.8">
                  <p:embed/>
                  <p:pic>
                    <p:nvPicPr>
                      <p:cNvPr id="39941" name="Object 1">
                        <a:extLst>
                          <a:ext uri="{FF2B5EF4-FFF2-40B4-BE49-F238E27FC236}">
                            <a16:creationId xmlns:a16="http://schemas.microsoft.com/office/drawing/2014/main" id="{8C28D2AC-128C-C40C-C55F-A3883753FD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788" y="762000"/>
                        <a:ext cx="2062162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1">
            <a:extLst>
              <a:ext uri="{FF2B5EF4-FFF2-40B4-BE49-F238E27FC236}">
                <a16:creationId xmlns:a16="http://schemas.microsoft.com/office/drawing/2014/main" id="{D9BFD15B-C89C-4CE5-81FB-74E98AF5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discriminant Function</a:t>
            </a:r>
          </a:p>
        </p:txBody>
      </p:sp>
      <p:sp>
        <p:nvSpPr>
          <p:cNvPr id="1029" name="Content Placeholder 2">
            <a:extLst>
              <a:ext uri="{FF2B5EF4-FFF2-40B4-BE49-F238E27FC236}">
                <a16:creationId xmlns:a16="http://schemas.microsoft.com/office/drawing/2014/main" id="{169C0446-D243-47F7-9519-640972CC2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For classification problem, for each class, define a function                    such that we choose Ci if   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223D3AEE-413C-4306-A552-77AE094D2A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923923"/>
              </p:ext>
            </p:extLst>
          </p:nvPr>
        </p:nvGraphicFramePr>
        <p:xfrm>
          <a:off x="2539206" y="2842480"/>
          <a:ext cx="1566862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960" imgH="228600" progId="Equation.DSMT4">
                  <p:embed/>
                </p:oleObj>
              </mc:Choice>
              <mc:Fallback>
                <p:oleObj name="Equation" r:id="rId3" imgW="1002960" imgH="228600" progId="Equation.DSMT4">
                  <p:embed/>
                  <p:pic>
                    <p:nvPicPr>
                      <p:cNvPr id="1026" name="Object 2">
                        <a:extLst>
                          <a:ext uri="{FF2B5EF4-FFF2-40B4-BE49-F238E27FC236}">
                            <a16:creationId xmlns:a16="http://schemas.microsoft.com/office/drawing/2014/main" id="{223D3AEE-413C-4306-A552-77AE094D2A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9206" y="2842480"/>
                        <a:ext cx="1566862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>
            <a:extLst>
              <a:ext uri="{FF2B5EF4-FFF2-40B4-BE49-F238E27FC236}">
                <a16:creationId xmlns:a16="http://schemas.microsoft.com/office/drawing/2014/main" id="{10DCD3B3-7912-4C22-8EFC-CE01CD923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986302"/>
              </p:ext>
            </p:extLst>
          </p:nvPr>
        </p:nvGraphicFramePr>
        <p:xfrm>
          <a:off x="2073275" y="3624263"/>
          <a:ext cx="249872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279360" progId="Equation.DSMT4">
                  <p:embed/>
                </p:oleObj>
              </mc:Choice>
              <mc:Fallback>
                <p:oleObj name="Equation" r:id="rId5" imgW="1143000" imgH="279360" progId="Equation.DSMT4">
                  <p:embed/>
                  <p:pic>
                    <p:nvPicPr>
                      <p:cNvPr id="1027" name="Object 3">
                        <a:extLst>
                          <a:ext uri="{FF2B5EF4-FFF2-40B4-BE49-F238E27FC236}">
                            <a16:creationId xmlns:a16="http://schemas.microsoft.com/office/drawing/2014/main" id="{10DCD3B3-7912-4C22-8EFC-CE01CD9235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3624263"/>
                        <a:ext cx="2498725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5FA81-4BF3-47A0-B5B3-BBF35E50E2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tr-TR" dirty="0"/>
          </a:p>
        </p:txBody>
      </p:sp>
      <p:sp>
        <p:nvSpPr>
          <p:cNvPr id="3078" name="Rectangle 2">
            <a:extLst>
              <a:ext uri="{FF2B5EF4-FFF2-40B4-BE49-F238E27FC236}">
                <a16:creationId xmlns:a16="http://schemas.microsoft.com/office/drawing/2014/main" id="{EFB15F21-6FD9-4949-9D9F-3C14D57C8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2256" y="120650"/>
            <a:ext cx="8229600" cy="1371600"/>
          </a:xfrm>
        </p:spPr>
        <p:txBody>
          <a:bodyPr/>
          <a:lstStyle/>
          <a:p>
            <a:pPr eaLnBrk="1" hangingPunct="1"/>
            <a:r>
              <a:rPr lang="tr-TR" altLang="en-US" dirty="0"/>
              <a:t>K=2 Classes</a:t>
            </a:r>
            <a:endParaRPr lang="en-GB" altLang="en-US" dirty="0"/>
          </a:p>
        </p:txBody>
      </p:sp>
      <p:sp>
        <p:nvSpPr>
          <p:cNvPr id="3079" name="Rectangle 3">
            <a:extLst>
              <a:ext uri="{FF2B5EF4-FFF2-40B4-BE49-F238E27FC236}">
                <a16:creationId xmlns:a16="http://schemas.microsoft.com/office/drawing/2014/main" id="{FFD5F504-C1DD-4746-A889-EA3CD9FB95D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7859713" cy="3968750"/>
          </a:xfrm>
        </p:spPr>
        <p:txBody>
          <a:bodyPr/>
          <a:lstStyle/>
          <a:p>
            <a:pPr eaLnBrk="1" hangingPunct="1"/>
            <a:r>
              <a:rPr lang="tr-TR" altLang="en-US"/>
              <a:t>Dichotomizer (</a:t>
            </a:r>
            <a:r>
              <a:rPr lang="tr-TR" altLang="en-US" i="1"/>
              <a:t>K</a:t>
            </a:r>
            <a:r>
              <a:rPr lang="tr-TR" altLang="en-US"/>
              <a:t>=2) vs Polychotomizer (</a:t>
            </a:r>
            <a:r>
              <a:rPr lang="tr-TR" altLang="en-US" i="1"/>
              <a:t>K</a:t>
            </a:r>
            <a:r>
              <a:rPr lang="tr-TR" altLang="en-US"/>
              <a:t>&gt;2)</a:t>
            </a:r>
          </a:p>
          <a:p>
            <a:pPr eaLnBrk="1" hangingPunct="1"/>
            <a:r>
              <a:rPr lang="tr-TR" altLang="en-US" i="1"/>
              <a:t>g</a:t>
            </a:r>
            <a:r>
              <a:rPr lang="tr-TR" altLang="en-US"/>
              <a:t>(</a:t>
            </a:r>
            <a:r>
              <a:rPr lang="tr-TR" altLang="en-US" b="1" i="1"/>
              <a:t>x</a:t>
            </a:r>
            <a:r>
              <a:rPr lang="tr-TR" altLang="en-US"/>
              <a:t>) = </a:t>
            </a:r>
            <a:r>
              <a:rPr lang="tr-TR" altLang="en-US" i="1"/>
              <a:t>g</a:t>
            </a:r>
            <a:r>
              <a:rPr lang="tr-TR" altLang="en-US" baseline="-25000"/>
              <a:t>1</a:t>
            </a:r>
            <a:r>
              <a:rPr lang="tr-TR" altLang="en-US"/>
              <a:t>(</a:t>
            </a:r>
            <a:r>
              <a:rPr lang="tr-TR" altLang="en-US" b="1" i="1"/>
              <a:t>x</a:t>
            </a:r>
            <a:r>
              <a:rPr lang="tr-TR" altLang="en-US"/>
              <a:t>) – </a:t>
            </a:r>
            <a:r>
              <a:rPr lang="tr-TR" altLang="en-US" i="1"/>
              <a:t>g</a:t>
            </a:r>
            <a:r>
              <a:rPr lang="tr-TR" altLang="en-US" baseline="-25000"/>
              <a:t>2</a:t>
            </a:r>
            <a:r>
              <a:rPr lang="tr-TR" altLang="en-US"/>
              <a:t>(</a:t>
            </a:r>
            <a:r>
              <a:rPr lang="tr-TR" altLang="en-US" b="1" i="1"/>
              <a:t>x</a:t>
            </a:r>
            <a:r>
              <a:rPr lang="tr-TR" altLang="en-US"/>
              <a:t>)</a:t>
            </a:r>
          </a:p>
          <a:p>
            <a:pPr eaLnBrk="1" hangingPunct="1"/>
            <a:endParaRPr lang="tr-TR" altLang="en-US"/>
          </a:p>
          <a:p>
            <a:pPr eaLnBrk="1" hangingPunct="1"/>
            <a:endParaRPr lang="tr-TR" altLang="en-US"/>
          </a:p>
          <a:p>
            <a:pPr eaLnBrk="1" hangingPunct="1"/>
            <a:endParaRPr lang="tr-TR" altLang="en-US"/>
          </a:p>
          <a:p>
            <a:pPr eaLnBrk="1" hangingPunct="1"/>
            <a:r>
              <a:rPr lang="tr-TR" altLang="en-US" i="1"/>
              <a:t>Log odds:</a:t>
            </a:r>
            <a:r>
              <a:rPr lang="tr-TR" altLang="en-US"/>
              <a:t> </a:t>
            </a:r>
            <a:endParaRPr lang="en-GB" altLang="en-US"/>
          </a:p>
        </p:txBody>
      </p:sp>
      <p:graphicFrame>
        <p:nvGraphicFramePr>
          <p:cNvPr id="3074" name="Object 11">
            <a:extLst>
              <a:ext uri="{FF2B5EF4-FFF2-40B4-BE49-F238E27FC236}">
                <a16:creationId xmlns:a16="http://schemas.microsoft.com/office/drawing/2014/main" id="{2DB1C30E-43E5-4CE2-A9DD-D7492E6A2568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95513" y="3054350"/>
          <a:ext cx="3313112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24080" imgH="863280" progId="Equation.3">
                  <p:embed/>
                </p:oleObj>
              </mc:Choice>
              <mc:Fallback>
                <p:oleObj name="Equation" r:id="rId3" imgW="3124080" imgH="863280" progId="Equation.3">
                  <p:embed/>
                  <p:pic>
                    <p:nvPicPr>
                      <p:cNvPr id="3074" name="Object 11">
                        <a:extLst>
                          <a:ext uri="{FF2B5EF4-FFF2-40B4-BE49-F238E27FC236}">
                            <a16:creationId xmlns:a16="http://schemas.microsoft.com/office/drawing/2014/main" id="{2DB1C30E-43E5-4CE2-A9DD-D7492E6A25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054350"/>
                        <a:ext cx="3313112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13">
            <a:extLst>
              <a:ext uri="{FF2B5EF4-FFF2-40B4-BE49-F238E27FC236}">
                <a16:creationId xmlns:a16="http://schemas.microsoft.com/office/drawing/2014/main" id="{1EA56873-8830-4D17-9AD6-F24B7BCD514D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11413" y="4581525"/>
          <a:ext cx="165576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760" imgH="799920" progId="Equation.3">
                  <p:embed/>
                </p:oleObj>
              </mc:Choice>
              <mc:Fallback>
                <p:oleObj name="Equation" r:id="rId5" imgW="1688760" imgH="799920" progId="Equation.3">
                  <p:embed/>
                  <p:pic>
                    <p:nvPicPr>
                      <p:cNvPr id="3075" name="Object 13">
                        <a:extLst>
                          <a:ext uri="{FF2B5EF4-FFF2-40B4-BE49-F238E27FC236}">
                            <a16:creationId xmlns:a16="http://schemas.microsoft.com/office/drawing/2014/main" id="{1EA56873-8830-4D17-9AD6-F24B7BCD51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581525"/>
                        <a:ext cx="1655762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94A818B0-913E-408A-B6BA-7731F03BDC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tr-TR" dirty="0"/>
          </a:p>
        </p:txBody>
      </p:sp>
      <p:pic>
        <p:nvPicPr>
          <p:cNvPr id="2056" name="Picture 12">
            <a:extLst>
              <a:ext uri="{FF2B5EF4-FFF2-40B4-BE49-F238E27FC236}">
                <a16:creationId xmlns:a16="http://schemas.microsoft.com/office/drawing/2014/main" id="{328EBEE8-54E2-4CAE-BF62-DD4BEF5B1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1989138"/>
            <a:ext cx="4500562" cy="408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7" name="Rectangle 2">
            <a:extLst>
              <a:ext uri="{FF2B5EF4-FFF2-40B4-BE49-F238E27FC236}">
                <a16:creationId xmlns:a16="http://schemas.microsoft.com/office/drawing/2014/main" id="{B015E105-E3CF-46D8-B2FE-6D5165EFA1E1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146304" y="70531"/>
            <a:ext cx="8229600" cy="1371600"/>
          </a:xfrm>
        </p:spPr>
        <p:txBody>
          <a:bodyPr/>
          <a:lstStyle/>
          <a:p>
            <a:pPr eaLnBrk="1" hangingPunct="1"/>
            <a:r>
              <a:rPr lang="tr-TR" altLang="en-US" dirty="0"/>
              <a:t>Discriminant Functions</a:t>
            </a:r>
          </a:p>
        </p:txBody>
      </p:sp>
      <p:graphicFrame>
        <p:nvGraphicFramePr>
          <p:cNvPr id="2050" name="Object 25">
            <a:extLst>
              <a:ext uri="{FF2B5EF4-FFF2-40B4-BE49-F238E27FC236}">
                <a16:creationId xmlns:a16="http://schemas.microsoft.com/office/drawing/2014/main" id="{B82A7359-3705-40BE-A66C-1CD2E8DFF95B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6732588" y="1628775"/>
          <a:ext cx="2087562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840" imgH="215640" progId="Equation.3">
                  <p:embed/>
                </p:oleObj>
              </mc:Choice>
              <mc:Fallback>
                <p:oleObj name="Equation" r:id="rId4" imgW="1104840" imgH="215640" progId="Equation.3">
                  <p:embed/>
                  <p:pic>
                    <p:nvPicPr>
                      <p:cNvPr id="2050" name="Object 25">
                        <a:extLst>
                          <a:ext uri="{FF2B5EF4-FFF2-40B4-BE49-F238E27FC236}">
                            <a16:creationId xmlns:a16="http://schemas.microsoft.com/office/drawing/2014/main" id="{B82A7359-3705-40BE-A66C-1CD2E8DFF9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1628775"/>
                        <a:ext cx="2087562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27">
            <a:extLst>
              <a:ext uri="{FF2B5EF4-FFF2-40B4-BE49-F238E27FC236}">
                <a16:creationId xmlns:a16="http://schemas.microsoft.com/office/drawing/2014/main" id="{FFFD0718-3217-49CD-B8A3-6C4C092B12B7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68313" y="1628775"/>
          <a:ext cx="446405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8920" imgH="215640" progId="Equation.3">
                  <p:embed/>
                </p:oleObj>
              </mc:Choice>
              <mc:Fallback>
                <p:oleObj name="Equation" r:id="rId6" imgW="2158920" imgH="215640" progId="Equation.3">
                  <p:embed/>
                  <p:pic>
                    <p:nvPicPr>
                      <p:cNvPr id="2051" name="Object 27">
                        <a:extLst>
                          <a:ext uri="{FF2B5EF4-FFF2-40B4-BE49-F238E27FC236}">
                            <a16:creationId xmlns:a16="http://schemas.microsoft.com/office/drawing/2014/main" id="{FFFD0718-3217-49CD-B8A3-6C4C092B12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628775"/>
                        <a:ext cx="446405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30">
            <a:extLst>
              <a:ext uri="{FF2B5EF4-FFF2-40B4-BE49-F238E27FC236}">
                <a16:creationId xmlns:a16="http://schemas.microsoft.com/office/drawing/2014/main" id="{EA423616-ED34-4AB4-ADE0-15CA8798DB7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539750" y="5229225"/>
          <a:ext cx="38163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92160" imgH="215640" progId="Equation.3">
                  <p:embed/>
                </p:oleObj>
              </mc:Choice>
              <mc:Fallback>
                <p:oleObj name="Equation" r:id="rId8" imgW="1892160" imgH="215640" progId="Equation.3">
                  <p:embed/>
                  <p:pic>
                    <p:nvPicPr>
                      <p:cNvPr id="2052" name="Object 30">
                        <a:extLst>
                          <a:ext uri="{FF2B5EF4-FFF2-40B4-BE49-F238E27FC236}">
                            <a16:creationId xmlns:a16="http://schemas.microsoft.com/office/drawing/2014/main" id="{EA423616-ED34-4AB4-ADE0-15CA8798DB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229225"/>
                        <a:ext cx="3816350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Line 13">
            <a:extLst>
              <a:ext uri="{FF2B5EF4-FFF2-40B4-BE49-F238E27FC236}">
                <a16:creationId xmlns:a16="http://schemas.microsoft.com/office/drawing/2014/main" id="{C4F1AD49-3E5C-4CF8-9F97-0124651D37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96188" y="2060575"/>
            <a:ext cx="288925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9" name="Line 14">
            <a:extLst>
              <a:ext uri="{FF2B5EF4-FFF2-40B4-BE49-F238E27FC236}">
                <a16:creationId xmlns:a16="http://schemas.microsoft.com/office/drawing/2014/main" id="{8F67C45B-F9F0-499E-9A47-D1A8C3C4C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6550" y="2060575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0" name="Text Box 29">
            <a:extLst>
              <a:ext uri="{FF2B5EF4-FFF2-40B4-BE49-F238E27FC236}">
                <a16:creationId xmlns:a16="http://schemas.microsoft.com/office/drawing/2014/main" id="{DFD08335-2836-49AC-9C4C-AB0316044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437063"/>
            <a:ext cx="411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eaLnBrk="1" hangingPunct="1"/>
            <a:r>
              <a:rPr lang="tr-TR" altLang="en-US" sz="2400" i="1">
                <a:latin typeface="Lucida Bright" panose="02040602050505020304" pitchFamily="18" charset="0"/>
              </a:rPr>
              <a:t>K</a:t>
            </a:r>
            <a:r>
              <a:rPr lang="tr-TR" altLang="en-US" sz="2400">
                <a:latin typeface="Lucida Bright" panose="02040602050505020304" pitchFamily="18" charset="0"/>
              </a:rPr>
              <a:t> </a:t>
            </a:r>
            <a:r>
              <a:rPr lang="tr-TR" altLang="en-US" sz="2400" i="1">
                <a:latin typeface="Lucida Bright" panose="02040602050505020304" pitchFamily="18" charset="0"/>
              </a:rPr>
              <a:t>decision regions</a:t>
            </a:r>
            <a:r>
              <a:rPr lang="tr-TR" altLang="en-US" sz="2400">
                <a:latin typeface="Lucida Bright" panose="02040602050505020304" pitchFamily="18" charset="0"/>
              </a:rPr>
              <a:t> </a:t>
            </a:r>
            <a:r>
              <a:rPr lang="tr-TR" altLang="en-US" sz="2400">
                <a:latin typeface="Lucida Calligraphy" panose="03010101010101010101" pitchFamily="66" charset="0"/>
              </a:rPr>
              <a:t>R</a:t>
            </a:r>
            <a:r>
              <a:rPr lang="tr-TR" altLang="en-US" sz="2400" baseline="-25000">
                <a:latin typeface="Lucida Bright" panose="02040602050505020304" pitchFamily="18" charset="0"/>
              </a:rPr>
              <a:t>1</a:t>
            </a:r>
            <a:r>
              <a:rPr lang="tr-TR" altLang="en-US" sz="2400">
                <a:latin typeface="Lucida Bright" panose="02040602050505020304" pitchFamily="18" charset="0"/>
              </a:rPr>
              <a:t>,...,</a:t>
            </a:r>
            <a:r>
              <a:rPr lang="tr-TR" altLang="en-US" sz="2400">
                <a:latin typeface="Lucida Calligraphy" panose="03010101010101010101" pitchFamily="66" charset="0"/>
              </a:rPr>
              <a:t>R</a:t>
            </a:r>
            <a:r>
              <a:rPr lang="tr-TR" altLang="en-US" sz="2400" i="1" baseline="-25000">
                <a:latin typeface="Lucida Bright" panose="02040602050505020304" pitchFamily="18" charset="0"/>
              </a:rPr>
              <a:t>K</a:t>
            </a:r>
          </a:p>
        </p:txBody>
      </p:sp>
      <p:graphicFrame>
        <p:nvGraphicFramePr>
          <p:cNvPr id="2053" name="Object 32">
            <a:extLst>
              <a:ext uri="{FF2B5EF4-FFF2-40B4-BE49-F238E27FC236}">
                <a16:creationId xmlns:a16="http://schemas.microsoft.com/office/drawing/2014/main" id="{A4FD8F9D-8E3D-40A3-9F50-524D844D029E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827584" y="2451555"/>
          <a:ext cx="3024187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98320" imgH="711000" progId="Equation.3">
                  <p:embed/>
                </p:oleObj>
              </mc:Choice>
              <mc:Fallback>
                <p:oleObj name="Equation" r:id="rId10" imgW="1498320" imgH="711000" progId="Equation.3">
                  <p:embed/>
                  <p:pic>
                    <p:nvPicPr>
                      <p:cNvPr id="2053" name="Object 32">
                        <a:extLst>
                          <a:ext uri="{FF2B5EF4-FFF2-40B4-BE49-F238E27FC236}">
                            <a16:creationId xmlns:a16="http://schemas.microsoft.com/office/drawing/2014/main" id="{A4FD8F9D-8E3D-40A3-9F50-524D844D0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451555"/>
                        <a:ext cx="3024187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554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1438178-FDB5-4E51-BA0E-FF728E923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Properties 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C14FBD42-8339-49DD-8932-749590C72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Estimating                instead of                           greatly reduces the number of parameters (and the data sparseness).</a:t>
            </a:r>
          </a:p>
          <a:p>
            <a:r>
              <a:rPr lang="en-US" altLang="en-US" sz="2600" dirty="0"/>
              <a:t>The learning step in Naïve Bayes consists of estimating             and                 based on the frequencies in the training data</a:t>
            </a:r>
          </a:p>
          <a:p>
            <a:r>
              <a:rPr lang="en-US" altLang="en-US" sz="2600" dirty="0"/>
              <a:t>An unseen instance is classified by computing the class that maximizes the posterior</a:t>
            </a:r>
          </a:p>
          <a:p>
            <a:r>
              <a:rPr lang="en-US" altLang="en-US" sz="2600" dirty="0"/>
              <a:t>When conditioned independence is satisfied, Naïve Bayes corresponds to MAP classification.</a:t>
            </a:r>
          </a:p>
        </p:txBody>
      </p:sp>
      <p:graphicFrame>
        <p:nvGraphicFramePr>
          <p:cNvPr id="56324" name="Object 4">
            <a:extLst>
              <a:ext uri="{FF2B5EF4-FFF2-40B4-BE49-F238E27FC236}">
                <a16:creationId xmlns:a16="http://schemas.microsoft.com/office/drawing/2014/main" id="{46157C7F-6D89-4FE8-AC2B-D089A71EA730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627784" y="1477084"/>
          <a:ext cx="10668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241200" progId="Equation.3">
                  <p:embed/>
                </p:oleObj>
              </mc:Choice>
              <mc:Fallback>
                <p:oleObj name="Equation" r:id="rId3" imgW="609480" imgH="241200" progId="Equation.3">
                  <p:embed/>
                  <p:pic>
                    <p:nvPicPr>
                      <p:cNvPr id="56324" name="Object 4">
                        <a:extLst>
                          <a:ext uri="{FF2B5EF4-FFF2-40B4-BE49-F238E27FC236}">
                            <a16:creationId xmlns:a16="http://schemas.microsoft.com/office/drawing/2014/main" id="{46157C7F-6D89-4FE8-AC2B-D089A71EA7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1477084"/>
                        <a:ext cx="106680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6">
            <a:extLst>
              <a:ext uri="{FF2B5EF4-FFF2-40B4-BE49-F238E27FC236}">
                <a16:creationId xmlns:a16="http://schemas.microsoft.com/office/drawing/2014/main" id="{4E97E89E-5821-4A17-A1E4-551CED732664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975334" y="1460500"/>
          <a:ext cx="170616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18960" imgH="241200" progId="Equation.3">
                  <p:embed/>
                </p:oleObj>
              </mc:Choice>
              <mc:Fallback>
                <p:oleObj name="Equation" r:id="rId5" imgW="1218960" imgH="241200" progId="Equation.3">
                  <p:embed/>
                  <p:pic>
                    <p:nvPicPr>
                      <p:cNvPr id="56326" name="Object 6">
                        <a:extLst>
                          <a:ext uri="{FF2B5EF4-FFF2-40B4-BE49-F238E27FC236}">
                            <a16:creationId xmlns:a16="http://schemas.microsoft.com/office/drawing/2014/main" id="{4E97E89E-5821-4A17-A1E4-551CED7326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5334" y="1460500"/>
                        <a:ext cx="170616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8">
            <a:extLst>
              <a:ext uri="{FF2B5EF4-FFF2-40B4-BE49-F238E27FC236}">
                <a16:creationId xmlns:a16="http://schemas.microsoft.com/office/drawing/2014/main" id="{A7A24782-0E17-42CD-8BCB-4BDAB8CCE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4650" y="3640199"/>
          <a:ext cx="7747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93480" imgH="241200" progId="Equation.3">
                  <p:embed/>
                </p:oleObj>
              </mc:Choice>
              <mc:Fallback>
                <p:oleObj name="Equation" r:id="rId7" imgW="393480" imgH="241200" progId="Equation.3">
                  <p:embed/>
                  <p:pic>
                    <p:nvPicPr>
                      <p:cNvPr id="56328" name="Object 8">
                        <a:extLst>
                          <a:ext uri="{FF2B5EF4-FFF2-40B4-BE49-F238E27FC236}">
                            <a16:creationId xmlns:a16="http://schemas.microsoft.com/office/drawing/2014/main" id="{A7A24782-0E17-42CD-8BCB-4BDAB8CCE3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4650" y="3640199"/>
                        <a:ext cx="7747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9" name="Object 9">
            <a:extLst>
              <a:ext uri="{FF2B5EF4-FFF2-40B4-BE49-F238E27FC236}">
                <a16:creationId xmlns:a16="http://schemas.microsoft.com/office/drawing/2014/main" id="{A7C0021F-BB77-45A5-9BD6-535ABDEAF974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835696" y="2773193"/>
          <a:ext cx="10668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09480" imgH="241200" progId="Equation.3">
                  <p:embed/>
                </p:oleObj>
              </mc:Choice>
              <mc:Fallback>
                <p:oleObj name="Equation" r:id="rId9" imgW="609480" imgH="241200" progId="Equation.3">
                  <p:embed/>
                  <p:pic>
                    <p:nvPicPr>
                      <p:cNvPr id="56329" name="Object 9">
                        <a:extLst>
                          <a:ext uri="{FF2B5EF4-FFF2-40B4-BE49-F238E27FC236}">
                            <a16:creationId xmlns:a16="http://schemas.microsoft.com/office/drawing/2014/main" id="{A7C0021F-BB77-45A5-9BD6-535ABDEAF9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773193"/>
                        <a:ext cx="106680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1271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51C4FFF-466A-4A4E-9710-2BBDC47F2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Maximum A Posterior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151CC9F-43EF-4D97-AEDF-9EDD75A49C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633538"/>
          </a:xfrm>
        </p:spPr>
        <p:txBody>
          <a:bodyPr>
            <a:normAutofit lnSpcReduction="10000"/>
          </a:bodyPr>
          <a:lstStyle/>
          <a:p>
            <a:r>
              <a:rPr lang="en-US" altLang="zh-CN" sz="2600"/>
              <a:t>Based on Bayes Theorem, we can compute the </a:t>
            </a:r>
            <a:r>
              <a:rPr lang="en-US" altLang="zh-CN" sz="2600" i="1">
                <a:solidFill>
                  <a:srgbClr val="FF0000"/>
                </a:solidFill>
              </a:rPr>
              <a:t>Maximum A Posterior</a:t>
            </a:r>
            <a:r>
              <a:rPr lang="en-US" altLang="zh-CN" sz="2600"/>
              <a:t> (MAP) hypothesis for the data</a:t>
            </a:r>
          </a:p>
          <a:p>
            <a:r>
              <a:rPr lang="en-US" altLang="zh-CN" sz="2600"/>
              <a:t>We are interested in the best hypothesis for some space H given observed training data D.</a:t>
            </a:r>
          </a:p>
        </p:txBody>
      </p:sp>
      <p:graphicFrame>
        <p:nvGraphicFramePr>
          <p:cNvPr id="25604" name="Object 4">
            <a:extLst>
              <a:ext uri="{FF2B5EF4-FFF2-40B4-BE49-F238E27FC236}">
                <a16:creationId xmlns:a16="http://schemas.microsoft.com/office/drawing/2014/main" id="{8DFEEB4F-A436-419B-BB25-48BBB20774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4063" y="3540125"/>
          <a:ext cx="249713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47560" imgH="304560" progId="Equation.3">
                  <p:embed/>
                </p:oleObj>
              </mc:Choice>
              <mc:Fallback>
                <p:oleObj name="Equation" r:id="rId3" imgW="1447560" imgH="304560" progId="Equation.3">
                  <p:embed/>
                  <p:pic>
                    <p:nvPicPr>
                      <p:cNvPr id="25604" name="Object 4">
                        <a:extLst>
                          <a:ext uri="{FF2B5EF4-FFF2-40B4-BE49-F238E27FC236}">
                            <a16:creationId xmlns:a16="http://schemas.microsoft.com/office/drawing/2014/main" id="{8DFEEB4F-A436-419B-BB25-48BBB20774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4063" y="3540125"/>
                        <a:ext cx="249713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>
            <a:extLst>
              <a:ext uri="{FF2B5EF4-FFF2-40B4-BE49-F238E27FC236}">
                <a16:creationId xmlns:a16="http://schemas.microsoft.com/office/drawing/2014/main" id="{94B74A4C-3C08-4346-85FA-7C943BFFB4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9213" y="4100513"/>
          <a:ext cx="2541587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47560" imgH="419040" progId="Equation.3">
                  <p:embed/>
                </p:oleObj>
              </mc:Choice>
              <mc:Fallback>
                <p:oleObj name="Equation" r:id="rId5" imgW="1447560" imgH="419040" progId="Equation.3">
                  <p:embed/>
                  <p:pic>
                    <p:nvPicPr>
                      <p:cNvPr id="25605" name="Object 5">
                        <a:extLst>
                          <a:ext uri="{FF2B5EF4-FFF2-40B4-BE49-F238E27FC236}">
                            <a16:creationId xmlns:a16="http://schemas.microsoft.com/office/drawing/2014/main" id="{94B74A4C-3C08-4346-85FA-7C943BFFB4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9213" y="4100513"/>
                        <a:ext cx="2541587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>
            <a:extLst>
              <a:ext uri="{FF2B5EF4-FFF2-40B4-BE49-F238E27FC236}">
                <a16:creationId xmlns:a16="http://schemas.microsoft.com/office/drawing/2014/main" id="{452EBC5B-AC7B-4090-AB6B-8EE63D3546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5250" y="4911725"/>
          <a:ext cx="24574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22360" imgH="304560" progId="Equation.3">
                  <p:embed/>
                </p:oleObj>
              </mc:Choice>
              <mc:Fallback>
                <p:oleObj name="Equation" r:id="rId7" imgW="1422360" imgH="304560" progId="Equation.3">
                  <p:embed/>
                  <p:pic>
                    <p:nvPicPr>
                      <p:cNvPr id="25606" name="Object 6">
                        <a:extLst>
                          <a:ext uri="{FF2B5EF4-FFF2-40B4-BE49-F238E27FC236}">
                            <a16:creationId xmlns:a16="http://schemas.microsoft.com/office/drawing/2014/main" id="{452EBC5B-AC7B-4090-AB6B-8EE63D3546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4911725"/>
                        <a:ext cx="245745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Text Box 8">
            <a:extLst>
              <a:ext uri="{FF2B5EF4-FFF2-40B4-BE49-F238E27FC236}">
                <a16:creationId xmlns:a16="http://schemas.microsoft.com/office/drawing/2014/main" id="{9FA68E38-75AB-4972-8890-C5DD25B36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34000"/>
            <a:ext cx="78486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/>
              <a:t>H</a:t>
            </a:r>
            <a:r>
              <a:rPr lang="en-US" altLang="zh-CN" sz="2000"/>
              <a:t>: set of all hypothesis.</a:t>
            </a:r>
          </a:p>
          <a:p>
            <a:pPr>
              <a:spcBef>
                <a:spcPct val="50000"/>
              </a:spcBef>
            </a:pPr>
            <a:r>
              <a:rPr lang="en-US" altLang="zh-CN" sz="2000"/>
              <a:t>Note that we can drop </a:t>
            </a:r>
            <a:r>
              <a:rPr lang="en-US" altLang="zh-CN" sz="2000" i="1"/>
              <a:t>P(D)</a:t>
            </a:r>
            <a:r>
              <a:rPr lang="en-US" altLang="zh-CN" sz="2000"/>
              <a:t> as the probability of the data is constant (and independent of the hypothesis).</a:t>
            </a:r>
          </a:p>
        </p:txBody>
      </p:sp>
    </p:spTree>
    <p:extLst>
      <p:ext uri="{BB962C8B-B14F-4D97-AF65-F5344CB8AC3E}">
        <p14:creationId xmlns:p14="http://schemas.microsoft.com/office/powerpoint/2010/main" val="1125099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FAF531F-CDFF-4E94-B156-764F8F7435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22238"/>
            <a:ext cx="7696200" cy="1295400"/>
          </a:xfrm>
        </p:spPr>
        <p:txBody>
          <a:bodyPr/>
          <a:lstStyle/>
          <a:p>
            <a:r>
              <a:rPr lang="en-US" altLang="en-US" sz="3100"/>
              <a:t>Desirable Properties of Bayes Classifier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3D541B6-FB3C-4254-B2CF-C38DB64811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i="1">
                <a:solidFill>
                  <a:srgbClr val="FF0000"/>
                </a:solidFill>
              </a:rPr>
              <a:t>Incrementality:</a:t>
            </a:r>
            <a:r>
              <a:rPr lang="en-US" altLang="en-US"/>
              <a:t> with each training example, the prior and the likelihood can be updated dynamically: flexible and robust to errors.</a:t>
            </a:r>
          </a:p>
          <a:p>
            <a:pPr>
              <a:lnSpc>
                <a:spcPct val="90000"/>
              </a:lnSpc>
            </a:pPr>
            <a:r>
              <a:rPr lang="en-US" altLang="en-US" i="1">
                <a:solidFill>
                  <a:srgbClr val="FF0000"/>
                </a:solidFill>
              </a:rPr>
              <a:t>Combines prior knowledge and observed data:</a:t>
            </a:r>
            <a:r>
              <a:rPr lang="en-US" altLang="en-US"/>
              <a:t> prior probability of a hypothesis multiplied with probability of the hypothesis given the training data</a:t>
            </a:r>
          </a:p>
          <a:p>
            <a:pPr>
              <a:lnSpc>
                <a:spcPct val="90000"/>
              </a:lnSpc>
            </a:pPr>
            <a:r>
              <a:rPr lang="en-US" altLang="en-US" i="1">
                <a:solidFill>
                  <a:srgbClr val="FF0000"/>
                </a:solidFill>
              </a:rPr>
              <a:t>Probabilistic hypothesis:</a:t>
            </a:r>
            <a:r>
              <a:rPr lang="en-US" altLang="en-US"/>
              <a:t> outputs not only a classification, but a probability distribution over all classes</a:t>
            </a:r>
          </a:p>
        </p:txBody>
      </p:sp>
    </p:spTree>
    <p:extLst>
      <p:ext uri="{BB962C8B-B14F-4D97-AF65-F5344CB8AC3E}">
        <p14:creationId xmlns:p14="http://schemas.microsoft.com/office/powerpoint/2010/main" val="12623510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F846B31A-3620-8178-F9D1-0F2427133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5" y="304800"/>
            <a:ext cx="9144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Naïve Bayes Classifier: Comments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E842EBB0-673B-BF27-8BD8-266706F39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Advantages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Easy to implement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Good results obtained in most of the cases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Disadvantages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Assumption: class conditional independence, therefore loss of accuracy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Practically, dependencies exist among variables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E.g.,  hospitals: patients: Profile: age, family history, etc. 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  <a:r>
              <a:rPr lang="en-US" altLang="en-US" sz="2400" dirty="0"/>
              <a:t>Symptoms: fever, cough etc., Disease: lung cancer, diabetes, etc.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Dependencies among these cannot be modeled by Naïve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996524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8DDDC-55FD-9E6E-3BEF-76FF0692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Project Proposal Submission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86DCE-CF7D-AD51-74FE-A12824528BD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Submit hard copy of project proposal </a:t>
            </a:r>
            <a:r>
              <a:rPr lang="en-US" b="1" dirty="0"/>
              <a:t>in the class time</a:t>
            </a:r>
            <a:r>
              <a:rPr lang="en-US" dirty="0"/>
              <a:t>. One copy for one group. </a:t>
            </a:r>
          </a:p>
          <a:p>
            <a:r>
              <a:rPr lang="en-US" dirty="0"/>
              <a:t>A short presentation (5-7 minutes) on the proposal to explain what has to be done. One person is fine to present, but all members must attend in the Q&amp;N session.</a:t>
            </a:r>
          </a:p>
        </p:txBody>
      </p:sp>
    </p:spTree>
    <p:extLst>
      <p:ext uri="{BB962C8B-B14F-4D97-AF65-F5344CB8AC3E}">
        <p14:creationId xmlns:p14="http://schemas.microsoft.com/office/powerpoint/2010/main" val="438540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4DAB4-334F-46A6-AC30-7CFC470D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Textbook/ Reference Materials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5FD06-FA6F-4036-946C-495CF14360C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199" y="1981200"/>
            <a:ext cx="8264525" cy="3886200"/>
          </a:xfrm>
        </p:spPr>
        <p:txBody>
          <a:bodyPr>
            <a:normAutofit/>
          </a:bodyPr>
          <a:lstStyle/>
          <a:p>
            <a:pPr marL="86868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750"/>
              </a:spcAft>
              <a:tabLst>
                <a:tab pos="685800" algn="l"/>
              </a:tabLst>
            </a:pPr>
            <a:r>
              <a:rPr lang="en-US" sz="2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 to Machine Learning by </a:t>
            </a:r>
            <a:r>
              <a:rPr lang="en-US" sz="28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Ethem</a:t>
            </a:r>
            <a:r>
              <a:rPr lang="en-US" sz="2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Alpaydin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750"/>
              </a:spcAft>
              <a:tabLst>
                <a:tab pos="685800" algn="l"/>
              </a:tabLst>
            </a:pPr>
            <a:r>
              <a:rPr lang="en-US" sz="2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 Learning: An Algorithmic Perspective by Stephen </a:t>
            </a:r>
            <a:r>
              <a:rPr lang="en-US" sz="280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Marsland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750"/>
              </a:spcAft>
              <a:tabLst>
                <a:tab pos="685800" algn="l"/>
              </a:tabLst>
            </a:pPr>
            <a:r>
              <a:rPr lang="en-US" sz="28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Pattern Recognition and Machine Learning by Christopher M. Bishop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8792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878E6EE8A70B48A83B8463F15F18B7" ma:contentTypeVersion="0" ma:contentTypeDescription="Create a new document." ma:contentTypeScope="" ma:versionID="5b1c09136bc71acd7719dd8778ba31b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BD97C8-7A16-41B5-B399-82B1879719DB}"/>
</file>

<file path=customXml/itemProps2.xml><?xml version="1.0" encoding="utf-8"?>
<ds:datastoreItem xmlns:ds="http://schemas.openxmlformats.org/officeDocument/2006/customXml" ds:itemID="{00E0595D-1A48-4664-95B4-0EE4EEB8A8DF}"/>
</file>

<file path=customXml/itemProps3.xml><?xml version="1.0" encoding="utf-8"?>
<ds:datastoreItem xmlns:ds="http://schemas.openxmlformats.org/officeDocument/2006/customXml" ds:itemID="{197F264A-2BCE-4889-9446-15A550D8108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5063</TotalTime>
  <Words>1591</Words>
  <Application>Microsoft Macintosh PowerPoint</Application>
  <PresentationFormat>On-screen Show (4:3)</PresentationFormat>
  <Paragraphs>165</Paragraphs>
  <Slides>33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7" baseType="lpstr">
      <vt:lpstr>-webkit-standard</vt:lpstr>
      <vt:lpstr>Arial</vt:lpstr>
      <vt:lpstr>Calibri</vt:lpstr>
      <vt:lpstr>Franklin Gothic Book</vt:lpstr>
      <vt:lpstr>Lucida Bright</vt:lpstr>
      <vt:lpstr>Lucida Calligraphy</vt:lpstr>
      <vt:lpstr>Palatino Linotype</vt:lpstr>
      <vt:lpstr>Perpetua</vt:lpstr>
      <vt:lpstr>Times New Roman</vt:lpstr>
      <vt:lpstr>Wingdings</vt:lpstr>
      <vt:lpstr>Wingdings 2</vt:lpstr>
      <vt:lpstr>Equity</vt:lpstr>
      <vt:lpstr>Equation</vt:lpstr>
      <vt:lpstr>Worksheet</vt:lpstr>
      <vt:lpstr>PowerPoint Presentation</vt:lpstr>
      <vt:lpstr>Bayesian Classifier</vt:lpstr>
      <vt:lpstr>PowerPoint Presentation</vt:lpstr>
      <vt:lpstr>PowerPoint Presentation</vt:lpstr>
      <vt:lpstr>Example: Spam Email Posterior Probability</vt:lpstr>
      <vt:lpstr>Example: Spam Email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Classification Is to Derive the Maximum Posteriori</vt:lpstr>
      <vt:lpstr>Does patient have cancer or not?</vt:lpstr>
      <vt:lpstr>PowerPoint Presentation</vt:lpstr>
      <vt:lpstr>PowerPoint Presentation</vt:lpstr>
      <vt:lpstr>Bayesian Methods</vt:lpstr>
      <vt:lpstr>Bayes classifier</vt:lpstr>
      <vt:lpstr>Naive Bayes classifier</vt:lpstr>
      <vt:lpstr>Naive Bayes classifier (cont’d)</vt:lpstr>
      <vt:lpstr>Parameter Estimation in Naive Bayes</vt:lpstr>
      <vt:lpstr>Parameter Estimation in Naive Bayes</vt:lpstr>
      <vt:lpstr>Parameter Estimation in Naive Bayes</vt:lpstr>
      <vt:lpstr>Naïve Bayes Classifier: Training Dataset</vt:lpstr>
      <vt:lpstr>Naïve Bayes Classifier: Computer Purchase</vt:lpstr>
      <vt:lpstr>What is discriminant Function</vt:lpstr>
      <vt:lpstr>K=2 Classes</vt:lpstr>
      <vt:lpstr>Discriminant Functions</vt:lpstr>
      <vt:lpstr>Properties </vt:lpstr>
      <vt:lpstr>Maximum A Posterior</vt:lpstr>
      <vt:lpstr>Desirable Properties of Bayes Classifier</vt:lpstr>
      <vt:lpstr>Naïve Bayes Classifier: Comments</vt:lpstr>
      <vt:lpstr>Project Proposal Submission Instructions</vt:lpstr>
      <vt:lpstr>Textbook/ Reference Materials</vt:lpstr>
    </vt:vector>
  </TitlesOfParts>
  <Company>BOGAZICI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ethem</dc:creator>
  <cp:lastModifiedBy>Prof. Dr. Kamruddin Nur</cp:lastModifiedBy>
  <cp:revision>370</cp:revision>
  <dcterms:created xsi:type="dcterms:W3CDTF">2005-01-24T14:46:28Z</dcterms:created>
  <dcterms:modified xsi:type="dcterms:W3CDTF">2025-07-26T19:07:53Z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0x01010083878E6EE8A70B48A83B8463F15F18B7</vt:lpwstr>
  </property>
</Properties>
</file>