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4" r:id="rId2"/>
    <p:sldId id="285" r:id="rId3"/>
    <p:sldId id="301" r:id="rId4"/>
    <p:sldId id="286" r:id="rId5"/>
    <p:sldId id="289" r:id="rId6"/>
    <p:sldId id="290" r:id="rId7"/>
    <p:sldId id="291" r:id="rId8"/>
    <p:sldId id="293" r:id="rId9"/>
    <p:sldId id="294" r:id="rId10"/>
    <p:sldId id="295" r:id="rId11"/>
    <p:sldId id="296" r:id="rId12"/>
    <p:sldId id="297" r:id="rId13"/>
    <p:sldId id="298" r:id="rId14"/>
    <p:sldId id="288" r:id="rId15"/>
    <p:sldId id="302" r:id="rId16"/>
    <p:sldId id="303" r:id="rId17"/>
    <p:sldId id="305" r:id="rId18"/>
    <p:sldId id="304" r:id="rId19"/>
    <p:sldId id="306" r:id="rId20"/>
    <p:sldId id="307" r:id="rId21"/>
    <p:sldId id="309" r:id="rId22"/>
    <p:sldId id="310" r:id="rId23"/>
    <p:sldId id="308" r:id="rId24"/>
    <p:sldId id="29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9/26/2026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9/26/2026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9/26/2026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9/26/2026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9/26/2026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9/26/2026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Classification</a:t>
            </a:r>
            <a:r>
              <a:rPr lang="en-US" sz="1800" dirty="0">
                <a:solidFill>
                  <a:schemeClr val="tx1"/>
                </a:solidFill>
                <a:latin typeface="Times New Roman" panose="02020603050405020304" pitchFamily="18" charset="0"/>
                <a:cs typeface="Times New Roman" panose="02020603050405020304" pitchFamily="18" charset="0"/>
              </a:rPr>
              <a:t> in machine learning is a type of supervised learning where the goal is to categorize or classify data points into predefined classes or labels.</a:t>
            </a:r>
          </a:p>
          <a:p>
            <a:pPr algn="just"/>
            <a:r>
              <a:rPr lang="en-US" sz="1800" dirty="0">
                <a:solidFill>
                  <a:schemeClr val="tx1"/>
                </a:solidFill>
                <a:latin typeface="Times New Roman" panose="02020603050405020304" pitchFamily="18" charset="0"/>
                <a:cs typeface="Times New Roman" panose="02020603050405020304" pitchFamily="18" charset="0"/>
              </a:rPr>
              <a:t>Given input data (features), a classification algorithm learns </a:t>
            </a:r>
            <a:r>
              <a:rPr lang="en-US" sz="1800" b="1" dirty="0">
                <a:solidFill>
                  <a:schemeClr val="tx1"/>
                </a:solidFill>
                <a:latin typeface="Times New Roman" panose="02020603050405020304" pitchFamily="18" charset="0"/>
                <a:cs typeface="Times New Roman" panose="02020603050405020304" pitchFamily="18" charset="0"/>
              </a:rPr>
              <a:t>a mapping function</a:t>
            </a:r>
            <a:r>
              <a:rPr lang="en-US" sz="1800" dirty="0">
                <a:solidFill>
                  <a:schemeClr val="tx1"/>
                </a:solidFill>
                <a:latin typeface="Times New Roman" panose="02020603050405020304" pitchFamily="18" charset="0"/>
                <a:cs typeface="Times New Roman" panose="02020603050405020304" pitchFamily="18" charset="0"/>
              </a:rPr>
              <a:t> that assigns a label (or class) to each data point based on the training data. It is used when the output variable is categorical, meaning it falls into one of several distinct categories.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Examples of Classification Algorithms:</a:t>
            </a:r>
          </a:p>
          <a:p>
            <a:pPr algn="just"/>
            <a:r>
              <a:rPr lang="en-US" sz="1800" dirty="0">
                <a:solidFill>
                  <a:schemeClr val="tx1"/>
                </a:solidFill>
                <a:latin typeface="Times New Roman" panose="02020603050405020304" pitchFamily="18" charset="0"/>
                <a:cs typeface="Times New Roman" panose="02020603050405020304" pitchFamily="18" charset="0"/>
              </a:rPr>
              <a:t>Logistic Regression</a:t>
            </a:r>
          </a:p>
          <a:p>
            <a:pPr algn="just"/>
            <a:r>
              <a:rPr lang="en-US" sz="1800" dirty="0">
                <a:solidFill>
                  <a:schemeClr val="tx1"/>
                </a:solidFill>
                <a:latin typeface="Times New Roman" panose="02020603050405020304" pitchFamily="18" charset="0"/>
                <a:cs typeface="Times New Roman" panose="02020603050405020304" pitchFamily="18" charset="0"/>
              </a:rPr>
              <a:t>K-Nearest Neighbors (KNN)</a:t>
            </a:r>
          </a:p>
          <a:p>
            <a:pPr algn="just"/>
            <a:r>
              <a:rPr lang="en-US" sz="1800" dirty="0">
                <a:solidFill>
                  <a:schemeClr val="tx1"/>
                </a:solidFill>
                <a:latin typeface="Times New Roman" panose="02020603050405020304" pitchFamily="18" charset="0"/>
                <a:cs typeface="Times New Roman" panose="02020603050405020304" pitchFamily="18" charset="0"/>
              </a:rPr>
              <a:t>Decision Trees</a:t>
            </a:r>
          </a:p>
          <a:p>
            <a:pPr algn="just"/>
            <a:r>
              <a:rPr lang="en-US" sz="1800" dirty="0">
                <a:solidFill>
                  <a:schemeClr val="tx1"/>
                </a:solidFill>
                <a:latin typeface="Times New Roman" panose="02020603050405020304" pitchFamily="18" charset="0"/>
                <a:cs typeface="Times New Roman" panose="02020603050405020304" pitchFamily="18" charset="0"/>
              </a:rPr>
              <a:t>Naive Bayes</a:t>
            </a:r>
          </a:p>
          <a:p>
            <a:pPr algn="just"/>
            <a:r>
              <a:rPr lang="en-US" sz="1800" dirty="0">
                <a:solidFill>
                  <a:schemeClr val="tx1"/>
                </a:solidFill>
                <a:latin typeface="Times New Roman" panose="02020603050405020304" pitchFamily="18" charset="0"/>
                <a:cs typeface="Times New Roman" panose="02020603050405020304" pitchFamily="18" charset="0"/>
              </a:rPr>
              <a:t>Support Vector Machine (SVM)</a:t>
            </a:r>
          </a:p>
          <a:p>
            <a:pPr algn="just"/>
            <a:r>
              <a:rPr lang="en-US" sz="1800" dirty="0">
                <a:solidFill>
                  <a:schemeClr val="tx1"/>
                </a:solidFill>
                <a:latin typeface="Times New Roman" panose="02020603050405020304" pitchFamily="18" charset="0"/>
                <a:cs typeface="Times New Roman" panose="02020603050405020304" pitchFamily="18" charset="0"/>
              </a:rPr>
              <a:t>Random Forest</a:t>
            </a:r>
          </a:p>
          <a:p>
            <a:pPr algn="just"/>
            <a:r>
              <a:rPr lang="en-US" sz="1800" dirty="0">
                <a:solidFill>
                  <a:schemeClr val="tx1"/>
                </a:solidFill>
                <a:latin typeface="Times New Roman" panose="02020603050405020304" pitchFamily="18" charset="0"/>
                <a:cs typeface="Times New Roman" panose="02020603050405020304" pitchFamily="18" charset="0"/>
              </a:rPr>
              <a:t>Neural Networks</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234" y="3598553"/>
            <a:ext cx="5227966" cy="226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K-Nearest Neighbors (KNN)</a:t>
            </a:r>
          </a:p>
          <a:p>
            <a:pPr algn="just"/>
            <a:r>
              <a:rPr lang="en-US" sz="1800" dirty="0">
                <a:solidFill>
                  <a:schemeClr val="tx1"/>
                </a:solidFill>
                <a:latin typeface="Times New Roman" panose="02020603050405020304" pitchFamily="18" charset="0"/>
                <a:cs typeface="Times New Roman" panose="02020603050405020304" pitchFamily="18" charset="0"/>
              </a:rPr>
              <a:t>It is a simple, </a:t>
            </a:r>
            <a:r>
              <a:rPr lang="en-US" sz="1800" b="1" dirty="0">
                <a:solidFill>
                  <a:schemeClr val="tx1"/>
                </a:solidFill>
                <a:latin typeface="Times New Roman" panose="02020603050405020304" pitchFamily="18" charset="0"/>
                <a:cs typeface="Times New Roman" panose="02020603050405020304" pitchFamily="18" charset="0"/>
              </a:rPr>
              <a:t>non-parametric</a:t>
            </a:r>
            <a:r>
              <a:rPr lang="en-US" sz="1800" dirty="0">
                <a:solidFill>
                  <a:schemeClr val="tx1"/>
                </a:solidFill>
                <a:latin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cs typeface="Times New Roman" panose="02020603050405020304" pitchFamily="18" charset="0"/>
              </a:rPr>
              <a:t>instance-based</a:t>
            </a:r>
            <a:r>
              <a:rPr lang="en-US" sz="1800" dirty="0">
                <a:solidFill>
                  <a:schemeClr val="tx1"/>
                </a:solidFill>
                <a:latin typeface="Times New Roman" panose="02020603050405020304" pitchFamily="18" charset="0"/>
                <a:cs typeface="Times New Roman" panose="02020603050405020304" pitchFamily="18" charset="0"/>
              </a:rPr>
              <a:t> machine learning algorithm. It can be also used as regression tasks.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Non-parametric:</a:t>
            </a:r>
            <a:r>
              <a:rPr lang="en-US" sz="1800" dirty="0">
                <a:solidFill>
                  <a:schemeClr val="tx1"/>
                </a:solidFill>
                <a:latin typeface="Times New Roman" panose="02020603050405020304" pitchFamily="18" charset="0"/>
                <a:cs typeface="Times New Roman" panose="02020603050405020304" pitchFamily="18" charset="0"/>
              </a:rPr>
              <a:t> k-NN doesn’t assume any specific form for the underlying data distribution, which makes it flexible for various data types. It can model complex data patterns without needing to fit data to a predefined parameterized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Instance-based:</a:t>
            </a:r>
            <a:r>
              <a:rPr lang="en-US" sz="1800" dirty="0">
                <a:solidFill>
                  <a:schemeClr val="tx1"/>
                </a:solidFill>
                <a:latin typeface="Times New Roman" panose="02020603050405020304" pitchFamily="18" charset="0"/>
                <a:cs typeface="Times New Roman" panose="02020603050405020304" pitchFamily="18" charset="0"/>
              </a:rPr>
              <a:t> Instead of learning a general rule from the training data, k-NN memorizes the entire training set. For prediction, it looks up the k closest instances in the training data (based on a distance metric like Euclidean or Manhattan) and uses those instances to classify new points or make regression predictions.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K-Nearest Neighbors (KNN)</a:t>
            </a:r>
          </a:p>
          <a:p>
            <a:pPr algn="just"/>
            <a:r>
              <a:rPr lang="en-US" sz="1800" dirty="0">
                <a:solidFill>
                  <a:schemeClr val="tx1"/>
                </a:solidFill>
                <a:latin typeface="Times New Roman" panose="02020603050405020304" pitchFamily="18" charset="0"/>
                <a:cs typeface="Times New Roman" panose="02020603050405020304" pitchFamily="18" charset="0"/>
              </a:rPr>
              <a:t>KNN works by finding the "k" closest data points (neighbors) to a new, unknown data point and making predictions based on their classes.</a:t>
            </a:r>
          </a:p>
          <a:p>
            <a:pPr algn="just"/>
            <a:r>
              <a:rPr lang="en-US" sz="1800" dirty="0">
                <a:solidFill>
                  <a:schemeClr val="tx1"/>
                </a:solidFill>
                <a:latin typeface="Times New Roman" panose="02020603050405020304" pitchFamily="18" charset="0"/>
                <a:cs typeface="Times New Roman" panose="02020603050405020304" pitchFamily="18" charset="0"/>
              </a:rPr>
              <a:t>KNN </a:t>
            </a:r>
            <a:r>
              <a:rPr lang="en-US" sz="1800" b="1" dirty="0">
                <a:solidFill>
                  <a:schemeClr val="tx1"/>
                </a:solidFill>
                <a:latin typeface="Times New Roman" panose="02020603050405020304" pitchFamily="18" charset="0"/>
                <a:cs typeface="Times New Roman" panose="02020603050405020304" pitchFamily="18" charset="0"/>
              </a:rPr>
              <a:t>does not build a model </a:t>
            </a:r>
            <a:r>
              <a:rPr lang="en-US" sz="1800" dirty="0">
                <a:solidFill>
                  <a:schemeClr val="tx1"/>
                </a:solidFill>
                <a:latin typeface="Times New Roman" panose="02020603050405020304" pitchFamily="18" charset="0"/>
                <a:cs typeface="Times New Roman" panose="02020603050405020304" pitchFamily="18" charset="0"/>
              </a:rPr>
              <a:t>during the training phase. Instead, it stores the training data and makes predictions by referencing it directly during testing. This is why it is also called a </a:t>
            </a:r>
            <a:r>
              <a:rPr lang="en-US" sz="1800" b="1" dirty="0">
                <a:solidFill>
                  <a:schemeClr val="tx1"/>
                </a:solidFill>
                <a:latin typeface="Times New Roman" panose="02020603050405020304" pitchFamily="18" charset="0"/>
                <a:cs typeface="Times New Roman" panose="02020603050405020304" pitchFamily="18" charset="0"/>
              </a:rPr>
              <a:t>lazy learner</a:t>
            </a:r>
            <a:r>
              <a:rPr lang="en-US" sz="1800" dirty="0">
                <a:solidFill>
                  <a:schemeClr val="tx1"/>
                </a:solidFill>
                <a:latin typeface="Times New Roman" panose="02020603050405020304" pitchFamily="18" charset="0"/>
                <a:cs typeface="Times New Roman" panose="02020603050405020304" pitchFamily="18" charset="0"/>
              </a:rPr>
              <a:t>.</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Advantages of KNN:</a:t>
            </a:r>
          </a:p>
          <a:p>
            <a:pPr algn="just"/>
            <a:r>
              <a:rPr lang="en-US" sz="1800" dirty="0">
                <a:solidFill>
                  <a:schemeClr val="tx1"/>
                </a:solidFill>
                <a:latin typeface="Times New Roman" panose="02020603050405020304" pitchFamily="18" charset="0"/>
                <a:cs typeface="Times New Roman" panose="02020603050405020304" pitchFamily="18" charset="0"/>
              </a:rPr>
              <a:t>KNN is easy to understand and implement.  Since KNN doesn’t build a model, the training phase is </a:t>
            </a:r>
            <a:r>
              <a:rPr lang="en-US" sz="1800" b="1" dirty="0">
                <a:solidFill>
                  <a:schemeClr val="tx1"/>
                </a:solidFill>
                <a:latin typeface="Times New Roman" panose="02020603050405020304" pitchFamily="18" charset="0"/>
                <a:cs typeface="Times New Roman" panose="02020603050405020304" pitchFamily="18" charset="0"/>
              </a:rPr>
              <a:t>fast</a:t>
            </a:r>
            <a:r>
              <a:rPr lang="en-US" sz="1800" dirty="0">
                <a:solidFill>
                  <a:schemeClr val="tx1"/>
                </a:solidFill>
                <a:latin typeface="Times New Roman" panose="02020603050405020304" pitchFamily="18" charset="0"/>
                <a:cs typeface="Times New Roman" panose="02020603050405020304" pitchFamily="18" charset="0"/>
              </a:rPr>
              <a:t>. It can be used for both classification and regression problems. KNN doesn’t make assumptions about the underlying data distribution (Non-parametric).</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How KNN Works:</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Select k Neighbors: </a:t>
            </a:r>
            <a:r>
              <a:rPr lang="en-US" sz="1800" dirty="0">
                <a:solidFill>
                  <a:schemeClr val="tx1"/>
                </a:solidFill>
                <a:latin typeface="Times New Roman" panose="02020603050405020304" pitchFamily="18" charset="0"/>
                <a:cs typeface="Times New Roman" panose="02020603050405020304" pitchFamily="18" charset="0"/>
              </a:rPr>
              <a:t>The parameter "k" refers to the number of nearest neighbors to consider when making a prediction.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Calculate Distance: </a:t>
            </a:r>
            <a:r>
              <a:rPr lang="en-US" sz="1800" dirty="0">
                <a:solidFill>
                  <a:schemeClr val="tx1"/>
                </a:solidFill>
                <a:latin typeface="Times New Roman" panose="02020603050405020304" pitchFamily="18" charset="0"/>
                <a:cs typeface="Times New Roman" panose="02020603050405020304" pitchFamily="18" charset="0"/>
              </a:rPr>
              <a:t>The algorithm calculates the distance between the new data point and all other points in the training dataset. Common distance metrics include: Euclidean Distance, Manhattan Distance.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Identify Nearest Neighbors: </a:t>
            </a:r>
            <a:r>
              <a:rPr lang="en-US" sz="1800" dirty="0">
                <a:solidFill>
                  <a:schemeClr val="tx1"/>
                </a:solidFill>
                <a:latin typeface="Times New Roman" panose="02020603050405020304" pitchFamily="18" charset="0"/>
                <a:cs typeface="Times New Roman" panose="02020603050405020304" pitchFamily="18" charset="0"/>
              </a:rPr>
              <a:t>After calculating the distances, the algorithm selects the k nearest points (neighbors) from the training set.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Make a Prediction: </a:t>
            </a:r>
            <a:r>
              <a:rPr lang="en-US" sz="1800" dirty="0">
                <a:solidFill>
                  <a:schemeClr val="tx1"/>
                </a:solidFill>
                <a:latin typeface="Times New Roman" panose="02020603050405020304" pitchFamily="18" charset="0"/>
                <a:cs typeface="Times New Roman" panose="02020603050405020304" pitchFamily="18" charset="0"/>
              </a:rPr>
              <a:t>Classification: The new point is assigned to the class that is most common among its k nearest neighbors (majority voting).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pic>
        <p:nvPicPr>
          <p:cNvPr id="6" name="Picture 5"/>
          <p:cNvPicPr>
            <a:picLocks noChangeAspect="1"/>
          </p:cNvPicPr>
          <p:nvPr/>
        </p:nvPicPr>
        <p:blipFill>
          <a:blip r:embed="rId2"/>
          <a:stretch>
            <a:fillRect/>
          </a:stretch>
        </p:blipFill>
        <p:spPr>
          <a:xfrm>
            <a:off x="2209800" y="2590800"/>
            <a:ext cx="4956175" cy="3717290"/>
          </a:xfrm>
          <a:prstGeom prst="rect">
            <a:avLst/>
          </a:prstGeom>
        </p:spPr>
      </p:pic>
      <p:sp>
        <p:nvSpPr>
          <p:cNvPr id="9" name="Text Box 8"/>
          <p:cNvSpPr txBox="1"/>
          <p:nvPr/>
        </p:nvSpPr>
        <p:spPr>
          <a:xfrm>
            <a:off x="1424305" y="1437005"/>
            <a:ext cx="7110095" cy="645160"/>
          </a:xfrm>
          <a:prstGeom prst="rect">
            <a:avLst/>
          </a:prstGeom>
          <a:noFill/>
        </p:spPr>
        <p:txBody>
          <a:bodyPr wrap="square" rtlCol="0">
            <a:spAutoFit/>
          </a:bodyPr>
          <a:lstStyle/>
          <a:p>
            <a:r>
              <a:rPr lang="en-US"/>
              <a:t>To classify a new input vector x, examine the k-closest traning data point to x and assign the object to the most frequently occurring class.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How KNN Works:</a:t>
            </a: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09600" y="1905000"/>
            <a:ext cx="7089156" cy="39329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p:txBody>
      </p:sp>
      <p:graphicFrame>
        <p:nvGraphicFramePr>
          <p:cNvPr id="4" name="Table 3"/>
          <p:cNvGraphicFramePr>
            <a:graphicFrameLocks noGrp="1"/>
          </p:cNvGraphicFramePr>
          <p:nvPr/>
        </p:nvGraphicFramePr>
        <p:xfrm>
          <a:off x="4724400" y="1503680"/>
          <a:ext cx="4151885"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extLst>
                  <a:ext uri="{0D108BD9-81ED-4DB2-BD59-A6C34878D82A}">
                    <a16:rowId xmlns:a16="http://schemas.microsoft.com/office/drawing/2014/main" val="10000"/>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extLst>
                  <a:ext uri="{0D108BD9-81ED-4DB2-BD59-A6C34878D82A}">
                    <a16:rowId xmlns:a16="http://schemas.microsoft.com/office/drawing/2014/main" val="10001"/>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extLst>
                  <a:ext uri="{0D108BD9-81ED-4DB2-BD59-A6C34878D82A}">
                    <a16:rowId xmlns:a16="http://schemas.microsoft.com/office/drawing/2014/main" val="10002"/>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extLst>
                  <a:ext uri="{0D108BD9-81ED-4DB2-BD59-A6C34878D82A}">
                    <a16:rowId xmlns:a16="http://schemas.microsoft.com/office/drawing/2014/main" val="10003"/>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extLst>
                  <a:ext uri="{0D108BD9-81ED-4DB2-BD59-A6C34878D82A}">
                    <a16:rowId xmlns:a16="http://schemas.microsoft.com/office/drawing/2014/main" val="10004"/>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extLst>
                  <a:ext uri="{0D108BD9-81ED-4DB2-BD59-A6C34878D82A}">
                    <a16:rowId xmlns:a16="http://schemas.microsoft.com/office/drawing/2014/main" val="10005"/>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extLst>
                  <a:ext uri="{0D108BD9-81ED-4DB2-BD59-A6C34878D82A}">
                    <a16:rowId xmlns:a16="http://schemas.microsoft.com/office/drawing/2014/main" val="10006"/>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extLst>
                  <a:ext uri="{0D108BD9-81ED-4DB2-BD59-A6C34878D82A}">
                    <a16:rowId xmlns:a16="http://schemas.microsoft.com/office/drawing/2014/main" val="10007"/>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extLst>
                  <a:ext uri="{0D108BD9-81ED-4DB2-BD59-A6C34878D82A}">
                    <a16:rowId xmlns:a16="http://schemas.microsoft.com/office/drawing/2014/main" val="10008"/>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a:p>
                <a:pPr algn="just"/>
                <a14:m>
                  <m:oMathPara xmlns:m="http://schemas.openxmlformats.org/officeDocument/2006/math">
                    <m:oMathParaPr>
                      <m:jc m:val="left"/>
                    </m:oMathParaPr>
                    <m:oMath>
                      <m:r>
                        <a:rPr lang="en-GB" sz="1800" b="1" i="1" smtClean="0">
                          <a:solidFill>
                            <a:schemeClr val="tx1"/>
                          </a:solidFill>
                          <a:latin typeface="Cambria Math" panose="02040503050406030204" pitchFamily="18" charset="0"/>
                          <a:cs typeface="Times New Roman" panose="02020603050405020304" pitchFamily="18" charset="0"/>
                        </a:rPr>
                        <m:t>𝒅</m:t>
                      </m:r>
                      <m:r>
                        <a:rPr lang="en-GB" sz="1800" b="1" i="1" smtClean="0">
                          <a:solidFill>
                            <a:schemeClr val="tx1"/>
                          </a:solidFill>
                          <a:latin typeface="Cambria Math" panose="02040503050406030204" pitchFamily="18" charset="0"/>
                          <a:cs typeface="Times New Roman" panose="02020603050405020304" pitchFamily="18" charset="0"/>
                        </a:rPr>
                        <m:t>=</m:t>
                      </m:r>
                      <m:rad>
                        <m:radPr>
                          <m:degHide m:val="on"/>
                          <m:ctrlPr>
                            <a:rPr lang="en-GB" sz="1800" b="1" i="1" smtClean="0">
                              <a:solidFill>
                                <a:schemeClr val="tx1"/>
                              </a:solidFill>
                              <a:latin typeface="Cambria Math" panose="02040503050406030204" pitchFamily="18" charset="0"/>
                              <a:cs typeface="Times New Roman" panose="02020603050405020304" pitchFamily="18" charset="0"/>
                            </a:rPr>
                          </m:ctrlPr>
                        </m:radPr>
                        <m:deg/>
                        <m:e>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𝒙</m:t>
                                      </m:r>
                                    </m:e>
                                    <m:sub>
                                      <m:r>
                                        <a:rPr lang="en-GB" sz="1800" b="1" i="1" smtClean="0">
                                          <a:solidFill>
                                            <a:schemeClr val="tx1"/>
                                          </a:solidFill>
                                          <a:latin typeface="Cambria Math" panose="02040503050406030204" pitchFamily="18" charset="0"/>
                                          <a:cs typeface="Times New Roman" panose="02020603050405020304" pitchFamily="18" charset="0"/>
                                        </a:rPr>
                                        <m:t>𝟐</m:t>
                                      </m:r>
                                    </m:sub>
                                  </m:sSub>
                                  <m:r>
                                    <a:rPr lang="en-GB" sz="1800" b="1" i="1" smtClean="0">
                                      <a:solidFill>
                                        <a:schemeClr val="tx1"/>
                                      </a:solidFill>
                                      <a:latin typeface="Cambria Math" panose="02040503050406030204" pitchFamily="18" charset="0"/>
                                      <a:cs typeface="Times New Roman" panose="02020603050405020304" pitchFamily="18" charset="0"/>
                                    </a:rPr>
                                    <m:t>−</m:t>
                                  </m:r>
                                  <m:sSub>
                                    <m:sSubPr>
                                      <m:ctrlPr>
                                        <a:rPr lang="en-GB" sz="1800" b="1" i="1">
                                          <a:solidFill>
                                            <a:schemeClr val="tx1"/>
                                          </a:solidFill>
                                          <a:latin typeface="Cambria Math" panose="02040503050406030204" pitchFamily="18" charset="0"/>
                                          <a:cs typeface="Times New Roman" panose="02020603050405020304" pitchFamily="18" charset="0"/>
                                        </a:rPr>
                                      </m:ctrlPr>
                                    </m:sSubPr>
                                    <m:e>
                                      <m:r>
                                        <a:rPr lang="en-GB" sz="1800" b="1" i="1">
                                          <a:solidFill>
                                            <a:schemeClr val="tx1"/>
                                          </a:solidFill>
                                          <a:latin typeface="Cambria Math" panose="02040503050406030204" pitchFamily="18" charset="0"/>
                                          <a:cs typeface="Times New Roman" panose="02020603050405020304" pitchFamily="18" charset="0"/>
                                        </a:rPr>
                                        <m:t>𝒙</m:t>
                                      </m:r>
                                    </m:e>
                                    <m:sub>
                                      <m:r>
                                        <a:rPr lang="en-GB" sz="1800" b="1" i="1" smtClean="0">
                                          <a:solidFill>
                                            <a:schemeClr val="tx1"/>
                                          </a:solidFill>
                                          <a:latin typeface="Cambria Math" panose="02040503050406030204" pitchFamily="18" charset="0"/>
                                          <a:cs typeface="Times New Roman" panose="02020603050405020304" pitchFamily="18" charset="0"/>
                                        </a:rPr>
                                        <m:t>𝟏</m:t>
                                      </m:r>
                                    </m:sub>
                                  </m:sSub>
                                </m:e>
                              </m:d>
                            </m:e>
                            <m:sup>
                              <m:r>
                                <a:rPr lang="en-GB" sz="1800" b="1" i="1" smtClean="0">
                                  <a:solidFill>
                                    <a:schemeClr val="tx1"/>
                                  </a:solidFill>
                                  <a:latin typeface="Cambria Math" panose="02040503050406030204" pitchFamily="18" charset="0"/>
                                  <a:cs typeface="Times New Roman" panose="02020603050405020304" pitchFamily="18" charset="0"/>
                                </a:rPr>
                                <m:t>𝟐</m:t>
                              </m:r>
                            </m:sup>
                          </m:sSup>
                          <m:r>
                            <a:rPr lang="en-GB" sz="1800" b="1" i="1" smtClean="0">
                              <a:solidFill>
                                <a:schemeClr val="tx1"/>
                              </a:solidFill>
                              <a:latin typeface="Cambria Math" panose="02040503050406030204" pitchFamily="18" charset="0"/>
                              <a:cs typeface="Times New Roman" panose="02020603050405020304" pitchFamily="18" charset="0"/>
                            </a:rPr>
                            <m:t>+</m:t>
                          </m:r>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𝒚</m:t>
                                      </m:r>
                                    </m:e>
                                    <m:sub>
                                      <m:r>
                                        <a:rPr lang="en-GB" sz="1800" b="1" i="1">
                                          <a:solidFill>
                                            <a:schemeClr val="tx1"/>
                                          </a:solidFill>
                                          <a:latin typeface="Cambria Math" panose="02040503050406030204" pitchFamily="18" charset="0"/>
                                          <a:cs typeface="Times New Roman" panose="02020603050405020304" pitchFamily="18" charset="0"/>
                                        </a:rPr>
                                        <m:t>𝟐</m:t>
                                      </m:r>
                                    </m:sub>
                                  </m:sSub>
                                  <m:r>
                                    <a:rPr lang="en-GB" sz="1800" b="1" i="1">
                                      <a:solidFill>
                                        <a:schemeClr val="tx1"/>
                                      </a:solidFill>
                                      <a:latin typeface="Cambria Math" panose="02040503050406030204" pitchFamily="18" charset="0"/>
                                      <a:cs typeface="Times New Roman" panose="02020603050405020304" pitchFamily="18" charset="0"/>
                                    </a:rPr>
                                    <m:t>−</m:t>
                                  </m:r>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𝒚</m:t>
                                      </m:r>
                                    </m:e>
                                    <m:sub>
                                      <m:r>
                                        <a:rPr lang="en-GB" sz="1800" b="1" i="1">
                                          <a:solidFill>
                                            <a:schemeClr val="tx1"/>
                                          </a:solidFill>
                                          <a:latin typeface="Cambria Math" panose="02040503050406030204" pitchFamily="18" charset="0"/>
                                          <a:cs typeface="Times New Roman" panose="02020603050405020304" pitchFamily="18" charset="0"/>
                                        </a:rPr>
                                        <m:t>𝟏</m:t>
                                      </m:r>
                                    </m:sub>
                                  </m:sSub>
                                </m:e>
                              </m:d>
                            </m:e>
                            <m:sup>
                              <m:r>
                                <a:rPr lang="en-GB" sz="1800" b="1" i="1">
                                  <a:solidFill>
                                    <a:schemeClr val="tx1"/>
                                  </a:solidFill>
                                  <a:latin typeface="Cambria Math" panose="02040503050406030204" pitchFamily="18" charset="0"/>
                                  <a:cs typeface="Times New Roman" panose="02020603050405020304" pitchFamily="18" charset="0"/>
                                </a:rPr>
                                <m:t>𝟐</m:t>
                              </m:r>
                            </m:sup>
                          </m:sSup>
                        </m:e>
                      </m:rad>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GB" sz="1800" b="1" i="1" dirty="0">
                  <a:solidFill>
                    <a:schemeClr val="tx1"/>
                  </a:solidFill>
                  <a:latin typeface="Cambria Math" panose="020405030504060302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𝒅</m:t>
                          </m:r>
                        </m:e>
                        <m:sub>
                          <m:r>
                            <a:rPr lang="en-GB" sz="1800" b="1" i="1" smtClean="0">
                              <a:solidFill>
                                <a:schemeClr val="tx1"/>
                              </a:solidFill>
                              <a:latin typeface="Cambria Math" panose="02040503050406030204" pitchFamily="18" charset="0"/>
                              <a:cs typeface="Times New Roman" panose="02020603050405020304" pitchFamily="18" charset="0"/>
                            </a:rPr>
                            <m:t>𝟏</m:t>
                          </m:r>
                        </m:sub>
                      </m:sSub>
                      <m:r>
                        <a:rPr lang="en-GB" sz="1800" b="1" i="1" smtClean="0">
                          <a:solidFill>
                            <a:schemeClr val="tx1"/>
                          </a:solidFill>
                          <a:latin typeface="Cambria Math" panose="02040503050406030204" pitchFamily="18" charset="0"/>
                          <a:cs typeface="Times New Roman" panose="02020603050405020304" pitchFamily="18" charset="0"/>
                        </a:rPr>
                        <m:t>=</m:t>
                      </m:r>
                      <m:rad>
                        <m:radPr>
                          <m:degHide m:val="on"/>
                          <m:ctrlPr>
                            <a:rPr lang="en-GB" sz="1800" b="1" i="1" smtClean="0">
                              <a:solidFill>
                                <a:schemeClr val="tx1"/>
                              </a:solidFill>
                              <a:latin typeface="Cambria Math" panose="02040503050406030204" pitchFamily="18" charset="0"/>
                              <a:cs typeface="Times New Roman" panose="02020603050405020304" pitchFamily="18" charset="0"/>
                            </a:rPr>
                          </m:ctrlPr>
                        </m:radPr>
                        <m:deg/>
                        <m:e>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𝟏𝟕𝟎</m:t>
                                  </m:r>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𝟏𝟔𝟕</m:t>
                                  </m:r>
                                </m:e>
                              </m:d>
                            </m:e>
                            <m:sup>
                              <m:r>
                                <a:rPr lang="en-GB" sz="1800" b="1" i="1" smtClean="0">
                                  <a:solidFill>
                                    <a:schemeClr val="tx1"/>
                                  </a:solidFill>
                                  <a:latin typeface="Cambria Math" panose="02040503050406030204" pitchFamily="18" charset="0"/>
                                  <a:cs typeface="Times New Roman" panose="02020603050405020304" pitchFamily="18" charset="0"/>
                                </a:rPr>
                                <m:t>𝟐</m:t>
                              </m:r>
                            </m:sup>
                          </m:sSup>
                          <m:r>
                            <a:rPr lang="en-GB" sz="1800" b="1" i="1" smtClean="0">
                              <a:solidFill>
                                <a:schemeClr val="tx1"/>
                              </a:solidFill>
                              <a:latin typeface="Cambria Math" panose="02040503050406030204" pitchFamily="18" charset="0"/>
                              <a:cs typeface="Times New Roman" panose="02020603050405020304" pitchFamily="18" charset="0"/>
                            </a:rPr>
                            <m:t>+</m:t>
                          </m:r>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𝟓𝟕</m:t>
                                  </m:r>
                                  <m:r>
                                    <a:rPr lang="en-GB" sz="1800" b="1" i="1">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𝟓𝟏</m:t>
                                  </m:r>
                                </m:e>
                              </m:d>
                            </m:e>
                            <m:sup>
                              <m:r>
                                <a:rPr lang="en-GB" sz="1800" b="1" i="1">
                                  <a:solidFill>
                                    <a:schemeClr val="tx1"/>
                                  </a:solidFill>
                                  <a:latin typeface="Cambria Math" panose="02040503050406030204" pitchFamily="18" charset="0"/>
                                  <a:cs typeface="Times New Roman" panose="02020603050405020304" pitchFamily="18" charset="0"/>
                                </a:rPr>
                                <m:t>𝟐</m:t>
                              </m:r>
                            </m:sup>
                          </m:sSup>
                        </m:e>
                      </m:rad>
                    </m:oMath>
                  </m:oMathPara>
                </a14:m>
                <a:endParaRPr lang="en-GB" sz="1800" b="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𝒅</m:t>
                          </m:r>
                        </m:e>
                        <m:sub>
                          <m:r>
                            <a:rPr lang="en-GB" sz="1800" b="1" i="1" smtClean="0">
                              <a:solidFill>
                                <a:schemeClr val="tx1"/>
                              </a:solidFill>
                              <a:latin typeface="Cambria Math" panose="02040503050406030204" pitchFamily="18" charset="0"/>
                              <a:cs typeface="Times New Roman" panose="02020603050405020304" pitchFamily="18" charset="0"/>
                            </a:rPr>
                            <m:t>𝟐</m:t>
                          </m:r>
                        </m:sub>
                      </m:sSub>
                      <m:r>
                        <a:rPr lang="en-GB" sz="1800" b="1" i="1" smtClean="0">
                          <a:solidFill>
                            <a:schemeClr val="tx1"/>
                          </a:solidFill>
                          <a:latin typeface="Cambria Math" panose="02040503050406030204" pitchFamily="18" charset="0"/>
                          <a:cs typeface="Times New Roman" panose="02020603050405020304" pitchFamily="18" charset="0"/>
                        </a:rPr>
                        <m:t>=</m:t>
                      </m:r>
                      <m:rad>
                        <m:radPr>
                          <m:degHide m:val="on"/>
                          <m:ctrlPr>
                            <a:rPr lang="en-GB" sz="1800" b="1" i="1" smtClean="0">
                              <a:solidFill>
                                <a:schemeClr val="tx1"/>
                              </a:solidFill>
                              <a:latin typeface="Cambria Math" panose="02040503050406030204" pitchFamily="18" charset="0"/>
                              <a:cs typeface="Times New Roman" panose="02020603050405020304" pitchFamily="18" charset="0"/>
                            </a:rPr>
                          </m:ctrlPr>
                        </m:radPr>
                        <m:deg/>
                        <m:e>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𝟏𝟕𝟎</m:t>
                                  </m:r>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𝟏𝟖𝟐</m:t>
                                  </m:r>
                                </m:e>
                              </m:d>
                            </m:e>
                            <m:sup>
                              <m:r>
                                <a:rPr lang="en-GB" sz="1800" b="1" i="1" smtClean="0">
                                  <a:solidFill>
                                    <a:schemeClr val="tx1"/>
                                  </a:solidFill>
                                  <a:latin typeface="Cambria Math" panose="02040503050406030204" pitchFamily="18" charset="0"/>
                                  <a:cs typeface="Times New Roman" panose="02020603050405020304" pitchFamily="18" charset="0"/>
                                </a:rPr>
                                <m:t>𝟐</m:t>
                              </m:r>
                            </m:sup>
                          </m:sSup>
                          <m:r>
                            <a:rPr lang="en-GB" sz="1800" b="1" i="1" smtClean="0">
                              <a:solidFill>
                                <a:schemeClr val="tx1"/>
                              </a:solidFill>
                              <a:latin typeface="Cambria Math" panose="02040503050406030204" pitchFamily="18" charset="0"/>
                              <a:cs typeface="Times New Roman" panose="02020603050405020304" pitchFamily="18" charset="0"/>
                            </a:rPr>
                            <m:t>+</m:t>
                          </m:r>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𝟓𝟕</m:t>
                                  </m:r>
                                  <m:r>
                                    <a:rPr lang="en-GB" sz="1800" b="1" i="1">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𝟔𝟐</m:t>
                                  </m:r>
                                </m:e>
                              </m:d>
                            </m:e>
                            <m:sup>
                              <m:r>
                                <a:rPr lang="en-GB" sz="1800" b="1" i="1">
                                  <a:solidFill>
                                    <a:schemeClr val="tx1"/>
                                  </a:solidFill>
                                  <a:latin typeface="Cambria Math" panose="02040503050406030204" pitchFamily="18" charset="0"/>
                                  <a:cs typeface="Times New Roman" panose="02020603050405020304" pitchFamily="18" charset="0"/>
                                </a:rPr>
                                <m:t>𝟐</m:t>
                              </m:r>
                            </m:sup>
                          </m:sSup>
                        </m:e>
                      </m:rad>
                    </m:oMath>
                  </m:oMathPara>
                </a14:m>
                <a:endParaRPr lang="en-GB"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t>
                </a:r>
              </a:p>
              <a:p>
                <a:pPr algn="just"/>
                <a:r>
                  <a:rPr lang="en-US" sz="1800" b="1" dirty="0">
                    <a:solidFill>
                      <a:schemeClr val="tx1"/>
                    </a:solidFill>
                    <a:latin typeface="Times New Roman" panose="02020603050405020304" pitchFamily="18" charset="0"/>
                    <a:cs typeface="Times New Roman" panose="02020603050405020304" pitchFamily="18" charset="0"/>
                  </a:rPr>
                  <a:t>.</a:t>
                </a:r>
              </a:p>
              <a:p>
                <a:pPr algn="just"/>
                <a:r>
                  <a:rPr lang="en-US" sz="1800" b="1" dirty="0">
                    <a:solidFill>
                      <a:schemeClr val="tx1"/>
                    </a:solidFill>
                    <a:latin typeface="Times New Roman" panose="02020603050405020304" pitchFamily="18" charset="0"/>
                    <a:cs typeface="Times New Roman" panose="02020603050405020304" pitchFamily="18" charset="0"/>
                  </a:rPr>
                  <a:t>.</a:t>
                </a:r>
              </a:p>
              <a:p>
                <a:pPr algn="just"/>
                <a14:m>
                  <m:oMathPara xmlns:m="http://schemas.openxmlformats.org/officeDocument/2006/math">
                    <m:oMathParaPr>
                      <m:jc m:val="left"/>
                    </m:oMathParaPr>
                    <m:oMath>
                      <m:sSub>
                        <m:sSubPr>
                          <m:ctrlPr>
                            <a:rPr lang="en-GB" sz="1800" b="1" i="1" smtClean="0">
                              <a:solidFill>
                                <a:schemeClr val="tx1"/>
                              </a:solidFill>
                              <a:latin typeface="Cambria Math" panose="02040503050406030204" pitchFamily="18" charset="0"/>
                              <a:cs typeface="Times New Roman" panose="02020603050405020304" pitchFamily="18" charset="0"/>
                            </a:rPr>
                          </m:ctrlPr>
                        </m:sSubPr>
                        <m:e>
                          <m:r>
                            <a:rPr lang="en-GB" sz="1800" b="1" i="1" smtClean="0">
                              <a:solidFill>
                                <a:schemeClr val="tx1"/>
                              </a:solidFill>
                              <a:latin typeface="Cambria Math" panose="02040503050406030204" pitchFamily="18" charset="0"/>
                              <a:cs typeface="Times New Roman" panose="02020603050405020304" pitchFamily="18" charset="0"/>
                            </a:rPr>
                            <m:t>𝒅</m:t>
                          </m:r>
                        </m:e>
                        <m:sub>
                          <m:r>
                            <a:rPr lang="en-GB" sz="1800" b="1" i="1" smtClean="0">
                              <a:solidFill>
                                <a:schemeClr val="tx1"/>
                              </a:solidFill>
                              <a:latin typeface="Cambria Math" panose="02040503050406030204" pitchFamily="18" charset="0"/>
                              <a:cs typeface="Times New Roman" panose="02020603050405020304" pitchFamily="18" charset="0"/>
                            </a:rPr>
                            <m:t>𝟗</m:t>
                          </m:r>
                        </m:sub>
                      </m:sSub>
                      <m:r>
                        <a:rPr lang="en-GB" sz="1800" b="1" i="1" smtClean="0">
                          <a:solidFill>
                            <a:schemeClr val="tx1"/>
                          </a:solidFill>
                          <a:latin typeface="Cambria Math" panose="02040503050406030204" pitchFamily="18" charset="0"/>
                          <a:cs typeface="Times New Roman" panose="02020603050405020304" pitchFamily="18" charset="0"/>
                        </a:rPr>
                        <m:t>=</m:t>
                      </m:r>
                      <m:rad>
                        <m:radPr>
                          <m:degHide m:val="on"/>
                          <m:ctrlPr>
                            <a:rPr lang="en-GB" sz="1800" b="1" i="1" smtClean="0">
                              <a:solidFill>
                                <a:schemeClr val="tx1"/>
                              </a:solidFill>
                              <a:latin typeface="Cambria Math" panose="02040503050406030204" pitchFamily="18" charset="0"/>
                              <a:cs typeface="Times New Roman" panose="02020603050405020304" pitchFamily="18" charset="0"/>
                            </a:rPr>
                          </m:ctrlPr>
                        </m:radPr>
                        <m:deg/>
                        <m:e>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𝟏𝟕𝟎</m:t>
                                  </m:r>
                                  <m:r>
                                    <a:rPr lang="en-GB" sz="1800" b="1" i="1" smtClean="0">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𝟏𝟕𝟎</m:t>
                                  </m:r>
                                </m:e>
                              </m:d>
                            </m:e>
                            <m:sup>
                              <m:r>
                                <a:rPr lang="en-GB" sz="1800" b="1" i="1" smtClean="0">
                                  <a:solidFill>
                                    <a:schemeClr val="tx1"/>
                                  </a:solidFill>
                                  <a:latin typeface="Cambria Math" panose="02040503050406030204" pitchFamily="18" charset="0"/>
                                  <a:cs typeface="Times New Roman" panose="02020603050405020304" pitchFamily="18" charset="0"/>
                                </a:rPr>
                                <m:t>𝟐</m:t>
                              </m:r>
                            </m:sup>
                          </m:sSup>
                          <m:r>
                            <a:rPr lang="en-GB" sz="1800" b="1" i="1" smtClean="0">
                              <a:solidFill>
                                <a:schemeClr val="tx1"/>
                              </a:solidFill>
                              <a:latin typeface="Cambria Math" panose="02040503050406030204" pitchFamily="18" charset="0"/>
                              <a:cs typeface="Times New Roman" panose="02020603050405020304" pitchFamily="18" charset="0"/>
                            </a:rPr>
                            <m:t>+</m:t>
                          </m:r>
                          <m:sSup>
                            <m:sSupPr>
                              <m:ctrlPr>
                                <a:rPr lang="en-GB" sz="1800" b="1" i="1" smtClean="0">
                                  <a:solidFill>
                                    <a:schemeClr val="tx1"/>
                                  </a:solidFill>
                                  <a:latin typeface="Cambria Math" panose="02040503050406030204" pitchFamily="18" charset="0"/>
                                  <a:cs typeface="Times New Roman" panose="02020603050405020304" pitchFamily="18" charset="0"/>
                                </a:rPr>
                              </m:ctrlPr>
                            </m:sSupPr>
                            <m:e>
                              <m:d>
                                <m:dPr>
                                  <m:ctrlPr>
                                    <a:rPr lang="en-GB" sz="1800" b="1" i="1" smtClean="0">
                                      <a:solidFill>
                                        <a:schemeClr val="tx1"/>
                                      </a:solidFill>
                                      <a:latin typeface="Cambria Math" panose="02040503050406030204" pitchFamily="18" charset="0"/>
                                      <a:cs typeface="Times New Roman" panose="02020603050405020304" pitchFamily="18" charset="0"/>
                                    </a:rPr>
                                  </m:ctrlPr>
                                </m:dPr>
                                <m:e>
                                  <m:r>
                                    <a:rPr lang="en-GB" sz="1800" b="1" i="1" smtClean="0">
                                      <a:solidFill>
                                        <a:schemeClr val="tx1"/>
                                      </a:solidFill>
                                      <a:latin typeface="Cambria Math" panose="02040503050406030204" pitchFamily="18" charset="0"/>
                                      <a:cs typeface="Times New Roman" panose="02020603050405020304" pitchFamily="18" charset="0"/>
                                    </a:rPr>
                                    <m:t>𝟓𝟕</m:t>
                                  </m:r>
                                  <m:r>
                                    <a:rPr lang="en-GB" sz="1800" b="1" i="1">
                                      <a:solidFill>
                                        <a:schemeClr val="tx1"/>
                                      </a:solidFill>
                                      <a:latin typeface="Cambria Math" panose="02040503050406030204" pitchFamily="18" charset="0"/>
                                      <a:cs typeface="Times New Roman" panose="02020603050405020304" pitchFamily="18" charset="0"/>
                                    </a:rPr>
                                    <m:t>−</m:t>
                                  </m:r>
                                  <m:r>
                                    <a:rPr lang="en-GB" sz="1800" b="1" i="1" smtClean="0">
                                      <a:solidFill>
                                        <a:schemeClr val="tx1"/>
                                      </a:solidFill>
                                      <a:latin typeface="Cambria Math" panose="02040503050406030204" pitchFamily="18" charset="0"/>
                                      <a:cs typeface="Times New Roman" panose="02020603050405020304" pitchFamily="18" charset="0"/>
                                    </a:rPr>
                                    <m:t>𝟓𝟓</m:t>
                                  </m:r>
                                </m:e>
                              </m:d>
                            </m:e>
                            <m:sup>
                              <m:r>
                                <a:rPr lang="en-GB" sz="1800" b="1" i="1">
                                  <a:solidFill>
                                    <a:schemeClr val="tx1"/>
                                  </a:solidFill>
                                  <a:latin typeface="Cambria Math" panose="02040503050406030204" pitchFamily="18" charset="0"/>
                                  <a:cs typeface="Times New Roman" panose="02020603050405020304" pitchFamily="18" charset="0"/>
                                </a:rPr>
                                <m:t>𝟐</m:t>
                              </m:r>
                            </m:sup>
                          </m:sSup>
                        </m:e>
                      </m:rad>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4724400" y="1503680"/>
          <a:ext cx="4151885"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extLst>
                  <a:ext uri="{0D108BD9-81ED-4DB2-BD59-A6C34878D82A}">
                    <a16:rowId xmlns:a16="http://schemas.microsoft.com/office/drawing/2014/main" val="10000"/>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extLst>
                  <a:ext uri="{0D108BD9-81ED-4DB2-BD59-A6C34878D82A}">
                    <a16:rowId xmlns:a16="http://schemas.microsoft.com/office/drawing/2014/main" val="10001"/>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extLst>
                  <a:ext uri="{0D108BD9-81ED-4DB2-BD59-A6C34878D82A}">
                    <a16:rowId xmlns:a16="http://schemas.microsoft.com/office/drawing/2014/main" val="10002"/>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extLst>
                  <a:ext uri="{0D108BD9-81ED-4DB2-BD59-A6C34878D82A}">
                    <a16:rowId xmlns:a16="http://schemas.microsoft.com/office/drawing/2014/main" val="10003"/>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extLst>
                  <a:ext uri="{0D108BD9-81ED-4DB2-BD59-A6C34878D82A}">
                    <a16:rowId xmlns:a16="http://schemas.microsoft.com/office/drawing/2014/main" val="10004"/>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extLst>
                  <a:ext uri="{0D108BD9-81ED-4DB2-BD59-A6C34878D82A}">
                    <a16:rowId xmlns:a16="http://schemas.microsoft.com/office/drawing/2014/main" val="10005"/>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extLst>
                  <a:ext uri="{0D108BD9-81ED-4DB2-BD59-A6C34878D82A}">
                    <a16:rowId xmlns:a16="http://schemas.microsoft.com/office/drawing/2014/main" val="10006"/>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extLst>
                  <a:ext uri="{0D108BD9-81ED-4DB2-BD59-A6C34878D82A}">
                    <a16:rowId xmlns:a16="http://schemas.microsoft.com/office/drawing/2014/main" val="10007"/>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extLst>
                  <a:ext uri="{0D108BD9-81ED-4DB2-BD59-A6C34878D82A}">
                    <a16:rowId xmlns:a16="http://schemas.microsoft.com/office/drawing/2014/main" val="10008"/>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685800" y="1828800"/>
          <a:ext cx="4876071"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gridCol w="724186">
                  <a:extLst>
                    <a:ext uri="{9D8B030D-6E8A-4147-A177-3AD203B41FA5}">
                      <a16:colId xmlns:a16="http://schemas.microsoft.com/office/drawing/2014/main" val="20003"/>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extLst>
                  <a:ext uri="{0D108BD9-81ED-4DB2-BD59-A6C34878D82A}">
                    <a16:rowId xmlns:a16="http://schemas.microsoft.com/office/drawing/2014/main" val="10000"/>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extLst>
                  <a:ext uri="{0D108BD9-81ED-4DB2-BD59-A6C34878D82A}">
                    <a16:rowId xmlns:a16="http://schemas.microsoft.com/office/drawing/2014/main" val="10001"/>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extLst>
                  <a:ext uri="{0D108BD9-81ED-4DB2-BD59-A6C34878D82A}">
                    <a16:rowId xmlns:a16="http://schemas.microsoft.com/office/drawing/2014/main" val="10002"/>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extLst>
                  <a:ext uri="{0D108BD9-81ED-4DB2-BD59-A6C34878D82A}">
                    <a16:rowId xmlns:a16="http://schemas.microsoft.com/office/drawing/2014/main" val="10003"/>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extLst>
                  <a:ext uri="{0D108BD9-81ED-4DB2-BD59-A6C34878D82A}">
                    <a16:rowId xmlns:a16="http://schemas.microsoft.com/office/drawing/2014/main" val="10004"/>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extLst>
                  <a:ext uri="{0D108BD9-81ED-4DB2-BD59-A6C34878D82A}">
                    <a16:rowId xmlns:a16="http://schemas.microsoft.com/office/drawing/2014/main" val="10005"/>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tc>
                  <a:txBody>
                    <a:bodyPr/>
                    <a:lstStyle/>
                    <a:p>
                      <a:r>
                        <a:rPr lang="en-GB" dirty="0"/>
                        <a:t>4.1</a:t>
                      </a:r>
                    </a:p>
                  </a:txBody>
                  <a:tcPr/>
                </a:tc>
                <a:extLst>
                  <a:ext uri="{0D108BD9-81ED-4DB2-BD59-A6C34878D82A}">
                    <a16:rowId xmlns:a16="http://schemas.microsoft.com/office/drawing/2014/main" val="10006"/>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tc>
                  <a:txBody>
                    <a:bodyPr/>
                    <a:lstStyle/>
                    <a:p>
                      <a:r>
                        <a:rPr lang="en-GB" dirty="0"/>
                        <a:t>1.4</a:t>
                      </a:r>
                    </a:p>
                  </a:txBody>
                  <a:tcPr/>
                </a:tc>
                <a:extLst>
                  <a:ext uri="{0D108BD9-81ED-4DB2-BD59-A6C34878D82A}">
                    <a16:rowId xmlns:a16="http://schemas.microsoft.com/office/drawing/2014/main" val="10007"/>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tc>
                  <a:txBody>
                    <a:bodyPr/>
                    <a:lstStyle/>
                    <a:p>
                      <a:r>
                        <a:rPr lang="en-GB" dirty="0"/>
                        <a:t>3</a:t>
                      </a:r>
                    </a:p>
                  </a:txBody>
                  <a:tcPr/>
                </a:tc>
                <a:extLst>
                  <a:ext uri="{0D108BD9-81ED-4DB2-BD59-A6C34878D82A}">
                    <a16:rowId xmlns:a16="http://schemas.microsoft.com/office/drawing/2014/main" val="10008"/>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tc>
                  <a:txBody>
                    <a:bodyPr/>
                    <a:lstStyle/>
                    <a:p>
                      <a:r>
                        <a:rPr lang="en-GB" dirty="0"/>
                        <a:t>2</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10000"/>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10001"/>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10002"/>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10003"/>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10004"/>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10005"/>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0006"/>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10007"/>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10008"/>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10000"/>
                  </a:ext>
                </a:extLst>
              </a:tr>
              <a:tr h="370840">
                <a:tc>
                  <a:txBody>
                    <a:bodyPr/>
                    <a:lstStyle/>
                    <a:p>
                      <a:r>
                        <a:rPr lang="en-GB" dirty="0"/>
                        <a:t>169</a:t>
                      </a:r>
                    </a:p>
                  </a:txBody>
                  <a:tcPr/>
                </a:tc>
                <a:tc>
                  <a:txBody>
                    <a:bodyPr/>
                    <a:lstStyle/>
                    <a:p>
                      <a:r>
                        <a:rPr lang="en-GB" dirty="0"/>
                        <a:t>58</a:t>
                      </a:r>
                    </a:p>
                  </a:txBody>
                  <a:tcPr/>
                </a:tc>
                <a:tc>
                  <a:txBody>
                    <a:bodyPr/>
                    <a:lstStyle/>
                    <a:p>
                      <a:r>
                        <a:rPr lang="en-GB" dirty="0">
                          <a:solidFill>
                            <a:srgbClr val="00B050"/>
                          </a:solidFill>
                        </a:rPr>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10001"/>
                  </a:ext>
                </a:extLst>
              </a:tr>
              <a:tr h="370840">
                <a:tc>
                  <a:txBody>
                    <a:bodyPr/>
                    <a:lstStyle/>
                    <a:p>
                      <a:r>
                        <a:rPr lang="en-GB" dirty="0"/>
                        <a:t>170</a:t>
                      </a:r>
                    </a:p>
                  </a:txBody>
                  <a:tcPr/>
                </a:tc>
                <a:tc>
                  <a:txBody>
                    <a:bodyPr/>
                    <a:lstStyle/>
                    <a:p>
                      <a:r>
                        <a:rPr lang="en-GB" dirty="0"/>
                        <a:t>55</a:t>
                      </a:r>
                    </a:p>
                  </a:txBody>
                  <a:tcPr/>
                </a:tc>
                <a:tc>
                  <a:txBody>
                    <a:bodyPr/>
                    <a:lstStyle/>
                    <a:p>
                      <a:r>
                        <a:rPr lang="en-GB" dirty="0">
                          <a:solidFill>
                            <a:srgbClr val="00B050"/>
                          </a:solidFill>
                        </a:rPr>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10002"/>
                  </a:ext>
                </a:extLst>
              </a:tr>
              <a:tr h="370840">
                <a:tc>
                  <a:txBody>
                    <a:bodyPr/>
                    <a:lstStyle/>
                    <a:p>
                      <a:r>
                        <a:rPr lang="en-GB" dirty="0"/>
                        <a:t>173</a:t>
                      </a:r>
                    </a:p>
                  </a:txBody>
                  <a:tcPr/>
                </a:tc>
                <a:tc>
                  <a:txBody>
                    <a:bodyPr/>
                    <a:lstStyle/>
                    <a:p>
                      <a:r>
                        <a:rPr lang="en-GB" dirty="0"/>
                        <a:t>57</a:t>
                      </a:r>
                    </a:p>
                  </a:txBody>
                  <a:tcPr/>
                </a:tc>
                <a:tc>
                  <a:txBody>
                    <a:bodyPr/>
                    <a:lstStyle/>
                    <a:p>
                      <a:r>
                        <a:rPr lang="en-GB" dirty="0">
                          <a:solidFill>
                            <a:srgbClr val="00B050"/>
                          </a:solidFill>
                        </a:rPr>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10003"/>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10004"/>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10005"/>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0006"/>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10007"/>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10008"/>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10010"/>
                  </a:ext>
                </a:extLst>
              </a:tr>
            </a:tbl>
          </a:graphicData>
        </a:graphic>
      </p:graphicFrame>
      <p:sp>
        <p:nvSpPr>
          <p:cNvPr id="5" name="Right Brace 4"/>
          <p:cNvSpPr/>
          <p:nvPr/>
        </p:nvSpPr>
        <p:spPr>
          <a:xfrm>
            <a:off x="6324600" y="2362200"/>
            <a:ext cx="457200" cy="990600"/>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p:cNvSpPr txBox="1"/>
          <p:nvPr/>
        </p:nvSpPr>
        <p:spPr>
          <a:xfrm>
            <a:off x="6781800" y="2672834"/>
            <a:ext cx="838200" cy="369332"/>
          </a:xfrm>
          <a:prstGeom prst="rect">
            <a:avLst/>
          </a:prstGeom>
          <a:noFill/>
        </p:spPr>
        <p:txBody>
          <a:bodyPr wrap="square">
            <a:spAutoFit/>
          </a:bodyPr>
          <a:lstStyle/>
          <a:p>
            <a:r>
              <a:rPr lang="en-GB" dirty="0"/>
              <a:t>K=3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10000"/>
                  </a:ext>
                </a:extLst>
              </a:tr>
              <a:tr h="370840">
                <a:tc>
                  <a:txBody>
                    <a:bodyPr/>
                    <a:lstStyle/>
                    <a:p>
                      <a:r>
                        <a:rPr lang="en-GB" dirty="0"/>
                        <a:t>169</a:t>
                      </a:r>
                    </a:p>
                  </a:txBody>
                  <a:tcPr/>
                </a:tc>
                <a:tc>
                  <a:txBody>
                    <a:bodyPr/>
                    <a:lstStyle/>
                    <a:p>
                      <a:r>
                        <a:rPr lang="en-GB" dirty="0"/>
                        <a:t>58</a:t>
                      </a:r>
                    </a:p>
                  </a:txBody>
                  <a:tcPr/>
                </a:tc>
                <a:tc>
                  <a:txBody>
                    <a:bodyPr/>
                    <a:lstStyle/>
                    <a:p>
                      <a:r>
                        <a:rPr lang="en-GB" dirty="0">
                          <a:solidFill>
                            <a:srgbClr val="00B050"/>
                          </a:solidFill>
                        </a:rPr>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10001"/>
                  </a:ext>
                </a:extLst>
              </a:tr>
              <a:tr h="370840">
                <a:tc>
                  <a:txBody>
                    <a:bodyPr/>
                    <a:lstStyle/>
                    <a:p>
                      <a:r>
                        <a:rPr lang="en-GB" dirty="0"/>
                        <a:t>170</a:t>
                      </a:r>
                    </a:p>
                  </a:txBody>
                  <a:tcPr/>
                </a:tc>
                <a:tc>
                  <a:txBody>
                    <a:bodyPr/>
                    <a:lstStyle/>
                    <a:p>
                      <a:r>
                        <a:rPr lang="en-GB" dirty="0"/>
                        <a:t>55</a:t>
                      </a:r>
                    </a:p>
                  </a:txBody>
                  <a:tcPr/>
                </a:tc>
                <a:tc>
                  <a:txBody>
                    <a:bodyPr/>
                    <a:lstStyle/>
                    <a:p>
                      <a:r>
                        <a:rPr lang="en-GB" dirty="0">
                          <a:solidFill>
                            <a:srgbClr val="00B050"/>
                          </a:solidFill>
                        </a:rPr>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10002"/>
                  </a:ext>
                </a:extLst>
              </a:tr>
              <a:tr h="370840">
                <a:tc>
                  <a:txBody>
                    <a:bodyPr/>
                    <a:lstStyle/>
                    <a:p>
                      <a:r>
                        <a:rPr lang="en-GB" dirty="0"/>
                        <a:t>173</a:t>
                      </a:r>
                    </a:p>
                  </a:txBody>
                  <a:tcPr/>
                </a:tc>
                <a:tc>
                  <a:txBody>
                    <a:bodyPr/>
                    <a:lstStyle/>
                    <a:p>
                      <a:r>
                        <a:rPr lang="en-GB" dirty="0"/>
                        <a:t>57</a:t>
                      </a:r>
                    </a:p>
                  </a:txBody>
                  <a:tcPr/>
                </a:tc>
                <a:tc>
                  <a:txBody>
                    <a:bodyPr/>
                    <a:lstStyle/>
                    <a:p>
                      <a:r>
                        <a:rPr lang="en-GB" dirty="0">
                          <a:solidFill>
                            <a:srgbClr val="00B050"/>
                          </a:solidFill>
                        </a:rPr>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10003"/>
                  </a:ext>
                </a:extLst>
              </a:tr>
              <a:tr h="370840">
                <a:tc>
                  <a:txBody>
                    <a:bodyPr/>
                    <a:lstStyle/>
                    <a:p>
                      <a:r>
                        <a:rPr lang="en-GB" dirty="0"/>
                        <a:t>174</a:t>
                      </a:r>
                    </a:p>
                  </a:txBody>
                  <a:tcPr/>
                </a:tc>
                <a:tc>
                  <a:txBody>
                    <a:bodyPr/>
                    <a:lstStyle/>
                    <a:p>
                      <a:r>
                        <a:rPr lang="en-GB" dirty="0"/>
                        <a:t>56</a:t>
                      </a:r>
                    </a:p>
                  </a:txBody>
                  <a:tcPr/>
                </a:tc>
                <a:tc>
                  <a:txBody>
                    <a:bodyPr/>
                    <a:lstStyle/>
                    <a:p>
                      <a:r>
                        <a:rPr lang="en-GB" dirty="0">
                          <a:solidFill>
                            <a:srgbClr val="00B050"/>
                          </a:solidFill>
                        </a:rPr>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10004"/>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10005"/>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0006"/>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10007"/>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10008"/>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10010"/>
                  </a:ext>
                </a:extLst>
              </a:tr>
            </a:tbl>
          </a:graphicData>
        </a:graphic>
      </p:graphicFrame>
      <p:sp>
        <p:nvSpPr>
          <p:cNvPr id="5" name="Right Brace 4"/>
          <p:cNvSpPr/>
          <p:nvPr/>
        </p:nvSpPr>
        <p:spPr>
          <a:xfrm>
            <a:off x="6324600" y="2362199"/>
            <a:ext cx="457200" cy="1453635"/>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p:cNvSpPr txBox="1"/>
          <p:nvPr/>
        </p:nvSpPr>
        <p:spPr>
          <a:xfrm>
            <a:off x="6781800" y="2895600"/>
            <a:ext cx="838200" cy="369332"/>
          </a:xfrm>
          <a:prstGeom prst="rect">
            <a:avLst/>
          </a:prstGeom>
          <a:noFill/>
        </p:spPr>
        <p:txBody>
          <a:bodyPr wrap="square">
            <a:spAutoFit/>
          </a:bodyPr>
          <a:lstStyle/>
          <a:p>
            <a:r>
              <a:rPr lang="en-GB" dirty="0"/>
              <a:t>K=4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20000"/>
                    </a:ext>
                  </a:extLst>
                </a:gridCol>
                <a:gridCol w="1370203">
                  <a:extLst>
                    <a:ext uri="{9D8B030D-6E8A-4147-A177-3AD203B41FA5}">
                      <a16:colId xmlns:a16="http://schemas.microsoft.com/office/drawing/2014/main" val="20001"/>
                    </a:ext>
                  </a:extLst>
                </a:gridCol>
                <a:gridCol w="1448372">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708343">
                  <a:extLst>
                    <a:ext uri="{9D8B030D-6E8A-4147-A177-3AD203B41FA5}">
                      <a16:colId xmlns:a16="http://schemas.microsoft.com/office/drawing/2014/main" val="20004"/>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10000"/>
                  </a:ext>
                </a:extLst>
              </a:tr>
              <a:tr h="370840">
                <a:tc>
                  <a:txBody>
                    <a:bodyPr/>
                    <a:lstStyle/>
                    <a:p>
                      <a:r>
                        <a:rPr lang="en-GB" dirty="0"/>
                        <a:t>169</a:t>
                      </a:r>
                    </a:p>
                  </a:txBody>
                  <a:tcPr/>
                </a:tc>
                <a:tc>
                  <a:txBody>
                    <a:bodyPr/>
                    <a:lstStyle/>
                    <a:p>
                      <a:r>
                        <a:rPr lang="en-GB" dirty="0"/>
                        <a:t>58</a:t>
                      </a:r>
                    </a:p>
                  </a:txBody>
                  <a:tcPr/>
                </a:tc>
                <a:tc>
                  <a:txBody>
                    <a:bodyPr/>
                    <a:lstStyle/>
                    <a:p>
                      <a:r>
                        <a:rPr lang="en-GB" dirty="0">
                          <a:solidFill>
                            <a:srgbClr val="00B050"/>
                          </a:solidFill>
                        </a:rPr>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10001"/>
                  </a:ext>
                </a:extLst>
              </a:tr>
              <a:tr h="370840">
                <a:tc>
                  <a:txBody>
                    <a:bodyPr/>
                    <a:lstStyle/>
                    <a:p>
                      <a:r>
                        <a:rPr lang="en-GB" dirty="0"/>
                        <a:t>170</a:t>
                      </a:r>
                    </a:p>
                  </a:txBody>
                  <a:tcPr/>
                </a:tc>
                <a:tc>
                  <a:txBody>
                    <a:bodyPr/>
                    <a:lstStyle/>
                    <a:p>
                      <a:r>
                        <a:rPr lang="en-GB" dirty="0"/>
                        <a:t>55</a:t>
                      </a:r>
                    </a:p>
                  </a:txBody>
                  <a:tcPr/>
                </a:tc>
                <a:tc>
                  <a:txBody>
                    <a:bodyPr/>
                    <a:lstStyle/>
                    <a:p>
                      <a:r>
                        <a:rPr lang="en-GB" dirty="0">
                          <a:solidFill>
                            <a:srgbClr val="00B050"/>
                          </a:solidFill>
                        </a:rPr>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10002"/>
                  </a:ext>
                </a:extLst>
              </a:tr>
              <a:tr h="370840">
                <a:tc>
                  <a:txBody>
                    <a:bodyPr/>
                    <a:lstStyle/>
                    <a:p>
                      <a:r>
                        <a:rPr lang="en-GB" dirty="0"/>
                        <a:t>173</a:t>
                      </a:r>
                    </a:p>
                  </a:txBody>
                  <a:tcPr/>
                </a:tc>
                <a:tc>
                  <a:txBody>
                    <a:bodyPr/>
                    <a:lstStyle/>
                    <a:p>
                      <a:r>
                        <a:rPr lang="en-GB" dirty="0"/>
                        <a:t>57</a:t>
                      </a:r>
                    </a:p>
                  </a:txBody>
                  <a:tcPr/>
                </a:tc>
                <a:tc>
                  <a:txBody>
                    <a:bodyPr/>
                    <a:lstStyle/>
                    <a:p>
                      <a:r>
                        <a:rPr lang="en-GB" dirty="0">
                          <a:solidFill>
                            <a:srgbClr val="00B050"/>
                          </a:solidFill>
                        </a:rPr>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10003"/>
                  </a:ext>
                </a:extLst>
              </a:tr>
              <a:tr h="370840">
                <a:tc>
                  <a:txBody>
                    <a:bodyPr/>
                    <a:lstStyle/>
                    <a:p>
                      <a:r>
                        <a:rPr lang="en-GB" dirty="0"/>
                        <a:t>174</a:t>
                      </a:r>
                    </a:p>
                  </a:txBody>
                  <a:tcPr/>
                </a:tc>
                <a:tc>
                  <a:txBody>
                    <a:bodyPr/>
                    <a:lstStyle/>
                    <a:p>
                      <a:r>
                        <a:rPr lang="en-GB" dirty="0"/>
                        <a:t>56</a:t>
                      </a:r>
                    </a:p>
                  </a:txBody>
                  <a:tcPr/>
                </a:tc>
                <a:tc>
                  <a:txBody>
                    <a:bodyPr/>
                    <a:lstStyle/>
                    <a:p>
                      <a:r>
                        <a:rPr lang="en-GB" dirty="0">
                          <a:solidFill>
                            <a:srgbClr val="00B050"/>
                          </a:solidFill>
                        </a:rPr>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10004"/>
                  </a:ext>
                </a:extLst>
              </a:tr>
              <a:tr h="370840">
                <a:tc>
                  <a:txBody>
                    <a:bodyPr/>
                    <a:lstStyle/>
                    <a:p>
                      <a:r>
                        <a:rPr lang="en-GB" dirty="0"/>
                        <a:t>167</a:t>
                      </a:r>
                    </a:p>
                  </a:txBody>
                  <a:tcPr/>
                </a:tc>
                <a:tc>
                  <a:txBody>
                    <a:bodyPr/>
                    <a:lstStyle/>
                    <a:p>
                      <a:r>
                        <a:rPr lang="en-GB" dirty="0"/>
                        <a:t>51</a:t>
                      </a:r>
                    </a:p>
                  </a:txBody>
                  <a:tcPr/>
                </a:tc>
                <a:tc>
                  <a:txBody>
                    <a:bodyPr/>
                    <a:lstStyle/>
                    <a:p>
                      <a:r>
                        <a:rPr lang="en-GB" dirty="0">
                          <a:solidFill>
                            <a:srgbClr val="00B050"/>
                          </a:solidFill>
                        </a:rPr>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10005"/>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0006"/>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10007"/>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10008"/>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10009"/>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10010"/>
                  </a:ext>
                </a:extLst>
              </a:tr>
            </a:tbl>
          </a:graphicData>
        </a:graphic>
      </p:graphicFrame>
      <p:sp>
        <p:nvSpPr>
          <p:cNvPr id="5" name="Right Brace 4"/>
          <p:cNvSpPr/>
          <p:nvPr/>
        </p:nvSpPr>
        <p:spPr>
          <a:xfrm>
            <a:off x="6324600" y="2362199"/>
            <a:ext cx="457200" cy="1752601"/>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p:cNvSpPr txBox="1"/>
          <p:nvPr/>
        </p:nvSpPr>
        <p:spPr>
          <a:xfrm>
            <a:off x="6781800" y="3059668"/>
            <a:ext cx="838200" cy="369332"/>
          </a:xfrm>
          <a:prstGeom prst="rect">
            <a:avLst/>
          </a:prstGeom>
          <a:noFill/>
        </p:spPr>
        <p:txBody>
          <a:bodyPr wrap="square">
            <a:spAutoFit/>
          </a:bodyPr>
          <a:lstStyle/>
          <a:p>
            <a:r>
              <a:rPr lang="en-GB" dirty="0"/>
              <a:t>K=5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Disadvantages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Computationally Expensive: </a:t>
            </a:r>
            <a:r>
              <a:rPr lang="en-US" sz="1800" dirty="0">
                <a:solidFill>
                  <a:schemeClr val="tx1"/>
                </a:solidFill>
                <a:latin typeface="Times New Roman" panose="02020603050405020304" pitchFamily="18" charset="0"/>
                <a:cs typeface="Times New Roman" panose="02020603050405020304" pitchFamily="18" charset="0"/>
              </a:rPr>
              <a:t>As the size of the dataset increases, the algorithm becomes slow because it has to calculate the distance for each test point with every training point.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Sensitive to Noisy Data: </a:t>
            </a:r>
            <a:r>
              <a:rPr lang="en-US" sz="1800" dirty="0">
                <a:solidFill>
                  <a:schemeClr val="tx1"/>
                </a:solidFill>
                <a:latin typeface="Times New Roman" panose="02020603050405020304" pitchFamily="18" charset="0"/>
                <a:cs typeface="Times New Roman" panose="02020603050405020304" pitchFamily="18" charset="0"/>
              </a:rPr>
              <a:t>Outliers or irrelevant features can significantly affect predictions.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Feature Scaling Required: </a:t>
            </a:r>
            <a:r>
              <a:rPr lang="en-US" sz="1800" dirty="0">
                <a:solidFill>
                  <a:schemeClr val="tx1"/>
                </a:solidFill>
                <a:latin typeface="Times New Roman" panose="02020603050405020304" pitchFamily="18" charset="0"/>
                <a:cs typeface="Times New Roman" panose="02020603050405020304" pitchFamily="18" charset="0"/>
              </a:rPr>
              <a:t>Since KNN relies on distance calculations, features must be scaled properly to prevent features with larger ranges from dominating the distance calculation.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Memory-Intensive:</a:t>
            </a:r>
            <a:r>
              <a:rPr lang="en-US" sz="1800" dirty="0">
                <a:solidFill>
                  <a:schemeClr val="tx1"/>
                </a:solidFill>
                <a:latin typeface="Times New Roman" panose="02020603050405020304" pitchFamily="18" charset="0"/>
                <a:cs typeface="Times New Roman" panose="02020603050405020304" pitchFamily="18" charset="0"/>
              </a:rPr>
              <a:t> The algorithm needs to store the entire training dataset, making it less memory-efficient for large datasets.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13DE9-EF85-91AE-2E5B-F94B6F811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21119-5AFA-6031-4AD0-90F6093F25E5}"/>
              </a:ext>
            </a:extLst>
          </p:cNvPr>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a:extLst>
              <a:ext uri="{FF2B5EF4-FFF2-40B4-BE49-F238E27FC236}">
                <a16:creationId xmlns:a16="http://schemas.microsoft.com/office/drawing/2014/main" id="{DFD5F168-726B-23DB-1EE0-4F81BB231B0D}"/>
              </a:ext>
            </a:extLst>
          </p:cNvPr>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Disadvantages of KNN:</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Computationally Expensive: </a:t>
            </a:r>
            <a:r>
              <a:rPr lang="en-US" sz="1800" dirty="0">
                <a:solidFill>
                  <a:schemeClr val="tx1"/>
                </a:solidFill>
                <a:latin typeface="Times New Roman" panose="02020603050405020304" pitchFamily="18" charset="0"/>
                <a:cs typeface="Times New Roman" panose="02020603050405020304" pitchFamily="18" charset="0"/>
              </a:rPr>
              <a:t>As the size of the dataset increases, the algorithm becomes slow because it has to calculate the distance for each test point with every training point.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Sensitive to Noisy Data: </a:t>
            </a:r>
            <a:r>
              <a:rPr lang="en-US" sz="1800" dirty="0">
                <a:solidFill>
                  <a:schemeClr val="tx1"/>
                </a:solidFill>
                <a:latin typeface="Times New Roman" panose="02020603050405020304" pitchFamily="18" charset="0"/>
                <a:cs typeface="Times New Roman" panose="02020603050405020304" pitchFamily="18" charset="0"/>
              </a:rPr>
              <a:t>Outliers or irrelevant features can significantly affect predictions.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Feature Scaling Required: </a:t>
            </a:r>
            <a:r>
              <a:rPr lang="en-US" sz="1800" dirty="0">
                <a:solidFill>
                  <a:schemeClr val="tx1"/>
                </a:solidFill>
                <a:latin typeface="Times New Roman" panose="02020603050405020304" pitchFamily="18" charset="0"/>
                <a:cs typeface="Times New Roman" panose="02020603050405020304" pitchFamily="18" charset="0"/>
              </a:rPr>
              <a:t>Since KNN relies on distance calculations, features must be scaled properly to prevent features with larger ranges from dominating the distance calculation.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Memory-Intensive:</a:t>
            </a:r>
            <a:r>
              <a:rPr lang="en-US" sz="1800" dirty="0">
                <a:solidFill>
                  <a:schemeClr val="tx1"/>
                </a:solidFill>
                <a:latin typeface="Times New Roman" panose="02020603050405020304" pitchFamily="18" charset="0"/>
                <a:cs typeface="Times New Roman" panose="02020603050405020304" pitchFamily="18" charset="0"/>
              </a:rPr>
              <a:t> The algorithm needs to store the entire training dataset, making it less memory-efficient for large datasets.</a:t>
            </a:r>
          </a:p>
        </p:txBody>
      </p:sp>
    </p:spTree>
    <p:extLst>
      <p:ext uri="{BB962C8B-B14F-4D97-AF65-F5344CB8AC3E}">
        <p14:creationId xmlns:p14="http://schemas.microsoft.com/office/powerpoint/2010/main" val="1106253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D77-5F47-7C62-BCD8-BE30AE348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21031-05CB-6A54-5E14-85AC01919D35}"/>
              </a:ext>
            </a:extLst>
          </p:cNvPr>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KNN Use Cases (Best)</a:t>
            </a:r>
          </a:p>
        </p:txBody>
      </p:sp>
      <p:sp>
        <p:nvSpPr>
          <p:cNvPr id="3" name="Subtitle 2">
            <a:extLst>
              <a:ext uri="{FF2B5EF4-FFF2-40B4-BE49-F238E27FC236}">
                <a16:creationId xmlns:a16="http://schemas.microsoft.com/office/drawing/2014/main" id="{21963560-35CD-465D-D9A4-8A6E1FAA9F42}"/>
              </a:ext>
            </a:extLst>
          </p:cNvPr>
          <p:cNvSpPr>
            <a:spLocks noGrp="1"/>
          </p:cNvSpPr>
          <p:nvPr>
            <p:ph type="subTitle" idx="1"/>
          </p:nvPr>
        </p:nvSpPr>
        <p:spPr>
          <a:xfrm>
            <a:off x="228600" y="1143000"/>
            <a:ext cx="8534400" cy="53340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Target Application:</a:t>
            </a:r>
            <a:r>
              <a:rPr lang="en-US" sz="1800" dirty="0">
                <a:solidFill>
                  <a:schemeClr val="tx1"/>
                </a:solidFill>
                <a:latin typeface="Times New Roman" panose="02020603050405020304" pitchFamily="18" charset="0"/>
                <a:cs typeface="Times New Roman" panose="02020603050405020304" pitchFamily="18" charset="0"/>
              </a:rPr>
              <a:t> E-Commerce Recommendation Systems &amp; Content Retrieval KNN thrives in environments where the primary objective is finding similar entities based on historical attributes or user behavior, operating perfectly as a "lazy" learner.</a:t>
            </a:r>
          </a:p>
          <a:p>
            <a:pPr algn="just"/>
            <a:r>
              <a:rPr lang="en-US" sz="1800" b="1" dirty="0">
                <a:solidFill>
                  <a:schemeClr val="tx1"/>
                </a:solidFill>
                <a:latin typeface="Times New Roman" panose="02020603050405020304" pitchFamily="18" charset="0"/>
                <a:cs typeface="Times New Roman" panose="02020603050405020304" pitchFamily="18" charset="0"/>
              </a:rPr>
              <a:t>Core Justifications:</a:t>
            </a:r>
            <a:endParaRPr lang="en-US" sz="1800" dirty="0">
              <a:solidFill>
                <a:schemeClr val="tx1"/>
              </a:solidFill>
              <a:latin typeface="Times New Roman" panose="02020603050405020304" pitchFamily="18" charset="0"/>
              <a:cs typeface="Times New Roman" panose="02020603050405020304" pitchFamily="18" charset="0"/>
            </a:endParaRPr>
          </a:p>
          <a:p>
            <a:pPr lvl="0" algn="just"/>
            <a:r>
              <a:rPr lang="en-US" sz="1800" b="1" dirty="0">
                <a:solidFill>
                  <a:schemeClr val="tx1"/>
                </a:solidFill>
                <a:latin typeface="Times New Roman" panose="02020603050405020304" pitchFamily="18" charset="0"/>
                <a:cs typeface="Times New Roman" panose="02020603050405020304" pitchFamily="18" charset="0"/>
              </a:rPr>
              <a:t>Zero Training Latency:</a:t>
            </a:r>
            <a:r>
              <a:rPr lang="en-US" sz="1800" dirty="0">
                <a:solidFill>
                  <a:schemeClr val="tx1"/>
                </a:solidFill>
                <a:latin typeface="Times New Roman" panose="02020603050405020304" pitchFamily="18" charset="0"/>
                <a:cs typeface="Times New Roman" panose="02020603050405020304" pitchFamily="18" charset="0"/>
              </a:rPr>
              <a:t> The model requires no explicit retraining epochs. As soon as a new product or user is added to the database, it is instantly available in the nearest-neighbor search space.</a:t>
            </a:r>
          </a:p>
          <a:p>
            <a:pPr lvl="0" algn="just"/>
            <a:r>
              <a:rPr lang="en-US" sz="1800" b="1" dirty="0">
                <a:solidFill>
                  <a:schemeClr val="tx1"/>
                </a:solidFill>
                <a:latin typeface="Times New Roman" panose="02020603050405020304" pitchFamily="18" charset="0"/>
                <a:cs typeface="Times New Roman" panose="02020603050405020304" pitchFamily="18" charset="0"/>
              </a:rPr>
              <a:t>Intuitive Mimicry of Human Logic:</a:t>
            </a:r>
            <a:r>
              <a:rPr lang="en-US" sz="1800" dirty="0">
                <a:solidFill>
                  <a:schemeClr val="tx1"/>
                </a:solidFill>
                <a:latin typeface="Times New Roman" panose="02020603050405020304" pitchFamily="18" charset="0"/>
                <a:cs typeface="Times New Roman" panose="02020603050405020304" pitchFamily="18" charset="0"/>
              </a:rPr>
              <a:t> KNN mimics natural association. If a user likes a specific sci-fi movie, the algorithm simply calculates the distance to find the 5 movies with the most identical genre, director, and rating attributes.</a:t>
            </a:r>
          </a:p>
          <a:p>
            <a:pPr lvl="0" algn="just"/>
            <a:r>
              <a:rPr lang="en-US" sz="1800" b="1" dirty="0">
                <a:solidFill>
                  <a:schemeClr val="tx1"/>
                </a:solidFill>
                <a:latin typeface="Times New Roman" panose="02020603050405020304" pitchFamily="18" charset="0"/>
                <a:cs typeface="Times New Roman" panose="02020603050405020304" pitchFamily="18" charset="0"/>
              </a:rPr>
              <a:t>Dynamic Adaptation:</a:t>
            </a:r>
            <a:r>
              <a:rPr lang="en-US" sz="1800" dirty="0">
                <a:solidFill>
                  <a:schemeClr val="tx1"/>
                </a:solidFill>
                <a:latin typeface="Times New Roman" panose="02020603050405020304" pitchFamily="18" charset="0"/>
                <a:cs typeface="Times New Roman" panose="02020603050405020304" pitchFamily="18" charset="0"/>
              </a:rPr>
              <a:t> The model’s behavior shifts organically as the underlying data distribution changes over time, without requiring manual model weight updates.</a:t>
            </a:r>
          </a:p>
          <a:p>
            <a:pPr algn="just"/>
            <a:r>
              <a:rPr lang="en-US" sz="1800" b="1" dirty="0">
                <a:solidFill>
                  <a:schemeClr val="tx1"/>
                </a:solidFill>
                <a:latin typeface="Times New Roman" panose="02020603050405020304" pitchFamily="18" charset="0"/>
                <a:cs typeface="Times New Roman" panose="02020603050405020304" pitchFamily="18" charset="0"/>
              </a:rPr>
              <a:t>Additional Examples:</a:t>
            </a:r>
            <a:endParaRPr lang="en-US" sz="1800" dirty="0">
              <a:solidFill>
                <a:schemeClr val="tx1"/>
              </a:solidFill>
              <a:latin typeface="Times New Roman" panose="02020603050405020304" pitchFamily="18" charset="0"/>
              <a:cs typeface="Times New Roman" panose="02020603050405020304" pitchFamily="18" charset="0"/>
            </a:endParaRPr>
          </a:p>
          <a:p>
            <a:pPr lvl="0" algn="just"/>
            <a:r>
              <a:rPr lang="en-US" sz="1800" dirty="0">
                <a:solidFill>
                  <a:schemeClr val="tx1"/>
                </a:solidFill>
                <a:latin typeface="Times New Roman" panose="02020603050405020304" pitchFamily="18" charset="0"/>
                <a:cs typeface="Times New Roman" panose="02020603050405020304" pitchFamily="18" charset="0"/>
              </a:rPr>
              <a:t>Real estate platforms finding "Similar properties in this neighborhood" based on a user's current listing view.</a:t>
            </a:r>
          </a:p>
          <a:p>
            <a:pPr lvl="0" algn="just"/>
            <a:r>
              <a:rPr lang="en-US" sz="1800" dirty="0">
                <a:solidFill>
                  <a:schemeClr val="tx1"/>
                </a:solidFill>
                <a:latin typeface="Times New Roman" panose="02020603050405020304" pitchFamily="18" charset="0"/>
                <a:cs typeface="Times New Roman" panose="02020603050405020304" pitchFamily="18" charset="0"/>
              </a:rPr>
              <a:t>Genetic sequence matching in bioinformatics.</a:t>
            </a:r>
          </a:p>
        </p:txBody>
      </p:sp>
    </p:spTree>
    <p:extLst>
      <p:ext uri="{BB962C8B-B14F-4D97-AF65-F5344CB8AC3E}">
        <p14:creationId xmlns:p14="http://schemas.microsoft.com/office/powerpoint/2010/main" val="153789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077F-3453-53AD-0E5E-627735AD3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03943-E71C-8DDF-72D1-C7079C66DEE1}"/>
              </a:ext>
            </a:extLst>
          </p:cNvPr>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KNN Use Cases (Best)</a:t>
            </a:r>
          </a:p>
        </p:txBody>
      </p:sp>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5223869C-6D45-566F-0DD5-DE9305209F36}"/>
                  </a:ext>
                </a:extLst>
              </p:cNvPr>
              <p:cNvSpPr>
                <a:spLocks noGrp="1"/>
              </p:cNvSpPr>
              <p:nvPr>
                <p:ph type="subTitle" idx="1"/>
              </p:nvPr>
            </p:nvSpPr>
            <p:spPr>
              <a:xfrm>
                <a:off x="228600" y="1143000"/>
                <a:ext cx="8534400" cy="5334000"/>
              </a:xfrm>
            </p:spPr>
            <p:txBody>
              <a:bodyPr>
                <a:normAutofit fontScale="62500" lnSpcReduction="20000"/>
              </a:bodyPr>
              <a:lstStyle/>
              <a:p>
                <a:pPr algn="just"/>
                <a:r>
                  <a:rPr lang="en-US" b="1" dirty="0">
                    <a:solidFill>
                      <a:schemeClr val="tx1"/>
                    </a:solidFill>
                    <a:latin typeface="Times New Roman" panose="02020603050405020304" pitchFamily="18" charset="0"/>
                    <a:cs typeface="Times New Roman" panose="02020603050405020304" pitchFamily="18" charset="0"/>
                  </a:rPr>
                  <a:t>Target Application:</a:t>
                </a:r>
                <a:r>
                  <a:rPr lang="en-US" dirty="0">
                    <a:solidFill>
                      <a:schemeClr val="tx1"/>
                    </a:solidFill>
                    <a:latin typeface="Times New Roman" panose="02020603050405020304" pitchFamily="18" charset="0"/>
                    <a:cs typeface="Times New Roman" panose="02020603050405020304" pitchFamily="18" charset="0"/>
                  </a:rPr>
                  <a:t> Industrial Anomaly Detection (Quality Control)</a:t>
                </a:r>
              </a:p>
              <a:p>
                <a:pPr algn="just"/>
                <a:r>
                  <a:rPr lang="en-US" dirty="0">
                    <a:solidFill>
                      <a:schemeClr val="tx1"/>
                    </a:solidFill>
                    <a:latin typeface="Times New Roman" panose="02020603050405020304" pitchFamily="18" charset="0"/>
                    <a:cs typeface="Times New Roman" panose="02020603050405020304" pitchFamily="18" charset="0"/>
                  </a:rPr>
                  <a:t>When measuring a concentrated set of distinct physical attributes (e.g., weight, length, and thread depth of a machined part), KNN is highly effective at isolating defective outliers.</a:t>
                </a:r>
              </a:p>
              <a:p>
                <a:pPr algn="just"/>
                <a:r>
                  <a:rPr lang="en-US" b="1" dirty="0">
                    <a:solidFill>
                      <a:schemeClr val="tx1"/>
                    </a:solidFill>
                    <a:latin typeface="Times New Roman" panose="02020603050405020304" pitchFamily="18" charset="0"/>
                    <a:cs typeface="Times New Roman" panose="02020603050405020304" pitchFamily="18" charset="0"/>
                  </a:rPr>
                  <a:t>Core Justifications:</a:t>
                </a:r>
                <a:endParaRPr lang="en-US" dirty="0">
                  <a:solidFill>
                    <a:schemeClr val="tx1"/>
                  </a:solidFill>
                  <a:latin typeface="Times New Roman" panose="02020603050405020304" pitchFamily="18" charset="0"/>
                  <a:cs typeface="Times New Roman" panose="02020603050405020304" pitchFamily="18" charset="0"/>
                </a:endParaRPr>
              </a:p>
              <a:p>
                <a:pPr lvl="0" algn="just"/>
                <a:r>
                  <a:rPr lang="en-US" b="1" dirty="0">
                    <a:solidFill>
                      <a:schemeClr val="tx1"/>
                    </a:solidFill>
                    <a:latin typeface="Times New Roman" panose="02020603050405020304" pitchFamily="18" charset="0"/>
                    <a:cs typeface="Times New Roman" panose="02020603050405020304" pitchFamily="18" charset="0"/>
                  </a:rPr>
                  <a:t>Distribution Agnostic:</a:t>
                </a:r>
                <a:r>
                  <a:rPr lang="en-US" dirty="0">
                    <a:solidFill>
                      <a:schemeClr val="tx1"/>
                    </a:solidFill>
                    <a:latin typeface="Times New Roman" panose="02020603050405020304" pitchFamily="18" charset="0"/>
                    <a:cs typeface="Times New Roman" panose="02020603050405020304" pitchFamily="18" charset="0"/>
                  </a:rPr>
                  <a:t> KNN does not assume the "normal" manufacturing parts follow a Gaussian bell curve. It simply evaluates local point densities.</a:t>
                </a:r>
              </a:p>
              <a:p>
                <a:pPr lvl="0" algn="just"/>
                <a:r>
                  <a:rPr lang="en-US" b="1" dirty="0">
                    <a:solidFill>
                      <a:schemeClr val="tx1"/>
                    </a:solidFill>
                    <a:latin typeface="Times New Roman" panose="02020603050405020304" pitchFamily="18" charset="0"/>
                    <a:cs typeface="Times New Roman" panose="02020603050405020304" pitchFamily="18" charset="0"/>
                  </a:rPr>
                  <a:t>Handles Irregular Clusters:</a:t>
                </a:r>
                <a:r>
                  <a:rPr lang="en-US" dirty="0">
                    <a:solidFill>
                      <a:schemeClr val="tx1"/>
                    </a:solidFill>
                    <a:latin typeface="Times New Roman" panose="02020603050405020304" pitchFamily="18" charset="0"/>
                    <a:cs typeface="Times New Roman" panose="02020603050405020304" pitchFamily="18" charset="0"/>
                  </a:rPr>
                  <a:t> It easily identifies non-linear, irregularly shaped clusters of acceptable products that parametric models might misclassify.</a:t>
                </a:r>
              </a:p>
              <a:p>
                <a:pPr lvl="0" algn="just"/>
                <a:r>
                  <a:rPr lang="en-US" b="1" dirty="0">
                    <a:solidFill>
                      <a:schemeClr val="tx1"/>
                    </a:solidFill>
                    <a:latin typeface="Times New Roman" panose="02020603050405020304" pitchFamily="18" charset="0"/>
                    <a:cs typeface="Times New Roman" panose="02020603050405020304" pitchFamily="18" charset="0"/>
                  </a:rPr>
                  <a:t>Simple Thresholding:</a:t>
                </a:r>
                <a:r>
                  <a:rPr lang="en-US" dirty="0">
                    <a:solidFill>
                      <a:schemeClr val="tx1"/>
                    </a:solidFill>
                    <a:latin typeface="Times New Roman" panose="02020603050405020304" pitchFamily="18" charset="0"/>
                    <a:cs typeface="Times New Roman" panose="02020603050405020304" pitchFamily="18" charset="0"/>
                  </a:rPr>
                  <a:t> Quality control systems can easily set anomaly alerts based on a straightforward metric: if the average distance to a part's </a:t>
                </a:r>
                <a14:m>
                  <m:oMath xmlns:m="http://schemas.openxmlformats.org/officeDocument/2006/math">
                    <m:r>
                      <a:rPr lang="en-US" i="1" smtClean="0">
                        <a:solidFill>
                          <a:schemeClr val="tx1"/>
                        </a:solidFill>
                        <a:latin typeface="Cambria Math" panose="02040503050406030204" pitchFamily="18" charset="0"/>
                      </a:rPr>
                      <m:t>𝐾</m:t>
                    </m:r>
                  </m:oMath>
                </a14:m>
                <a:r>
                  <a:rPr lang="en-US" dirty="0">
                    <a:solidFill>
                      <a:schemeClr val="tx1"/>
                    </a:solidFill>
                    <a:latin typeface="Times New Roman" panose="02020603050405020304" pitchFamily="18" charset="0"/>
                    <a:cs typeface="Times New Roman" panose="02020603050405020304" pitchFamily="18" charset="0"/>
                  </a:rPr>
                  <a:t>nearest neighbors exceeds threshold </a:t>
                </a:r>
                <a14:m>
                  <m:oMath xmlns:m="http://schemas.openxmlformats.org/officeDocument/2006/math">
                    <m:r>
                      <a:rPr lang="en-US" i="1" smtClean="0">
                        <a:solidFill>
                          <a:schemeClr val="tx1"/>
                        </a:solidFill>
                        <a:latin typeface="Cambria Math" panose="02040503050406030204" pitchFamily="18" charset="0"/>
                      </a:rPr>
                      <m:t>𝑋</m:t>
                    </m:r>
                  </m:oMath>
                </a14:m>
                <a:r>
                  <a:rPr lang="en-US" dirty="0">
                    <a:solidFill>
                      <a:schemeClr val="tx1"/>
                    </a:solidFill>
                    <a:latin typeface="Times New Roman" panose="02020603050405020304" pitchFamily="18" charset="0"/>
                    <a:cs typeface="Times New Roman" panose="02020603050405020304" pitchFamily="18" charset="0"/>
                  </a:rPr>
                  <a:t>, flag it for manual inspection.</a:t>
                </a:r>
              </a:p>
              <a:p>
                <a:pPr algn="just"/>
                <a:r>
                  <a:rPr lang="en-US" b="1" dirty="0">
                    <a:solidFill>
                      <a:schemeClr val="tx1"/>
                    </a:solidFill>
                    <a:latin typeface="Times New Roman" panose="02020603050405020304" pitchFamily="18" charset="0"/>
                    <a:cs typeface="Times New Roman" panose="02020603050405020304" pitchFamily="18" charset="0"/>
                  </a:rPr>
                  <a:t>Additional Examples:</a:t>
                </a:r>
                <a:endParaRPr lang="en-US" dirty="0">
                  <a:solidFill>
                    <a:schemeClr val="tx1"/>
                  </a:solidFill>
                  <a:latin typeface="Times New Roman" panose="02020603050405020304" pitchFamily="18" charset="0"/>
                  <a:cs typeface="Times New Roman" panose="02020603050405020304" pitchFamily="18" charset="0"/>
                </a:endParaRPr>
              </a:p>
              <a:p>
                <a:pPr lvl="0" algn="just"/>
                <a:r>
                  <a:rPr lang="en-US" dirty="0">
                    <a:solidFill>
                      <a:schemeClr val="tx1"/>
                    </a:solidFill>
                    <a:latin typeface="Times New Roman" panose="02020603050405020304" pitchFamily="18" charset="0"/>
                    <a:cs typeface="Times New Roman" panose="02020603050405020304" pitchFamily="18" charset="0"/>
                  </a:rPr>
                  <a:t>Detecting abnormal server network traffic based on packet size and request frequency.</a:t>
                </a:r>
              </a:p>
              <a:p>
                <a:pPr lvl="0" algn="just"/>
                <a:r>
                  <a:rPr lang="en-US" dirty="0">
                    <a:solidFill>
                      <a:schemeClr val="tx1"/>
                    </a:solidFill>
                    <a:latin typeface="Times New Roman" panose="02020603050405020304" pitchFamily="18" charset="0"/>
                    <a:cs typeface="Times New Roman" panose="02020603050405020304" pitchFamily="18" charset="0"/>
                  </a:rPr>
                  <a:t>Identifying fraudulent insurance claims based on a small set of financial indicators.</a:t>
                </a:r>
              </a:p>
            </p:txBody>
          </p:sp>
        </mc:Choice>
        <mc:Fallback>
          <p:sp>
            <p:nvSpPr>
              <p:cNvPr id="3" name="Subtitle 2">
                <a:extLst>
                  <a:ext uri="{FF2B5EF4-FFF2-40B4-BE49-F238E27FC236}">
                    <a16:creationId xmlns:a16="http://schemas.microsoft.com/office/drawing/2014/main" id="{5223869C-6D45-566F-0DD5-DE9305209F36}"/>
                  </a:ext>
                </a:extLst>
              </p:cNvPr>
              <p:cNvSpPr>
                <a:spLocks noGrp="1" noRot="1" noChangeAspect="1" noMove="1" noResize="1" noEditPoints="1" noAdjustHandles="1" noChangeArrowheads="1" noChangeShapeType="1" noTextEdit="1"/>
              </p:cNvSpPr>
              <p:nvPr>
                <p:ph type="subTitle" idx="1"/>
              </p:nvPr>
            </p:nvSpPr>
            <p:spPr>
              <a:xfrm>
                <a:off x="228600" y="1143000"/>
                <a:ext cx="8534400" cy="5334000"/>
              </a:xfrm>
              <a:blipFill>
                <a:blip r:embed="rId2"/>
                <a:stretch>
                  <a:fillRect l="-786" t="-1829" r="-714"/>
                </a:stretch>
              </a:blipFill>
            </p:spPr>
            <p:txBody>
              <a:bodyPr/>
              <a:lstStyle/>
              <a:p>
                <a:r>
                  <a:rPr lang="en-US">
                    <a:noFill/>
                  </a:rPr>
                  <a:t> </a:t>
                </a:r>
              </a:p>
            </p:txBody>
          </p:sp>
        </mc:Fallback>
      </mc:AlternateContent>
    </p:spTree>
    <p:extLst>
      <p:ext uri="{BB962C8B-B14F-4D97-AF65-F5344CB8AC3E}">
        <p14:creationId xmlns:p14="http://schemas.microsoft.com/office/powerpoint/2010/main" val="1608781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1B6EC-351D-4974-E6D3-D54B1FEC1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13570-989E-3C28-9C43-9DB8D00E418E}"/>
              </a:ext>
            </a:extLst>
          </p:cNvPr>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KNN Use Cases (Worst)</a:t>
            </a:r>
          </a:p>
        </p:txBody>
      </p:sp>
      <p:sp>
        <p:nvSpPr>
          <p:cNvPr id="3" name="Subtitle 2">
            <a:extLst>
              <a:ext uri="{FF2B5EF4-FFF2-40B4-BE49-F238E27FC236}">
                <a16:creationId xmlns:a16="http://schemas.microsoft.com/office/drawing/2014/main" id="{71F417C9-583E-A78C-B515-56C8BE8F42E8}"/>
              </a:ext>
            </a:extLst>
          </p:cNvPr>
          <p:cNvSpPr>
            <a:spLocks noGrp="1"/>
          </p:cNvSpPr>
          <p:nvPr>
            <p:ph type="subTitle" idx="1"/>
          </p:nvPr>
        </p:nvSpPr>
        <p:spPr>
          <a:xfrm>
            <a:off x="228600" y="1143000"/>
            <a:ext cx="8534400" cy="53340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Target Application:</a:t>
            </a:r>
            <a:r>
              <a:rPr lang="en-US" sz="1800" dirty="0">
                <a:solidFill>
                  <a:schemeClr val="tx1"/>
                </a:solidFill>
                <a:latin typeface="Times New Roman" panose="02020603050405020304" pitchFamily="18" charset="0"/>
                <a:cs typeface="Times New Roman" panose="02020603050405020304" pitchFamily="18" charset="0"/>
              </a:rPr>
              <a:t> High-Dimensional Text Classification (NLP)</a:t>
            </a:r>
          </a:p>
          <a:p>
            <a:pPr algn="just"/>
            <a:r>
              <a:rPr lang="en-US" sz="1800" dirty="0">
                <a:solidFill>
                  <a:schemeClr val="tx1"/>
                </a:solidFill>
                <a:latin typeface="Times New Roman" panose="02020603050405020304" pitchFamily="18" charset="0"/>
                <a:cs typeface="Times New Roman" panose="02020603050405020304" pitchFamily="18" charset="0"/>
              </a:rPr>
              <a:t>Text data requires vectorizing documents into thousands of dimensions (e.g., TF-IDF matrices). KNN suffers catastrophic performance degradation in these spaces due to the "Curse of Dimensionality."</a:t>
            </a:r>
          </a:p>
          <a:p>
            <a:pPr algn="just"/>
            <a:r>
              <a:rPr lang="en-US" sz="1800" b="1" dirty="0">
                <a:solidFill>
                  <a:schemeClr val="tx1"/>
                </a:solidFill>
                <a:latin typeface="Times New Roman" panose="02020603050405020304" pitchFamily="18" charset="0"/>
                <a:cs typeface="Times New Roman" panose="02020603050405020304" pitchFamily="18" charset="0"/>
              </a:rPr>
              <a:t>Core Justifications:</a:t>
            </a:r>
            <a:endParaRPr lang="en-US" sz="1800" dirty="0">
              <a:solidFill>
                <a:schemeClr val="tx1"/>
              </a:solidFill>
              <a:latin typeface="Times New Roman" panose="02020603050405020304" pitchFamily="18" charset="0"/>
              <a:cs typeface="Times New Roman" panose="02020603050405020304" pitchFamily="18" charset="0"/>
            </a:endParaRPr>
          </a:p>
          <a:p>
            <a:pPr lvl="0" algn="just"/>
            <a:r>
              <a:rPr lang="en-US" sz="1800" b="1" dirty="0">
                <a:solidFill>
                  <a:schemeClr val="tx1"/>
                </a:solidFill>
                <a:latin typeface="Times New Roman" panose="02020603050405020304" pitchFamily="18" charset="0"/>
                <a:cs typeface="Times New Roman" panose="02020603050405020304" pitchFamily="18" charset="0"/>
              </a:rPr>
              <a:t>Distance Metric Breakdown:</a:t>
            </a:r>
            <a:r>
              <a:rPr lang="en-US" sz="1800" dirty="0">
                <a:solidFill>
                  <a:schemeClr val="tx1"/>
                </a:solidFill>
                <a:latin typeface="Times New Roman" panose="02020603050405020304" pitchFamily="18" charset="0"/>
                <a:cs typeface="Times New Roman" panose="02020603050405020304" pitchFamily="18" charset="0"/>
              </a:rPr>
              <a:t> In highly dimensional spaces, the volume of the feature space expands exponentially. The mathematical distance between the nearest neighbor and the farthest neighbor converges, rendering similarity calculations meaningless.</a:t>
            </a:r>
          </a:p>
          <a:p>
            <a:pPr lvl="0" algn="just"/>
            <a:r>
              <a:rPr lang="en-US" sz="1800" b="1" dirty="0">
                <a:solidFill>
                  <a:schemeClr val="tx1"/>
                </a:solidFill>
                <a:latin typeface="Times New Roman" panose="02020603050405020304" pitchFamily="18" charset="0"/>
                <a:cs typeface="Times New Roman" panose="02020603050405020304" pitchFamily="18" charset="0"/>
              </a:rPr>
              <a:t>Severe Sparsity:</a:t>
            </a:r>
            <a:r>
              <a:rPr lang="en-US" sz="1800" dirty="0">
                <a:solidFill>
                  <a:schemeClr val="tx1"/>
                </a:solidFill>
                <a:latin typeface="Times New Roman" panose="02020603050405020304" pitchFamily="18" charset="0"/>
                <a:cs typeface="Times New Roman" panose="02020603050405020304" pitchFamily="18" charset="0"/>
              </a:rPr>
              <a:t> High-dimensional spaces are incredibly empty. Finding a genuinely "close" neighbor requires an exponentially massive, often computationally impossible, dataset.</a:t>
            </a:r>
          </a:p>
          <a:p>
            <a:pPr lvl="0" algn="just"/>
            <a:r>
              <a:rPr lang="en-US" sz="1800" b="1" dirty="0">
                <a:solidFill>
                  <a:schemeClr val="tx1"/>
                </a:solidFill>
                <a:latin typeface="Times New Roman" panose="02020603050405020304" pitchFamily="18" charset="0"/>
                <a:cs typeface="Times New Roman" panose="02020603050405020304" pitchFamily="18" charset="0"/>
              </a:rPr>
              <a:t>Memory Exhaustion:</a:t>
            </a:r>
            <a:r>
              <a:rPr lang="en-US" sz="1800" dirty="0">
                <a:solidFill>
                  <a:schemeClr val="tx1"/>
                </a:solidFill>
                <a:latin typeface="Times New Roman" panose="02020603050405020304" pitchFamily="18" charset="0"/>
                <a:cs typeface="Times New Roman" panose="02020603050405020304" pitchFamily="18" charset="0"/>
              </a:rPr>
              <a:t> Storing hundreds of thousands of dense document vectors in active RAM to perform real-time distance calculations for every single query is highly inefficient and expensive.</a:t>
            </a:r>
          </a:p>
          <a:p>
            <a:pPr algn="just"/>
            <a:r>
              <a:rPr lang="en-US" sz="1800" b="1" dirty="0">
                <a:solidFill>
                  <a:schemeClr val="tx1"/>
                </a:solidFill>
                <a:latin typeface="Times New Roman" panose="02020603050405020304" pitchFamily="18" charset="0"/>
                <a:cs typeface="Times New Roman" panose="02020603050405020304" pitchFamily="18" charset="0"/>
              </a:rPr>
              <a:t>Additional Examples:</a:t>
            </a:r>
            <a:endParaRPr lang="en-US" sz="1800" dirty="0">
              <a:solidFill>
                <a:schemeClr val="tx1"/>
              </a:solidFill>
              <a:latin typeface="Times New Roman" panose="02020603050405020304" pitchFamily="18" charset="0"/>
              <a:cs typeface="Times New Roman" panose="02020603050405020304" pitchFamily="18" charset="0"/>
            </a:endParaRPr>
          </a:p>
          <a:p>
            <a:pPr lvl="0" algn="just"/>
            <a:r>
              <a:rPr lang="en-US" sz="1800" dirty="0">
                <a:solidFill>
                  <a:schemeClr val="tx1"/>
                </a:solidFill>
                <a:latin typeface="Times New Roman" panose="02020603050405020304" pitchFamily="18" charset="0"/>
                <a:cs typeface="Times New Roman" panose="02020603050405020304" pitchFamily="18" charset="0"/>
              </a:rPr>
              <a:t>Classifying high-resolution medical MRI scans without prior dimensionality reduction.</a:t>
            </a:r>
          </a:p>
          <a:p>
            <a:pPr lvl="0" algn="just"/>
            <a:r>
              <a:rPr lang="en-US" sz="1800" dirty="0">
                <a:solidFill>
                  <a:schemeClr val="tx1"/>
                </a:solidFill>
                <a:latin typeface="Times New Roman" panose="02020603050405020304" pitchFamily="18" charset="0"/>
                <a:cs typeface="Times New Roman" panose="02020603050405020304" pitchFamily="18" charset="0"/>
              </a:rPr>
              <a:t>Microarray gene expression analysis with tens of thousands of features.</a:t>
            </a:r>
          </a:p>
        </p:txBody>
      </p:sp>
    </p:spTree>
    <p:extLst>
      <p:ext uri="{BB962C8B-B14F-4D97-AF65-F5344CB8AC3E}">
        <p14:creationId xmlns:p14="http://schemas.microsoft.com/office/powerpoint/2010/main" val="1676505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844D-45CE-CA88-6556-3D6E70F0B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01A98-9507-7911-1FE5-9F9C65E90A9F}"/>
              </a:ext>
            </a:extLst>
          </p:cNvPr>
          <p:cNvSpPr>
            <a:spLocks noGrp="1"/>
          </p:cNvSpPr>
          <p:nvPr>
            <p:ph type="ctrTitle"/>
          </p:nvPr>
        </p:nvSpPr>
        <p:spPr>
          <a:xfrm>
            <a:off x="1600200" y="381000"/>
            <a:ext cx="6096000" cy="708025"/>
          </a:xfrm>
        </p:spPr>
        <p:txBody>
          <a:bodyPr>
            <a:normAutofit fontScale="90000"/>
          </a:bodyPr>
          <a:lstStyle/>
          <a:p>
            <a:r>
              <a:rPr lang="en-US" sz="3200" dirty="0"/>
              <a:t>Metric Learning &amp; </a:t>
            </a:r>
            <a:r>
              <a:rPr lang="en-US" sz="3200" dirty="0" err="1"/>
              <a:t>Mahalanobis</a:t>
            </a:r>
            <a:r>
              <a:rPr lang="en-US" sz="3200" dirty="0"/>
              <a:t> Distance Optimization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16686E1C-77B1-9F89-0818-5B1874B85DF4}"/>
                  </a:ext>
                </a:extLst>
              </p:cNvPr>
              <p:cNvSpPr>
                <a:spLocks noGrp="1"/>
              </p:cNvSpPr>
              <p:nvPr>
                <p:ph type="subTitle" idx="1"/>
              </p:nvPr>
            </p:nvSpPr>
            <p:spPr>
              <a:xfrm>
                <a:off x="228600" y="1143000"/>
                <a:ext cx="8534400" cy="5334000"/>
              </a:xfrm>
            </p:spPr>
            <p:txBody>
              <a:bodyPr>
                <a:normAutofit/>
              </a:bodyPr>
              <a:lstStyle/>
              <a:p>
                <a:pPr algn="just"/>
                <a:r>
                  <a:rPr lang="en-US" sz="1800" dirty="0">
                    <a:solidFill>
                      <a:schemeClr val="tx1"/>
                    </a:solidFill>
                  </a:rPr>
                  <a:t>Standard KNN relies on isotropic distance metrics like Euclidean distance, which treat all orthogonal dimensions equally. In real-world data, variance is directional, and certain features are vastly more discriminative than others. Metric learning algorithms optimize the distance function itself directly from the training data.</a:t>
                </a:r>
              </a:p>
              <a:p>
                <a:pPr lvl="0" algn="just"/>
                <a:r>
                  <a:rPr lang="en-US" sz="1800" b="1" dirty="0" err="1">
                    <a:solidFill>
                      <a:schemeClr val="tx1"/>
                    </a:solidFill>
                  </a:rPr>
                  <a:t>Mahalanobis</a:t>
                </a:r>
                <a:r>
                  <a:rPr lang="en-US" sz="1800" b="1" dirty="0">
                    <a:solidFill>
                      <a:schemeClr val="tx1"/>
                    </a:solidFill>
                  </a:rPr>
                  <a:t> Distance:</a:t>
                </a:r>
                <a:r>
                  <a:rPr lang="en-US" sz="1800" dirty="0">
                    <a:solidFill>
                      <a:schemeClr val="tx1"/>
                    </a:solidFill>
                  </a:rPr>
                  <a:t> Generalizes Euclidean distance by incorporating a positive semi-definite covariance matrix </a:t>
                </a:r>
                <a14:m>
                  <m:oMath xmlns:m="http://schemas.openxmlformats.org/officeDocument/2006/math">
                    <m:r>
                      <a:rPr lang="en-US" sz="1800" i="1">
                        <a:solidFill>
                          <a:schemeClr val="tx1"/>
                        </a:solidFill>
                        <a:latin typeface="Cambria Math" panose="02040503050406030204" pitchFamily="18" charset="0"/>
                      </a:rPr>
                      <m:t>𝑀</m:t>
                    </m:r>
                  </m:oMath>
                </a14:m>
                <a:r>
                  <a:rPr lang="en-US" sz="1800" dirty="0">
                    <a:solidFill>
                      <a:schemeClr val="tx1"/>
                    </a:solidFill>
                  </a:rPr>
                  <a:t>: </a:t>
                </a:r>
                <a14:m>
                  <m:oMath xmlns:m="http://schemas.openxmlformats.org/officeDocument/2006/math">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𝑑</m:t>
                        </m:r>
                      </m:e>
                      <m:sub>
                        <m:r>
                          <a:rPr lang="en-US" sz="1800" i="1">
                            <a:solidFill>
                              <a:schemeClr val="tx1"/>
                            </a:solidFill>
                            <a:latin typeface="Cambria Math" panose="02040503050406030204" pitchFamily="18" charset="0"/>
                          </a:rPr>
                          <m:t>𝑀</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𝑥</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𝑦</m:t>
                        </m:r>
                      </m:e>
                    </m:d>
                    <m:r>
                      <a:rPr lang="en-US" sz="1800">
                        <a:solidFill>
                          <a:schemeClr val="tx1"/>
                        </a:solidFill>
                        <a:latin typeface="Cambria Math" panose="02040503050406030204" pitchFamily="18" charset="0"/>
                      </a:rPr>
                      <m:t>=</m:t>
                    </m:r>
                    <m:rad>
                      <m:radPr>
                        <m:degHide m:val="on"/>
                        <m:ctrlPr>
                          <a:rPr lang="en-US" sz="1800" i="1">
                            <a:solidFill>
                              <a:schemeClr val="tx1"/>
                            </a:solidFill>
                            <a:latin typeface="Cambria Math" panose="02040503050406030204" pitchFamily="18" charset="0"/>
                          </a:rPr>
                        </m:ctrlPr>
                      </m:radPr>
                      <m:deg/>
                      <m:e>
                        <m:sSup>
                          <m:sSupPr>
                            <m:ctrlPr>
                              <a:rPr lang="en-US" sz="1800" i="1">
                                <a:solidFill>
                                  <a:schemeClr val="tx1"/>
                                </a:solidFill>
                                <a:latin typeface="Cambria Math" panose="02040503050406030204" pitchFamily="18" charset="0"/>
                              </a:rPr>
                            </m:ctrlPr>
                          </m:sSupPr>
                          <m:e>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𝑥</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𝑦</m:t>
                                </m:r>
                              </m:e>
                            </m:d>
                          </m:e>
                          <m:sup>
                            <m:r>
                              <a:rPr lang="en-US" sz="1800" i="1">
                                <a:solidFill>
                                  <a:schemeClr val="tx1"/>
                                </a:solidFill>
                                <a:latin typeface="Cambria Math" panose="02040503050406030204" pitchFamily="18" charset="0"/>
                              </a:rPr>
                              <m:t>𝑇</m:t>
                            </m:r>
                          </m:sup>
                        </m:sSup>
                        <m:r>
                          <a:rPr lang="en-US" sz="1800" i="1">
                            <a:solidFill>
                              <a:schemeClr val="tx1"/>
                            </a:solidFill>
                            <a:latin typeface="Cambria Math" panose="02040503050406030204" pitchFamily="18" charset="0"/>
                          </a:rPr>
                          <m:t>𝑀</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𝑥</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𝑦</m:t>
                            </m:r>
                          </m:e>
                        </m:d>
                      </m:e>
                    </m:rad>
                  </m:oMath>
                </a14:m>
                <a:r>
                  <a:rPr lang="en-US" sz="1800" dirty="0">
                    <a:solidFill>
                      <a:schemeClr val="tx1"/>
                    </a:solidFill>
                  </a:rPr>
                  <a:t>.</a:t>
                </a:r>
              </a:p>
              <a:p>
                <a:pPr lvl="0" algn="just"/>
                <a:r>
                  <a:rPr lang="en-US" sz="1800" b="1" dirty="0">
                    <a:solidFill>
                      <a:schemeClr val="tx1"/>
                    </a:solidFill>
                  </a:rPr>
                  <a:t>Large Margin Nearest Neighbor (LMNN):</a:t>
                </a:r>
                <a:r>
                  <a:rPr lang="en-US" sz="1800" dirty="0">
                    <a:solidFill>
                      <a:schemeClr val="tx1"/>
                    </a:solidFill>
                  </a:rPr>
                  <a:t> A prominent metric learning algorithm that optimizes </a:t>
                </a:r>
                <a14:m>
                  <m:oMath xmlns:m="http://schemas.openxmlformats.org/officeDocument/2006/math">
                    <m:r>
                      <a:rPr lang="en-US" sz="1800" i="1">
                        <a:solidFill>
                          <a:schemeClr val="tx1"/>
                        </a:solidFill>
                        <a:latin typeface="Cambria Math" panose="02040503050406030204" pitchFamily="18" charset="0"/>
                      </a:rPr>
                      <m:t>𝑀</m:t>
                    </m:r>
                  </m:oMath>
                </a14:m>
                <a:r>
                  <a:rPr lang="en-US" sz="1800" dirty="0">
                    <a:solidFill>
                      <a:schemeClr val="tx1"/>
                    </a:solidFill>
                  </a:rPr>
                  <a:t>such that the </a:t>
                </a:r>
                <a14:m>
                  <m:oMath xmlns:m="http://schemas.openxmlformats.org/officeDocument/2006/math">
                    <m:r>
                      <a:rPr lang="en-US" sz="1800" i="1">
                        <a:solidFill>
                          <a:schemeClr val="tx1"/>
                        </a:solidFill>
                        <a:latin typeface="Cambria Math" panose="02040503050406030204" pitchFamily="18" charset="0"/>
                      </a:rPr>
                      <m:t>𝑘</m:t>
                    </m:r>
                  </m:oMath>
                </a14:m>
                <a:r>
                  <a:rPr lang="en-US" sz="1800" dirty="0">
                    <a:solidFill>
                      <a:schemeClr val="tx1"/>
                    </a:solidFill>
                  </a:rPr>
                  <a:t>target neighbors (same class) are pulled tightly together, while impostor points (different class) are pushed beyond a heavily penalized safety margin.</a:t>
                </a:r>
              </a:p>
              <a:p>
                <a:pPr lvl="0" algn="just"/>
                <a:r>
                  <a:rPr lang="en-US" sz="1800" b="1" dirty="0">
                    <a:solidFill>
                      <a:schemeClr val="tx1"/>
                    </a:solidFill>
                  </a:rPr>
                  <a:t>Information-Theoretic Metric Learning (ITML):</a:t>
                </a:r>
                <a:r>
                  <a:rPr lang="en-US" sz="1800" dirty="0">
                    <a:solidFill>
                      <a:schemeClr val="tx1"/>
                    </a:solidFill>
                  </a:rPr>
                  <a:t> Formulates metric learning as minimizing the </a:t>
                </a:r>
                <a:r>
                  <a:rPr lang="en-US" sz="1800" dirty="0" err="1">
                    <a:solidFill>
                      <a:schemeClr val="tx1"/>
                    </a:solidFill>
                  </a:rPr>
                  <a:t>LogDet</a:t>
                </a:r>
                <a:r>
                  <a:rPr lang="en-US" sz="1800" dirty="0">
                    <a:solidFill>
                      <a:schemeClr val="tx1"/>
                    </a:solidFill>
                  </a:rPr>
                  <a:t> divergence between a prior covariance matrix and the learned matrix, constrained by upper bounds on distances between similar pairs.</a:t>
                </a:r>
              </a:p>
            </p:txBody>
          </p:sp>
        </mc:Choice>
        <mc:Fallback xmlns="">
          <p:sp>
            <p:nvSpPr>
              <p:cNvPr id="3" name="Subtitle 2">
                <a:extLst>
                  <a:ext uri="{FF2B5EF4-FFF2-40B4-BE49-F238E27FC236}">
                    <a16:creationId xmlns:a16="http://schemas.microsoft.com/office/drawing/2014/main" id="{16686E1C-77B1-9F89-0818-5B1874B85DF4}"/>
                  </a:ext>
                </a:extLst>
              </p:cNvPr>
              <p:cNvSpPr>
                <a:spLocks noGrp="1" noRot="1" noChangeAspect="1" noMove="1" noResize="1" noEditPoints="1" noAdjustHandles="1" noChangeArrowheads="1" noChangeShapeType="1" noTextEdit="1"/>
              </p:cNvSpPr>
              <p:nvPr>
                <p:ph type="subTitle" idx="1"/>
              </p:nvPr>
            </p:nvSpPr>
            <p:spPr>
              <a:xfrm>
                <a:off x="228600" y="1143000"/>
                <a:ext cx="8534400" cy="5334000"/>
              </a:xfrm>
              <a:blipFill>
                <a:blip r:embed="rId2"/>
                <a:stretch>
                  <a:fillRect l="-643" t="-686" r="-571"/>
                </a:stretch>
              </a:blipFill>
            </p:spPr>
            <p:txBody>
              <a:bodyPr/>
              <a:lstStyle/>
              <a:p>
                <a:r>
                  <a:rPr lang="en-US">
                    <a:noFill/>
                  </a:rPr>
                  <a:t> </a:t>
                </a:r>
              </a:p>
            </p:txBody>
          </p:sp>
        </mc:Fallback>
      </mc:AlternateContent>
    </p:spTree>
    <p:extLst>
      <p:ext uri="{BB962C8B-B14F-4D97-AF65-F5344CB8AC3E}">
        <p14:creationId xmlns:p14="http://schemas.microsoft.com/office/powerpoint/2010/main" val="2760044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AF2B9-F6AA-2432-29D1-005F82345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1D9F4-D375-BD41-9D24-C191B8D06D36}"/>
              </a:ext>
            </a:extLst>
          </p:cNvPr>
          <p:cNvSpPr>
            <a:spLocks noGrp="1"/>
          </p:cNvSpPr>
          <p:nvPr>
            <p:ph type="ctrTitle"/>
          </p:nvPr>
        </p:nvSpPr>
        <p:spPr>
          <a:xfrm>
            <a:off x="1600200" y="381000"/>
            <a:ext cx="6096000" cy="708025"/>
          </a:xfrm>
        </p:spPr>
        <p:txBody>
          <a:bodyPr>
            <a:normAutofit fontScale="90000"/>
          </a:bodyPr>
          <a:lstStyle/>
          <a:p>
            <a:r>
              <a:rPr lang="en-US" sz="3200" dirty="0"/>
              <a:t>Approximate Nearest Neighbors (ANN) in High Dimensions</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4B52757-A6CB-AB5A-AF2D-3CCF627F342F}"/>
                  </a:ext>
                </a:extLst>
              </p:cNvPr>
              <p:cNvSpPr>
                <a:spLocks noGrp="1"/>
              </p:cNvSpPr>
              <p:nvPr>
                <p:ph type="subTitle" idx="1"/>
              </p:nvPr>
            </p:nvSpPr>
            <p:spPr>
              <a:xfrm>
                <a:off x="228600" y="1143000"/>
                <a:ext cx="8534400" cy="5334000"/>
              </a:xfrm>
            </p:spPr>
            <p:txBody>
              <a:bodyPr>
                <a:normAutofit/>
              </a:bodyPr>
              <a:lstStyle/>
              <a:p>
                <a:pPr algn="just"/>
                <a:r>
                  <a:rPr lang="en-US" sz="1800" dirty="0">
                    <a:solidFill>
                      <a:schemeClr val="tx1"/>
                    </a:solidFill>
                  </a:rPr>
                  <a:t>Exact KNN has an inference complexity of </a:t>
                </a:r>
                <a14:m>
                  <m:oMath xmlns:m="http://schemas.openxmlformats.org/officeDocument/2006/math">
                    <m:r>
                      <a:rPr lang="en-US" sz="1800">
                        <a:solidFill>
                          <a:schemeClr val="tx1"/>
                        </a:solidFill>
                        <a:latin typeface="Cambria Math" panose="02040503050406030204" pitchFamily="18" charset="0"/>
                      </a:rPr>
                      <m:t>𝒪</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𝑚</m:t>
                        </m:r>
                        <m:r>
                          <a:rPr lang="en-US" sz="1800">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𝑑</m:t>
                        </m:r>
                      </m:e>
                    </m:d>
                  </m:oMath>
                </a14:m>
                <a:r>
                  <a:rPr lang="en-US" sz="1800" dirty="0">
                    <a:solidFill>
                      <a:schemeClr val="tx1"/>
                    </a:solidFill>
                  </a:rPr>
                  <a:t>, requiring linear scans over the entire dataset. In modern research involving billions of high-dimensional dense vectors (e.g., LLM embeddings, image features), exact search is computationally intractable. Approximate Nearest Neighbor (ANN) algorithms trade marginal precision for exponential speedups.</a:t>
                </a:r>
              </a:p>
              <a:p>
                <a:pPr lvl="0" algn="just"/>
                <a:r>
                  <a:rPr lang="en-US" sz="1800" b="1" dirty="0">
                    <a:solidFill>
                      <a:schemeClr val="tx1"/>
                    </a:solidFill>
                  </a:rPr>
                  <a:t>Hierarchical Navigable Small World (HNSW):</a:t>
                </a:r>
                <a:r>
                  <a:rPr lang="en-US" sz="1800" dirty="0">
                    <a:solidFill>
                      <a:schemeClr val="tx1"/>
                    </a:solidFill>
                  </a:rPr>
                  <a:t> A state-of-the-art graph-based algorithm that builds a multi-layered proximity graph. Search begins at a sparse top layer and routes greedily downward, achieving </a:t>
                </a:r>
                <a14:m>
                  <m:oMath xmlns:m="http://schemas.openxmlformats.org/officeDocument/2006/math">
                    <m:r>
                      <a:rPr lang="en-US" sz="1800">
                        <a:solidFill>
                          <a:schemeClr val="tx1"/>
                        </a:solidFill>
                        <a:latin typeface="Cambria Math" panose="02040503050406030204" pitchFamily="18" charset="0"/>
                      </a:rPr>
                      <m:t>𝒪</m:t>
                    </m:r>
                    <m:d>
                      <m:dPr>
                        <m:ctrlPr>
                          <a:rPr lang="en-US" sz="1800" i="1">
                            <a:solidFill>
                              <a:schemeClr val="tx1"/>
                            </a:solidFill>
                            <a:latin typeface="Cambria Math" panose="02040503050406030204" pitchFamily="18" charset="0"/>
                          </a:rPr>
                        </m:ctrlPr>
                      </m:dPr>
                      <m:e>
                        <m:func>
                          <m:funcPr>
                            <m:ctrlPr>
                              <a:rPr lang="en-US" sz="1800">
                                <a:solidFill>
                                  <a:schemeClr val="tx1"/>
                                </a:solidFill>
                                <a:latin typeface="Cambria Math" panose="02040503050406030204" pitchFamily="18" charset="0"/>
                              </a:rPr>
                            </m:ctrlPr>
                          </m:funcPr>
                          <m:fName>
                            <m:r>
                              <m:rPr>
                                <m:sty m:val="p"/>
                              </m:rPr>
                              <a:rPr lang="en-US" sz="1800">
                                <a:solidFill>
                                  <a:schemeClr val="tx1"/>
                                </a:solidFill>
                                <a:latin typeface="Cambria Math" panose="02040503050406030204" pitchFamily="18" charset="0"/>
                              </a:rPr>
                              <m:t>log</m:t>
                            </m:r>
                          </m:fName>
                          <m:e>
                            <m:r>
                              <a:rPr lang="en-US" sz="1800" i="1">
                                <a:solidFill>
                                  <a:schemeClr val="tx1"/>
                                </a:solidFill>
                                <a:latin typeface="Cambria Math" panose="02040503050406030204" pitchFamily="18" charset="0"/>
                              </a:rPr>
                              <m:t>𝑚</m:t>
                            </m:r>
                          </m:e>
                        </m:func>
                      </m:e>
                    </m:d>
                  </m:oMath>
                </a14:m>
                <a:r>
                  <a:rPr lang="en-US" sz="1800" dirty="0">
                    <a:solidFill>
                      <a:schemeClr val="tx1"/>
                    </a:solidFill>
                  </a:rPr>
                  <a:t>logarithmic search time.</a:t>
                </a:r>
              </a:p>
              <a:p>
                <a:pPr lvl="0" algn="just"/>
                <a:r>
                  <a:rPr lang="en-US" sz="1800" b="1" dirty="0">
                    <a:solidFill>
                      <a:schemeClr val="tx1"/>
                    </a:solidFill>
                  </a:rPr>
                  <a:t>Product Quantization (PQ):</a:t>
                </a:r>
                <a:r>
                  <a:rPr lang="en-US" sz="1800" dirty="0">
                    <a:solidFill>
                      <a:schemeClr val="tx1"/>
                    </a:solidFill>
                  </a:rPr>
                  <a:t> A compression technique used in Facebook's FAISS library. It splits high-dimensional vectors into distinct sub-vectors and clusters them independently, computing distances via pre-calculated lookup tables to bypass intensive floating-point arithmetic.</a:t>
                </a:r>
              </a:p>
              <a:p>
                <a:pPr lvl="0" algn="just"/>
                <a:r>
                  <a:rPr lang="en-US" sz="1800" b="1" dirty="0">
                    <a:solidFill>
                      <a:schemeClr val="tx1"/>
                    </a:solidFill>
                  </a:rPr>
                  <a:t>Locality Sensitive Hashing (LSH):</a:t>
                </a:r>
                <a:r>
                  <a:rPr lang="en-US" sz="1800" dirty="0">
                    <a:solidFill>
                      <a:schemeClr val="tx1"/>
                    </a:solidFill>
                  </a:rPr>
                  <a:t> Uses specialized hash functions that guarantee similar items collide in the same hash buckets with high probability, reducing the search space to only the instances within the query's bucket.</a:t>
                </a:r>
              </a:p>
            </p:txBody>
          </p:sp>
        </mc:Choice>
        <mc:Fallback xmlns="">
          <p:sp>
            <p:nvSpPr>
              <p:cNvPr id="3" name="Subtitle 2">
                <a:extLst>
                  <a:ext uri="{FF2B5EF4-FFF2-40B4-BE49-F238E27FC236}">
                    <a16:creationId xmlns:a16="http://schemas.microsoft.com/office/drawing/2014/main" id="{C4B52757-A6CB-AB5A-AF2D-3CCF627F342F}"/>
                  </a:ext>
                </a:extLst>
              </p:cNvPr>
              <p:cNvSpPr>
                <a:spLocks noGrp="1" noRot="1" noChangeAspect="1" noMove="1" noResize="1" noEditPoints="1" noAdjustHandles="1" noChangeArrowheads="1" noChangeShapeType="1" noTextEdit="1"/>
              </p:cNvSpPr>
              <p:nvPr>
                <p:ph type="subTitle" idx="1"/>
              </p:nvPr>
            </p:nvSpPr>
            <p:spPr>
              <a:xfrm>
                <a:off x="228600" y="1143000"/>
                <a:ext cx="8534400" cy="5334000"/>
              </a:xfrm>
              <a:blipFill>
                <a:blip r:embed="rId2"/>
                <a:stretch>
                  <a:fillRect l="-643" t="-686" r="-571"/>
                </a:stretch>
              </a:blipFill>
            </p:spPr>
            <p:txBody>
              <a:bodyPr/>
              <a:lstStyle/>
              <a:p>
                <a:r>
                  <a:rPr lang="en-US">
                    <a:noFill/>
                  </a:rPr>
                  <a:t> </a:t>
                </a:r>
              </a:p>
            </p:txBody>
          </p:sp>
        </mc:Fallback>
      </mc:AlternateContent>
    </p:spTree>
    <p:extLst>
      <p:ext uri="{BB962C8B-B14F-4D97-AF65-F5344CB8AC3E}">
        <p14:creationId xmlns:p14="http://schemas.microsoft.com/office/powerpoint/2010/main" val="4276545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7FF1-92B4-CD31-EB04-D579D61AF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F0A0E-9A33-A7C8-9898-F739410C5FE1}"/>
              </a:ext>
            </a:extLst>
          </p:cNvPr>
          <p:cNvSpPr>
            <a:spLocks noGrp="1"/>
          </p:cNvSpPr>
          <p:nvPr>
            <p:ph type="ctrTitle"/>
          </p:nvPr>
        </p:nvSpPr>
        <p:spPr>
          <a:xfrm>
            <a:off x="1600200" y="381000"/>
            <a:ext cx="6096000" cy="708025"/>
          </a:xfrm>
        </p:spPr>
        <p:txBody>
          <a:bodyPr>
            <a:normAutofit fontScale="90000"/>
          </a:bodyPr>
          <a:lstStyle/>
          <a:p>
            <a:r>
              <a:rPr lang="en-US" sz="3200" dirty="0"/>
              <a:t>Topological &amp; Manifold Learning Extensions</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9CD69322-D931-E8CA-F059-7ECDAD179D7A}"/>
                  </a:ext>
                </a:extLst>
              </p:cNvPr>
              <p:cNvSpPr>
                <a:spLocks noGrp="1"/>
              </p:cNvSpPr>
              <p:nvPr>
                <p:ph type="subTitle" idx="1"/>
              </p:nvPr>
            </p:nvSpPr>
            <p:spPr>
              <a:xfrm>
                <a:off x="228600" y="1143000"/>
                <a:ext cx="8534400" cy="5334000"/>
              </a:xfrm>
            </p:spPr>
            <p:txBody>
              <a:bodyPr>
                <a:normAutofit/>
              </a:bodyPr>
              <a:lstStyle/>
              <a:p>
                <a:pPr algn="just"/>
                <a:r>
                  <a:rPr lang="en-US" sz="1800" dirty="0">
                    <a:solidFill>
                      <a:schemeClr val="tx1"/>
                    </a:solidFill>
                  </a:rPr>
                  <a:t>KNN fundamentally constructs a localized geometric map of data. Researchers leverage </a:t>
                </a:r>
                <a14:m>
                  <m:oMath xmlns:m="http://schemas.openxmlformats.org/officeDocument/2006/math">
                    <m:r>
                      <a:rPr lang="en-US" sz="1800" i="1">
                        <a:solidFill>
                          <a:schemeClr val="tx1"/>
                        </a:solidFill>
                        <a:latin typeface="Cambria Math" panose="02040503050406030204" pitchFamily="18" charset="0"/>
                      </a:rPr>
                      <m:t>𝑘</m:t>
                    </m:r>
                  </m:oMath>
                </a14:m>
                <a:r>
                  <a:rPr lang="en-US" sz="1800" dirty="0">
                    <a:solidFill>
                      <a:schemeClr val="tx1"/>
                    </a:solidFill>
                  </a:rPr>
                  <a:t>-NN graphs as the foundational building blocks for non-linear dimensionality reduction and manifold learning.</a:t>
                </a:r>
              </a:p>
              <a:p>
                <a:pPr lvl="0" algn="just"/>
                <a:r>
                  <a:rPr lang="en-US" sz="1800" b="1" dirty="0">
                    <a:solidFill>
                      <a:schemeClr val="tx1"/>
                    </a:solidFill>
                  </a:rPr>
                  <a:t>k-NN Graph Construction:</a:t>
                </a:r>
                <a:r>
                  <a:rPr lang="en-US" sz="1800" dirty="0">
                    <a:solidFill>
                      <a:schemeClr val="tx1"/>
                    </a:solidFill>
                  </a:rPr>
                  <a:t> Data points act as vertices, and edges are exclusively drawn to the </a:t>
                </a:r>
                <a14:m>
                  <m:oMath xmlns:m="http://schemas.openxmlformats.org/officeDocument/2006/math">
                    <m:r>
                      <a:rPr lang="en-US" sz="1800" i="1">
                        <a:solidFill>
                          <a:schemeClr val="tx1"/>
                        </a:solidFill>
                        <a:latin typeface="Cambria Math" panose="02040503050406030204" pitchFamily="18" charset="0"/>
                      </a:rPr>
                      <m:t>𝑘</m:t>
                    </m:r>
                  </m:oMath>
                </a14:m>
                <a:r>
                  <a:rPr lang="en-US" sz="1800" dirty="0">
                    <a:solidFill>
                      <a:schemeClr val="tx1"/>
                    </a:solidFill>
                  </a:rPr>
                  <a:t>nearest neighbors. This local connectivity matrix preserves the intrinsic topology of non-Euclidean manifolds.</a:t>
                </a:r>
              </a:p>
              <a:p>
                <a:pPr lvl="0" algn="just"/>
                <a:r>
                  <a:rPr lang="en-US" sz="1800" b="1" dirty="0">
                    <a:solidFill>
                      <a:schemeClr val="tx1"/>
                    </a:solidFill>
                  </a:rPr>
                  <a:t>t-SNE &amp; UMAP:</a:t>
                </a:r>
                <a:r>
                  <a:rPr lang="en-US" sz="1800" dirty="0">
                    <a:solidFill>
                      <a:schemeClr val="tx1"/>
                    </a:solidFill>
                  </a:rPr>
                  <a:t> Both state-of-the-art visualization algorithms begin by constructing probabilistic nearest-neighbor graphs in high-dimensional space, subsequently optimizing a low-dimensional layout to match those nearest-neighbor distributions.</a:t>
                </a:r>
              </a:p>
              <a:p>
                <a:pPr lvl="0" algn="just"/>
                <a:r>
                  <a:rPr lang="en-US" sz="1800" b="1" dirty="0">
                    <a:solidFill>
                      <a:schemeClr val="tx1"/>
                    </a:solidFill>
                  </a:rPr>
                  <a:t>Intrinsic Dimension Estimation:</a:t>
                </a:r>
                <a:r>
                  <a:rPr lang="en-US" sz="1800" dirty="0">
                    <a:solidFill>
                      <a:schemeClr val="tx1"/>
                    </a:solidFill>
                  </a:rPr>
                  <a:t> Advanced KNN research uses the distance growth rate of neighbors to estimate a dataset's intrinsic dimension—the minimum number of variables required to accurately describe the manifold, regardless of its original embedding dimension.</a:t>
                </a:r>
              </a:p>
            </p:txBody>
          </p:sp>
        </mc:Choice>
        <mc:Fallback xmlns="">
          <p:sp>
            <p:nvSpPr>
              <p:cNvPr id="3" name="Subtitle 2">
                <a:extLst>
                  <a:ext uri="{FF2B5EF4-FFF2-40B4-BE49-F238E27FC236}">
                    <a16:creationId xmlns:a16="http://schemas.microsoft.com/office/drawing/2014/main" id="{9CD69322-D931-E8CA-F059-7ECDAD179D7A}"/>
                  </a:ext>
                </a:extLst>
              </p:cNvPr>
              <p:cNvSpPr>
                <a:spLocks noGrp="1" noRot="1" noChangeAspect="1" noMove="1" noResize="1" noEditPoints="1" noAdjustHandles="1" noChangeArrowheads="1" noChangeShapeType="1" noTextEdit="1"/>
              </p:cNvSpPr>
              <p:nvPr>
                <p:ph type="subTitle" idx="1"/>
              </p:nvPr>
            </p:nvSpPr>
            <p:spPr>
              <a:xfrm>
                <a:off x="228600" y="1143000"/>
                <a:ext cx="8534400" cy="5334000"/>
              </a:xfrm>
              <a:blipFill>
                <a:blip r:embed="rId2"/>
                <a:stretch>
                  <a:fillRect l="-643" t="-686" r="-571"/>
                </a:stretch>
              </a:blipFill>
            </p:spPr>
            <p:txBody>
              <a:bodyPr/>
              <a:lstStyle/>
              <a:p>
                <a:r>
                  <a:rPr lang="en-US">
                    <a:noFill/>
                  </a:rPr>
                  <a:t> </a:t>
                </a:r>
              </a:p>
            </p:txBody>
          </p:sp>
        </mc:Fallback>
      </mc:AlternateContent>
    </p:spTree>
    <p:extLst>
      <p:ext uri="{BB962C8B-B14F-4D97-AF65-F5344CB8AC3E}">
        <p14:creationId xmlns:p14="http://schemas.microsoft.com/office/powerpoint/2010/main" val="1236157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75F06-9C84-2B1C-866C-7B2DEE8B2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B6775-8CCC-17DB-4BD9-7066A378C37E}"/>
              </a:ext>
            </a:extLst>
          </p:cNvPr>
          <p:cNvSpPr>
            <a:spLocks noGrp="1"/>
          </p:cNvSpPr>
          <p:nvPr>
            <p:ph type="ctrTitle"/>
          </p:nvPr>
        </p:nvSpPr>
        <p:spPr>
          <a:xfrm>
            <a:off x="1600200" y="381000"/>
            <a:ext cx="6096000" cy="708025"/>
          </a:xfrm>
        </p:spPr>
        <p:txBody>
          <a:bodyPr>
            <a:normAutofit fontScale="90000"/>
          </a:bodyPr>
          <a:lstStyle/>
          <a:p>
            <a:r>
              <a:rPr lang="en-US" sz="3200" dirty="0"/>
              <a:t>Conformal Prediction &amp; Set-Valued KNN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6A8EC87-17D2-5211-2632-DAFD6D915DD5}"/>
                  </a:ext>
                </a:extLst>
              </p:cNvPr>
              <p:cNvSpPr>
                <a:spLocks noGrp="1"/>
              </p:cNvSpPr>
              <p:nvPr>
                <p:ph type="subTitle" idx="1"/>
              </p:nvPr>
            </p:nvSpPr>
            <p:spPr>
              <a:xfrm>
                <a:off x="228600" y="1143000"/>
                <a:ext cx="8534400" cy="5334000"/>
              </a:xfrm>
            </p:spPr>
            <p:txBody>
              <a:bodyPr>
                <a:normAutofit/>
              </a:bodyPr>
              <a:lstStyle/>
              <a:p>
                <a:pPr algn="just"/>
                <a:r>
                  <a:rPr lang="en-US" sz="1800" dirty="0">
                    <a:solidFill>
                      <a:schemeClr val="tx1"/>
                    </a:solidFill>
                  </a:rPr>
                  <a:t>Standard KNN produces point predictions, offering no rigorous statistical guarantee regarding confidence. Conformal Prediction (CP) is a cutting-edge, distribution-free framework that wraps around KNN to provide statistically guaranteed prediction intervals.</a:t>
                </a:r>
              </a:p>
              <a:p>
                <a:pPr lvl="0" algn="just"/>
                <a:r>
                  <a:rPr lang="en-US" sz="1800" b="1" dirty="0">
                    <a:solidFill>
                      <a:schemeClr val="tx1"/>
                    </a:solidFill>
                  </a:rPr>
                  <a:t>Distribution-Free Guarantees:</a:t>
                </a:r>
                <a:r>
                  <a:rPr lang="en-US" sz="1800" dirty="0">
                    <a:solidFill>
                      <a:schemeClr val="tx1"/>
                    </a:solidFill>
                  </a:rPr>
                  <a:t> Conformal prediction does not assume the data is Gaussian or follows any parametric distribution, yet it guarantees that the true label will fall within the predicted set with a user-specified probability (e.g., </a:t>
                </a:r>
                <a14:m>
                  <m:oMath xmlns:m="http://schemas.openxmlformats.org/officeDocument/2006/math">
                    <m:r>
                      <a:rPr lang="en-US" sz="1800">
                        <a:solidFill>
                          <a:schemeClr val="tx1"/>
                        </a:solidFill>
                        <a:latin typeface="Cambria Math" panose="02040503050406030204" pitchFamily="18" charset="0"/>
                      </a:rPr>
                      <m:t>95%</m:t>
                    </m:r>
                  </m:oMath>
                </a14:m>
                <a:r>
                  <a:rPr lang="en-US" sz="1800" dirty="0">
                    <a:solidFill>
                      <a:schemeClr val="tx1"/>
                    </a:solidFill>
                  </a:rPr>
                  <a:t>).</a:t>
                </a:r>
              </a:p>
              <a:p>
                <a:pPr lvl="0" algn="just"/>
                <a:r>
                  <a:rPr lang="en-US" sz="1800" b="1" dirty="0">
                    <a:solidFill>
                      <a:schemeClr val="tx1"/>
                    </a:solidFill>
                  </a:rPr>
                  <a:t>Non-Conformity Scores:</a:t>
                </a:r>
                <a:r>
                  <a:rPr lang="en-US" sz="1800" dirty="0">
                    <a:solidFill>
                      <a:schemeClr val="tx1"/>
                    </a:solidFill>
                  </a:rPr>
                  <a:t> The framework computes a non-conformity measure </a:t>
                </a:r>
                <a14:m>
                  <m:oMath xmlns:m="http://schemas.openxmlformats.org/officeDocument/2006/math">
                    <m:r>
                      <a:rPr lang="en-US" sz="1800" i="1">
                        <a:solidFill>
                          <a:schemeClr val="tx1"/>
                        </a:solidFill>
                        <a:latin typeface="Cambria Math" panose="02040503050406030204" pitchFamily="18" charset="0"/>
                      </a:rPr>
                      <m:t>𝛼</m:t>
                    </m:r>
                  </m:oMath>
                </a14:m>
                <a:r>
                  <a:rPr lang="en-US" sz="1800" dirty="0">
                    <a:solidFill>
                      <a:schemeClr val="tx1"/>
                    </a:solidFill>
                  </a:rPr>
                  <a:t>(e.g., the ratio of the distance to the nearest same-class neighbor versus the nearest different-class neighbor).</a:t>
                </a:r>
              </a:p>
              <a:p>
                <a:pPr lvl="0" algn="just"/>
                <a:r>
                  <a:rPr lang="en-US" sz="1800" b="1" dirty="0">
                    <a:solidFill>
                      <a:schemeClr val="tx1"/>
                    </a:solidFill>
                  </a:rPr>
                  <a:t>Set-Valued Output:</a:t>
                </a:r>
                <a:r>
                  <a:rPr lang="en-US" sz="1800" dirty="0">
                    <a:solidFill>
                      <a:schemeClr val="tx1"/>
                    </a:solidFill>
                  </a:rPr>
                  <a:t> Instead of outputting a single class, Conformal KNN outputs a set. In regions of high uncertainty (where neighbors are highly mixed), the algorithm safely outputs multiple potential classes (e.g., </a:t>
                </a:r>
                <a14:m>
                  <m:oMath xmlns:m="http://schemas.openxmlformats.org/officeDocument/2006/math">
                    <m:d>
                      <m:dPr>
                        <m:begChr m:val="{"/>
                        <m:endChr m:val="}"/>
                        <m:ctrlPr>
                          <a:rPr lang="en-US" sz="1800" i="0">
                            <a:solidFill>
                              <a:schemeClr val="tx1"/>
                            </a:solidFill>
                          </a:rPr>
                        </m:ctrlPr>
                      </m:dPr>
                      <m:e>
                        <m:r>
                          <m:rPr>
                            <m:nor/>
                          </m:rPr>
                          <a:rPr lang="en-US" sz="1800" i="0">
                            <a:solidFill>
                              <a:schemeClr val="tx1"/>
                            </a:solidFill>
                          </a:rPr>
                          <m:t>Class A</m:t>
                        </m:r>
                        <m:r>
                          <a:rPr lang="en-US" sz="1800">
                            <a:solidFill>
                              <a:schemeClr val="tx1"/>
                            </a:solidFill>
                            <a:latin typeface="Cambria Math" panose="02040503050406030204" pitchFamily="18" charset="0"/>
                          </a:rPr>
                          <m:t>,</m:t>
                        </m:r>
                        <m:r>
                          <m:rPr>
                            <m:nor/>
                          </m:rPr>
                          <a:rPr lang="en-US" sz="1800" i="0">
                            <a:solidFill>
                              <a:schemeClr val="tx1"/>
                            </a:solidFill>
                          </a:rPr>
                          <m:t>Class B</m:t>
                        </m:r>
                      </m:e>
                    </m:d>
                  </m:oMath>
                </a14:m>
                <a:r>
                  <a:rPr lang="en-US" sz="1800" dirty="0">
                    <a:solidFill>
                      <a:schemeClr val="tx1"/>
                    </a:solidFill>
                  </a:rPr>
                  <a:t>), explicitly quantifying model doubt.</a:t>
                </a:r>
              </a:p>
            </p:txBody>
          </p:sp>
        </mc:Choice>
        <mc:Fallback xmlns="">
          <p:sp>
            <p:nvSpPr>
              <p:cNvPr id="3" name="Subtitle 2">
                <a:extLst>
                  <a:ext uri="{FF2B5EF4-FFF2-40B4-BE49-F238E27FC236}">
                    <a16:creationId xmlns:a16="http://schemas.microsoft.com/office/drawing/2014/main" id="{06A8EC87-17D2-5211-2632-DAFD6D915DD5}"/>
                  </a:ext>
                </a:extLst>
              </p:cNvPr>
              <p:cNvSpPr>
                <a:spLocks noGrp="1" noRot="1" noChangeAspect="1" noMove="1" noResize="1" noEditPoints="1" noAdjustHandles="1" noChangeArrowheads="1" noChangeShapeType="1" noTextEdit="1"/>
              </p:cNvSpPr>
              <p:nvPr>
                <p:ph type="subTitle" idx="1"/>
              </p:nvPr>
            </p:nvSpPr>
            <p:spPr>
              <a:xfrm>
                <a:off x="228600" y="1143000"/>
                <a:ext cx="8534400" cy="5334000"/>
              </a:xfrm>
              <a:blipFill>
                <a:blip r:embed="rId2"/>
                <a:stretch>
                  <a:fillRect l="-643" t="-686" r="-571"/>
                </a:stretch>
              </a:blipFill>
            </p:spPr>
            <p:txBody>
              <a:bodyPr/>
              <a:lstStyle/>
              <a:p>
                <a:r>
                  <a:rPr lang="en-US">
                    <a:noFill/>
                  </a:rPr>
                  <a:t> </a:t>
                </a:r>
              </a:p>
            </p:txBody>
          </p:sp>
        </mc:Fallback>
      </mc:AlternateContent>
    </p:spTree>
    <p:extLst>
      <p:ext uri="{BB962C8B-B14F-4D97-AF65-F5344CB8AC3E}">
        <p14:creationId xmlns:p14="http://schemas.microsoft.com/office/powerpoint/2010/main" val="3060908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45F6-03F3-3329-3AD5-CCE0A33B6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FFC9B-2029-ADED-B602-53622FF9E815}"/>
              </a:ext>
            </a:extLst>
          </p:cNvPr>
          <p:cNvSpPr>
            <a:spLocks noGrp="1"/>
          </p:cNvSpPr>
          <p:nvPr>
            <p:ph type="ctrTitle"/>
          </p:nvPr>
        </p:nvSpPr>
        <p:spPr>
          <a:xfrm>
            <a:off x="1600200" y="381000"/>
            <a:ext cx="6096000" cy="708025"/>
          </a:xfrm>
        </p:spPr>
        <p:txBody>
          <a:bodyPr>
            <a:normAutofit fontScale="90000"/>
          </a:bodyPr>
          <a:lstStyle/>
          <a:p>
            <a:r>
              <a:rPr lang="en-US" sz="3200" dirty="0"/>
              <a:t>Asymptotic Risk &amp; The Cover-Hart Theorem</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8AB7EF31-1F3B-94B9-E5A5-439D7D5422CE}"/>
                  </a:ext>
                </a:extLst>
              </p:cNvPr>
              <p:cNvSpPr>
                <a:spLocks noGrp="1"/>
              </p:cNvSpPr>
              <p:nvPr>
                <p:ph type="subTitle" idx="1"/>
              </p:nvPr>
            </p:nvSpPr>
            <p:spPr>
              <a:xfrm>
                <a:off x="228600" y="1143000"/>
                <a:ext cx="8534400" cy="5334000"/>
              </a:xfrm>
            </p:spPr>
            <p:txBody>
              <a:bodyPr>
                <a:normAutofit/>
              </a:bodyPr>
              <a:lstStyle/>
              <a:p>
                <a:pPr algn="just"/>
                <a:r>
                  <a:rPr lang="en-US" sz="1800" dirty="0">
                    <a:solidFill>
                      <a:schemeClr val="tx1"/>
                    </a:solidFill>
                  </a:rPr>
                  <a:t>While KNN is conceptually simple, it possesses profound theoretical guarantees regarding its limit behavior as the training dataset approaches infinity. Cover and Hart (1967) established the foundational statistical bounds for the 1-NN algorithm.</a:t>
                </a:r>
              </a:p>
              <a:p>
                <a:pPr lvl="0" algn="just"/>
                <a:r>
                  <a:rPr lang="en-US" sz="1800" b="1" dirty="0">
                    <a:solidFill>
                      <a:schemeClr val="tx1"/>
                    </a:solidFill>
                  </a:rPr>
                  <a:t>Bayes Optimal Error Rate (</a:t>
                </a:r>
                <a14:m>
                  <m:oMath xmlns:m="http://schemas.openxmlformats.org/officeDocument/2006/math">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𝑅</m:t>
                        </m:r>
                      </m:e>
                      <m:sup>
                        <m:r>
                          <a:rPr lang="en-US" sz="1800">
                            <a:solidFill>
                              <a:schemeClr val="tx1"/>
                            </a:solidFill>
                            <a:latin typeface="Cambria Math" panose="02040503050406030204" pitchFamily="18" charset="0"/>
                          </a:rPr>
                          <m:t>∗</m:t>
                        </m:r>
                      </m:sup>
                    </m:sSup>
                  </m:oMath>
                </a14:m>
                <a:r>
                  <a:rPr lang="en-US" sz="1800" b="1" dirty="0">
                    <a:solidFill>
                      <a:schemeClr val="tx1"/>
                    </a:solidFill>
                  </a:rPr>
                  <a:t>):</a:t>
                </a:r>
                <a:r>
                  <a:rPr lang="en-US" sz="1800" dirty="0">
                    <a:solidFill>
                      <a:schemeClr val="tx1"/>
                    </a:solidFill>
                  </a:rPr>
                  <a:t> The absolute minimum theoretical error rate achievable by any classifier, dictated by the irreducible noise in the underlying data distribution.</a:t>
                </a:r>
              </a:p>
              <a:p>
                <a:pPr lvl="0" algn="just"/>
                <a:r>
                  <a:rPr lang="en-US" sz="1800" b="1" dirty="0">
                    <a:solidFill>
                      <a:schemeClr val="tx1"/>
                    </a:solidFill>
                  </a:rPr>
                  <a:t>The Cover-Hart Bound:</a:t>
                </a:r>
                <a:r>
                  <a:rPr lang="en-US" sz="1800" dirty="0">
                    <a:solidFill>
                      <a:schemeClr val="tx1"/>
                    </a:solidFill>
                  </a:rPr>
                  <a:t> As </a:t>
                </a:r>
                <a14:m>
                  <m:oMath xmlns:m="http://schemas.openxmlformats.org/officeDocument/2006/math">
                    <m:r>
                      <a:rPr lang="en-US" sz="1800" i="1">
                        <a:solidFill>
                          <a:schemeClr val="tx1"/>
                        </a:solidFill>
                        <a:latin typeface="Cambria Math" panose="02040503050406030204" pitchFamily="18" charset="0"/>
                      </a:rPr>
                      <m:t>𝑛</m:t>
                    </m:r>
                    <m:r>
                      <a:rPr lang="en-US" sz="1800">
                        <a:solidFill>
                          <a:schemeClr val="tx1"/>
                        </a:solidFill>
                        <a:latin typeface="Cambria Math" panose="02040503050406030204" pitchFamily="18" charset="0"/>
                      </a:rPr>
                      <m:t>→∞</m:t>
                    </m:r>
                  </m:oMath>
                </a14:m>
                <a:r>
                  <a:rPr lang="en-US" sz="1800" dirty="0">
                    <a:solidFill>
                      <a:schemeClr val="tx1"/>
                    </a:solidFill>
                  </a:rPr>
                  <a:t>, the expected error rate of the 1-NN classifier (</a:t>
                </a:r>
                <a14:m>
                  <m:oMath xmlns:m="http://schemas.openxmlformats.org/officeDocument/2006/math">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𝑅</m:t>
                        </m:r>
                      </m:e>
                      <m:sub>
                        <m:r>
                          <a:rPr lang="en-US" sz="1800">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𝑁𝑁</m:t>
                        </m:r>
                      </m:sub>
                    </m:sSub>
                  </m:oMath>
                </a14:m>
                <a:r>
                  <a:rPr lang="en-US" sz="1800" dirty="0">
                    <a:solidFill>
                      <a:schemeClr val="tx1"/>
                    </a:solidFill>
                  </a:rPr>
                  <a:t>) is strictly bounded by twice the Bayes optimal error rate: </a:t>
                </a:r>
                <a14:m>
                  <m:oMath xmlns:m="http://schemas.openxmlformats.org/officeDocument/2006/math">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𝑅</m:t>
                        </m:r>
                      </m:e>
                      <m:sup>
                        <m:r>
                          <a:rPr lang="en-US" sz="1800">
                            <a:solidFill>
                              <a:schemeClr val="tx1"/>
                            </a:solidFill>
                            <a:latin typeface="Cambria Math" panose="02040503050406030204" pitchFamily="18" charset="0"/>
                          </a:rPr>
                          <m:t>∗</m:t>
                        </m:r>
                      </m:sup>
                    </m:sSup>
                    <m:r>
                      <a:rPr lang="en-US" sz="1800">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𝑅</m:t>
                        </m:r>
                      </m:e>
                      <m:sub>
                        <m:r>
                          <a:rPr lang="en-US" sz="1800">
                            <a:solidFill>
                              <a:schemeClr val="tx1"/>
                            </a:solidFill>
                            <a:latin typeface="Cambria Math" panose="02040503050406030204" pitchFamily="18" charset="0"/>
                          </a:rPr>
                          <m:t>1</m:t>
                        </m:r>
                        <m:r>
                          <a:rPr lang="en-US" sz="1800" i="1">
                            <a:solidFill>
                              <a:schemeClr val="tx1"/>
                            </a:solidFill>
                            <a:latin typeface="Cambria Math" panose="02040503050406030204" pitchFamily="18" charset="0"/>
                          </a:rPr>
                          <m:t>𝑁𝑁</m:t>
                        </m:r>
                      </m:sub>
                    </m:sSub>
                    <m:r>
                      <a:rPr lang="en-US" sz="1800">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𝑅</m:t>
                        </m:r>
                      </m:e>
                      <m:sup>
                        <m:r>
                          <a:rPr lang="en-US" sz="1800">
                            <a:solidFill>
                              <a:schemeClr val="tx1"/>
                            </a:solidFill>
                            <a:latin typeface="Cambria Math" panose="02040503050406030204" pitchFamily="18" charset="0"/>
                          </a:rPr>
                          <m:t>∗</m:t>
                        </m:r>
                      </m:sup>
                    </m:sSup>
                    <m:d>
                      <m:dPr>
                        <m:ctrlPr>
                          <a:rPr lang="en-US" sz="1800">
                            <a:solidFill>
                              <a:schemeClr val="tx1"/>
                            </a:solidFill>
                            <a:latin typeface="Cambria Math" panose="02040503050406030204" pitchFamily="18" charset="0"/>
                          </a:rPr>
                        </m:ctrlPr>
                      </m:dPr>
                      <m:e>
                        <m:r>
                          <a:rPr lang="en-US" sz="1800">
                            <a:solidFill>
                              <a:schemeClr val="tx1"/>
                            </a:solidFill>
                            <a:latin typeface="Cambria Math" panose="02040503050406030204" pitchFamily="18" charset="0"/>
                          </a:rPr>
                          <m:t>2−</m:t>
                        </m:r>
                        <m:f>
                          <m:fPr>
                            <m:ctrlPr>
                              <a:rPr lang="en-US" sz="1800" i="1">
                                <a:solidFill>
                                  <a:schemeClr val="tx1"/>
                                </a:solidFill>
                                <a:latin typeface="Cambria Math" panose="02040503050406030204" pitchFamily="18" charset="0"/>
                              </a:rPr>
                            </m:ctrlPr>
                          </m:fPr>
                          <m:num>
                            <m:r>
                              <a:rPr lang="en-US" sz="1800" i="1">
                                <a:solidFill>
                                  <a:schemeClr val="tx1"/>
                                </a:solidFill>
                                <a:latin typeface="Cambria Math" panose="02040503050406030204" pitchFamily="18" charset="0"/>
                              </a:rPr>
                              <m:t>𝑀</m:t>
                            </m:r>
                          </m:num>
                          <m:den>
                            <m:r>
                              <a:rPr lang="en-US" sz="1800" i="1">
                                <a:solidFill>
                                  <a:schemeClr val="tx1"/>
                                </a:solidFill>
                                <a:latin typeface="Cambria Math" panose="02040503050406030204" pitchFamily="18" charset="0"/>
                              </a:rPr>
                              <m:t>𝑀</m:t>
                            </m:r>
                            <m:r>
                              <a:rPr lang="en-US" sz="1800">
                                <a:solidFill>
                                  <a:schemeClr val="tx1"/>
                                </a:solidFill>
                                <a:latin typeface="Cambria Math" panose="02040503050406030204" pitchFamily="18" charset="0"/>
                              </a:rPr>
                              <m:t>−1</m:t>
                            </m:r>
                          </m:den>
                        </m:f>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𝑅</m:t>
                            </m:r>
                          </m:e>
                          <m:sup>
                            <m:r>
                              <a:rPr lang="en-US" sz="1800">
                                <a:solidFill>
                                  <a:schemeClr val="tx1"/>
                                </a:solidFill>
                                <a:latin typeface="Cambria Math" panose="02040503050406030204" pitchFamily="18" charset="0"/>
                              </a:rPr>
                              <m:t>∗</m:t>
                            </m:r>
                          </m:sup>
                        </m:sSup>
                      </m:e>
                    </m:d>
                  </m:oMath>
                </a14:m>
                <a:r>
                  <a:rPr lang="en-US" sz="1800" dirty="0">
                    <a:solidFill>
                      <a:schemeClr val="tx1"/>
                    </a:solidFill>
                  </a:rPr>
                  <a:t>, where </a:t>
                </a:r>
                <a14:m>
                  <m:oMath xmlns:m="http://schemas.openxmlformats.org/officeDocument/2006/math">
                    <m:r>
                      <a:rPr lang="en-US" sz="1800" i="1">
                        <a:solidFill>
                          <a:schemeClr val="tx1"/>
                        </a:solidFill>
                        <a:latin typeface="Cambria Math" panose="02040503050406030204" pitchFamily="18" charset="0"/>
                      </a:rPr>
                      <m:t>𝑀</m:t>
                    </m:r>
                  </m:oMath>
                </a14:m>
                <a:r>
                  <a:rPr lang="en-US" sz="1800" dirty="0">
                    <a:solidFill>
                      <a:schemeClr val="tx1"/>
                    </a:solidFill>
                  </a:rPr>
                  <a:t>is the number of classes.</a:t>
                </a:r>
              </a:p>
              <a:p>
                <a:pPr lvl="0" algn="just"/>
                <a:r>
                  <a:rPr lang="en-US" sz="1800" b="1" dirty="0">
                    <a:solidFill>
                      <a:schemeClr val="tx1"/>
                    </a:solidFill>
                  </a:rPr>
                  <a:t>Minimax Convergence:</a:t>
                </a:r>
                <a:r>
                  <a:rPr lang="en-US" sz="1800" dirty="0">
                    <a:solidFill>
                      <a:schemeClr val="tx1"/>
                    </a:solidFill>
                  </a:rPr>
                  <a:t> Under standard smoothness assumptions, the </a:t>
                </a:r>
                <a14:m>
                  <m:oMath xmlns:m="http://schemas.openxmlformats.org/officeDocument/2006/math">
                    <m:r>
                      <a:rPr lang="en-US" sz="1800" i="1">
                        <a:solidFill>
                          <a:schemeClr val="tx1"/>
                        </a:solidFill>
                        <a:latin typeface="Cambria Math" panose="02040503050406030204" pitchFamily="18" charset="0"/>
                      </a:rPr>
                      <m:t>𝑘</m:t>
                    </m:r>
                  </m:oMath>
                </a14:m>
                <a:r>
                  <a:rPr lang="en-US" sz="1800" dirty="0">
                    <a:solidFill>
                      <a:schemeClr val="tx1"/>
                    </a:solidFill>
                  </a:rPr>
                  <a:t>-NN classifier converges to the Bayes risk at an asymptotic rate of </a:t>
                </a:r>
                <a14:m>
                  <m:oMath xmlns:m="http://schemas.openxmlformats.org/officeDocument/2006/math">
                    <m:r>
                      <a:rPr lang="en-US" sz="1800">
                        <a:solidFill>
                          <a:schemeClr val="tx1"/>
                        </a:solidFill>
                        <a:latin typeface="Cambria Math" panose="02040503050406030204" pitchFamily="18" charset="0"/>
                      </a:rPr>
                      <m:t>𝒪</m:t>
                    </m:r>
                    <m:d>
                      <m:dPr>
                        <m:ctrlPr>
                          <a:rPr lang="en-US" sz="1800" i="1">
                            <a:solidFill>
                              <a:schemeClr val="tx1"/>
                            </a:solidFill>
                            <a:latin typeface="Cambria Math" panose="02040503050406030204" pitchFamily="18" charset="0"/>
                          </a:rPr>
                        </m:ctrlPr>
                      </m:dPr>
                      <m:e>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𝑛</m:t>
                            </m:r>
                          </m:e>
                          <m:sup>
                            <m:r>
                              <a:rPr lang="en-US" sz="1800">
                                <a:solidFill>
                                  <a:schemeClr val="tx1"/>
                                </a:solidFill>
                                <a:latin typeface="Cambria Math" panose="02040503050406030204" pitchFamily="18" charset="0"/>
                              </a:rPr>
                              <m:t>−2/</m:t>
                            </m:r>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𝑑</m:t>
                                </m:r>
                                <m:r>
                                  <a:rPr lang="en-US" sz="1800">
                                    <a:solidFill>
                                      <a:schemeClr val="tx1"/>
                                    </a:solidFill>
                                    <a:latin typeface="Cambria Math" panose="02040503050406030204" pitchFamily="18" charset="0"/>
                                  </a:rPr>
                                  <m:t>+4</m:t>
                                </m:r>
                              </m:e>
                            </m:d>
                          </m:sup>
                        </m:sSup>
                      </m:e>
                    </m:d>
                  </m:oMath>
                </a14:m>
                <a:r>
                  <a:rPr lang="en-US" sz="1800" dirty="0">
                    <a:solidFill>
                      <a:schemeClr val="tx1"/>
                    </a:solidFill>
                  </a:rPr>
                  <a:t>, explicitly demonstrating the "Curse of Dimensionality" in the exponent.</a:t>
                </a:r>
              </a:p>
            </p:txBody>
          </p:sp>
        </mc:Choice>
        <mc:Fallback xmlns="">
          <p:sp>
            <p:nvSpPr>
              <p:cNvPr id="3" name="Subtitle 2">
                <a:extLst>
                  <a:ext uri="{FF2B5EF4-FFF2-40B4-BE49-F238E27FC236}">
                    <a16:creationId xmlns:a16="http://schemas.microsoft.com/office/drawing/2014/main" id="{8AB7EF31-1F3B-94B9-E5A5-439D7D5422CE}"/>
                  </a:ext>
                </a:extLst>
              </p:cNvPr>
              <p:cNvSpPr>
                <a:spLocks noGrp="1" noRot="1" noChangeAspect="1" noMove="1" noResize="1" noEditPoints="1" noAdjustHandles="1" noChangeArrowheads="1" noChangeShapeType="1" noTextEdit="1"/>
              </p:cNvSpPr>
              <p:nvPr>
                <p:ph type="subTitle" idx="1"/>
              </p:nvPr>
            </p:nvSpPr>
            <p:spPr>
              <a:xfrm>
                <a:off x="228600" y="1143000"/>
                <a:ext cx="8534400" cy="5334000"/>
              </a:xfrm>
              <a:blipFill>
                <a:blip r:embed="rId2"/>
                <a:stretch>
                  <a:fillRect l="-643" t="-686" r="-571"/>
                </a:stretch>
              </a:blipFill>
            </p:spPr>
            <p:txBody>
              <a:bodyPr/>
              <a:lstStyle/>
              <a:p>
                <a:r>
                  <a:rPr lang="en-US">
                    <a:noFill/>
                  </a:rPr>
                  <a:t> </a:t>
                </a:r>
              </a:p>
            </p:txBody>
          </p:sp>
        </mc:Fallback>
      </mc:AlternateContent>
    </p:spTree>
    <p:extLst>
      <p:ext uri="{BB962C8B-B14F-4D97-AF65-F5344CB8AC3E}">
        <p14:creationId xmlns:p14="http://schemas.microsoft.com/office/powerpoint/2010/main" val="2335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Supervised Learning: Classification</a:t>
            </a:r>
          </a:p>
        </p:txBody>
      </p:sp>
      <p:sp>
        <p:nvSpPr>
          <p:cNvPr id="3" name="Subtitle 2"/>
          <p:cNvSpPr>
            <a:spLocks noGrp="1"/>
          </p:cNvSpPr>
          <p:nvPr>
            <p:ph type="subTitle" idx="1"/>
          </p:nvPr>
        </p:nvSpPr>
        <p:spPr>
          <a:xfrm>
            <a:off x="2458" y="1302702"/>
            <a:ext cx="9563100" cy="153162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KNN Code:</a:t>
            </a:r>
          </a:p>
          <a:p>
            <a:pPr algn="just"/>
            <a:r>
              <a:rPr lang="en-US" sz="1800" dirty="0">
                <a:solidFill>
                  <a:schemeClr val="tx1"/>
                </a:solidFill>
                <a:latin typeface="Times New Roman" panose="02020603050405020304" pitchFamily="18" charset="0"/>
                <a:cs typeface="Times New Roman" panose="02020603050405020304" pitchFamily="18" charset="0"/>
              </a:rPr>
              <a:t>https://colab.research.google.com/drive/10AAxz1yXJNIR-PQcXoaAPPTkrFHs6efT?usp=sharing</a:t>
            </a:r>
          </a:p>
        </p:txBody>
      </p:sp>
      <p:sp>
        <p:nvSpPr>
          <p:cNvPr id="4" name="Subtitle 2">
            <a:extLst>
              <a:ext uri="{FF2B5EF4-FFF2-40B4-BE49-F238E27FC236}">
                <a16:creationId xmlns:a16="http://schemas.microsoft.com/office/drawing/2014/main" id="{7568A2C1-49D5-1D41-59AC-F515A88B8938}"/>
              </a:ext>
            </a:extLst>
          </p:cNvPr>
          <p:cNvSpPr txBox="1">
            <a:spLocks/>
          </p:cNvSpPr>
          <p:nvPr/>
        </p:nvSpPr>
        <p:spPr>
          <a:xfrm>
            <a:off x="0" y="3048000"/>
            <a:ext cx="8839200" cy="15316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just"/>
            <a:r>
              <a:rPr lang="en-US" sz="1800" b="1" dirty="0">
                <a:solidFill>
                  <a:schemeClr val="tx1"/>
                </a:solidFill>
                <a:latin typeface="Times New Roman" panose="02020603050405020304" pitchFamily="18" charset="0"/>
                <a:cs typeface="Times New Roman" panose="02020603050405020304" pitchFamily="18" charset="0"/>
              </a:rPr>
              <a:t>KNN Code 2:</a:t>
            </a:r>
          </a:p>
          <a:p>
            <a:pPr algn="just"/>
            <a:r>
              <a:rPr lang="en-US" sz="1800" dirty="0">
                <a:solidFill>
                  <a:schemeClr val="tx1"/>
                </a:solidFill>
                <a:latin typeface="Times New Roman" panose="02020603050405020304" pitchFamily="18" charset="0"/>
                <a:cs typeface="Times New Roman" panose="02020603050405020304" pitchFamily="18" charset="0"/>
              </a:rPr>
              <a:t>https://colab.research.google.com/drive/1MKAxFdlYdecqqSiYF8pgO4IRQYwDcwEm?usp=sharing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2504</Words>
  <Application>Microsoft Office PowerPoint</Application>
  <PresentationFormat>On-screen Show (4:3)</PresentationFormat>
  <Paragraphs>465</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 Math</vt:lpstr>
      <vt:lpstr>Times New Roman</vt:lpstr>
      <vt:lpstr>Office Theme</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Supervised Learning: Classification</vt:lpstr>
      <vt:lpstr>KNN Use Cases (Best)</vt:lpstr>
      <vt:lpstr>KNN Use Cases (Best)</vt:lpstr>
      <vt:lpstr>KNN Use Cases (Worst)</vt:lpstr>
      <vt:lpstr>Metric Learning &amp; Mahalanobis Distance Optimization</vt:lpstr>
      <vt:lpstr>Approximate Nearest Neighbors (ANN) in High Dimensions</vt:lpstr>
      <vt:lpstr>Topological &amp; Manifold Learning Extensions</vt:lpstr>
      <vt:lpstr>Conformal Prediction &amp; Set-Valued KNN</vt:lpstr>
      <vt:lpstr>Asymptotic Risk &amp; The Cover-Hart Theorem</vt:lpstr>
      <vt:lpstr>Supervised Learning: Classification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TOUHID ALAM</cp:lastModifiedBy>
  <cp:revision>252</cp:revision>
  <dcterms:created xsi:type="dcterms:W3CDTF">2024-10-19T07:49:00Z</dcterms:created>
  <dcterms:modified xsi:type="dcterms:W3CDTF">2026-09-26T09:55:50Z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6BD3585E7C694180AAF73A0ECBA59D61_12</vt:lpwstr>
  </property>
  <property fmtid="{D5CDD505-2E9C-101B-9397-08002B2CF9AE}" pid="3" name="KSOProductBuildVer">
    <vt:lpwstr>1033-12.2.0.18607</vt:lpwstr>
  </property>
</Properties>
</file>