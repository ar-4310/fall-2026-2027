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1" r:id="rId1"/>
  </p:sldMasterIdLst>
  <p:notesMasterIdLst>
    <p:notesMasterId r:id="rId45"/>
  </p:notesMasterIdLst>
  <p:handoutMasterIdLst>
    <p:handoutMasterId r:id="rId46"/>
  </p:handoutMasterIdLst>
  <p:sldIdLst>
    <p:sldId id="460" r:id="rId2"/>
    <p:sldId id="331" r:id="rId3"/>
    <p:sldId id="305" r:id="rId4"/>
    <p:sldId id="462" r:id="rId5"/>
    <p:sldId id="463" r:id="rId6"/>
    <p:sldId id="307" r:id="rId7"/>
    <p:sldId id="308" r:id="rId8"/>
    <p:sldId id="309" r:id="rId9"/>
    <p:sldId id="465" r:id="rId10"/>
    <p:sldId id="470" r:id="rId11"/>
    <p:sldId id="466" r:id="rId12"/>
    <p:sldId id="467" r:id="rId13"/>
    <p:sldId id="468" r:id="rId14"/>
    <p:sldId id="469" r:id="rId15"/>
    <p:sldId id="310" r:id="rId16"/>
    <p:sldId id="311" r:id="rId17"/>
    <p:sldId id="312" r:id="rId18"/>
    <p:sldId id="313" r:id="rId19"/>
    <p:sldId id="314" r:id="rId20"/>
    <p:sldId id="315" r:id="rId21"/>
    <p:sldId id="316" r:id="rId22"/>
    <p:sldId id="317" r:id="rId23"/>
    <p:sldId id="325" r:id="rId24"/>
    <p:sldId id="332" r:id="rId25"/>
    <p:sldId id="333" r:id="rId26"/>
    <p:sldId id="336" r:id="rId27"/>
    <p:sldId id="326" r:id="rId28"/>
    <p:sldId id="334" r:id="rId29"/>
    <p:sldId id="327" r:id="rId30"/>
    <p:sldId id="328" r:id="rId31"/>
    <p:sldId id="335" r:id="rId32"/>
    <p:sldId id="330" r:id="rId33"/>
    <p:sldId id="261" r:id="rId34"/>
    <p:sldId id="287" r:id="rId35"/>
    <p:sldId id="289" r:id="rId36"/>
    <p:sldId id="288" r:id="rId37"/>
    <p:sldId id="290" r:id="rId38"/>
    <p:sldId id="301" r:id="rId39"/>
    <p:sldId id="294" r:id="rId40"/>
    <p:sldId id="295" r:id="rId41"/>
    <p:sldId id="296" r:id="rId42"/>
    <p:sldId id="299" r:id="rId43"/>
    <p:sldId id="461" r:id="rId44"/>
  </p:sldIdLst>
  <p:sldSz cx="9144000" cy="6858000" type="screen4x3"/>
  <p:notesSz cx="10234613" cy="7099300"/>
  <p:defaultTextStyle>
    <a:defPPr>
      <a:defRPr lang="tr-TR"/>
    </a:defPPr>
    <a:lvl1pPr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Palatino Linotype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Palatino Linotype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Palatino Linotype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Palatino Linotype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Palatino Linotype" pitchFamily="18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Palatino Linotype" pitchFamily="18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Palatino Linotype" pitchFamily="18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Palatino Linotype" pitchFamily="18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Palatino Linotype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36">
          <p15:clr>
            <a:srgbClr val="A4A3A4"/>
          </p15:clr>
        </p15:guide>
        <p15:guide id="2" pos="322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B2B2B2"/>
    <a:srgbClr val="66FF33"/>
    <a:srgbClr val="3333FF"/>
    <a:srgbClr val="990033"/>
    <a:srgbClr val="FF6600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670" autoAdjust="0"/>
    <p:restoredTop sz="94225" autoAdjust="0"/>
  </p:normalViewPr>
  <p:slideViewPr>
    <p:cSldViewPr>
      <p:cViewPr varScale="1">
        <p:scale>
          <a:sx n="86" d="100"/>
          <a:sy n="86" d="100"/>
        </p:scale>
        <p:origin x="208" y="8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7132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0" d="100"/>
          <a:sy n="70" d="100"/>
        </p:scale>
        <p:origin x="1800" y="72"/>
      </p:cViewPr>
      <p:guideLst>
        <p:guide orient="horz" pos="2236"/>
        <p:guide pos="322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3" Type="http://schemas.openxmlformats.org/officeDocument/2006/relationships/customXml" Target="../customXml/item3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customXml" Target="../customXml/item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Arial" charset="0"/>
              </a:defRPr>
            </a:lvl1pPr>
          </a:lstStyle>
          <a:p>
            <a:endParaRPr lang="tr-TR"/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797550" y="0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Arial" charset="0"/>
              </a:defRPr>
            </a:lvl1pPr>
          </a:lstStyle>
          <a:p>
            <a:endParaRPr lang="tr-TR"/>
          </a:p>
        </p:txBody>
      </p:sp>
      <p:sp>
        <p:nvSpPr>
          <p:cNvPr id="129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742113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Arial" charset="0"/>
              </a:defRPr>
            </a:lvl1pPr>
          </a:lstStyle>
          <a:p>
            <a:endParaRPr lang="tr-TR"/>
          </a:p>
        </p:txBody>
      </p:sp>
      <p:sp>
        <p:nvSpPr>
          <p:cNvPr id="129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797550" y="6742113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Arial" charset="0"/>
              </a:defRPr>
            </a:lvl1pPr>
          </a:lstStyle>
          <a:p>
            <a:fld id="{5FF5AA11-6FE7-4D92-860D-F09A5A1025BA}" type="slidenum">
              <a:rPr lang="tr-TR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603686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Arial" charset="0"/>
              </a:defRPr>
            </a:lvl1pPr>
          </a:lstStyle>
          <a:p>
            <a:endParaRPr lang="tr-TR"/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797550" y="0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Arial" charset="0"/>
              </a:defRPr>
            </a:lvl1pPr>
          </a:lstStyle>
          <a:p>
            <a:endParaRPr lang="tr-TR"/>
          </a:p>
        </p:txBody>
      </p:sp>
      <p:sp>
        <p:nvSpPr>
          <p:cNvPr id="798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341688" y="531813"/>
            <a:ext cx="3549650" cy="26622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798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023938" y="3371850"/>
            <a:ext cx="8186737" cy="3195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</a:p>
        </p:txBody>
      </p:sp>
      <p:sp>
        <p:nvSpPr>
          <p:cNvPr id="798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742113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Arial" charset="0"/>
              </a:defRPr>
            </a:lvl1pPr>
          </a:lstStyle>
          <a:p>
            <a:endParaRPr lang="tr-TR"/>
          </a:p>
        </p:txBody>
      </p:sp>
      <p:sp>
        <p:nvSpPr>
          <p:cNvPr id="798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797550" y="6742113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Arial" charset="0"/>
              </a:defRPr>
            </a:lvl1pPr>
          </a:lstStyle>
          <a:p>
            <a:fld id="{8B153843-1CF4-4938-B773-3DA6477B563D}" type="slidenum">
              <a:rPr lang="tr-TR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196357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868ED5-AD3A-402F-A7D9-233AE406A20E}" type="slidenum">
              <a:rPr lang="tr-TR">
                <a:solidFill>
                  <a:prstClr val="black"/>
                </a:solidFill>
              </a:rPr>
              <a:pPr/>
              <a:t>2</a:t>
            </a:fld>
            <a:endParaRPr lang="tr-TR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81B4D0-36FE-4031-9D1D-D544BBB82FFD}" type="slidenum">
              <a:rPr lang="tr-TR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tr-TR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81B4D0-36FE-4031-9D1D-D544BBB82FFD}" type="slidenum">
              <a:rPr lang="tr-TR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tr-TR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81B4D0-36FE-4031-9D1D-D544BBB82FFD}" type="slidenum">
              <a:rPr lang="tr-TR" smtClean="0">
                <a:solidFill>
                  <a:prstClr val="black"/>
                </a:solidFill>
              </a:rPr>
              <a:pPr>
                <a:defRPr/>
              </a:pPr>
              <a:t>5</a:t>
            </a:fld>
            <a:endParaRPr lang="tr-TR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81B4D0-36FE-4031-9D1D-D544BBB82FFD}" type="slidenum">
              <a:rPr lang="tr-TR" smtClean="0">
                <a:solidFill>
                  <a:prstClr val="black"/>
                </a:solidFill>
              </a:rPr>
              <a:pPr>
                <a:defRPr/>
              </a:pPr>
              <a:t>6</a:t>
            </a:fld>
            <a:endParaRPr lang="tr-TR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81B4D0-36FE-4031-9D1D-D544BBB82FFD}" type="slidenum">
              <a:rPr lang="tr-TR" smtClean="0">
                <a:solidFill>
                  <a:prstClr val="black"/>
                </a:solidFill>
              </a:rPr>
              <a:pPr>
                <a:defRPr/>
              </a:pPr>
              <a:t>7</a:t>
            </a:fld>
            <a:endParaRPr lang="tr-TR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Intuitively, </a:t>
            </a:r>
            <a:r>
              <a:rPr lang="en-US" sz="1200" b="0" i="1" u="none" strike="noStrike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w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 should make the predictions of </a:t>
            </a:r>
            <a:r>
              <a:rPr lang="en-US" sz="1200" b="0" i="1" u="none" strike="noStrike" kern="1200" baseline="0" dirty="0" err="1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h</a:t>
            </a:r>
            <a:r>
              <a:rPr lang="en-US" sz="1200" b="0" i="1" u="none" strike="noStrike" kern="1200" baseline="-25000" dirty="0" err="1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w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 close to the true values </a:t>
            </a:r>
            <a:r>
              <a:rPr lang="en-US" sz="1200" b="0" i="1" u="none" strike="noStrike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y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 on the data we have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81B4D0-36FE-4031-9D1D-D544BBB82FFD}" type="slidenum">
              <a:rPr lang="tr-TR" smtClean="0">
                <a:solidFill>
                  <a:prstClr val="black"/>
                </a:solidFill>
              </a:rPr>
              <a:pPr>
                <a:defRPr/>
              </a:pPr>
              <a:t>8</a:t>
            </a:fld>
            <a:endParaRPr lang="tr-TR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Intuitively, </a:t>
            </a:r>
            <a:r>
              <a:rPr lang="en-US" sz="1200" b="0" i="1" u="none" strike="noStrike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w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 should make the predictions of </a:t>
            </a:r>
            <a:r>
              <a:rPr lang="en-US" sz="1200" b="0" i="1" u="none" strike="noStrike" kern="1200" baseline="0" dirty="0" err="1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h</a:t>
            </a:r>
            <a:r>
              <a:rPr lang="en-US" sz="1200" b="0" i="1" u="none" strike="noStrike" kern="1200" baseline="-25000" dirty="0" err="1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w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 close to the true values </a:t>
            </a:r>
            <a:r>
              <a:rPr lang="en-US" sz="1200" b="0" i="1" u="none" strike="noStrike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y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 on the data we have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81B4D0-36FE-4031-9D1D-D544BBB82FFD}" type="slidenum">
              <a:rPr lang="tr-TR" smtClean="0">
                <a:solidFill>
                  <a:prstClr val="black"/>
                </a:solidFill>
              </a:rPr>
              <a:pPr>
                <a:defRPr/>
              </a:pPr>
              <a:t>9</a:t>
            </a:fld>
            <a:endParaRPr lang="tr-TR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Intuitively, </a:t>
            </a:r>
            <a:r>
              <a:rPr lang="en-US" sz="1200" b="0" i="1" u="none" strike="noStrike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w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 should make the predictions of </a:t>
            </a:r>
            <a:r>
              <a:rPr lang="en-US" sz="1200" b="0" i="1" u="none" strike="noStrike" kern="1200" baseline="0" dirty="0" err="1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h</a:t>
            </a:r>
            <a:r>
              <a:rPr lang="en-US" sz="1200" b="0" i="1" u="none" strike="noStrike" kern="1200" baseline="-25000" dirty="0" err="1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w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 close to the true values </a:t>
            </a:r>
            <a:r>
              <a:rPr lang="en-US" sz="1200" b="0" i="1" u="none" strike="noStrike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y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 on the data we have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81B4D0-36FE-4031-9D1D-D544BBB82FFD}" type="slidenum">
              <a:rPr lang="tr-TR" smtClean="0">
                <a:solidFill>
                  <a:prstClr val="black"/>
                </a:solidFill>
              </a:rPr>
              <a:pPr>
                <a:defRPr/>
              </a:pPr>
              <a:t>10</a:t>
            </a:fld>
            <a:endParaRPr lang="tr-TR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Intuitively, </a:t>
            </a:r>
            <a:r>
              <a:rPr lang="en-US" sz="1200" b="0" i="1" u="none" strike="noStrike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w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 should make the predictions of </a:t>
            </a:r>
            <a:r>
              <a:rPr lang="en-US" sz="1200" b="0" i="1" u="none" strike="noStrike" kern="1200" baseline="0" dirty="0" err="1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h</a:t>
            </a:r>
            <a:r>
              <a:rPr lang="en-US" sz="1200" b="0" i="1" u="none" strike="noStrike" kern="1200" baseline="-25000" dirty="0" err="1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w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 close to the true values </a:t>
            </a:r>
            <a:r>
              <a:rPr lang="en-US" sz="1200" b="0" i="1" u="none" strike="noStrike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y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 on the data we have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81B4D0-36FE-4031-9D1D-D544BBB82FFD}" type="slidenum">
              <a:rPr lang="tr-TR" smtClean="0">
                <a:solidFill>
                  <a:prstClr val="black"/>
                </a:solidFill>
              </a:rPr>
              <a:pPr>
                <a:defRPr/>
              </a:pPr>
              <a:t>11</a:t>
            </a:fld>
            <a:endParaRPr lang="tr-TR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Intuitively, </a:t>
            </a:r>
            <a:r>
              <a:rPr lang="en-US" sz="1200" b="0" i="1" u="none" strike="noStrike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w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 should make the predictions of </a:t>
            </a:r>
            <a:r>
              <a:rPr lang="en-US" sz="1200" b="0" i="1" u="none" strike="noStrike" kern="1200" baseline="0" dirty="0" err="1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h</a:t>
            </a:r>
            <a:r>
              <a:rPr lang="en-US" sz="1200" b="0" i="1" u="none" strike="noStrike" kern="1200" baseline="-25000" dirty="0" err="1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w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 close to the true values </a:t>
            </a:r>
            <a:r>
              <a:rPr lang="en-US" sz="1200" b="0" i="1" u="none" strike="noStrike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y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 on the data we have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81B4D0-36FE-4031-9D1D-D544BBB82FFD}" type="slidenum">
              <a:rPr lang="tr-TR" smtClean="0">
                <a:solidFill>
                  <a:prstClr val="black"/>
                </a:solidFill>
              </a:rPr>
              <a:pPr>
                <a:defRPr/>
              </a:pPr>
              <a:t>12</a:t>
            </a:fld>
            <a:endParaRPr lang="tr-TR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Intuitively, </a:t>
            </a:r>
            <a:r>
              <a:rPr lang="en-US" sz="1200" b="0" i="1" u="none" strike="noStrike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w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 should make the predictions of </a:t>
            </a:r>
            <a:r>
              <a:rPr lang="en-US" sz="1200" b="0" i="1" u="none" strike="noStrike" kern="1200" baseline="0" dirty="0" err="1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h</a:t>
            </a:r>
            <a:r>
              <a:rPr lang="en-US" sz="1200" b="0" i="1" u="none" strike="noStrike" kern="1200" baseline="-25000" dirty="0" err="1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w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 close to the true values </a:t>
            </a:r>
            <a:r>
              <a:rPr lang="en-US" sz="1200" b="0" i="1" u="none" strike="noStrike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y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 on the data we have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81B4D0-36FE-4031-9D1D-D544BBB82FFD}" type="slidenum">
              <a:rPr lang="tr-TR" smtClean="0">
                <a:solidFill>
                  <a:prstClr val="black"/>
                </a:solidFill>
              </a:rPr>
              <a:pPr>
                <a:defRPr/>
              </a:pPr>
              <a:t>13</a:t>
            </a:fld>
            <a:endParaRPr lang="tr-TR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Intuitively, </a:t>
            </a:r>
            <a:r>
              <a:rPr lang="en-US" sz="1200" b="0" i="1" u="none" strike="noStrike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w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 should make the predictions of </a:t>
            </a:r>
            <a:r>
              <a:rPr lang="en-US" sz="1200" b="0" i="1" u="none" strike="noStrike" kern="1200" baseline="0" dirty="0" err="1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h</a:t>
            </a:r>
            <a:r>
              <a:rPr lang="en-US" sz="1200" b="0" i="1" u="none" strike="noStrike" kern="1200" baseline="-25000" dirty="0" err="1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w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 close to the true values </a:t>
            </a:r>
            <a:r>
              <a:rPr lang="en-US" sz="1200" b="0" i="1" u="none" strike="noStrike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y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 on the data we have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81B4D0-36FE-4031-9D1D-D544BBB82FFD}" type="slidenum">
              <a:rPr lang="tr-TR" smtClean="0">
                <a:solidFill>
                  <a:prstClr val="black"/>
                </a:solidFill>
              </a:rPr>
              <a:pPr>
                <a:defRPr/>
              </a:pPr>
              <a:t>14</a:t>
            </a:fld>
            <a:endParaRPr lang="tr-TR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81B4D0-36FE-4031-9D1D-D544BBB82FFD}" type="slidenum">
              <a:rPr lang="tr-TR" smtClean="0">
                <a:solidFill>
                  <a:prstClr val="black"/>
                </a:solidFill>
              </a:rPr>
              <a:pPr>
                <a:defRPr/>
              </a:pPr>
              <a:t>15</a:t>
            </a:fld>
            <a:endParaRPr lang="tr-TR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AutoNum type="arabicPeriod"/>
            </a:pPr>
            <a:r>
              <a:rPr lang="en-US" sz="1200" baseline="0" dirty="0"/>
              <a:t>Derivative of the sum, with respect to </a:t>
            </a:r>
            <a:r>
              <a:rPr lang="en-US" sz="1200" i="1" baseline="0" dirty="0" err="1"/>
              <a:t>w</a:t>
            </a:r>
            <a:r>
              <a:rPr lang="en-US" sz="1200" i="1" baseline="-25000" dirty="0" err="1"/>
              <a:t>j</a:t>
            </a:r>
            <a:r>
              <a:rPr lang="en-US" sz="1200" baseline="0" dirty="0"/>
              <a:t>, is </a:t>
            </a:r>
            <a:r>
              <a:rPr lang="en-US" sz="1200" i="1" baseline="0" dirty="0" err="1"/>
              <a:t>x</a:t>
            </a:r>
            <a:r>
              <a:rPr lang="en-US" sz="1200" i="1" baseline="-25000" dirty="0" err="1"/>
              <a:t>ij</a:t>
            </a:r>
            <a:r>
              <a:rPr lang="en-US" sz="1200" baseline="0" dirty="0"/>
              <a:t>, and 0 otherwise.</a:t>
            </a:r>
          </a:p>
          <a:p>
            <a:pPr marL="228600" indent="-228600">
              <a:buAutoNum type="arabicPeriod"/>
            </a:pPr>
            <a:r>
              <a:rPr lang="en-US" sz="1200" dirty="0"/>
              <a:t>▼</a:t>
            </a:r>
            <a:r>
              <a:rPr lang="en-US" sz="1200" i="1" dirty="0"/>
              <a:t>J</a:t>
            </a:r>
            <a:r>
              <a:rPr lang="en-US" sz="1200" dirty="0"/>
              <a:t>(</a:t>
            </a:r>
            <a:r>
              <a:rPr lang="en-US" sz="1200" b="1" i="1" dirty="0"/>
              <a:t>w</a:t>
            </a:r>
            <a:r>
              <a:rPr lang="en-US" sz="1200" dirty="0"/>
              <a:t>) = ( … ) = (0, …, 0) to obtain the solution for vector </a:t>
            </a:r>
            <a:r>
              <a:rPr lang="en-US" sz="1200" b="1" i="1" dirty="0"/>
              <a:t>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81B4D0-36FE-4031-9D1D-D544BBB82FFD}" type="slidenum">
              <a:rPr lang="tr-TR" smtClean="0">
                <a:solidFill>
                  <a:prstClr val="black"/>
                </a:solidFill>
              </a:rPr>
              <a:pPr>
                <a:defRPr/>
              </a:pPr>
              <a:t>16</a:t>
            </a:fld>
            <a:endParaRPr lang="tr-TR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</a:t>
            </a:r>
            <a:r>
              <a:rPr lang="en-US" baseline="0" dirty="0"/>
              <a:t> The process in the previous slide can be performed as a matrix operation at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81B4D0-36FE-4031-9D1D-D544BBB82FFD}" type="slidenum">
              <a:rPr lang="tr-TR" smtClean="0">
                <a:solidFill>
                  <a:prstClr val="black"/>
                </a:solidFill>
              </a:rPr>
              <a:pPr>
                <a:defRPr/>
              </a:pPr>
              <a:t>17</a:t>
            </a:fld>
            <a:endParaRPr lang="tr-TR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</a:t>
            </a:r>
            <a:r>
              <a:rPr lang="en-US" baseline="0" dirty="0"/>
              <a:t> The process in the previous slide can be performed as a matrix operation at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81B4D0-36FE-4031-9D1D-D544BBB82FFD}" type="slidenum">
              <a:rPr lang="tr-TR" smtClean="0">
                <a:solidFill>
                  <a:prstClr val="black"/>
                </a:solidFill>
              </a:rPr>
              <a:pPr>
                <a:defRPr/>
              </a:pPr>
              <a:t>18</a:t>
            </a:fld>
            <a:endParaRPr lang="tr-TR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</a:t>
            </a:r>
            <a:r>
              <a:rPr lang="en-US" baseline="0" dirty="0"/>
              <a:t> The process in the previous slide can be performed as a matrix operation at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81B4D0-36FE-4031-9D1D-D544BBB82FFD}" type="slidenum">
              <a:rPr lang="tr-TR" smtClean="0">
                <a:solidFill>
                  <a:prstClr val="black"/>
                </a:solidFill>
              </a:rPr>
              <a:pPr>
                <a:defRPr/>
              </a:pPr>
              <a:t>19</a:t>
            </a:fld>
            <a:endParaRPr lang="tr-TR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</a:t>
            </a:r>
            <a:r>
              <a:rPr lang="en-US" baseline="0" dirty="0"/>
              <a:t> The process in the previous slide can be performed as a matrix operation at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81B4D0-36FE-4031-9D1D-D544BBB82FFD}" type="slidenum">
              <a:rPr lang="tr-TR" smtClean="0">
                <a:solidFill>
                  <a:prstClr val="black"/>
                </a:solidFill>
              </a:rPr>
              <a:pPr>
                <a:defRPr/>
              </a:pPr>
              <a:t>20</a:t>
            </a:fld>
            <a:endParaRPr lang="tr-TR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</a:t>
            </a:r>
            <a:r>
              <a:rPr lang="en-US" baseline="0" dirty="0"/>
              <a:t> The process in the previous slide can be performed as a matrix operation at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81B4D0-36FE-4031-9D1D-D544BBB82FFD}" type="slidenum">
              <a:rPr lang="tr-TR" smtClean="0">
                <a:solidFill>
                  <a:prstClr val="black"/>
                </a:solidFill>
              </a:rPr>
              <a:pPr>
                <a:defRPr/>
              </a:pPr>
              <a:t>21</a:t>
            </a:fld>
            <a:endParaRPr lang="tr-TR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81B4D0-36FE-4031-9D1D-D544BBB82FFD}" type="slidenum">
              <a:rPr lang="tr-TR" smtClean="0">
                <a:solidFill>
                  <a:prstClr val="black"/>
                </a:solidFill>
              </a:rPr>
              <a:pPr>
                <a:defRPr/>
              </a:pPr>
              <a:t>22</a:t>
            </a:fld>
            <a:endParaRPr lang="tr-TR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81B4D0-36FE-4031-9D1D-D544BBB82FFD}" type="slidenum">
              <a:rPr lang="tr-TR" smtClean="0">
                <a:solidFill>
                  <a:prstClr val="black"/>
                </a:solidFill>
              </a:rPr>
              <a:pPr>
                <a:defRPr/>
              </a:pPr>
              <a:t>23</a:t>
            </a:fld>
            <a:endParaRPr lang="tr-TR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81B4D0-36FE-4031-9D1D-D544BBB82FFD}" type="slidenum">
              <a:rPr lang="tr-TR" smtClean="0">
                <a:solidFill>
                  <a:prstClr val="black"/>
                </a:solidFill>
              </a:rPr>
              <a:pPr>
                <a:defRPr/>
              </a:pPr>
              <a:t>24</a:t>
            </a:fld>
            <a:endParaRPr lang="tr-TR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81B4D0-36FE-4031-9D1D-D544BBB82FFD}" type="slidenum">
              <a:rPr lang="tr-TR" smtClean="0">
                <a:solidFill>
                  <a:prstClr val="black"/>
                </a:solidFill>
              </a:rPr>
              <a:pPr>
                <a:defRPr/>
              </a:pPr>
              <a:t>25</a:t>
            </a:fld>
            <a:endParaRPr lang="tr-TR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81B4D0-36FE-4031-9D1D-D544BBB82FFD}" type="slidenum">
              <a:rPr lang="tr-TR" smtClean="0">
                <a:solidFill>
                  <a:prstClr val="black"/>
                </a:solidFill>
              </a:rPr>
              <a:pPr>
                <a:defRPr/>
              </a:pPr>
              <a:t>26</a:t>
            </a:fld>
            <a:endParaRPr lang="tr-TR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81B4D0-36FE-4031-9D1D-D544BBB82FFD}" type="slidenum">
              <a:rPr lang="tr-TR" smtClean="0">
                <a:solidFill>
                  <a:prstClr val="black"/>
                </a:solidFill>
              </a:rPr>
              <a:pPr>
                <a:defRPr/>
              </a:pPr>
              <a:t>27</a:t>
            </a:fld>
            <a:endParaRPr lang="tr-TR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81B4D0-36FE-4031-9D1D-D544BBB82FFD}" type="slidenum">
              <a:rPr lang="tr-TR" smtClean="0">
                <a:solidFill>
                  <a:prstClr val="black"/>
                </a:solidFill>
              </a:rPr>
              <a:pPr>
                <a:defRPr/>
              </a:pPr>
              <a:t>28</a:t>
            </a:fld>
            <a:endParaRPr lang="tr-TR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81B4D0-36FE-4031-9D1D-D544BBB82FFD}" type="slidenum">
              <a:rPr lang="tr-TR" smtClean="0">
                <a:solidFill>
                  <a:prstClr val="black"/>
                </a:solidFill>
              </a:rPr>
              <a:pPr>
                <a:defRPr/>
              </a:pPr>
              <a:t>29</a:t>
            </a:fld>
            <a:endParaRPr lang="tr-TR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81B4D0-36FE-4031-9D1D-D544BBB82FFD}" type="slidenum">
              <a:rPr lang="tr-TR" smtClean="0">
                <a:solidFill>
                  <a:prstClr val="black"/>
                </a:solidFill>
              </a:rPr>
              <a:pPr>
                <a:defRPr/>
              </a:pPr>
              <a:t>30</a:t>
            </a:fld>
            <a:endParaRPr lang="tr-TR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81B4D0-36FE-4031-9D1D-D544BBB82FFD}" type="slidenum">
              <a:rPr lang="tr-TR" smtClean="0">
                <a:solidFill>
                  <a:prstClr val="black"/>
                </a:solidFill>
              </a:rPr>
              <a:pPr>
                <a:defRPr/>
              </a:pPr>
              <a:t>31</a:t>
            </a:fld>
            <a:endParaRPr lang="tr-TR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 What if we have more features</a:t>
            </a:r>
            <a:r>
              <a:rPr lang="en-US" baseline="0" dirty="0"/>
              <a:t> for </a:t>
            </a:r>
            <a:r>
              <a:rPr lang="en-US" baseline="0"/>
              <a:t>each input x?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81B4D0-36FE-4031-9D1D-D544BBB82FFD}" type="slidenum">
              <a:rPr lang="tr-TR" smtClean="0">
                <a:solidFill>
                  <a:prstClr val="black"/>
                </a:solidFill>
              </a:rPr>
              <a:pPr>
                <a:defRPr/>
              </a:pPr>
              <a:t>32</a:t>
            </a:fld>
            <a:endParaRPr lang="tr-TR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696464"/>
                </a:solidFill>
              </a:rPr>
              <a:t>1/3/2010</a:t>
            </a:r>
            <a:endParaRPr lang="tr-TR">
              <a:solidFill>
                <a:srgbClr val="696464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14" name="Picture 2" descr="Image result for AIUB logo">
            <a:extLst>
              <a:ext uri="{FF2B5EF4-FFF2-40B4-BE49-F238E27FC236}">
                <a16:creationId xmlns:a16="http://schemas.microsoft.com/office/drawing/2014/main" id="{5C7DCE2F-1962-4B17-AD52-97F3EE93B17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5236" y="112659"/>
            <a:ext cx="1233449" cy="1241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8D769C6-8701-4ED3-8041-44BC45A52C01}"/>
              </a:ext>
            </a:extLst>
          </p:cNvPr>
          <p:cNvSpPr txBox="1"/>
          <p:nvPr userDrawn="1"/>
        </p:nvSpPr>
        <p:spPr>
          <a:xfrm>
            <a:off x="33261" y="2549455"/>
            <a:ext cx="35705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Course 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4232: Machine Learning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60757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srgbClr val="696464"/>
                </a:solidFill>
              </a:rPr>
              <a:t>1/3/2010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3EC557-5636-409C-BC52-BDF5A4DAF3EF}"/>
              </a:ext>
            </a:extLst>
          </p:cNvPr>
          <p:cNvSpPr txBox="1"/>
          <p:nvPr userDrawn="1"/>
        </p:nvSpPr>
        <p:spPr>
          <a:xfrm>
            <a:off x="3473671" y="6453324"/>
            <a:ext cx="21064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100" dirty="0">
                <a:solidFill>
                  <a:srgbClr val="696464"/>
                </a:solidFill>
              </a:rPr>
              <a:t>Dr. M </a:t>
            </a:r>
            <a:r>
              <a:rPr lang="en-US" sz="1100" dirty="0" err="1">
                <a:solidFill>
                  <a:srgbClr val="696464"/>
                </a:solidFill>
              </a:rPr>
              <a:t>M</a:t>
            </a:r>
            <a:r>
              <a:rPr lang="en-US" sz="1100" dirty="0">
                <a:solidFill>
                  <a:srgbClr val="696464"/>
                </a:solidFill>
              </a:rPr>
              <a:t> Manjurul Islam</a:t>
            </a:r>
            <a:endParaRPr lang="tr-TR" sz="1100" dirty="0">
              <a:solidFill>
                <a:srgbClr val="6964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7799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10" name="Rounded Rectangle 9"/>
          <p:cNvSpPr/>
          <p:nvPr userDrawn="1"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srgbClr val="696464"/>
                </a:solidFill>
              </a:rPr>
              <a:t>1/3/2010</a:t>
            </a:r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F22EF1-A60F-4328-9FCB-5F0B77EB5425}"/>
              </a:ext>
            </a:extLst>
          </p:cNvPr>
          <p:cNvSpPr txBox="1"/>
          <p:nvPr userDrawn="1"/>
        </p:nvSpPr>
        <p:spPr>
          <a:xfrm>
            <a:off x="3473671" y="6479758"/>
            <a:ext cx="21064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100" dirty="0">
                <a:solidFill>
                  <a:srgbClr val="696464"/>
                </a:solidFill>
              </a:rPr>
              <a:t>Dr. M </a:t>
            </a:r>
            <a:r>
              <a:rPr lang="en-US" sz="1100" dirty="0" err="1">
                <a:solidFill>
                  <a:srgbClr val="696464"/>
                </a:solidFill>
              </a:rPr>
              <a:t>M</a:t>
            </a:r>
            <a:r>
              <a:rPr lang="en-US" sz="1100" dirty="0">
                <a:solidFill>
                  <a:srgbClr val="696464"/>
                </a:solidFill>
              </a:rPr>
              <a:t> Manjurul Islam</a:t>
            </a:r>
            <a:endParaRPr lang="tr-TR" sz="1100" dirty="0">
              <a:solidFill>
                <a:srgbClr val="6964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579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srgbClr val="696464"/>
                </a:solidFill>
              </a:rPr>
              <a:t>1/3/2010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CDF1EC-277A-4DC2-86A1-85D5B6F03D2D}"/>
              </a:ext>
            </a:extLst>
          </p:cNvPr>
          <p:cNvSpPr txBox="1"/>
          <p:nvPr userDrawn="1"/>
        </p:nvSpPr>
        <p:spPr>
          <a:xfrm>
            <a:off x="3473671" y="6453324"/>
            <a:ext cx="21064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100" dirty="0">
                <a:solidFill>
                  <a:srgbClr val="696464"/>
                </a:solidFill>
              </a:rPr>
              <a:t>Dr. M </a:t>
            </a:r>
            <a:r>
              <a:rPr lang="en-US" sz="1100" dirty="0" err="1">
                <a:solidFill>
                  <a:srgbClr val="696464"/>
                </a:solidFill>
              </a:rPr>
              <a:t>M</a:t>
            </a:r>
            <a:r>
              <a:rPr lang="en-US" sz="1100" dirty="0">
                <a:solidFill>
                  <a:srgbClr val="696464"/>
                </a:solidFill>
              </a:rPr>
              <a:t> Manjurul Islam</a:t>
            </a:r>
            <a:endParaRPr lang="tr-TR" sz="1100" dirty="0">
              <a:solidFill>
                <a:srgbClr val="6964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1322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srgbClr val="696464"/>
                </a:solidFill>
              </a:rPr>
              <a:t>1/3/2010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4B957E-0032-4005-8291-D6D7E52CD262}"/>
              </a:ext>
            </a:extLst>
          </p:cNvPr>
          <p:cNvSpPr txBox="1"/>
          <p:nvPr userDrawn="1"/>
        </p:nvSpPr>
        <p:spPr>
          <a:xfrm>
            <a:off x="3473671" y="6453324"/>
            <a:ext cx="21064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100" dirty="0">
                <a:solidFill>
                  <a:srgbClr val="696464"/>
                </a:solidFill>
              </a:rPr>
              <a:t>Dr. M </a:t>
            </a:r>
            <a:r>
              <a:rPr lang="en-US" sz="1100" dirty="0" err="1">
                <a:solidFill>
                  <a:srgbClr val="696464"/>
                </a:solidFill>
              </a:rPr>
              <a:t>M</a:t>
            </a:r>
            <a:r>
              <a:rPr lang="en-US" sz="1100" dirty="0">
                <a:solidFill>
                  <a:srgbClr val="696464"/>
                </a:solidFill>
              </a:rPr>
              <a:t> Manjurul Islam</a:t>
            </a:r>
            <a:endParaRPr lang="tr-TR" sz="1100" dirty="0">
              <a:solidFill>
                <a:srgbClr val="6964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7345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srgbClr val="696464"/>
                </a:solidFill>
              </a:rPr>
              <a:t>1/3/2010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A530D5-141D-4DE9-9739-79EFD2DCB0FA}"/>
              </a:ext>
            </a:extLst>
          </p:cNvPr>
          <p:cNvSpPr txBox="1"/>
          <p:nvPr userDrawn="1"/>
        </p:nvSpPr>
        <p:spPr>
          <a:xfrm>
            <a:off x="3473671" y="6453324"/>
            <a:ext cx="21064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100" dirty="0">
                <a:solidFill>
                  <a:srgbClr val="696464"/>
                </a:solidFill>
              </a:rPr>
              <a:t>Dr. M </a:t>
            </a:r>
            <a:r>
              <a:rPr lang="en-US" sz="1100" dirty="0" err="1">
                <a:solidFill>
                  <a:srgbClr val="696464"/>
                </a:solidFill>
              </a:rPr>
              <a:t>M</a:t>
            </a:r>
            <a:r>
              <a:rPr lang="en-US" sz="1100" dirty="0">
                <a:solidFill>
                  <a:srgbClr val="696464"/>
                </a:solidFill>
              </a:rPr>
              <a:t> Manjurul Islam</a:t>
            </a:r>
            <a:endParaRPr lang="tr-TR" sz="1100" dirty="0">
              <a:solidFill>
                <a:srgbClr val="6964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5632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srgbClr val="696464"/>
                </a:solidFill>
              </a:rPr>
              <a:t>1/3/2010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A072F8-515B-4CBB-95B6-790F172F0DFE}"/>
              </a:ext>
            </a:extLst>
          </p:cNvPr>
          <p:cNvSpPr txBox="1"/>
          <p:nvPr userDrawn="1"/>
        </p:nvSpPr>
        <p:spPr>
          <a:xfrm>
            <a:off x="3473671" y="6453324"/>
            <a:ext cx="21064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100" dirty="0">
                <a:solidFill>
                  <a:srgbClr val="696464"/>
                </a:solidFill>
              </a:rPr>
              <a:t>Dr. M </a:t>
            </a:r>
            <a:r>
              <a:rPr lang="en-US" sz="1100" dirty="0" err="1">
                <a:solidFill>
                  <a:srgbClr val="696464"/>
                </a:solidFill>
              </a:rPr>
              <a:t>M</a:t>
            </a:r>
            <a:r>
              <a:rPr lang="en-US" sz="1100" dirty="0">
                <a:solidFill>
                  <a:srgbClr val="696464"/>
                </a:solidFill>
              </a:rPr>
              <a:t> Manjurul Islam</a:t>
            </a:r>
            <a:endParaRPr lang="tr-TR" sz="1100" dirty="0">
              <a:solidFill>
                <a:srgbClr val="6964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106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srgbClr val="696464"/>
                </a:solidFill>
              </a:rPr>
              <a:t>1/3/2010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5A6961-21C3-4FD0-98D9-79A0A9CD223C}"/>
              </a:ext>
            </a:extLst>
          </p:cNvPr>
          <p:cNvSpPr txBox="1"/>
          <p:nvPr userDrawn="1"/>
        </p:nvSpPr>
        <p:spPr>
          <a:xfrm>
            <a:off x="3473671" y="6453324"/>
            <a:ext cx="21064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100" dirty="0">
                <a:solidFill>
                  <a:srgbClr val="696464"/>
                </a:solidFill>
              </a:rPr>
              <a:t>Dr. M </a:t>
            </a:r>
            <a:r>
              <a:rPr lang="en-US" sz="1100" dirty="0" err="1">
                <a:solidFill>
                  <a:srgbClr val="696464"/>
                </a:solidFill>
              </a:rPr>
              <a:t>M</a:t>
            </a:r>
            <a:r>
              <a:rPr lang="en-US" sz="1100" dirty="0">
                <a:solidFill>
                  <a:srgbClr val="696464"/>
                </a:solidFill>
              </a:rPr>
              <a:t> Manjurul Islam</a:t>
            </a:r>
            <a:endParaRPr lang="tr-TR" sz="1100" dirty="0">
              <a:solidFill>
                <a:srgbClr val="6964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5239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srgbClr val="696464"/>
                </a:solidFill>
              </a:rPr>
              <a:t>1/3/2010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pPr>
              <a:defRPr/>
            </a:pPr>
            <a:fld id="{774CDB6B-34EF-4499-93D7-CDE73CE55E2B}" type="slidenum">
              <a:rPr lang="tr-TR" smtClean="0"/>
              <a:pPr>
                <a:defRPr/>
              </a:pPr>
              <a:t>‹#›</a:t>
            </a:fld>
            <a:endParaRPr lang="tr-TR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2C1451-6C86-4165-8B73-CD520B5A1629}"/>
              </a:ext>
            </a:extLst>
          </p:cNvPr>
          <p:cNvSpPr txBox="1"/>
          <p:nvPr userDrawn="1"/>
        </p:nvSpPr>
        <p:spPr>
          <a:xfrm>
            <a:off x="3473671" y="6453336"/>
            <a:ext cx="21064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100" dirty="0">
                <a:solidFill>
                  <a:srgbClr val="696464"/>
                </a:solidFill>
              </a:rPr>
              <a:t>Dr. M </a:t>
            </a:r>
            <a:r>
              <a:rPr lang="en-US" sz="1100" dirty="0" err="1">
                <a:solidFill>
                  <a:srgbClr val="696464"/>
                </a:solidFill>
              </a:rPr>
              <a:t>M</a:t>
            </a:r>
            <a:r>
              <a:rPr lang="en-US" sz="1100" dirty="0">
                <a:solidFill>
                  <a:srgbClr val="696464"/>
                </a:solidFill>
              </a:rPr>
              <a:t> Manjurul Islam</a:t>
            </a:r>
            <a:endParaRPr lang="tr-TR" sz="1100" dirty="0">
              <a:solidFill>
                <a:srgbClr val="6964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3790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srgbClr val="696464"/>
                </a:solidFill>
              </a:rPr>
              <a:t>1/3/2010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AA1F7C-A0DB-4A2F-83FB-084B476C72CF}" type="slidenum">
              <a:rPr lang="tr-TR" smtClean="0"/>
              <a:pPr>
                <a:defRPr/>
              </a:pPr>
              <a:t>‹#›</a:t>
            </a:fld>
            <a:endParaRPr lang="tr-T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C42D36-4884-4409-B0D2-B9AE50CD2660}"/>
              </a:ext>
            </a:extLst>
          </p:cNvPr>
          <p:cNvSpPr txBox="1"/>
          <p:nvPr userDrawn="1"/>
        </p:nvSpPr>
        <p:spPr>
          <a:xfrm>
            <a:off x="3473671" y="6453324"/>
            <a:ext cx="21064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100" dirty="0">
                <a:solidFill>
                  <a:srgbClr val="696464"/>
                </a:solidFill>
              </a:rPr>
              <a:t>Dr. M </a:t>
            </a:r>
            <a:r>
              <a:rPr lang="en-US" sz="1100" dirty="0" err="1">
                <a:solidFill>
                  <a:srgbClr val="696464"/>
                </a:solidFill>
              </a:rPr>
              <a:t>M</a:t>
            </a:r>
            <a:r>
              <a:rPr lang="en-US" sz="1100" dirty="0">
                <a:solidFill>
                  <a:srgbClr val="696464"/>
                </a:solidFill>
              </a:rPr>
              <a:t> Manjurul Islam</a:t>
            </a:r>
            <a:endParaRPr lang="tr-TR" sz="1100" dirty="0">
              <a:solidFill>
                <a:srgbClr val="6964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3853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srgbClr val="696464"/>
                </a:solidFill>
              </a:rPr>
              <a:t>1/3/2010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C795C2-9663-4CD9-B7AF-0C67447055CB}" type="slidenum">
              <a:rPr lang="tr-TR" smtClean="0"/>
              <a:pPr>
                <a:defRPr/>
              </a:pPr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0781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tr-TR">
                <a:solidFill>
                  <a:srgbClr val="696464"/>
                </a:solidFill>
              </a:rPr>
              <a:t>Lecture Notes for E Alpaydın 2004 Introduction to Machine Learning © The MIT Press (V1.1)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DCC117-D9FE-4FA6-93AE-200B19E36A49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307588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981200"/>
            <a:ext cx="40386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4000500"/>
            <a:ext cx="40386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>
          <a:xfrm>
            <a:off x="0" y="6642100"/>
            <a:ext cx="6048375" cy="2159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Lecture Notes for E Alpaydın 2010 Introduction to Machine Learning 2e © The MIT Press (V1.0)</a:t>
            </a:r>
            <a:endParaRPr lang="tr-TR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6588125" y="623728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E2AD2982-C8A2-46B9-B5BF-2CA42BE54529}" type="slidenum">
              <a:rPr lang="tr-TR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100901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0" y="6642100"/>
            <a:ext cx="6048375" cy="2159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Lecture Notes for E Alpaydın 2010 Introduction to Machine Learning 2e © The MIT Press (V1.0)</a:t>
            </a:r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6588125" y="623728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4D9C910F-95E2-44E4-84AE-A7A1028AFFDD}" type="slidenum">
              <a:rPr lang="tr-TR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573458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0" y="6642100"/>
            <a:ext cx="6048375" cy="2159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Lecture Notes for E Alpaydın 2010 Introduction to Machine Learning 2e © The MIT Press (V1.0)</a:t>
            </a:r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6588125" y="623728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71E02EA1-D2B5-4355-B372-290AC846D86A}" type="slidenum">
              <a:rPr lang="tr-TR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42261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>
                <a:solidFill>
                  <a:srgbClr val="696464"/>
                </a:solidFill>
              </a:rPr>
              <a:t>1/3/2010</a:t>
            </a:r>
            <a:endParaRPr lang="en-US" dirty="0">
              <a:solidFill>
                <a:srgbClr val="696464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D827A79F-20D9-4772-A787-9537DFA9E49A}" type="slidenum">
              <a:rPr lang="tr-TR" smtClean="0"/>
              <a:pPr>
                <a:defRPr/>
              </a:pPr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55840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  <p:sldLayoutId id="2147483735" r:id="rId14"/>
    <p:sldLayoutId id="2147483736" r:id="rId15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oleObject" Target="../embeddings/oleObject2.bin"/><Relationship Id="rId7" Type="http://schemas.openxmlformats.org/officeDocument/2006/relationships/image" Target="../media/image28.wm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27.wmf"/><Relationship Id="rId4" Type="http://schemas.openxmlformats.org/officeDocument/2006/relationships/oleObject" Target="../embeddings/oleObject3.bin"/><Relationship Id="rId9" Type="http://schemas.openxmlformats.org/officeDocument/2006/relationships/image" Target="../media/image29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34.wmf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41.wmf"/><Relationship Id="rId9" Type="http://schemas.openxmlformats.org/officeDocument/2006/relationships/image" Target="../media/image44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50.wmf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7.wmf"/><Relationship Id="rId11" Type="http://schemas.openxmlformats.org/officeDocument/2006/relationships/oleObject" Target="../embeddings/oleObject16.bin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49.wmf"/><Relationship Id="rId4" Type="http://schemas.openxmlformats.org/officeDocument/2006/relationships/image" Target="../media/image46.wmf"/><Relationship Id="rId9" Type="http://schemas.openxmlformats.org/officeDocument/2006/relationships/oleObject" Target="../embeddings/oleObject15.bin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2229D37F-B35F-42B9-8717-77AC43D80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9632" y="3407229"/>
            <a:ext cx="6400800" cy="757472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6DC2F3B-DB8C-4A90-8A4C-F9C3099889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6302956"/>
              </p:ext>
            </p:extLst>
          </p:nvPr>
        </p:nvGraphicFramePr>
        <p:xfrm>
          <a:off x="327901" y="5661248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Instructor: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Prof. Dr. </a:t>
                      </a:r>
                      <a:r>
                        <a:rPr lang="en-US" i="1" dirty="0" err="1"/>
                        <a:t>Kamruddin</a:t>
                      </a:r>
                      <a:r>
                        <a:rPr lang="en-US" i="1" dirty="0"/>
                        <a:t> </a:t>
                      </a:r>
                      <a:r>
                        <a:rPr lang="en-US" i="1" dirty="0" err="1"/>
                        <a:t>Nur</a:t>
                      </a:r>
                      <a:r>
                        <a:rPr lang="en-US" i="1" dirty="0"/>
                        <a:t> (</a:t>
                      </a:r>
                      <a:r>
                        <a:rPr lang="en-US" i="1" dirty="0" err="1"/>
                        <a:t>kamruddin@aiub.edu</a:t>
                      </a:r>
                      <a:r>
                        <a:rPr lang="en-US" i="1" dirty="0"/>
                        <a:t>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CD8F1DA3-3DE8-4BEF-B6BE-2115A4940107}"/>
              </a:ext>
            </a:extLst>
          </p:cNvPr>
          <p:cNvSpPr txBox="1">
            <a:spLocks/>
          </p:cNvSpPr>
          <p:nvPr/>
        </p:nvSpPr>
        <p:spPr>
          <a:xfrm>
            <a:off x="0" y="1556792"/>
            <a:ext cx="7808976" cy="1088136"/>
          </a:xfrm>
          <a:prstGeom prst="rect">
            <a:avLst/>
          </a:prstGeom>
        </p:spPr>
        <p:txBody>
          <a:bodyPr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Supervised Learning Setup</a:t>
            </a:r>
          </a:p>
        </p:txBody>
      </p:sp>
    </p:spTree>
    <p:extLst>
      <p:ext uri="{BB962C8B-B14F-4D97-AF65-F5344CB8AC3E}">
        <p14:creationId xmlns:p14="http://schemas.microsoft.com/office/powerpoint/2010/main" val="1949788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Supervised Learning</a:t>
            </a:r>
            <a:endParaRPr lang="tr-TR" dirty="0"/>
          </a:p>
        </p:txBody>
      </p:sp>
      <p:sp>
        <p:nvSpPr>
          <p:cNvPr id="922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42844" y="1447800"/>
            <a:ext cx="8858312" cy="5267348"/>
          </a:xfrm>
        </p:spPr>
        <p:txBody>
          <a:bodyPr>
            <a:normAutofit/>
          </a:bodyPr>
          <a:lstStyle/>
          <a:p>
            <a:r>
              <a:rPr lang="en-US" dirty="0"/>
              <a:t> Training experience: a set of labeled examples of the form</a:t>
            </a:r>
          </a:p>
          <a:p>
            <a:pPr algn="ctr">
              <a:buNone/>
            </a:pPr>
            <a:r>
              <a:rPr lang="en-US" b="1" i="1" dirty="0"/>
              <a:t>x</a:t>
            </a:r>
            <a:r>
              <a:rPr lang="en-US" dirty="0"/>
              <a:t> = (</a:t>
            </a:r>
            <a:r>
              <a:rPr lang="en-US" i="1" dirty="0"/>
              <a:t> x</a:t>
            </a:r>
            <a:r>
              <a:rPr lang="en-US" baseline="-25000" dirty="0"/>
              <a:t>1</a:t>
            </a:r>
            <a:r>
              <a:rPr lang="en-US" dirty="0"/>
              <a:t>, </a:t>
            </a:r>
            <a:r>
              <a:rPr lang="en-US" i="1" dirty="0"/>
              <a:t>x</a:t>
            </a:r>
            <a:r>
              <a:rPr lang="en-US" baseline="-25000" dirty="0"/>
              <a:t>2</a:t>
            </a:r>
            <a:r>
              <a:rPr lang="en-US" dirty="0"/>
              <a:t>, …, </a:t>
            </a:r>
            <a:r>
              <a:rPr lang="en-US" i="1" dirty="0" err="1"/>
              <a:t>x</a:t>
            </a:r>
            <a:r>
              <a:rPr lang="en-US" i="1" baseline="-25000" dirty="0" err="1"/>
              <a:t>n</a:t>
            </a:r>
            <a:r>
              <a:rPr lang="en-US" dirty="0"/>
              <a:t>, </a:t>
            </a:r>
            <a:r>
              <a:rPr lang="en-US" i="1" dirty="0"/>
              <a:t>y</a:t>
            </a:r>
            <a:r>
              <a:rPr lang="en-US" dirty="0"/>
              <a:t> )</a:t>
            </a:r>
          </a:p>
          <a:p>
            <a:pPr algn="ctr">
              <a:buNone/>
            </a:pPr>
            <a:endParaRPr lang="en-US" i="1" dirty="0"/>
          </a:p>
          <a:p>
            <a:r>
              <a:rPr lang="en-US" dirty="0"/>
              <a:t>where </a:t>
            </a:r>
            <a:r>
              <a:rPr lang="en-US" i="1" dirty="0" err="1"/>
              <a:t>x</a:t>
            </a:r>
            <a:r>
              <a:rPr lang="en-US" i="1" baseline="-25000" dirty="0" err="1"/>
              <a:t>j</a:t>
            </a:r>
            <a:r>
              <a:rPr lang="en-US" dirty="0"/>
              <a:t> are values for input variables and </a:t>
            </a:r>
            <a:r>
              <a:rPr lang="en-US" i="1" dirty="0"/>
              <a:t>y</a:t>
            </a:r>
            <a:r>
              <a:rPr lang="en-US" dirty="0"/>
              <a:t> is the output</a:t>
            </a:r>
          </a:p>
          <a:p>
            <a:endParaRPr lang="en-US" dirty="0"/>
          </a:p>
          <a:p>
            <a:r>
              <a:rPr lang="en-US" dirty="0"/>
              <a:t> This implies the existence of a “teacher” who knows the right answers</a:t>
            </a:r>
          </a:p>
          <a:p>
            <a:endParaRPr lang="en-US" dirty="0"/>
          </a:p>
          <a:p>
            <a:r>
              <a:rPr lang="en-US" dirty="0"/>
              <a:t> What to learn: A function  </a:t>
            </a:r>
            <a:r>
              <a:rPr lang="en-US" i="1" dirty="0"/>
              <a:t>f</a:t>
            </a:r>
            <a:r>
              <a:rPr lang="en-US" dirty="0"/>
              <a:t> : </a:t>
            </a:r>
            <a:r>
              <a:rPr lang="en-US" i="1" dirty="0"/>
              <a:t>X</a:t>
            </a:r>
            <a:r>
              <a:rPr lang="en-US" baseline="-25000" dirty="0"/>
              <a:t>1</a:t>
            </a:r>
            <a:r>
              <a:rPr lang="en-US" dirty="0"/>
              <a:t> × </a:t>
            </a:r>
            <a:r>
              <a:rPr lang="en-US" i="1" dirty="0"/>
              <a:t>X</a:t>
            </a:r>
            <a:r>
              <a:rPr lang="en-US" baseline="-25000" dirty="0"/>
              <a:t>2</a:t>
            </a:r>
            <a:r>
              <a:rPr lang="en-US" dirty="0"/>
              <a:t> × … × </a:t>
            </a:r>
            <a:r>
              <a:rPr lang="en-US" i="1" dirty="0" err="1"/>
              <a:t>X</a:t>
            </a:r>
            <a:r>
              <a:rPr lang="en-US" i="1" baseline="-25000" dirty="0" err="1"/>
              <a:t>n</a:t>
            </a:r>
            <a:r>
              <a:rPr lang="en-US" dirty="0"/>
              <a:t> </a:t>
            </a:r>
            <a:r>
              <a:rPr lang="en-US" dirty="0">
                <a:latin typeface="Times New Roman"/>
                <a:cs typeface="Times New Roman"/>
              </a:rPr>
              <a:t>→</a:t>
            </a:r>
            <a:r>
              <a:rPr lang="en-US" dirty="0"/>
              <a:t> </a:t>
            </a:r>
            <a:r>
              <a:rPr lang="en-US" i="1" dirty="0"/>
              <a:t>Y</a:t>
            </a:r>
            <a:r>
              <a:rPr lang="en-US" dirty="0"/>
              <a:t> , which maps the input variables into the output domain</a:t>
            </a:r>
          </a:p>
          <a:p>
            <a:endParaRPr lang="en-US" dirty="0"/>
          </a:p>
          <a:p>
            <a:r>
              <a:rPr lang="en-US" dirty="0"/>
              <a:t> Goal: minimize the error (loss function) on the training examples</a:t>
            </a:r>
            <a:endParaRPr lang="tr-TR" dirty="0"/>
          </a:p>
        </p:txBody>
      </p:sp>
      <p:sp>
        <p:nvSpPr>
          <p:cNvPr id="9219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defPPr>
              <a:defRPr lang="tr-TR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9pPr>
          </a:lstStyle>
          <a:p>
            <a:fld id="{1793A0A3-67C0-4241-8650-FEE17AC1B80B}" type="slidenum">
              <a:rPr lang="tr-TR" smtClean="0"/>
              <a:pPr>
                <a:defRPr/>
              </a:pPr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63484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Supervised Learning Problem</a:t>
            </a:r>
            <a:endParaRPr lang="tr-TR" dirty="0"/>
          </a:p>
        </p:txBody>
      </p:sp>
      <p:sp>
        <p:nvSpPr>
          <p:cNvPr id="1126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defPPr>
              <a:defRPr lang="tr-TR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432274A5-B9D2-4812-BB3E-AF82EEF8ADFB}" type="slidenum">
              <a:rPr lang="tr-TR" smtClean="0"/>
              <a:pPr>
                <a:defRPr/>
              </a:pPr>
              <a:t>3</a:t>
            </a:fld>
            <a:endParaRPr lang="tr-TR"/>
          </a:p>
        </p:txBody>
      </p:sp>
      <p:sp>
        <p:nvSpPr>
          <p:cNvPr id="11269" name="Rectangle 7"/>
          <p:cNvSpPr>
            <a:spLocks noGrp="1" noChangeArrowheads="1"/>
          </p:cNvSpPr>
          <p:nvPr>
            <p:ph sz="quarter" idx="1"/>
          </p:nvPr>
        </p:nvSpPr>
        <p:spPr>
          <a:xfrm>
            <a:off x="142844" y="1428736"/>
            <a:ext cx="8858312" cy="5286412"/>
          </a:xfrm>
        </p:spPr>
        <p:txBody>
          <a:bodyPr>
            <a:noAutofit/>
          </a:bodyPr>
          <a:lstStyle/>
          <a:p>
            <a:r>
              <a:rPr lang="en-US" sz="1800" dirty="0"/>
              <a:t>Given a data set </a:t>
            </a:r>
            <a:r>
              <a:rPr lang="en-US" sz="1800" i="1" dirty="0"/>
              <a:t>D     X</a:t>
            </a:r>
            <a:r>
              <a:rPr lang="en-US" sz="1800" baseline="-25000" dirty="0"/>
              <a:t>1</a:t>
            </a:r>
            <a:r>
              <a:rPr lang="en-US" sz="1800" dirty="0"/>
              <a:t> × </a:t>
            </a:r>
            <a:r>
              <a:rPr lang="en-US" sz="1800" i="1" dirty="0"/>
              <a:t>X</a:t>
            </a:r>
            <a:r>
              <a:rPr lang="en-US" sz="1800" baseline="-25000" dirty="0"/>
              <a:t>2</a:t>
            </a:r>
            <a:r>
              <a:rPr lang="en-US" sz="1800" dirty="0"/>
              <a:t> × … × </a:t>
            </a:r>
            <a:r>
              <a:rPr lang="en-US" sz="1800" i="1" dirty="0" err="1"/>
              <a:t>X</a:t>
            </a:r>
            <a:r>
              <a:rPr lang="en-US" sz="1800" i="1" baseline="-25000" dirty="0" err="1"/>
              <a:t>n</a:t>
            </a:r>
            <a:r>
              <a:rPr lang="en-US" sz="1800" dirty="0"/>
              <a:t> × </a:t>
            </a:r>
            <a:r>
              <a:rPr lang="en-US" sz="1800" i="1" dirty="0"/>
              <a:t>Y</a:t>
            </a:r>
            <a:r>
              <a:rPr lang="en-US" sz="1800" dirty="0"/>
              <a:t>, find a function</a:t>
            </a:r>
            <a:r>
              <a:rPr lang="en-US" sz="1800" i="1" dirty="0"/>
              <a:t> </a:t>
            </a:r>
          </a:p>
          <a:p>
            <a:pPr lvl="1" algn="ctr">
              <a:buNone/>
            </a:pPr>
            <a:r>
              <a:rPr lang="en-US" sz="1800" i="1" dirty="0"/>
              <a:t>h</a:t>
            </a:r>
            <a:r>
              <a:rPr lang="en-US" sz="1800" dirty="0"/>
              <a:t> : </a:t>
            </a:r>
            <a:r>
              <a:rPr lang="en-US" sz="1800" i="1" dirty="0"/>
              <a:t>X</a:t>
            </a:r>
            <a:r>
              <a:rPr lang="en-US" sz="1800" baseline="-25000" dirty="0"/>
              <a:t>1</a:t>
            </a:r>
            <a:r>
              <a:rPr lang="en-US" sz="1800" dirty="0"/>
              <a:t> × </a:t>
            </a:r>
            <a:r>
              <a:rPr lang="en-US" sz="1800" i="1" dirty="0"/>
              <a:t>X</a:t>
            </a:r>
            <a:r>
              <a:rPr lang="en-US" sz="1800" baseline="-25000" dirty="0"/>
              <a:t>2</a:t>
            </a:r>
            <a:r>
              <a:rPr lang="en-US" sz="1800" dirty="0"/>
              <a:t> × … × </a:t>
            </a:r>
            <a:r>
              <a:rPr lang="en-US" sz="1800" i="1" dirty="0"/>
              <a:t>X</a:t>
            </a:r>
            <a:r>
              <a:rPr lang="en-US" sz="1800" i="1" baseline="-25000" dirty="0"/>
              <a:t>n</a:t>
            </a:r>
            <a:r>
              <a:rPr lang="en-US" sz="1800" dirty="0"/>
              <a:t> </a:t>
            </a:r>
            <a:r>
              <a:rPr lang="en-US" sz="1800" dirty="0">
                <a:cs typeface="Times New Roman"/>
              </a:rPr>
              <a:t>→</a:t>
            </a:r>
            <a:r>
              <a:rPr lang="en-US" sz="1800" dirty="0"/>
              <a:t> </a:t>
            </a:r>
            <a:r>
              <a:rPr lang="en-US" sz="1800" i="1" dirty="0"/>
              <a:t>Y</a:t>
            </a:r>
            <a:r>
              <a:rPr lang="en-US" sz="1800" dirty="0"/>
              <a:t> </a:t>
            </a:r>
            <a:endParaRPr lang="en-US" sz="1800" dirty="0">
              <a:solidFill>
                <a:srgbClr val="FF0000"/>
              </a:solidFill>
            </a:endParaRPr>
          </a:p>
          <a:p>
            <a:pPr lvl="1">
              <a:buNone/>
            </a:pPr>
            <a:r>
              <a:rPr lang="en-US" sz="1800" dirty="0"/>
              <a:t>such that </a:t>
            </a:r>
            <a:r>
              <a:rPr lang="en-US" sz="1800" i="1" dirty="0"/>
              <a:t>h</a:t>
            </a:r>
            <a:r>
              <a:rPr lang="en-US" sz="1800" dirty="0"/>
              <a:t>(</a:t>
            </a:r>
            <a:r>
              <a:rPr lang="en-US" sz="1800" i="1" dirty="0"/>
              <a:t>x</a:t>
            </a:r>
            <a:r>
              <a:rPr lang="en-US" sz="1800" dirty="0"/>
              <a:t>) is a </a:t>
            </a:r>
            <a:r>
              <a:rPr lang="en-US" sz="1800" i="1" dirty="0"/>
              <a:t>good predictor </a:t>
            </a:r>
            <a:r>
              <a:rPr lang="en-US" sz="1800" dirty="0"/>
              <a:t>for the value of </a:t>
            </a:r>
            <a:r>
              <a:rPr lang="en-US" sz="1800" i="1" dirty="0"/>
              <a:t>y</a:t>
            </a:r>
            <a:endParaRPr lang="en-US" sz="1800" dirty="0"/>
          </a:p>
          <a:p>
            <a:pPr lvl="1">
              <a:buNone/>
            </a:pPr>
            <a:r>
              <a:rPr lang="en-US" sz="1800" i="1" dirty="0"/>
              <a:t>h</a:t>
            </a:r>
            <a:r>
              <a:rPr lang="en-US" sz="1800" dirty="0"/>
              <a:t> is called a </a:t>
            </a:r>
            <a:r>
              <a:rPr lang="en-US" sz="1800" dirty="0">
                <a:solidFill>
                  <a:srgbClr val="FF0000"/>
                </a:solidFill>
              </a:rPr>
              <a:t>hypothesis</a:t>
            </a:r>
          </a:p>
          <a:p>
            <a:pPr lvl="1">
              <a:buNone/>
            </a:pPr>
            <a:endParaRPr lang="en-US" sz="1800" i="1" dirty="0">
              <a:solidFill>
                <a:srgbClr val="FF0000"/>
              </a:solidFill>
            </a:endParaRPr>
          </a:p>
          <a:p>
            <a:r>
              <a:rPr lang="en-US" sz="1800" b="0" i="0" u="none" strike="noStrike" dirty="0">
                <a:solidFill>
                  <a:srgbClr val="404040"/>
                </a:solidFill>
                <a:effectLst/>
              </a:rPr>
              <a:t>Example: Suppose have a </a:t>
            </a:r>
            <a:r>
              <a:rPr lang="en-US" sz="1800" b="1" i="0" u="none" strike="noStrike" dirty="0">
                <a:solidFill>
                  <a:srgbClr val="404040"/>
                </a:solidFill>
                <a:effectLst/>
              </a:rPr>
              <a:t>dataset D</a:t>
            </a:r>
            <a:r>
              <a:rPr lang="en-US" sz="1800" b="0" i="0" u="none" strike="noStrike" dirty="0">
                <a:solidFill>
                  <a:srgbClr val="404040"/>
                </a:solidFill>
                <a:effectLst/>
              </a:rPr>
              <a:t> with:</a:t>
            </a:r>
          </a:p>
          <a:p>
            <a:pPr lvl="1"/>
            <a:r>
              <a:rPr lang="en-US" sz="1800" b="1" i="0" u="none" strike="noStrike" dirty="0">
                <a:solidFill>
                  <a:srgbClr val="404040"/>
                </a:solidFill>
                <a:effectLst/>
              </a:rPr>
              <a:t>Input features (X₁, X₂, …, Xₙ):</a:t>
            </a:r>
            <a:r>
              <a:rPr lang="en-US" sz="1800" b="0" i="0" u="none" strike="noStrike" dirty="0">
                <a:solidFill>
                  <a:srgbClr val="404040"/>
                </a:solidFill>
                <a:effectLst/>
              </a:rPr>
              <a:t> These are the variables used to make predictions.</a:t>
            </a:r>
            <a:br>
              <a:rPr lang="en-US" sz="1800" b="0" i="0" u="none" strike="noStrike" dirty="0">
                <a:solidFill>
                  <a:srgbClr val="404040"/>
                </a:solidFill>
                <a:effectLst/>
              </a:rPr>
            </a:br>
            <a:r>
              <a:rPr lang="en-US" sz="1800" b="0" i="1" u="none" strike="noStrike" dirty="0">
                <a:solidFill>
                  <a:srgbClr val="404040"/>
                </a:solidFill>
                <a:effectLst/>
              </a:rPr>
              <a:t>(Example: In house price prediction, X₁ = size, X₂ = location, etc.)</a:t>
            </a:r>
            <a:endParaRPr lang="en-US" sz="1800" b="0" i="0" u="none" strike="noStrike" dirty="0">
              <a:solidFill>
                <a:srgbClr val="404040"/>
              </a:solidFill>
              <a:effectLst/>
            </a:endParaRPr>
          </a:p>
          <a:p>
            <a:pPr lvl="1"/>
            <a:r>
              <a:rPr lang="en-US" sz="1800" b="1" i="0" u="none" strike="noStrike" dirty="0">
                <a:solidFill>
                  <a:srgbClr val="404040"/>
                </a:solidFill>
                <a:effectLst/>
              </a:rPr>
              <a:t>Output/target (Y):</a:t>
            </a:r>
            <a:r>
              <a:rPr lang="en-US" sz="1800" b="0" i="0" u="none" strike="noStrike" dirty="0">
                <a:solidFill>
                  <a:srgbClr val="404040"/>
                </a:solidFill>
                <a:effectLst/>
              </a:rPr>
              <a:t> This is what you want to predict.</a:t>
            </a:r>
            <a:br>
              <a:rPr lang="en-US" sz="1800" b="0" i="0" u="none" strike="noStrike" dirty="0">
                <a:solidFill>
                  <a:srgbClr val="404040"/>
                </a:solidFill>
                <a:effectLst/>
              </a:rPr>
            </a:br>
            <a:r>
              <a:rPr lang="en-US" sz="1800" b="0" i="1" u="none" strike="noStrike" dirty="0">
                <a:solidFill>
                  <a:srgbClr val="404040"/>
                </a:solidFill>
                <a:effectLst/>
              </a:rPr>
              <a:t>(Example: House price, whether an email is spam, etc.)</a:t>
            </a:r>
            <a:endParaRPr lang="en-US" sz="1800" b="0" i="0" u="none" strike="noStrike" dirty="0">
              <a:solidFill>
                <a:srgbClr val="404040"/>
              </a:solidFill>
              <a:effectLst/>
            </a:endParaRPr>
          </a:p>
          <a:p>
            <a:r>
              <a:rPr lang="en-US" sz="1800" b="1" i="0" u="none" strike="noStrike" dirty="0">
                <a:solidFill>
                  <a:srgbClr val="404040"/>
                </a:solidFill>
                <a:effectLst/>
              </a:rPr>
              <a:t>Goal:</a:t>
            </a:r>
            <a:r>
              <a:rPr lang="en-US" sz="1800" b="0" i="0" u="none" strike="noStrike" dirty="0">
                <a:solidFill>
                  <a:srgbClr val="404040"/>
                </a:solidFill>
                <a:effectLst/>
              </a:rPr>
              <a:t> Find a </a:t>
            </a:r>
            <a:r>
              <a:rPr lang="en-US" sz="1800" b="1" i="0" u="none" strike="noStrike" dirty="0">
                <a:solidFill>
                  <a:srgbClr val="404040"/>
                </a:solidFill>
                <a:effectLst/>
              </a:rPr>
              <a:t>function h</a:t>
            </a:r>
            <a:r>
              <a:rPr lang="en-US" sz="1800" b="0" i="0" u="none" strike="noStrike" dirty="0">
                <a:solidFill>
                  <a:srgbClr val="404040"/>
                </a:solidFill>
                <a:effectLst/>
              </a:rPr>
              <a:t> (called a </a:t>
            </a:r>
            <a:r>
              <a:rPr lang="en-US" sz="1800" b="1" i="0" u="none" strike="noStrike" dirty="0">
                <a:solidFill>
                  <a:srgbClr val="404040"/>
                </a:solidFill>
                <a:effectLst/>
              </a:rPr>
              <a:t>hypothesis</a:t>
            </a:r>
            <a:r>
              <a:rPr lang="en-US" sz="1800" b="0" i="0" u="none" strike="noStrike" dirty="0">
                <a:solidFill>
                  <a:srgbClr val="404040"/>
                </a:solidFill>
                <a:effectLst/>
              </a:rPr>
              <a:t>) that takes </a:t>
            </a:r>
            <a:r>
              <a:rPr lang="en-US" sz="1800" b="1" i="0" u="none" strike="noStrike" dirty="0">
                <a:solidFill>
                  <a:srgbClr val="404040"/>
                </a:solidFill>
                <a:effectLst/>
              </a:rPr>
              <a:t>X₁, X₂, …, Xₙ</a:t>
            </a:r>
            <a:r>
              <a:rPr lang="en-US" sz="1800" b="0" i="0" u="none" strike="noStrike" dirty="0">
                <a:solidFill>
                  <a:srgbClr val="404040"/>
                </a:solidFill>
                <a:effectLst/>
              </a:rPr>
              <a:t> as input and </a:t>
            </a:r>
            <a:r>
              <a:rPr lang="en-US" sz="1800" b="1" i="0" u="none" strike="noStrike" dirty="0">
                <a:solidFill>
                  <a:srgbClr val="404040"/>
                </a:solidFill>
                <a:effectLst/>
              </a:rPr>
              <a:t>predicts Y accurately</a:t>
            </a:r>
            <a:r>
              <a:rPr lang="en-US" sz="1800" b="0" i="0" u="none" strike="noStrike" dirty="0">
                <a:solidFill>
                  <a:srgbClr val="404040"/>
                </a:solidFill>
                <a:effectLst/>
              </a:rPr>
              <a:t>.</a:t>
            </a:r>
            <a:endParaRPr lang="en-US" sz="1800" b="1" i="0" u="none" strike="noStrike" dirty="0">
              <a:solidFill>
                <a:srgbClr val="404040"/>
              </a:solidFill>
              <a:effectLst/>
            </a:endParaRPr>
          </a:p>
          <a:p>
            <a:r>
              <a:rPr lang="en-US" sz="1800" b="1" i="0" u="none" strike="noStrike" dirty="0">
                <a:solidFill>
                  <a:srgbClr val="404040"/>
                </a:solidFill>
                <a:effectLst/>
              </a:rPr>
              <a:t>What is h? (The Hypothesis)</a:t>
            </a:r>
          </a:p>
          <a:p>
            <a:r>
              <a:rPr lang="en-US" sz="1800" b="0" i="0" u="none" strike="noStrike" dirty="0">
                <a:solidFill>
                  <a:srgbClr val="404040"/>
                </a:solidFill>
                <a:effectLst/>
              </a:rPr>
              <a:t>h is just a </a:t>
            </a:r>
            <a:r>
              <a:rPr lang="en-US" sz="1800" b="1" i="0" u="none" strike="noStrike" dirty="0">
                <a:solidFill>
                  <a:srgbClr val="404040"/>
                </a:solidFill>
                <a:effectLst/>
              </a:rPr>
              <a:t>rule</a:t>
            </a:r>
            <a:r>
              <a:rPr lang="en-US" sz="1800" b="0" i="0" u="none" strike="noStrike" dirty="0">
                <a:solidFill>
                  <a:srgbClr val="404040"/>
                </a:solidFill>
                <a:effectLst/>
              </a:rPr>
              <a:t> or </a:t>
            </a:r>
            <a:r>
              <a:rPr lang="en-US" sz="1800" b="1" i="0" u="none" strike="noStrike" dirty="0">
                <a:solidFill>
                  <a:srgbClr val="404040"/>
                </a:solidFill>
                <a:effectLst/>
              </a:rPr>
              <a:t>model</a:t>
            </a:r>
            <a:r>
              <a:rPr lang="en-US" sz="1800" b="0" i="0" u="none" strike="noStrike" dirty="0">
                <a:solidFill>
                  <a:srgbClr val="404040"/>
                </a:solidFill>
                <a:effectLst/>
              </a:rPr>
              <a:t> that makes predictions.</a:t>
            </a:r>
            <a:br>
              <a:rPr lang="en-US" sz="1800" b="0" i="0" u="none" strike="noStrike" dirty="0">
                <a:solidFill>
                  <a:srgbClr val="404040"/>
                </a:solidFill>
                <a:effectLst/>
              </a:rPr>
            </a:br>
            <a:r>
              <a:rPr lang="en-US" sz="1800" b="0" i="1" u="none" strike="noStrike" dirty="0">
                <a:solidFill>
                  <a:srgbClr val="404040"/>
                </a:solidFill>
                <a:effectLst/>
              </a:rPr>
              <a:t>(Example: A linear equation like h(X) = 2X + 3 could predict house prices.)</a:t>
            </a:r>
            <a:endParaRPr lang="en-US" sz="1800" b="0" i="0" u="none" strike="noStrike" dirty="0">
              <a:solidFill>
                <a:srgbClr val="404040"/>
              </a:solidFill>
              <a:effectLst/>
            </a:endParaRPr>
          </a:p>
          <a:p>
            <a:r>
              <a:rPr lang="en-US" sz="1800" b="1" i="0" u="none" strike="noStrike" dirty="0">
                <a:solidFill>
                  <a:srgbClr val="404040"/>
                </a:solidFill>
                <a:effectLst/>
              </a:rPr>
              <a:t>"Good predictor"</a:t>
            </a:r>
            <a:r>
              <a:rPr lang="en-US" sz="1800" b="0" i="0" u="none" strike="noStrike" dirty="0">
                <a:solidFill>
                  <a:srgbClr val="404040"/>
                </a:solidFill>
                <a:effectLst/>
              </a:rPr>
              <a:t> means h(X) should be </a:t>
            </a:r>
            <a:r>
              <a:rPr lang="en-US" sz="1800" b="1" i="0" u="none" strike="noStrike" dirty="0">
                <a:solidFill>
                  <a:srgbClr val="404040"/>
                </a:solidFill>
                <a:effectLst/>
              </a:rPr>
              <a:t>close to the true Y</a:t>
            </a:r>
            <a:r>
              <a:rPr lang="en-US" sz="1800" b="0" i="0" u="none" strike="noStrike" dirty="0">
                <a:solidFill>
                  <a:srgbClr val="404040"/>
                </a:solidFill>
                <a:effectLst/>
              </a:rPr>
              <a:t> (measured by accuracy, error, etc.).</a:t>
            </a:r>
          </a:p>
          <a:p>
            <a:endParaRPr lang="en-US" sz="1800" dirty="0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2699792" y="1556792"/>
          <a:ext cx="288032" cy="2400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2280" imgH="126720" progId="Equation.3">
                  <p:embed/>
                </p:oleObj>
              </mc:Choice>
              <mc:Fallback>
                <p:oleObj name="Equation" r:id="rId3" imgW="152280" imgH="126720" progId="Equation.3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99792" y="1556792"/>
                        <a:ext cx="288032" cy="2400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42407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Supervised Learning Problem</a:t>
            </a:r>
            <a:endParaRPr lang="tr-TR" dirty="0"/>
          </a:p>
        </p:txBody>
      </p:sp>
      <p:sp>
        <p:nvSpPr>
          <p:cNvPr id="1126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defPPr>
              <a:defRPr lang="tr-TR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432274A5-B9D2-4812-BB3E-AF82EEF8ADFB}" type="slidenum">
              <a:rPr lang="tr-TR" smtClean="0"/>
              <a:pPr>
                <a:defRPr/>
              </a:pPr>
              <a:t>4</a:t>
            </a:fld>
            <a:endParaRPr lang="tr-TR"/>
          </a:p>
        </p:txBody>
      </p:sp>
      <p:sp>
        <p:nvSpPr>
          <p:cNvPr id="11269" name="Rectangle 7"/>
          <p:cNvSpPr>
            <a:spLocks noGrp="1" noChangeArrowheads="1"/>
          </p:cNvSpPr>
          <p:nvPr>
            <p:ph sz="quarter" idx="1"/>
          </p:nvPr>
        </p:nvSpPr>
        <p:spPr>
          <a:xfrm>
            <a:off x="142844" y="1428736"/>
            <a:ext cx="8858312" cy="5286412"/>
          </a:xfrm>
        </p:spPr>
        <p:txBody>
          <a:bodyPr>
            <a:noAutofit/>
          </a:bodyPr>
          <a:lstStyle/>
          <a:p>
            <a:r>
              <a:rPr lang="en-US" sz="1700" dirty="0"/>
              <a:t>If </a:t>
            </a:r>
            <a:r>
              <a:rPr lang="en-US" sz="1700" i="1" dirty="0"/>
              <a:t>Y</a:t>
            </a:r>
            <a:r>
              <a:rPr lang="en-US" sz="1700" dirty="0"/>
              <a:t> is the real set, this problem is a </a:t>
            </a:r>
            <a:r>
              <a:rPr lang="en-US" sz="1700" dirty="0">
                <a:solidFill>
                  <a:srgbClr val="FF0000"/>
                </a:solidFill>
              </a:rPr>
              <a:t>regression</a:t>
            </a:r>
          </a:p>
          <a:p>
            <a:r>
              <a:rPr lang="en-US" sz="1700" dirty="0"/>
              <a:t>If </a:t>
            </a:r>
            <a:r>
              <a:rPr lang="en-US" sz="1700" i="1" dirty="0"/>
              <a:t>Y</a:t>
            </a:r>
            <a:r>
              <a:rPr lang="en-US" sz="1700" dirty="0"/>
              <a:t> is a finite discrete set, this problem is called </a:t>
            </a:r>
            <a:r>
              <a:rPr lang="en-US" sz="1700" dirty="0">
                <a:solidFill>
                  <a:srgbClr val="FF0000"/>
                </a:solidFill>
              </a:rPr>
              <a:t>classification</a:t>
            </a:r>
          </a:p>
          <a:p>
            <a:pPr lvl="1"/>
            <a:endParaRPr lang="en-US" sz="1700" dirty="0"/>
          </a:p>
          <a:p>
            <a:r>
              <a:rPr lang="en-US" sz="1700" b="1" i="0" u="none" strike="noStrike" dirty="0">
                <a:solidFill>
                  <a:srgbClr val="404040"/>
                </a:solidFill>
                <a:effectLst/>
              </a:rPr>
              <a:t>Case 1: Regression (Y is a real number)</a:t>
            </a:r>
          </a:p>
          <a:p>
            <a:pPr lvl="1"/>
            <a:r>
              <a:rPr lang="en-US" sz="1700" b="1" i="0" u="none" strike="noStrike" dirty="0">
                <a:solidFill>
                  <a:srgbClr val="404040"/>
                </a:solidFill>
                <a:effectLst/>
              </a:rPr>
              <a:t>Y is continuous</a:t>
            </a:r>
            <a:r>
              <a:rPr lang="en-US" sz="1700" b="0" i="0" u="none" strike="noStrike" dirty="0">
                <a:solidFill>
                  <a:srgbClr val="404040"/>
                </a:solidFill>
                <a:effectLst/>
              </a:rPr>
              <a:t> (any numeric value).</a:t>
            </a:r>
            <a:br>
              <a:rPr lang="en-US" sz="1700" b="0" i="0" u="none" strike="noStrike" dirty="0">
                <a:solidFill>
                  <a:srgbClr val="404040"/>
                </a:solidFill>
                <a:effectLst/>
              </a:rPr>
            </a:br>
            <a:r>
              <a:rPr lang="en-US" sz="1700" b="0" i="1" u="none" strike="noStrike" dirty="0">
                <a:solidFill>
                  <a:srgbClr val="404040"/>
                </a:solidFill>
                <a:effectLst/>
              </a:rPr>
              <a:t>(Example: Predicting house prices, temperature, etc.)</a:t>
            </a:r>
            <a:endParaRPr lang="en-US" sz="1700" b="0" i="0" u="none" strike="noStrike" dirty="0">
              <a:solidFill>
                <a:srgbClr val="404040"/>
              </a:solidFill>
              <a:effectLst/>
            </a:endParaRPr>
          </a:p>
          <a:p>
            <a:pPr lvl="1"/>
            <a:r>
              <a:rPr lang="en-US" sz="1700" b="1" i="0" u="none" strike="noStrike" dirty="0">
                <a:solidFill>
                  <a:srgbClr val="404040"/>
                </a:solidFill>
                <a:effectLst/>
              </a:rPr>
              <a:t>Example Hypothesis:</a:t>
            </a:r>
            <a:br>
              <a:rPr lang="en-US" sz="1700" b="0" i="0" u="none" strike="noStrike" dirty="0">
                <a:solidFill>
                  <a:srgbClr val="404040"/>
                </a:solidFill>
                <a:effectLst/>
              </a:rPr>
            </a:br>
            <a:r>
              <a:rPr lang="en-US" sz="1700" b="0" i="0" u="none" strike="noStrike" dirty="0">
                <a:solidFill>
                  <a:srgbClr val="404040"/>
                </a:solidFill>
                <a:effectLst/>
              </a:rPr>
              <a:t>h(size, location) = 50,000 + 200*(size) + 10,000*(location_rating)</a:t>
            </a:r>
          </a:p>
          <a:p>
            <a:endParaRPr lang="en-US" sz="1700" b="0" i="0" u="none" strike="noStrike" dirty="0">
              <a:solidFill>
                <a:srgbClr val="404040"/>
              </a:solidFill>
              <a:effectLst/>
            </a:endParaRPr>
          </a:p>
          <a:p>
            <a:r>
              <a:rPr lang="en-US" sz="1700" b="1" i="0" u="none" strike="noStrike" dirty="0">
                <a:solidFill>
                  <a:srgbClr val="404040"/>
                </a:solidFill>
                <a:effectLst/>
              </a:rPr>
              <a:t>Case 2: Classification (Y is discrete)</a:t>
            </a:r>
          </a:p>
          <a:p>
            <a:pPr lvl="1"/>
            <a:r>
              <a:rPr lang="en-US" sz="1700" b="1" i="0" u="none" strike="noStrike" dirty="0">
                <a:solidFill>
                  <a:srgbClr val="404040"/>
                </a:solidFill>
                <a:effectLst/>
              </a:rPr>
              <a:t>Y is a category</a:t>
            </a:r>
            <a:r>
              <a:rPr lang="en-US" sz="1700" b="0" i="0" u="none" strike="noStrike" dirty="0">
                <a:solidFill>
                  <a:srgbClr val="404040"/>
                </a:solidFill>
                <a:effectLst/>
              </a:rPr>
              <a:t> (like labels).</a:t>
            </a:r>
            <a:br>
              <a:rPr lang="en-US" sz="1700" b="0" i="0" u="none" strike="noStrike" dirty="0">
                <a:solidFill>
                  <a:srgbClr val="404040"/>
                </a:solidFill>
                <a:effectLst/>
              </a:rPr>
            </a:br>
            <a:r>
              <a:rPr lang="en-US" sz="1700" b="0" i="1" u="none" strike="noStrike" dirty="0">
                <a:solidFill>
                  <a:srgbClr val="404040"/>
                </a:solidFill>
                <a:effectLst/>
              </a:rPr>
              <a:t>(Example: Spam/Not spam, Cat/Dog/Bird, etc.)</a:t>
            </a:r>
            <a:endParaRPr lang="en-US" sz="1700" b="0" i="0" u="none" strike="noStrike" dirty="0">
              <a:solidFill>
                <a:srgbClr val="404040"/>
              </a:solidFill>
              <a:effectLst/>
            </a:endParaRPr>
          </a:p>
          <a:p>
            <a:pPr lvl="1"/>
            <a:r>
              <a:rPr lang="en-US" sz="1700" b="1" i="0" u="none" strike="noStrike" dirty="0">
                <a:solidFill>
                  <a:srgbClr val="404040"/>
                </a:solidFill>
                <a:effectLst/>
              </a:rPr>
              <a:t>Binary Classification (2 classes):</a:t>
            </a:r>
            <a:br>
              <a:rPr lang="en-US" sz="1700" b="0" i="0" u="none" strike="noStrike" dirty="0">
                <a:solidFill>
                  <a:srgbClr val="404040"/>
                </a:solidFill>
                <a:effectLst/>
              </a:rPr>
            </a:br>
            <a:r>
              <a:rPr lang="en-US" sz="1700" b="0" i="0" u="none" strike="noStrike" dirty="0">
                <a:solidFill>
                  <a:srgbClr val="404040"/>
                </a:solidFill>
                <a:effectLst/>
              </a:rPr>
              <a:t>Y = {0, 1} or {Spam, Not Spam}.</a:t>
            </a:r>
            <a:br>
              <a:rPr lang="en-US" sz="1700" b="0" i="0" u="none" strike="noStrike" dirty="0">
                <a:solidFill>
                  <a:srgbClr val="404040"/>
                </a:solidFill>
                <a:effectLst/>
              </a:rPr>
            </a:br>
            <a:r>
              <a:rPr lang="en-US" sz="1700" b="0" i="1" u="none" strike="noStrike" dirty="0">
                <a:solidFill>
                  <a:srgbClr val="404040"/>
                </a:solidFill>
                <a:effectLst/>
              </a:rPr>
              <a:t>(Example: h(email_text) = "Spam" or "Not Spam".)</a:t>
            </a:r>
            <a:endParaRPr lang="en-US" sz="1700" b="0" i="0" u="none" strike="noStrike" dirty="0">
              <a:solidFill>
                <a:srgbClr val="404040"/>
              </a:solidFill>
              <a:effectLst/>
            </a:endParaRPr>
          </a:p>
          <a:p>
            <a:pPr lvl="1"/>
            <a:r>
              <a:rPr lang="en-US" sz="1700" b="1" i="0" u="none" strike="noStrike" dirty="0" err="1">
                <a:solidFill>
                  <a:srgbClr val="404040"/>
                </a:solidFill>
                <a:effectLst/>
              </a:rPr>
              <a:t>Multiclass</a:t>
            </a:r>
            <a:r>
              <a:rPr lang="en-US" sz="1700" b="1" i="0" u="none" strike="noStrike" dirty="0">
                <a:solidFill>
                  <a:srgbClr val="404040"/>
                </a:solidFill>
                <a:effectLst/>
              </a:rPr>
              <a:t> Classification (&gt;2 classes):</a:t>
            </a:r>
            <a:br>
              <a:rPr lang="en-US" sz="1700" b="0" i="0" u="none" strike="noStrike" dirty="0">
                <a:solidFill>
                  <a:srgbClr val="404040"/>
                </a:solidFill>
                <a:effectLst/>
              </a:rPr>
            </a:br>
            <a:r>
              <a:rPr lang="en-US" sz="1700" b="0" i="0" u="none" strike="noStrike" dirty="0">
                <a:solidFill>
                  <a:srgbClr val="404040"/>
                </a:solidFill>
                <a:effectLst/>
              </a:rPr>
              <a:t>Y = {Cat, Dog, Bird, ...}.</a:t>
            </a:r>
            <a:br>
              <a:rPr lang="en-US" sz="1700" b="0" i="0" u="none" strike="noStrike" dirty="0">
                <a:solidFill>
                  <a:srgbClr val="404040"/>
                </a:solidFill>
                <a:effectLst/>
              </a:rPr>
            </a:br>
            <a:r>
              <a:rPr lang="en-US" sz="1700" b="0" i="1" u="none" strike="noStrike" dirty="0">
                <a:solidFill>
                  <a:srgbClr val="404040"/>
                </a:solidFill>
                <a:effectLst/>
              </a:rPr>
              <a:t>(Example: h(image) = "Cat".)</a:t>
            </a:r>
            <a:br>
              <a:rPr lang="en-US" sz="1700" dirty="0"/>
            </a:br>
            <a:endParaRPr lang="en-US" sz="1700" dirty="0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2699792" y="1556792"/>
          <a:ext cx="288032" cy="2400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2280" imgH="126720" progId="Equation.3">
                  <p:embed/>
                </p:oleObj>
              </mc:Choice>
              <mc:Fallback>
                <p:oleObj name="Equation" r:id="rId3" imgW="152280" imgH="126720" progId="Equation.3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99792" y="1556792"/>
                        <a:ext cx="288032" cy="2400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86601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Supervised Learning Steps</a:t>
            </a:r>
            <a:endParaRPr lang="tr-TR" dirty="0"/>
          </a:p>
        </p:txBody>
      </p:sp>
      <p:sp>
        <p:nvSpPr>
          <p:cNvPr id="1126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defPPr>
              <a:defRPr lang="tr-TR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432274A5-B9D2-4812-BB3E-AF82EEF8ADFB}" type="slidenum">
              <a:rPr lang="tr-TR" smtClean="0"/>
              <a:pPr>
                <a:defRPr/>
              </a:pPr>
              <a:t>5</a:t>
            </a:fld>
            <a:endParaRPr lang="tr-TR"/>
          </a:p>
        </p:txBody>
      </p:sp>
      <p:sp>
        <p:nvSpPr>
          <p:cNvPr id="11269" name="Rectangle 7"/>
          <p:cNvSpPr>
            <a:spLocks noGrp="1" noChangeArrowheads="1"/>
          </p:cNvSpPr>
          <p:nvPr>
            <p:ph sz="quarter" idx="1"/>
          </p:nvPr>
        </p:nvSpPr>
        <p:spPr>
          <a:xfrm>
            <a:off x="142844" y="1428736"/>
            <a:ext cx="8858312" cy="5286412"/>
          </a:xfrm>
        </p:spPr>
        <p:txBody>
          <a:bodyPr/>
          <a:lstStyle/>
          <a:p>
            <a:pPr eaLnBrk="1" hangingPunct="1"/>
            <a:r>
              <a:rPr lang="en-US" dirty="0"/>
              <a:t>Decide what the training examples are</a:t>
            </a:r>
            <a:endParaRPr lang="en-US" i="1" dirty="0">
              <a:solidFill>
                <a:srgbClr val="FF0000"/>
              </a:solidFill>
            </a:endParaRPr>
          </a:p>
          <a:p>
            <a:pPr lvl="1"/>
            <a:r>
              <a:rPr lang="en-US" dirty="0">
                <a:solidFill>
                  <a:srgbClr val="000000"/>
                </a:solidFill>
              </a:rPr>
              <a:t>Data collection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Feature extraction or selection</a:t>
            </a:r>
            <a:r>
              <a:rPr lang="en-US" dirty="0">
                <a:solidFill>
                  <a:srgbClr val="000000"/>
                </a:solidFill>
              </a:rPr>
              <a:t>: 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Discriminative</a:t>
            </a:r>
            <a:r>
              <a:rPr lang="en-US" dirty="0">
                <a:solidFill>
                  <a:srgbClr val="000000"/>
                </a:solidFill>
              </a:rPr>
              <a:t> features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Relevant</a:t>
            </a:r>
            <a:r>
              <a:rPr lang="en-US" dirty="0">
                <a:solidFill>
                  <a:srgbClr val="000000"/>
                </a:solidFill>
              </a:rPr>
              <a:t> and </a:t>
            </a:r>
            <a:r>
              <a:rPr lang="en-US" dirty="0">
                <a:solidFill>
                  <a:srgbClr val="FF0000"/>
                </a:solidFill>
              </a:rPr>
              <a:t>insensitive to noise</a:t>
            </a:r>
          </a:p>
          <a:p>
            <a:pPr lvl="1"/>
            <a:r>
              <a:rPr lang="en-US" dirty="0">
                <a:solidFill>
                  <a:srgbClr val="000000"/>
                </a:solidFill>
              </a:rPr>
              <a:t>Input space </a:t>
            </a:r>
            <a:r>
              <a:rPr lang="en-US" i="1" dirty="0">
                <a:solidFill>
                  <a:srgbClr val="000000"/>
                </a:solidFill>
              </a:rPr>
              <a:t>X</a:t>
            </a:r>
            <a:r>
              <a:rPr lang="en-US" dirty="0">
                <a:solidFill>
                  <a:srgbClr val="000000"/>
                </a:solidFill>
              </a:rPr>
              <a:t>, output space </a:t>
            </a:r>
            <a:r>
              <a:rPr lang="en-US" i="1" dirty="0">
                <a:solidFill>
                  <a:srgbClr val="000000"/>
                </a:solidFill>
              </a:rPr>
              <a:t>Y</a:t>
            </a:r>
            <a:r>
              <a:rPr lang="en-US" dirty="0">
                <a:solidFill>
                  <a:srgbClr val="000000"/>
                </a:solidFill>
              </a:rPr>
              <a:t>, and feature vectors</a:t>
            </a:r>
          </a:p>
          <a:p>
            <a:r>
              <a:rPr lang="en-US" dirty="0"/>
              <a:t>Choose a </a:t>
            </a:r>
            <a:r>
              <a:rPr lang="en-US" dirty="0">
                <a:solidFill>
                  <a:srgbClr val="FF0000"/>
                </a:solidFill>
              </a:rPr>
              <a:t>model</a:t>
            </a:r>
            <a:r>
              <a:rPr lang="en-US" dirty="0"/>
              <a:t>, i.e. representation for </a:t>
            </a:r>
            <a:r>
              <a:rPr lang="en-US" i="1" dirty="0"/>
              <a:t>h</a:t>
            </a:r>
            <a:r>
              <a:rPr lang="en-US" dirty="0"/>
              <a:t>; </a:t>
            </a:r>
          </a:p>
          <a:p>
            <a:pPr lvl="1"/>
            <a:r>
              <a:rPr lang="en-US" dirty="0"/>
              <a:t>or, the hypothesis class </a:t>
            </a:r>
            <a:r>
              <a:rPr lang="en-US" i="1" dirty="0"/>
              <a:t>H</a:t>
            </a:r>
            <a:r>
              <a:rPr lang="en-US" dirty="0"/>
              <a:t> = {</a:t>
            </a:r>
            <a:r>
              <a:rPr lang="en-US" i="1" dirty="0"/>
              <a:t>h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i="1" dirty="0"/>
              <a:t>h</a:t>
            </a:r>
            <a:r>
              <a:rPr lang="en-US" i="1" baseline="-25000" dirty="0"/>
              <a:t>r</a:t>
            </a:r>
            <a:r>
              <a:rPr lang="en-US" dirty="0"/>
              <a:t>})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Choose an </a:t>
            </a:r>
            <a:r>
              <a:rPr lang="en-US" dirty="0">
                <a:solidFill>
                  <a:srgbClr val="FF0000"/>
                </a:solidFill>
              </a:rPr>
              <a:t>error function </a:t>
            </a:r>
            <a:r>
              <a:rPr lang="en-US" dirty="0"/>
              <a:t>to define the best hypothesis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Choose a </a:t>
            </a:r>
            <a:r>
              <a:rPr lang="en-US" dirty="0">
                <a:solidFill>
                  <a:srgbClr val="FF0000"/>
                </a:solidFill>
              </a:rPr>
              <a:t>learning algorithm</a:t>
            </a:r>
            <a:r>
              <a:rPr lang="en-US" dirty="0"/>
              <a:t>: regression or classification method</a:t>
            </a:r>
          </a:p>
          <a:p>
            <a:pPr lvl="1"/>
            <a:r>
              <a:rPr lang="en-US" dirty="0"/>
              <a:t>Training</a:t>
            </a:r>
          </a:p>
          <a:p>
            <a:pPr lvl="1"/>
            <a:r>
              <a:rPr lang="en-US" dirty="0"/>
              <a:t>Evaluation = testing</a:t>
            </a:r>
          </a:p>
        </p:txBody>
      </p:sp>
    </p:spTree>
    <p:extLst>
      <p:ext uri="{BB962C8B-B14F-4D97-AF65-F5344CB8AC3E}">
        <p14:creationId xmlns:p14="http://schemas.microsoft.com/office/powerpoint/2010/main" val="3258713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6"/>
          <p:cNvSpPr>
            <a:spLocks noGrp="1" noChangeArrowheads="1"/>
          </p:cNvSpPr>
          <p:nvPr>
            <p:ph type="title"/>
          </p:nvPr>
        </p:nvSpPr>
        <p:spPr>
          <a:xfrm>
            <a:off x="179512" y="274638"/>
            <a:ext cx="8784976" cy="922114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EX: What Model or Hypothesis Space </a:t>
            </a:r>
            <a:r>
              <a:rPr lang="en-US" i="1" dirty="0"/>
              <a:t>H</a:t>
            </a:r>
            <a:r>
              <a:rPr lang="en-US" dirty="0"/>
              <a:t> ? </a:t>
            </a:r>
            <a:endParaRPr lang="tr-TR" dirty="0"/>
          </a:p>
        </p:txBody>
      </p:sp>
      <p:sp>
        <p:nvSpPr>
          <p:cNvPr id="1126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defPPr>
              <a:defRPr lang="tr-TR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432274A5-B9D2-4812-BB3E-AF82EEF8ADFB}" type="slidenum">
              <a:rPr lang="tr-TR" smtClean="0"/>
              <a:pPr>
                <a:defRPr/>
              </a:pPr>
              <a:t>6</a:t>
            </a:fld>
            <a:endParaRPr lang="tr-TR"/>
          </a:p>
        </p:txBody>
      </p:sp>
      <p:pic>
        <p:nvPicPr>
          <p:cNvPr id="6" name="Content Placeholder 5" descr="ex1-ch2.jpg"/>
          <p:cNvPicPr>
            <a:picLocks noGrp="1" noChangeAspect="1"/>
          </p:cNvPicPr>
          <p:nvPr>
            <p:ph sz="quarter" idx="1"/>
          </p:nvPr>
        </p:nvPicPr>
        <p:blipFill>
          <a:blip r:embed="rId3" cstate="print"/>
          <a:stretch>
            <a:fillRect/>
          </a:stretch>
        </p:blipFill>
        <p:spPr>
          <a:xfrm>
            <a:off x="1907704" y="1340768"/>
            <a:ext cx="5660136" cy="4507992"/>
          </a:xfrm>
        </p:spPr>
      </p:pic>
      <p:sp>
        <p:nvSpPr>
          <p:cNvPr id="7" name="TextBox 6"/>
          <p:cNvSpPr txBox="1"/>
          <p:nvPr/>
        </p:nvSpPr>
        <p:spPr>
          <a:xfrm>
            <a:off x="357158" y="4572008"/>
            <a:ext cx="3275705" cy="2092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600" dirty="0">
                <a:solidFill>
                  <a:prstClr val="black"/>
                </a:solidFill>
              </a:rPr>
              <a:t> Training examples: </a:t>
            </a:r>
          </a:p>
          <a:p>
            <a:pPr>
              <a:buFont typeface="Arial" pitchFamily="34" charset="0"/>
              <a:buChar char="•"/>
            </a:pPr>
            <a:endParaRPr lang="en-US" sz="2600" dirty="0">
              <a:solidFill>
                <a:prstClr val="black"/>
              </a:solidFill>
            </a:endParaRPr>
          </a:p>
          <a:p>
            <a:pPr lvl="1"/>
            <a:r>
              <a:rPr lang="en-US" sz="2600" i="1" dirty="0" err="1">
                <a:solidFill>
                  <a:prstClr val="black"/>
                </a:solidFill>
              </a:rPr>
              <a:t>e</a:t>
            </a:r>
            <a:r>
              <a:rPr lang="en-US" sz="2600" i="1" baseline="-25000" dirty="0" err="1">
                <a:solidFill>
                  <a:prstClr val="black"/>
                </a:solidFill>
              </a:rPr>
              <a:t>i</a:t>
            </a:r>
            <a:r>
              <a:rPr lang="en-US" sz="2600" dirty="0">
                <a:solidFill>
                  <a:prstClr val="black"/>
                </a:solidFill>
              </a:rPr>
              <a:t> = &lt;</a:t>
            </a:r>
            <a:r>
              <a:rPr lang="en-US" sz="2600" i="1" dirty="0">
                <a:solidFill>
                  <a:prstClr val="black"/>
                </a:solidFill>
              </a:rPr>
              <a:t>x</a:t>
            </a:r>
            <a:r>
              <a:rPr lang="en-US" sz="2600" i="1" baseline="-25000" dirty="0">
                <a:solidFill>
                  <a:prstClr val="black"/>
                </a:solidFill>
              </a:rPr>
              <a:t>i</a:t>
            </a:r>
            <a:r>
              <a:rPr lang="en-US" sz="2600" dirty="0">
                <a:solidFill>
                  <a:prstClr val="black"/>
                </a:solidFill>
              </a:rPr>
              <a:t>, </a:t>
            </a:r>
            <a:r>
              <a:rPr lang="en-US" sz="2600" i="1" dirty="0" err="1">
                <a:solidFill>
                  <a:prstClr val="black"/>
                </a:solidFill>
              </a:rPr>
              <a:t>y</a:t>
            </a:r>
            <a:r>
              <a:rPr lang="en-US" sz="2600" i="1" baseline="-25000" dirty="0" err="1">
                <a:solidFill>
                  <a:prstClr val="black"/>
                </a:solidFill>
              </a:rPr>
              <a:t>i</a:t>
            </a:r>
            <a:r>
              <a:rPr lang="en-US" sz="2600" dirty="0">
                <a:solidFill>
                  <a:prstClr val="black"/>
                </a:solidFill>
              </a:rPr>
              <a:t>&gt;</a:t>
            </a:r>
          </a:p>
          <a:p>
            <a:pPr lvl="1"/>
            <a:endParaRPr lang="en-US" sz="2600" dirty="0">
              <a:solidFill>
                <a:prstClr val="black"/>
              </a:solidFill>
            </a:endParaRPr>
          </a:p>
          <a:p>
            <a:pPr lvl="1"/>
            <a:r>
              <a:rPr lang="en-US" sz="2600" dirty="0">
                <a:solidFill>
                  <a:prstClr val="black"/>
                </a:solidFill>
              </a:rPr>
              <a:t>for </a:t>
            </a:r>
            <a:r>
              <a:rPr lang="en-US" sz="2600" i="1" dirty="0" err="1">
                <a:solidFill>
                  <a:prstClr val="black"/>
                </a:solidFill>
              </a:rPr>
              <a:t>i</a:t>
            </a:r>
            <a:r>
              <a:rPr lang="en-US" sz="2600" i="1" dirty="0">
                <a:solidFill>
                  <a:prstClr val="black"/>
                </a:solidFill>
              </a:rPr>
              <a:t> = </a:t>
            </a:r>
            <a:r>
              <a:rPr lang="en-US" sz="2600" dirty="0">
                <a:solidFill>
                  <a:prstClr val="black"/>
                </a:solidFill>
              </a:rPr>
              <a:t>1, …, 10</a:t>
            </a:r>
          </a:p>
        </p:txBody>
      </p:sp>
    </p:spTree>
    <p:extLst>
      <p:ext uri="{BB962C8B-B14F-4D97-AF65-F5344CB8AC3E}">
        <p14:creationId xmlns:p14="http://schemas.microsoft.com/office/powerpoint/2010/main" val="693456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Linear Hypothesis</a:t>
            </a:r>
            <a:endParaRPr lang="tr-TR" dirty="0"/>
          </a:p>
        </p:txBody>
      </p:sp>
      <p:sp>
        <p:nvSpPr>
          <p:cNvPr id="1126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defPPr>
              <a:defRPr lang="tr-TR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432274A5-B9D2-4812-BB3E-AF82EEF8ADFB}" type="slidenum">
              <a:rPr lang="tr-TR" smtClean="0"/>
              <a:pPr>
                <a:defRPr/>
              </a:pPr>
              <a:t>7</a:t>
            </a:fld>
            <a:endParaRPr lang="tr-TR"/>
          </a:p>
        </p:txBody>
      </p:sp>
      <p:pic>
        <p:nvPicPr>
          <p:cNvPr id="6" name="Picture 5" descr="ex2-ch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2844" y="692696"/>
            <a:ext cx="8858312" cy="520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659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b="1" dirty="0">
                <a:solidFill>
                  <a:srgbClr val="404040"/>
                </a:solidFill>
                <a:latin typeface="quote-cjk-patch"/>
              </a:rPr>
              <a:t>S</a:t>
            </a:r>
            <a:r>
              <a:rPr lang="en-US" b="1" i="0" u="none" strike="noStrike" dirty="0">
                <a:solidFill>
                  <a:srgbClr val="404040"/>
                </a:solidFill>
                <a:effectLst/>
                <a:latin typeface="quote-cjk-patch"/>
              </a:rPr>
              <a:t>um-of-Squares </a:t>
            </a:r>
            <a:r>
              <a:rPr lang="en-US" b="1" dirty="0">
                <a:solidFill>
                  <a:srgbClr val="404040"/>
                </a:solidFill>
                <a:latin typeface="quote-cjk-patch"/>
              </a:rPr>
              <a:t>E</a:t>
            </a:r>
            <a:r>
              <a:rPr lang="en-US" b="1" i="0" u="none" strike="noStrike" dirty="0">
                <a:solidFill>
                  <a:srgbClr val="404040"/>
                </a:solidFill>
                <a:effectLst/>
                <a:latin typeface="quote-cjk-patch"/>
              </a:rPr>
              <a:t>rror function</a:t>
            </a:r>
            <a:r>
              <a:rPr lang="en-US" b="0" i="0" u="none" strike="noStrike" dirty="0">
                <a:solidFill>
                  <a:srgbClr val="404040"/>
                </a:solidFill>
                <a:effectLst/>
                <a:latin typeface="quote-cjk-patch"/>
              </a:rPr>
              <a:t> </a:t>
            </a:r>
            <a:br>
              <a:rPr lang="en-US" b="0" i="0" u="none" strike="noStrike" dirty="0">
                <a:solidFill>
                  <a:srgbClr val="404040"/>
                </a:solidFill>
                <a:effectLst/>
                <a:latin typeface="quote-cjk-patch"/>
              </a:rPr>
            </a:br>
            <a:r>
              <a:rPr lang="en-US" b="0" i="0" u="none" strike="noStrike" dirty="0">
                <a:solidFill>
                  <a:srgbClr val="404040"/>
                </a:solidFill>
                <a:effectLst/>
                <a:latin typeface="quote-cjk-patch"/>
              </a:rPr>
              <a:t>(or </a:t>
            </a:r>
            <a:r>
              <a:rPr lang="en-US" b="1" dirty="0">
                <a:solidFill>
                  <a:srgbClr val="404040"/>
                </a:solidFill>
                <a:latin typeface="quote-cjk-patch"/>
              </a:rPr>
              <a:t>M</a:t>
            </a:r>
            <a:r>
              <a:rPr lang="en-US" b="1" i="0" u="none" strike="noStrike" dirty="0">
                <a:solidFill>
                  <a:srgbClr val="404040"/>
                </a:solidFill>
                <a:effectLst/>
                <a:latin typeface="quote-cjk-patch"/>
              </a:rPr>
              <a:t>ean </a:t>
            </a:r>
            <a:r>
              <a:rPr lang="en-US" b="1" dirty="0">
                <a:solidFill>
                  <a:srgbClr val="404040"/>
                </a:solidFill>
                <a:latin typeface="quote-cjk-patch"/>
              </a:rPr>
              <a:t>S</a:t>
            </a:r>
            <a:r>
              <a:rPr lang="en-US" b="1" i="0" u="none" strike="noStrike" dirty="0">
                <a:solidFill>
                  <a:srgbClr val="404040"/>
                </a:solidFill>
                <a:effectLst/>
                <a:latin typeface="quote-cjk-patch"/>
              </a:rPr>
              <a:t>quared </a:t>
            </a:r>
            <a:r>
              <a:rPr lang="en-US" b="1" dirty="0">
                <a:solidFill>
                  <a:srgbClr val="404040"/>
                </a:solidFill>
                <a:latin typeface="quote-cjk-patch"/>
              </a:rPr>
              <a:t>E</a:t>
            </a:r>
            <a:r>
              <a:rPr lang="en-US" b="1" i="0" u="none" strike="noStrike" dirty="0">
                <a:solidFill>
                  <a:srgbClr val="404040"/>
                </a:solidFill>
                <a:effectLst/>
                <a:latin typeface="quote-cjk-patch"/>
              </a:rPr>
              <a:t>rror, MSE</a:t>
            </a:r>
            <a:r>
              <a:rPr lang="en-US" b="0" i="0" u="none" strike="noStrike" dirty="0">
                <a:solidFill>
                  <a:srgbClr val="404040"/>
                </a:solidFill>
                <a:effectLst/>
                <a:latin typeface="quote-cjk-patch"/>
              </a:rPr>
              <a:t>)</a:t>
            </a:r>
            <a:endParaRPr lang="tr-TR" dirty="0"/>
          </a:p>
        </p:txBody>
      </p:sp>
      <p:sp>
        <p:nvSpPr>
          <p:cNvPr id="1126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defPPr>
              <a:defRPr lang="tr-TR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432274A5-B9D2-4812-BB3E-AF82EEF8ADFB}" type="slidenum">
              <a:rPr lang="tr-TR" smtClean="0"/>
              <a:pPr>
                <a:defRPr/>
              </a:pPr>
              <a:t>8</a:t>
            </a:fld>
            <a:endParaRPr lang="tr-TR"/>
          </a:p>
        </p:txBody>
      </p:sp>
      <p:sp>
        <p:nvSpPr>
          <p:cNvPr id="11269" name="Rectangle 7"/>
          <p:cNvSpPr>
            <a:spLocks noGrp="1" noChangeArrowheads="1"/>
          </p:cNvSpPr>
          <p:nvPr>
            <p:ph sz="quarter" idx="1"/>
          </p:nvPr>
        </p:nvSpPr>
        <p:spPr>
          <a:xfrm>
            <a:off x="142844" y="1428736"/>
            <a:ext cx="8858312" cy="5286412"/>
          </a:xfrm>
        </p:spPr>
        <p:txBody>
          <a:bodyPr>
            <a:normAutofit fontScale="92500" lnSpcReduction="10000"/>
          </a:bodyPr>
          <a:lstStyle/>
          <a:p>
            <a:r>
              <a:rPr lang="en-US" sz="1800" dirty="0"/>
              <a:t>Should define the error function to measure the difference between the predictions and the true answers?</a:t>
            </a:r>
          </a:p>
          <a:p>
            <a:r>
              <a:rPr lang="en-US" sz="1800" b="1" i="1" dirty="0"/>
              <a:t>How to find prediction errors?</a:t>
            </a:r>
          </a:p>
          <a:p>
            <a:endParaRPr lang="en-US" sz="1800" b="1" i="1" dirty="0"/>
          </a:p>
          <a:p>
            <a:endParaRPr lang="en-US" sz="1800" b="1" i="1" dirty="0"/>
          </a:p>
          <a:p>
            <a:endParaRPr lang="en-US" sz="1800" b="1" i="1" dirty="0"/>
          </a:p>
          <a:p>
            <a:endParaRPr lang="en-US" sz="1800" b="1" i="1" dirty="0"/>
          </a:p>
          <a:p>
            <a:endParaRPr lang="en-US" sz="1800" b="1" i="1" dirty="0"/>
          </a:p>
          <a:p>
            <a:endParaRPr lang="en-US" sz="1800" b="1" i="1" dirty="0"/>
          </a:p>
          <a:p>
            <a:endParaRPr lang="en-US" sz="1800" b="1" i="1" dirty="0"/>
          </a:p>
          <a:p>
            <a:endParaRPr lang="en-US" sz="1800" b="1" i="1" dirty="0"/>
          </a:p>
          <a:p>
            <a:endParaRPr lang="en-US" sz="1800" b="1" i="1" dirty="0"/>
          </a:p>
          <a:p>
            <a:endParaRPr lang="en-US" sz="1800" b="1" i="1" dirty="0"/>
          </a:p>
          <a:p>
            <a:pPr algn="l">
              <a:buNone/>
            </a:pPr>
            <a:endParaRPr lang="en-US" sz="1800" b="1" i="0" u="none" strike="noStrike" dirty="0">
              <a:solidFill>
                <a:srgbClr val="404040"/>
              </a:solidFill>
              <a:effectLst/>
              <a:latin typeface="+mn-lt"/>
            </a:endParaRPr>
          </a:p>
          <a:p>
            <a:pPr algn="l">
              <a:buNone/>
            </a:pPr>
            <a:r>
              <a:rPr lang="en-US" sz="1800" b="1" i="0" u="none" strike="noStrike" dirty="0">
                <a:solidFill>
                  <a:srgbClr val="404040"/>
                </a:solidFill>
                <a:effectLst/>
                <a:latin typeface="+mn-lt"/>
              </a:rPr>
              <a:t>Purpose: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1" i="0" u="none" strike="noStrike" dirty="0">
                <a:solidFill>
                  <a:srgbClr val="404040"/>
                </a:solidFill>
                <a:effectLst/>
                <a:latin typeface="+mn-lt"/>
              </a:rPr>
              <a:t> Quantifies Model Accuracy</a:t>
            </a:r>
            <a:r>
              <a:rPr lang="en-US" sz="1800" b="0" i="0" u="none" strike="noStrike" dirty="0">
                <a:solidFill>
                  <a:srgbClr val="404040"/>
                </a:solidFill>
                <a:effectLst/>
                <a:latin typeface="+mn-lt"/>
              </a:rPr>
              <a:t>: Measures how well the hypothesis </a:t>
            </a:r>
            <a:r>
              <a:rPr lang="en-US" sz="1800" b="0" i="1" u="none" strike="noStrike" dirty="0" err="1">
                <a:solidFill>
                  <a:srgbClr val="404040"/>
                </a:solidFill>
                <a:effectLst/>
                <a:latin typeface="+mn-lt"/>
              </a:rPr>
              <a:t>hw</a:t>
            </a:r>
            <a:r>
              <a:rPr lang="en-US" sz="1800" b="0" i="0" u="none" strike="noStrike" dirty="0">
                <a:solidFill>
                  <a:srgbClr val="404040"/>
                </a:solidFill>
                <a:effectLst/>
                <a:latin typeface="+mn-lt"/>
              </a:rPr>
              <a:t>​ fits the training data.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800" b="1" i="0" u="none" strike="noStrike" dirty="0">
                <a:solidFill>
                  <a:srgbClr val="404040"/>
                </a:solidFill>
                <a:effectLst/>
                <a:latin typeface="+mn-lt"/>
              </a:rPr>
              <a:t> Optimization Goal</a:t>
            </a:r>
            <a:r>
              <a:rPr lang="en-US" sz="1800" b="0" i="0" u="none" strike="noStrike" dirty="0">
                <a:solidFill>
                  <a:srgbClr val="404040"/>
                </a:solidFill>
                <a:effectLst/>
                <a:latin typeface="+mn-lt"/>
              </a:rPr>
              <a:t>: Find the parameters w</a:t>
            </a:r>
            <a:r>
              <a:rPr lang="en-US" sz="1800" b="0" i="1" u="none" strike="noStrike" dirty="0">
                <a:solidFill>
                  <a:srgbClr val="404040"/>
                </a:solidFill>
                <a:effectLst/>
                <a:latin typeface="+mn-lt"/>
              </a:rPr>
              <a:t>w</a:t>
            </a:r>
            <a:r>
              <a:rPr lang="en-US" sz="1800" b="0" i="0" u="none" strike="noStrike" dirty="0">
                <a:solidFill>
                  <a:srgbClr val="404040"/>
                </a:solidFill>
                <a:effectLst/>
                <a:latin typeface="+mn-lt"/>
              </a:rPr>
              <a:t> that </a:t>
            </a:r>
            <a:r>
              <a:rPr lang="en-US" sz="1800" b="1" i="0" u="none" strike="noStrike" dirty="0">
                <a:solidFill>
                  <a:srgbClr val="404040"/>
                </a:solidFill>
                <a:effectLst/>
                <a:latin typeface="+mn-lt"/>
              </a:rPr>
              <a:t>minimize</a:t>
            </a:r>
            <a:r>
              <a:rPr lang="en-US" sz="1800" b="0" i="0" u="none" strike="noStrike" dirty="0">
                <a:solidFill>
                  <a:srgbClr val="404040"/>
                </a:solidFill>
                <a:effectLst/>
                <a:latin typeface="+mn-lt"/>
              </a:rPr>
              <a:t> </a:t>
            </a:r>
            <a:r>
              <a:rPr lang="en-US" sz="1800" b="0" i="1" u="none" strike="noStrike" dirty="0">
                <a:solidFill>
                  <a:srgbClr val="404040"/>
                </a:solidFill>
                <a:effectLst/>
                <a:latin typeface="+mn-lt"/>
              </a:rPr>
              <a:t>J</a:t>
            </a:r>
            <a:r>
              <a:rPr lang="en-US" sz="1800" b="0" i="0" u="none" strike="noStrike" dirty="0">
                <a:solidFill>
                  <a:srgbClr val="404040"/>
                </a:solidFill>
                <a:effectLst/>
                <a:latin typeface="+mn-lt"/>
              </a:rPr>
              <a:t>(</a:t>
            </a:r>
            <a:r>
              <a:rPr lang="en-US" sz="1800" b="0" i="1" u="none" strike="noStrike" dirty="0">
                <a:solidFill>
                  <a:srgbClr val="404040"/>
                </a:solidFill>
                <a:effectLst/>
                <a:latin typeface="+mn-lt"/>
              </a:rPr>
              <a:t>w</a:t>
            </a:r>
            <a:r>
              <a:rPr lang="en-US" sz="1800" b="0" i="0" u="none" strike="noStrike" dirty="0">
                <a:solidFill>
                  <a:srgbClr val="404040"/>
                </a:solidFill>
                <a:effectLst/>
                <a:latin typeface="+mn-lt"/>
              </a:rPr>
              <a:t>).</a:t>
            </a:r>
          </a:p>
          <a:p>
            <a:endParaRPr lang="en-US" sz="1800" b="1" i="1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259FC8-7AC0-C349-A12B-00FD1C40C1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587" y="2062487"/>
            <a:ext cx="6245146" cy="3343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643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Example – Minimizing </a:t>
            </a:r>
            <a:r>
              <a:rPr lang="en-US" i="1" dirty="0"/>
              <a:t>J(w)</a:t>
            </a:r>
            <a:endParaRPr lang="tr-TR" i="1" dirty="0"/>
          </a:p>
        </p:txBody>
      </p:sp>
      <p:sp>
        <p:nvSpPr>
          <p:cNvPr id="1126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defPPr>
              <a:defRPr lang="tr-TR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432274A5-B9D2-4812-BB3E-AF82EEF8ADFB}" type="slidenum">
              <a:rPr lang="tr-TR" smtClean="0"/>
              <a:pPr>
                <a:defRPr/>
              </a:pPr>
              <a:t>9</a:t>
            </a:fld>
            <a:endParaRPr lang="tr-TR"/>
          </a:p>
        </p:txBody>
      </p:sp>
      <p:sp>
        <p:nvSpPr>
          <p:cNvPr id="11269" name="Rectangle 7"/>
          <p:cNvSpPr>
            <a:spLocks noGrp="1" noChangeArrowheads="1"/>
          </p:cNvSpPr>
          <p:nvPr>
            <p:ph sz="quarter" idx="1"/>
          </p:nvPr>
        </p:nvSpPr>
        <p:spPr>
          <a:xfrm>
            <a:off x="142844" y="1428736"/>
            <a:ext cx="8858312" cy="5286412"/>
          </a:xfrm>
        </p:spPr>
        <p:txBody>
          <a:bodyPr>
            <a:normAutofit/>
          </a:bodyPr>
          <a:lstStyle/>
          <a:p>
            <a:endParaRPr lang="en-US" sz="1800" b="1" i="1" dirty="0"/>
          </a:p>
          <a:p>
            <a:endParaRPr lang="en-US" sz="1800" b="1" i="1" dirty="0"/>
          </a:p>
          <a:p>
            <a:endParaRPr lang="en-US" sz="1800" b="1" i="1" dirty="0"/>
          </a:p>
          <a:p>
            <a:endParaRPr lang="en-US" sz="1800" b="1" i="1" dirty="0"/>
          </a:p>
          <a:p>
            <a:endParaRPr lang="en-US" sz="1800" b="1" i="1" dirty="0"/>
          </a:p>
          <a:p>
            <a:endParaRPr lang="en-US" sz="1800" b="1" i="1" dirty="0"/>
          </a:p>
          <a:p>
            <a:endParaRPr lang="en-US" sz="1800" b="1" i="1" dirty="0"/>
          </a:p>
          <a:p>
            <a:endParaRPr lang="en-US" sz="1800" b="1" i="1" dirty="0"/>
          </a:p>
          <a:p>
            <a:endParaRPr lang="en-US" sz="1800" b="1" i="1" dirty="0"/>
          </a:p>
          <a:p>
            <a:endParaRPr lang="en-US" sz="1800" b="1" i="1" dirty="0"/>
          </a:p>
          <a:p>
            <a:endParaRPr lang="en-US" sz="1800" b="1" i="1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BE0DB1-3C32-9EFE-BC0C-6DC53DF5D7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227" y="1760819"/>
            <a:ext cx="7234564" cy="3108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172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Least Mean Squares (LMS) </a:t>
            </a:r>
            <a:endParaRPr lang="tr-TR" dirty="0"/>
          </a:p>
        </p:txBody>
      </p:sp>
      <p:sp>
        <p:nvSpPr>
          <p:cNvPr id="1126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defPPr>
              <a:defRPr lang="tr-TR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432274A5-B9D2-4812-BB3E-AF82EEF8ADFB}" type="slidenum">
              <a:rPr lang="tr-TR" smtClean="0"/>
              <a:pPr>
                <a:defRPr/>
              </a:pPr>
              <a:t>10</a:t>
            </a:fld>
            <a:endParaRPr lang="tr-TR"/>
          </a:p>
        </p:txBody>
      </p:sp>
      <p:sp>
        <p:nvSpPr>
          <p:cNvPr id="11269" name="Rectangle 7"/>
          <p:cNvSpPr>
            <a:spLocks noGrp="1" noChangeArrowheads="1"/>
          </p:cNvSpPr>
          <p:nvPr>
            <p:ph sz="quarter" idx="1"/>
          </p:nvPr>
        </p:nvSpPr>
        <p:spPr>
          <a:xfrm>
            <a:off x="142844" y="1428736"/>
            <a:ext cx="8858312" cy="5286412"/>
          </a:xfrm>
        </p:spPr>
        <p:txBody>
          <a:bodyPr>
            <a:normAutofit/>
          </a:bodyPr>
          <a:lstStyle/>
          <a:p>
            <a:endParaRPr lang="en-US" sz="1800" b="1" i="1" dirty="0"/>
          </a:p>
          <a:p>
            <a:endParaRPr lang="en-US" sz="1800" b="1" i="1" dirty="0"/>
          </a:p>
          <a:p>
            <a:endParaRPr lang="en-US" sz="1800" b="1" i="1" dirty="0"/>
          </a:p>
          <a:p>
            <a:endParaRPr lang="en-US" sz="1800" b="1" i="1" dirty="0"/>
          </a:p>
          <a:p>
            <a:endParaRPr lang="en-US" sz="1800" b="1" i="1" dirty="0"/>
          </a:p>
          <a:p>
            <a:endParaRPr lang="en-US" sz="1800" b="1" i="1" dirty="0"/>
          </a:p>
          <a:p>
            <a:endParaRPr lang="en-US" sz="1800" b="1" i="1" dirty="0"/>
          </a:p>
          <a:p>
            <a:endParaRPr lang="en-US" sz="1800" b="1" i="1" dirty="0"/>
          </a:p>
          <a:p>
            <a:endParaRPr lang="en-US" sz="1800" b="1" i="1" dirty="0"/>
          </a:p>
          <a:p>
            <a:endParaRPr lang="en-US" sz="1800" b="1" i="1" dirty="0"/>
          </a:p>
          <a:p>
            <a:endParaRPr lang="en-US" sz="1800" b="1" i="1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E3B61F-3C1E-D0F4-1A61-6C63598E70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62" y="1550492"/>
            <a:ext cx="7747268" cy="12729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ECAE2D0-D98F-1968-C899-971E4D52F5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766" y="3163493"/>
            <a:ext cx="7358431" cy="1581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305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Limitation of MSE</a:t>
            </a:r>
            <a:endParaRPr lang="tr-TR" i="1" dirty="0"/>
          </a:p>
        </p:txBody>
      </p:sp>
      <p:sp>
        <p:nvSpPr>
          <p:cNvPr id="1126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defPPr>
              <a:defRPr lang="tr-TR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432274A5-B9D2-4812-BB3E-AF82EEF8ADFB}" type="slidenum">
              <a:rPr lang="tr-TR" smtClean="0"/>
              <a:pPr>
                <a:defRPr/>
              </a:pPr>
              <a:t>11</a:t>
            </a:fld>
            <a:endParaRPr lang="tr-TR"/>
          </a:p>
        </p:txBody>
      </p:sp>
      <p:sp>
        <p:nvSpPr>
          <p:cNvPr id="11269" name="Rectangle 7"/>
          <p:cNvSpPr>
            <a:spLocks noGrp="1" noChangeArrowheads="1"/>
          </p:cNvSpPr>
          <p:nvPr>
            <p:ph sz="quarter" idx="1"/>
          </p:nvPr>
        </p:nvSpPr>
        <p:spPr>
          <a:xfrm>
            <a:off x="142844" y="1428736"/>
            <a:ext cx="8858312" cy="5286412"/>
          </a:xfrm>
        </p:spPr>
        <p:txBody>
          <a:bodyPr>
            <a:normAutofit/>
          </a:bodyPr>
          <a:lstStyle/>
          <a:p>
            <a:endParaRPr lang="en-US" sz="1800" b="1" i="1" dirty="0"/>
          </a:p>
          <a:p>
            <a:endParaRPr lang="en-US" sz="1800" b="1" i="1" dirty="0"/>
          </a:p>
          <a:p>
            <a:endParaRPr lang="en-US" sz="1800" b="1" i="1" dirty="0"/>
          </a:p>
          <a:p>
            <a:endParaRPr lang="en-US" sz="1800" b="1" i="1" dirty="0"/>
          </a:p>
          <a:p>
            <a:endParaRPr lang="en-US" sz="1800" b="1" i="1" dirty="0"/>
          </a:p>
          <a:p>
            <a:endParaRPr lang="en-US" sz="1800" b="1" i="1" dirty="0"/>
          </a:p>
          <a:p>
            <a:endParaRPr lang="en-US" sz="1800" b="1" i="1" dirty="0"/>
          </a:p>
          <a:p>
            <a:endParaRPr lang="en-US" sz="1800" b="1" i="1" dirty="0"/>
          </a:p>
          <a:p>
            <a:endParaRPr lang="en-US" sz="1800" b="1" i="1" dirty="0"/>
          </a:p>
          <a:p>
            <a:endParaRPr lang="en-US" sz="1800" b="1" i="1" dirty="0"/>
          </a:p>
          <a:p>
            <a:endParaRPr lang="en-US" sz="1800" b="1" i="1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E09F38-BCD3-2646-F0F8-31F1304B1A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863" y="1753067"/>
            <a:ext cx="7809567" cy="2072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327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Mean Absolute Error (MAE)</a:t>
            </a:r>
            <a:endParaRPr lang="tr-TR" i="1" dirty="0"/>
          </a:p>
        </p:txBody>
      </p:sp>
      <p:sp>
        <p:nvSpPr>
          <p:cNvPr id="1126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defPPr>
              <a:defRPr lang="tr-TR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432274A5-B9D2-4812-BB3E-AF82EEF8ADFB}" type="slidenum">
              <a:rPr lang="tr-TR" smtClean="0"/>
              <a:pPr>
                <a:defRPr/>
              </a:pPr>
              <a:t>12</a:t>
            </a:fld>
            <a:endParaRPr lang="tr-TR"/>
          </a:p>
        </p:txBody>
      </p:sp>
      <p:sp>
        <p:nvSpPr>
          <p:cNvPr id="11269" name="Rectangle 7"/>
          <p:cNvSpPr>
            <a:spLocks noGrp="1" noChangeArrowheads="1"/>
          </p:cNvSpPr>
          <p:nvPr>
            <p:ph sz="quarter" idx="1"/>
          </p:nvPr>
        </p:nvSpPr>
        <p:spPr>
          <a:xfrm>
            <a:off x="142844" y="1428736"/>
            <a:ext cx="8858312" cy="5286412"/>
          </a:xfrm>
        </p:spPr>
        <p:txBody>
          <a:bodyPr>
            <a:normAutofit/>
          </a:bodyPr>
          <a:lstStyle/>
          <a:p>
            <a:endParaRPr lang="en-US" sz="1800" b="1" i="1" dirty="0"/>
          </a:p>
          <a:p>
            <a:endParaRPr lang="en-US" sz="1800" b="1" i="1" dirty="0"/>
          </a:p>
          <a:p>
            <a:endParaRPr lang="en-US" sz="1800" b="1" i="1" dirty="0"/>
          </a:p>
          <a:p>
            <a:endParaRPr lang="en-US" sz="1800" b="1" i="1" dirty="0"/>
          </a:p>
          <a:p>
            <a:endParaRPr lang="en-US" sz="1800" b="1" i="1" dirty="0"/>
          </a:p>
          <a:p>
            <a:endParaRPr lang="en-US" sz="1800" b="1" i="1" dirty="0"/>
          </a:p>
          <a:p>
            <a:endParaRPr lang="en-US" sz="1800" b="1" i="1" dirty="0"/>
          </a:p>
          <a:p>
            <a:endParaRPr lang="en-US" sz="1800" b="1" i="1" dirty="0"/>
          </a:p>
          <a:p>
            <a:endParaRPr lang="en-US" sz="1800" b="1" i="1" dirty="0"/>
          </a:p>
          <a:p>
            <a:endParaRPr lang="en-US" sz="1800" b="1" i="1" dirty="0"/>
          </a:p>
          <a:p>
            <a:endParaRPr lang="en-US" sz="1800" b="1" i="1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FF70EA-95B0-12AE-5DED-700EAA8574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227" y="1633869"/>
            <a:ext cx="6096000" cy="3340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62587B-D099-7B31-5A76-3CBB1B9ADD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470" y="5073471"/>
            <a:ext cx="6096000" cy="715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4707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Mean Absolute Error (MAE)</a:t>
            </a:r>
            <a:endParaRPr lang="tr-TR" i="1" dirty="0"/>
          </a:p>
        </p:txBody>
      </p:sp>
      <p:sp>
        <p:nvSpPr>
          <p:cNvPr id="1126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defPPr>
              <a:defRPr lang="tr-TR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432274A5-B9D2-4812-BB3E-AF82EEF8ADFB}" type="slidenum">
              <a:rPr lang="tr-TR" smtClean="0"/>
              <a:pPr>
                <a:defRPr/>
              </a:pPr>
              <a:t>13</a:t>
            </a:fld>
            <a:endParaRPr lang="tr-TR"/>
          </a:p>
        </p:txBody>
      </p:sp>
      <p:sp>
        <p:nvSpPr>
          <p:cNvPr id="11269" name="Rectangle 7"/>
          <p:cNvSpPr>
            <a:spLocks noGrp="1" noChangeArrowheads="1"/>
          </p:cNvSpPr>
          <p:nvPr>
            <p:ph sz="quarter" idx="1"/>
          </p:nvPr>
        </p:nvSpPr>
        <p:spPr>
          <a:xfrm>
            <a:off x="142844" y="1428736"/>
            <a:ext cx="8858312" cy="5286412"/>
          </a:xfrm>
        </p:spPr>
        <p:txBody>
          <a:bodyPr>
            <a:normAutofit/>
          </a:bodyPr>
          <a:lstStyle/>
          <a:p>
            <a:endParaRPr lang="en-US" sz="1800" b="1" i="1" dirty="0"/>
          </a:p>
          <a:p>
            <a:endParaRPr lang="en-US" sz="1800" b="1" i="1" dirty="0"/>
          </a:p>
          <a:p>
            <a:endParaRPr lang="en-US" sz="1800" b="1" i="1" dirty="0"/>
          </a:p>
          <a:p>
            <a:endParaRPr lang="en-US" sz="1800" b="1" i="1" dirty="0"/>
          </a:p>
          <a:p>
            <a:endParaRPr lang="en-US" sz="1800" b="1" i="1" dirty="0"/>
          </a:p>
          <a:p>
            <a:endParaRPr lang="en-US" sz="1800" b="1" i="1" dirty="0"/>
          </a:p>
          <a:p>
            <a:endParaRPr lang="en-US" sz="1800" b="1" i="1" dirty="0"/>
          </a:p>
          <a:p>
            <a:endParaRPr lang="en-US" sz="1800" b="1" i="1" dirty="0"/>
          </a:p>
          <a:p>
            <a:endParaRPr lang="en-US" sz="1800" b="1" i="1" dirty="0"/>
          </a:p>
          <a:p>
            <a:endParaRPr lang="en-US" sz="1800" b="1" i="1" dirty="0"/>
          </a:p>
          <a:p>
            <a:endParaRPr lang="en-US" sz="1800" b="1" i="1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FF70EA-95B0-12AE-5DED-700EAA8574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227" y="1633869"/>
            <a:ext cx="6096000" cy="3340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62587B-D099-7B31-5A76-3CBB1B9ADD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470" y="5073471"/>
            <a:ext cx="6096000" cy="715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005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Huber Loss and RMSE</a:t>
            </a:r>
            <a:endParaRPr lang="tr-TR" dirty="0"/>
          </a:p>
        </p:txBody>
      </p:sp>
      <p:sp>
        <p:nvSpPr>
          <p:cNvPr id="1126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defPPr>
              <a:defRPr lang="tr-TR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432274A5-B9D2-4812-BB3E-AF82EEF8ADFB}" type="slidenum">
              <a:rPr lang="tr-TR" smtClean="0"/>
              <a:pPr>
                <a:defRPr/>
              </a:pPr>
              <a:t>14</a:t>
            </a:fld>
            <a:endParaRPr lang="tr-TR"/>
          </a:p>
        </p:txBody>
      </p:sp>
      <p:sp>
        <p:nvSpPr>
          <p:cNvPr id="11269" name="Rectangle 7"/>
          <p:cNvSpPr>
            <a:spLocks noGrp="1" noChangeArrowheads="1"/>
          </p:cNvSpPr>
          <p:nvPr>
            <p:ph sz="quarter" idx="1"/>
          </p:nvPr>
        </p:nvSpPr>
        <p:spPr>
          <a:xfrm>
            <a:off x="142844" y="1428736"/>
            <a:ext cx="8858312" cy="5286412"/>
          </a:xfrm>
        </p:spPr>
        <p:txBody>
          <a:bodyPr>
            <a:normAutofit/>
          </a:bodyPr>
          <a:lstStyle/>
          <a:p>
            <a:endParaRPr lang="en-US" sz="1800" b="1" i="1" dirty="0"/>
          </a:p>
          <a:p>
            <a:endParaRPr lang="en-US" sz="1800" b="1" i="1" dirty="0"/>
          </a:p>
          <a:p>
            <a:endParaRPr lang="en-US" sz="1800" b="1" i="1" dirty="0"/>
          </a:p>
          <a:p>
            <a:endParaRPr lang="en-US" sz="1800" b="1" i="1" dirty="0"/>
          </a:p>
          <a:p>
            <a:endParaRPr lang="en-US" sz="1800" b="1" i="1" dirty="0"/>
          </a:p>
          <a:p>
            <a:endParaRPr lang="en-US" sz="1800" b="1" i="1" dirty="0"/>
          </a:p>
          <a:p>
            <a:endParaRPr lang="en-US" sz="1800" b="1" i="1" dirty="0"/>
          </a:p>
          <a:p>
            <a:endParaRPr lang="en-US" sz="1800" b="1" i="1" dirty="0"/>
          </a:p>
          <a:p>
            <a:endParaRPr lang="en-US" sz="1800" b="1" i="1" dirty="0"/>
          </a:p>
          <a:p>
            <a:endParaRPr lang="en-US" sz="1800" b="1" i="1" dirty="0"/>
          </a:p>
          <a:p>
            <a:endParaRPr lang="en-US" sz="1800" b="1" i="1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FDF417D-07D1-5935-A469-A7310E3BB8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722" y="1908898"/>
            <a:ext cx="8120952" cy="152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5210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Some Linear Algebra</a:t>
            </a:r>
            <a:endParaRPr lang="tr-TR" dirty="0"/>
          </a:p>
        </p:txBody>
      </p:sp>
      <p:sp>
        <p:nvSpPr>
          <p:cNvPr id="1126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defPPr>
              <a:defRPr lang="tr-TR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432274A5-B9D2-4812-BB3E-AF82EEF8ADFB}" type="slidenum">
              <a:rPr lang="tr-TR" smtClean="0"/>
              <a:pPr>
                <a:defRPr/>
              </a:pPr>
              <a:t>15</a:t>
            </a:fld>
            <a:endParaRPr lang="tr-TR"/>
          </a:p>
        </p:txBody>
      </p:sp>
      <p:sp>
        <p:nvSpPr>
          <p:cNvPr id="11269" name="Rectangle 7"/>
          <p:cNvSpPr>
            <a:spLocks noGrp="1" noChangeArrowheads="1"/>
          </p:cNvSpPr>
          <p:nvPr>
            <p:ph sz="quarter" idx="1"/>
          </p:nvPr>
        </p:nvSpPr>
        <p:spPr>
          <a:xfrm>
            <a:off x="142844" y="6500834"/>
            <a:ext cx="8858312" cy="214314"/>
          </a:xfrm>
        </p:spPr>
        <p:txBody>
          <a:bodyPr>
            <a:normAutofit fontScale="32500" lnSpcReduction="20000"/>
          </a:bodyPr>
          <a:lstStyle/>
          <a:p>
            <a:pPr lvl="1">
              <a:buNone/>
            </a:pPr>
            <a:r>
              <a:rPr lang="en-US" dirty="0"/>
              <a:t> </a:t>
            </a:r>
          </a:p>
        </p:txBody>
      </p:sp>
      <p:pic>
        <p:nvPicPr>
          <p:cNvPr id="7" name="Picture 6" descr="ex4-ch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4282" y="1500174"/>
            <a:ext cx="8724580" cy="485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3233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Some Linear Algebra …</a:t>
            </a:r>
            <a:endParaRPr lang="tr-TR" dirty="0"/>
          </a:p>
        </p:txBody>
      </p:sp>
      <p:sp>
        <p:nvSpPr>
          <p:cNvPr id="1126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defPPr>
              <a:defRPr lang="tr-TR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432274A5-B9D2-4812-BB3E-AF82EEF8ADFB}" type="slidenum">
              <a:rPr lang="tr-TR" smtClean="0"/>
              <a:pPr>
                <a:defRPr/>
              </a:pPr>
              <a:t>16</a:t>
            </a:fld>
            <a:endParaRPr lang="tr-TR"/>
          </a:p>
        </p:txBody>
      </p:sp>
      <p:sp>
        <p:nvSpPr>
          <p:cNvPr id="11269" name="Rectangle 7"/>
          <p:cNvSpPr>
            <a:spLocks noGrp="1" noChangeArrowheads="1"/>
          </p:cNvSpPr>
          <p:nvPr>
            <p:ph sz="quarter" idx="1"/>
          </p:nvPr>
        </p:nvSpPr>
        <p:spPr>
          <a:xfrm>
            <a:off x="142844" y="6500834"/>
            <a:ext cx="8858312" cy="214314"/>
          </a:xfrm>
        </p:spPr>
        <p:txBody>
          <a:bodyPr>
            <a:normAutofit fontScale="32500" lnSpcReduction="20000"/>
          </a:bodyPr>
          <a:lstStyle/>
          <a:p>
            <a:pPr lvl="1">
              <a:buNone/>
            </a:pPr>
            <a:r>
              <a:rPr lang="en-US" dirty="0"/>
              <a:t> </a:t>
            </a:r>
          </a:p>
        </p:txBody>
      </p:sp>
      <p:pic>
        <p:nvPicPr>
          <p:cNvPr id="8" name="Picture 7" descr="ex5-ch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0362" y="1527638"/>
            <a:ext cx="8790794" cy="483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6010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Some Linear Algebra - The Solution!</a:t>
            </a:r>
            <a:endParaRPr lang="tr-TR" dirty="0"/>
          </a:p>
        </p:txBody>
      </p:sp>
      <p:sp>
        <p:nvSpPr>
          <p:cNvPr id="1126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defPPr>
              <a:defRPr lang="tr-TR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432274A5-B9D2-4812-BB3E-AF82EEF8ADFB}" type="slidenum">
              <a:rPr lang="tr-TR" smtClean="0"/>
              <a:pPr>
                <a:defRPr/>
              </a:pPr>
              <a:t>17</a:t>
            </a:fld>
            <a:endParaRPr lang="tr-TR"/>
          </a:p>
        </p:txBody>
      </p:sp>
      <p:sp>
        <p:nvSpPr>
          <p:cNvPr id="11269" name="Rectangle 7"/>
          <p:cNvSpPr>
            <a:spLocks noGrp="1" noChangeArrowheads="1"/>
          </p:cNvSpPr>
          <p:nvPr>
            <p:ph sz="quarter" idx="1"/>
          </p:nvPr>
        </p:nvSpPr>
        <p:spPr>
          <a:xfrm>
            <a:off x="142844" y="6500834"/>
            <a:ext cx="8858312" cy="214314"/>
          </a:xfrm>
        </p:spPr>
        <p:txBody>
          <a:bodyPr>
            <a:normAutofit fontScale="32500" lnSpcReduction="20000"/>
          </a:bodyPr>
          <a:lstStyle/>
          <a:p>
            <a:pPr lvl="1">
              <a:buNone/>
            </a:pPr>
            <a:r>
              <a:rPr lang="en-US" dirty="0"/>
              <a:t> </a:t>
            </a:r>
          </a:p>
        </p:txBody>
      </p:sp>
      <p:pic>
        <p:nvPicPr>
          <p:cNvPr id="7" name="Picture 6" descr="ex6-ch2.jpg"/>
          <p:cNvPicPr>
            <a:picLocks noChangeAspect="1"/>
          </p:cNvPicPr>
          <p:nvPr/>
        </p:nvPicPr>
        <p:blipFill rotWithShape="1">
          <a:blip r:embed="rId3" cstate="print"/>
          <a:srcRect t="42654"/>
          <a:stretch/>
        </p:blipFill>
        <p:spPr>
          <a:xfrm>
            <a:off x="380159" y="2147184"/>
            <a:ext cx="8431999" cy="3000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1156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6"/>
          <p:cNvSpPr>
            <a:spLocks noGrp="1" noChangeArrowheads="1"/>
          </p:cNvSpPr>
          <p:nvPr>
            <p:ph type="title"/>
          </p:nvPr>
        </p:nvSpPr>
        <p:spPr>
          <a:xfrm>
            <a:off x="214282" y="357166"/>
            <a:ext cx="8715436" cy="631844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200" dirty="0"/>
              <a:t>Example of Linear Regression - Data Matrices</a:t>
            </a:r>
            <a:endParaRPr lang="tr-TR" sz="3200" dirty="0"/>
          </a:p>
        </p:txBody>
      </p:sp>
      <p:sp>
        <p:nvSpPr>
          <p:cNvPr id="1126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defPPr>
              <a:defRPr lang="tr-TR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432274A5-B9D2-4812-BB3E-AF82EEF8ADFB}" type="slidenum">
              <a:rPr lang="tr-TR" smtClean="0"/>
              <a:pPr>
                <a:defRPr/>
              </a:pPr>
              <a:t>18</a:t>
            </a:fld>
            <a:endParaRPr lang="tr-TR"/>
          </a:p>
        </p:txBody>
      </p:sp>
      <p:sp>
        <p:nvSpPr>
          <p:cNvPr id="11269" name="Rectangle 7"/>
          <p:cNvSpPr>
            <a:spLocks noGrp="1" noChangeArrowheads="1"/>
          </p:cNvSpPr>
          <p:nvPr>
            <p:ph sz="quarter" idx="1"/>
          </p:nvPr>
        </p:nvSpPr>
        <p:spPr>
          <a:xfrm>
            <a:off x="142844" y="6500834"/>
            <a:ext cx="8858312" cy="214314"/>
          </a:xfrm>
        </p:spPr>
        <p:txBody>
          <a:bodyPr>
            <a:normAutofit fontScale="32500" lnSpcReduction="20000"/>
          </a:bodyPr>
          <a:lstStyle/>
          <a:p>
            <a:pPr lvl="1">
              <a:buNone/>
            </a:pPr>
            <a:r>
              <a:rPr lang="en-US" dirty="0"/>
              <a:t> </a:t>
            </a:r>
          </a:p>
        </p:txBody>
      </p:sp>
      <p:pic>
        <p:nvPicPr>
          <p:cNvPr id="6" name="Picture 5" descr="ex07-ch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2844" y="2740371"/>
            <a:ext cx="3291931" cy="22602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 descr="ex08-ch2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457608" y="2000240"/>
            <a:ext cx="5543548" cy="3705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9665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6"/>
          <p:cNvSpPr>
            <a:spLocks noGrp="1" noChangeArrowheads="1"/>
          </p:cNvSpPr>
          <p:nvPr>
            <p:ph type="title"/>
          </p:nvPr>
        </p:nvSpPr>
        <p:spPr>
          <a:xfrm>
            <a:off x="914400" y="142852"/>
            <a:ext cx="7772400" cy="70328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i="1" dirty="0"/>
              <a:t>X</a:t>
            </a:r>
            <a:r>
              <a:rPr lang="en-US" b="1" i="1" baseline="30000" dirty="0"/>
              <a:t>T</a:t>
            </a:r>
            <a:r>
              <a:rPr lang="en-US" b="1" i="1" dirty="0"/>
              <a:t>X</a:t>
            </a:r>
            <a:endParaRPr lang="tr-TR" b="1" i="1" dirty="0"/>
          </a:p>
        </p:txBody>
      </p:sp>
      <p:sp>
        <p:nvSpPr>
          <p:cNvPr id="1126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defPPr>
              <a:defRPr lang="tr-TR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432274A5-B9D2-4812-BB3E-AF82EEF8ADFB}" type="slidenum">
              <a:rPr lang="tr-TR" smtClean="0"/>
              <a:pPr>
                <a:defRPr/>
              </a:pPr>
              <a:t>19</a:t>
            </a:fld>
            <a:endParaRPr lang="tr-TR"/>
          </a:p>
        </p:txBody>
      </p:sp>
      <p:sp>
        <p:nvSpPr>
          <p:cNvPr id="11269" name="Rectangle 7"/>
          <p:cNvSpPr>
            <a:spLocks noGrp="1" noChangeArrowheads="1"/>
          </p:cNvSpPr>
          <p:nvPr>
            <p:ph sz="quarter" idx="1"/>
          </p:nvPr>
        </p:nvSpPr>
        <p:spPr>
          <a:xfrm>
            <a:off x="142844" y="6500834"/>
            <a:ext cx="8858312" cy="214314"/>
          </a:xfrm>
        </p:spPr>
        <p:txBody>
          <a:bodyPr>
            <a:normAutofit fontScale="32500" lnSpcReduction="20000"/>
          </a:bodyPr>
          <a:lstStyle/>
          <a:p>
            <a:pPr lvl="1">
              <a:buNone/>
            </a:pPr>
            <a:r>
              <a:rPr lang="en-US" dirty="0"/>
              <a:t> </a:t>
            </a:r>
          </a:p>
        </p:txBody>
      </p:sp>
      <p:pic>
        <p:nvPicPr>
          <p:cNvPr id="10" name="Picture 9" descr="ex09-ch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2844" y="1571612"/>
            <a:ext cx="8885990" cy="4071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8406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6"/>
          <p:cNvSpPr>
            <a:spLocks noGrp="1" noChangeArrowheads="1"/>
          </p:cNvSpPr>
          <p:nvPr>
            <p:ph type="title"/>
          </p:nvPr>
        </p:nvSpPr>
        <p:spPr>
          <a:xfrm>
            <a:off x="914400" y="142852"/>
            <a:ext cx="7772400" cy="703282"/>
          </a:xfrm>
        </p:spPr>
        <p:txBody>
          <a:bodyPr>
            <a:normAutofit fontScale="90000"/>
          </a:bodyPr>
          <a:lstStyle/>
          <a:p>
            <a:r>
              <a:rPr lang="en-US" b="1" i="1" dirty="0"/>
              <a:t>X</a:t>
            </a:r>
            <a:r>
              <a:rPr lang="en-US" b="1" i="1" baseline="30000" dirty="0"/>
              <a:t>T</a:t>
            </a:r>
            <a:r>
              <a:rPr lang="en-US" b="1" i="1" dirty="0"/>
              <a:t>Y</a:t>
            </a:r>
            <a:endParaRPr lang="tr-TR" dirty="0"/>
          </a:p>
        </p:txBody>
      </p:sp>
      <p:sp>
        <p:nvSpPr>
          <p:cNvPr id="1126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defPPr>
              <a:defRPr lang="tr-TR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432274A5-B9D2-4812-BB3E-AF82EEF8ADFB}" type="slidenum">
              <a:rPr lang="tr-TR" smtClean="0"/>
              <a:pPr>
                <a:defRPr/>
              </a:pPr>
              <a:t>20</a:t>
            </a:fld>
            <a:endParaRPr lang="tr-TR"/>
          </a:p>
        </p:txBody>
      </p:sp>
      <p:sp>
        <p:nvSpPr>
          <p:cNvPr id="11269" name="Rectangle 7"/>
          <p:cNvSpPr>
            <a:spLocks noGrp="1" noChangeArrowheads="1"/>
          </p:cNvSpPr>
          <p:nvPr>
            <p:ph sz="quarter" idx="1"/>
          </p:nvPr>
        </p:nvSpPr>
        <p:spPr>
          <a:xfrm>
            <a:off x="142844" y="6500834"/>
            <a:ext cx="8858312" cy="214314"/>
          </a:xfrm>
        </p:spPr>
        <p:txBody>
          <a:bodyPr>
            <a:normAutofit fontScale="32500" lnSpcReduction="20000"/>
          </a:bodyPr>
          <a:lstStyle/>
          <a:p>
            <a:pPr lvl="1">
              <a:buNone/>
            </a:pPr>
            <a:r>
              <a:rPr lang="en-US" dirty="0"/>
              <a:t> </a:t>
            </a:r>
          </a:p>
        </p:txBody>
      </p:sp>
      <p:pic>
        <p:nvPicPr>
          <p:cNvPr id="8" name="Picture 7" descr="ex10-ch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5742" y="1355329"/>
            <a:ext cx="8783976" cy="4645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8084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6"/>
          <p:cNvSpPr>
            <a:spLocks noGrp="1" noChangeArrowheads="1"/>
          </p:cNvSpPr>
          <p:nvPr>
            <p:ph type="title"/>
          </p:nvPr>
        </p:nvSpPr>
        <p:spPr>
          <a:xfrm>
            <a:off x="914400" y="142852"/>
            <a:ext cx="7772400" cy="70328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Solving for </a:t>
            </a:r>
            <a:r>
              <a:rPr lang="en-US" b="1" i="1" dirty="0"/>
              <a:t>w</a:t>
            </a:r>
            <a:r>
              <a:rPr lang="en-US" dirty="0"/>
              <a:t> – Regression Curve</a:t>
            </a:r>
            <a:endParaRPr lang="tr-TR" dirty="0"/>
          </a:p>
        </p:txBody>
      </p:sp>
      <p:sp>
        <p:nvSpPr>
          <p:cNvPr id="1126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defPPr>
              <a:defRPr lang="tr-TR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432274A5-B9D2-4812-BB3E-AF82EEF8ADFB}" type="slidenum">
              <a:rPr lang="tr-TR" smtClean="0"/>
              <a:pPr>
                <a:defRPr/>
              </a:pPr>
              <a:t>21</a:t>
            </a:fld>
            <a:endParaRPr lang="tr-TR"/>
          </a:p>
        </p:txBody>
      </p:sp>
      <p:sp>
        <p:nvSpPr>
          <p:cNvPr id="11269" name="Rectangle 7"/>
          <p:cNvSpPr>
            <a:spLocks noGrp="1" noChangeArrowheads="1"/>
          </p:cNvSpPr>
          <p:nvPr>
            <p:ph sz="quarter" idx="1"/>
          </p:nvPr>
        </p:nvSpPr>
        <p:spPr>
          <a:xfrm>
            <a:off x="142844" y="6500834"/>
            <a:ext cx="8858312" cy="214314"/>
          </a:xfrm>
        </p:spPr>
        <p:txBody>
          <a:bodyPr>
            <a:normAutofit fontScale="32500" lnSpcReduction="20000"/>
          </a:bodyPr>
          <a:lstStyle/>
          <a:p>
            <a:pPr lvl="1">
              <a:buNone/>
            </a:pPr>
            <a:r>
              <a:rPr lang="en-US" dirty="0"/>
              <a:t> </a:t>
            </a:r>
          </a:p>
        </p:txBody>
      </p:sp>
      <p:pic>
        <p:nvPicPr>
          <p:cNvPr id="6" name="Picture 5" descr="ex11-ch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2844" y="828668"/>
            <a:ext cx="8815479" cy="1885952"/>
          </a:xfrm>
          <a:prstGeom prst="rect">
            <a:avLst/>
          </a:prstGeom>
        </p:spPr>
      </p:pic>
      <p:pic>
        <p:nvPicPr>
          <p:cNvPr id="7" name="Picture 6" descr="ex12-ch2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071670" y="2786058"/>
            <a:ext cx="4899115" cy="3929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2430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Linear Regression - Summary</a:t>
            </a:r>
            <a:endParaRPr lang="tr-TR" dirty="0"/>
          </a:p>
        </p:txBody>
      </p:sp>
      <p:sp>
        <p:nvSpPr>
          <p:cNvPr id="1126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defPPr>
              <a:defRPr lang="tr-TR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432274A5-B9D2-4812-BB3E-AF82EEF8ADFB}" type="slidenum">
              <a:rPr lang="tr-TR" smtClean="0"/>
              <a:pPr>
                <a:defRPr/>
              </a:pPr>
              <a:t>22</a:t>
            </a:fld>
            <a:endParaRPr lang="tr-TR"/>
          </a:p>
        </p:txBody>
      </p:sp>
      <p:sp>
        <p:nvSpPr>
          <p:cNvPr id="11269" name="Rectangle 7"/>
          <p:cNvSpPr>
            <a:spLocks noGrp="1" noChangeArrowheads="1"/>
          </p:cNvSpPr>
          <p:nvPr>
            <p:ph sz="quarter" idx="1"/>
          </p:nvPr>
        </p:nvSpPr>
        <p:spPr>
          <a:xfrm>
            <a:off x="142844" y="1428736"/>
            <a:ext cx="8858312" cy="5286412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dirty="0"/>
              <a:t>The optimal solution can be computed in polynomial time in the size of the data set.</a:t>
            </a:r>
          </a:p>
          <a:p>
            <a:pPr eaLnBrk="1" hangingPunct="1"/>
            <a:r>
              <a:rPr lang="en-US" dirty="0"/>
              <a:t>Too simple for most real-valued problems</a:t>
            </a:r>
          </a:p>
          <a:p>
            <a:r>
              <a:rPr lang="en-US" dirty="0"/>
              <a:t>The solution is </a:t>
            </a:r>
            <a:r>
              <a:rPr lang="en-US" b="1" i="1" dirty="0"/>
              <a:t>w</a:t>
            </a:r>
            <a:r>
              <a:rPr lang="en-US" dirty="0"/>
              <a:t> = (</a:t>
            </a:r>
            <a:r>
              <a:rPr lang="en-US" b="1" i="1" dirty="0"/>
              <a:t>X</a:t>
            </a:r>
            <a:r>
              <a:rPr lang="en-US" b="1" i="1" baseline="30000" dirty="0"/>
              <a:t>T</a:t>
            </a:r>
            <a:r>
              <a:rPr lang="en-US" b="1" i="1" dirty="0"/>
              <a:t>X</a:t>
            </a:r>
            <a:r>
              <a:rPr lang="en-US" dirty="0"/>
              <a:t>)</a:t>
            </a:r>
            <a:r>
              <a:rPr lang="en-US" baseline="30000" dirty="0"/>
              <a:t>-1</a:t>
            </a:r>
            <a:r>
              <a:rPr lang="en-US" b="1" i="1" dirty="0"/>
              <a:t>X</a:t>
            </a:r>
            <a:r>
              <a:rPr lang="en-US" b="1" i="1" baseline="30000" dirty="0"/>
              <a:t>T</a:t>
            </a:r>
            <a:r>
              <a:rPr lang="en-US" b="1" i="1" dirty="0"/>
              <a:t>Y</a:t>
            </a:r>
            <a:r>
              <a:rPr lang="en-US" dirty="0"/>
              <a:t>, where </a:t>
            </a:r>
          </a:p>
          <a:p>
            <a:pPr lvl="1"/>
            <a:r>
              <a:rPr lang="en-US" b="1" i="1" dirty="0"/>
              <a:t>X</a:t>
            </a:r>
            <a:r>
              <a:rPr lang="en-US" dirty="0"/>
              <a:t> is the data matrix, augmented with a column of 1’s</a:t>
            </a:r>
          </a:p>
          <a:p>
            <a:pPr lvl="1"/>
            <a:r>
              <a:rPr lang="en-US" dirty="0"/>
              <a:t> </a:t>
            </a:r>
            <a:r>
              <a:rPr lang="en-US" b="1" i="1" dirty="0"/>
              <a:t>Y</a:t>
            </a:r>
            <a:r>
              <a:rPr lang="en-US" dirty="0"/>
              <a:t> is the column vector of target outputs</a:t>
            </a:r>
            <a:endParaRPr lang="en-US" b="1" i="1" dirty="0">
              <a:solidFill>
                <a:srgbClr val="FF0000"/>
              </a:solidFill>
            </a:endParaRPr>
          </a:p>
          <a:p>
            <a:pPr lvl="1"/>
            <a:r>
              <a:rPr lang="en-US" dirty="0"/>
              <a:t>A very rare case in which an analytical exact solution is possible</a:t>
            </a:r>
          </a:p>
          <a:p>
            <a:pPr lvl="2"/>
            <a:r>
              <a:rPr lang="en-US" sz="2200" dirty="0">
                <a:solidFill>
                  <a:srgbClr val="FF0000"/>
                </a:solidFill>
              </a:rPr>
              <a:t>Nice math, closed-form formula, unique global optimum</a:t>
            </a:r>
          </a:p>
          <a:p>
            <a:r>
              <a:rPr lang="en-US" dirty="0"/>
              <a:t>Problems when (</a:t>
            </a:r>
            <a:r>
              <a:rPr lang="en-US" b="1" i="1" dirty="0"/>
              <a:t>X</a:t>
            </a:r>
            <a:r>
              <a:rPr lang="en-US" b="1" i="1" baseline="30000" dirty="0"/>
              <a:t>T</a:t>
            </a:r>
            <a:r>
              <a:rPr lang="en-US" b="1" i="1" dirty="0"/>
              <a:t>X</a:t>
            </a:r>
            <a:r>
              <a:rPr lang="en-US" dirty="0"/>
              <a:t>) does not have an inverse</a:t>
            </a:r>
          </a:p>
          <a:p>
            <a:pPr lvl="1"/>
            <a:r>
              <a:rPr lang="en-US" dirty="0"/>
              <a:t>Possible solutions to this:</a:t>
            </a:r>
          </a:p>
          <a:p>
            <a:pPr marL="1051560" lvl="2" indent="-457200">
              <a:buFont typeface="+mj-lt"/>
              <a:buAutoNum type="arabicPeriod"/>
            </a:pPr>
            <a:r>
              <a:rPr lang="en-US" dirty="0"/>
              <a:t>Include high-order terms in </a:t>
            </a:r>
            <a:r>
              <a:rPr lang="en-US" i="1" dirty="0" err="1"/>
              <a:t>h</a:t>
            </a:r>
            <a:r>
              <a:rPr lang="en-US" b="1" i="1" baseline="-25000" dirty="0" err="1"/>
              <a:t>w</a:t>
            </a:r>
            <a:endParaRPr lang="en-US" dirty="0"/>
          </a:p>
          <a:p>
            <a:pPr marL="1051560" lvl="2" indent="-457200">
              <a:buFont typeface="+mj-lt"/>
              <a:buAutoNum type="arabicPeriod"/>
            </a:pPr>
            <a:r>
              <a:rPr lang="en-US" dirty="0"/>
              <a:t>Transform the input </a:t>
            </a:r>
            <a:r>
              <a:rPr lang="en-US" b="1" i="1" dirty="0"/>
              <a:t>X</a:t>
            </a:r>
            <a:r>
              <a:rPr lang="en-US" dirty="0"/>
              <a:t> to some other space </a:t>
            </a:r>
            <a:r>
              <a:rPr lang="en-US" b="1" i="1" dirty="0"/>
              <a:t>X’</a:t>
            </a:r>
            <a:r>
              <a:rPr lang="en-US" dirty="0"/>
              <a:t>, and apply linear regression on </a:t>
            </a:r>
            <a:r>
              <a:rPr lang="en-US" b="1" i="1" dirty="0"/>
              <a:t>X’</a:t>
            </a:r>
            <a:endParaRPr lang="en-US" dirty="0"/>
          </a:p>
          <a:p>
            <a:pPr marL="1051560" lvl="2" indent="-457200">
              <a:buFont typeface="+mj-lt"/>
              <a:buAutoNum type="arabicPeriod"/>
            </a:pPr>
            <a:r>
              <a:rPr lang="en-US" dirty="0"/>
              <a:t>Use a different but more powerful hypothesis representation</a:t>
            </a:r>
          </a:p>
          <a:p>
            <a:pPr marL="502920" indent="-457200"/>
            <a:r>
              <a:rPr lang="en-US" dirty="0">
                <a:solidFill>
                  <a:srgbClr val="FF0000"/>
                </a:solidFill>
              </a:rPr>
              <a:t>Is Linear Regression enough ?</a:t>
            </a:r>
          </a:p>
        </p:txBody>
      </p:sp>
    </p:spTree>
    <p:extLst>
      <p:ext uri="{BB962C8B-B14F-4D97-AF65-F5344CB8AC3E}">
        <p14:creationId xmlns:p14="http://schemas.microsoft.com/office/powerpoint/2010/main" val="8819228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6"/>
          <p:cNvSpPr>
            <a:spLocks noGrp="1" noChangeArrowheads="1"/>
          </p:cNvSpPr>
          <p:nvPr>
            <p:ph type="title"/>
          </p:nvPr>
        </p:nvSpPr>
        <p:spPr>
          <a:xfrm>
            <a:off x="914400" y="214290"/>
            <a:ext cx="7772400" cy="70328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Generalization Ability vs </a:t>
            </a:r>
            <a:r>
              <a:rPr lang="en-US" dirty="0" err="1"/>
              <a:t>Overfitting</a:t>
            </a:r>
            <a:endParaRPr lang="tr-TR" dirty="0"/>
          </a:p>
        </p:txBody>
      </p:sp>
      <p:sp>
        <p:nvSpPr>
          <p:cNvPr id="1126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defPPr>
              <a:defRPr lang="tr-TR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432274A5-B9D2-4812-BB3E-AF82EEF8ADFB}" type="slidenum">
              <a:rPr lang="tr-TR" smtClean="0"/>
              <a:pPr>
                <a:defRPr/>
              </a:pPr>
              <a:t>23</a:t>
            </a:fld>
            <a:endParaRPr lang="tr-TR"/>
          </a:p>
        </p:txBody>
      </p:sp>
      <p:sp>
        <p:nvSpPr>
          <p:cNvPr id="11269" name="Rectangle 7"/>
          <p:cNvSpPr>
            <a:spLocks noGrp="1" noChangeArrowheads="1"/>
          </p:cNvSpPr>
          <p:nvPr>
            <p:ph sz="quarter" idx="1"/>
          </p:nvPr>
        </p:nvSpPr>
        <p:spPr>
          <a:xfrm>
            <a:off x="142844" y="1000108"/>
            <a:ext cx="8858312" cy="5715040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/>
              <a:t>Very important issue for any machine learning algorithms.</a:t>
            </a:r>
          </a:p>
          <a:p>
            <a:pPr lvl="1"/>
            <a:r>
              <a:rPr lang="en-US" dirty="0"/>
              <a:t>Can your algorithm predict the correct target </a:t>
            </a:r>
            <a:r>
              <a:rPr lang="en-US" i="1" dirty="0"/>
              <a:t>y</a:t>
            </a:r>
            <a:r>
              <a:rPr lang="en-US" dirty="0"/>
              <a:t> of any </a:t>
            </a:r>
            <a:r>
              <a:rPr lang="en-US" dirty="0">
                <a:solidFill>
                  <a:srgbClr val="FF0000"/>
                </a:solidFill>
              </a:rPr>
              <a:t>unseen</a:t>
            </a:r>
            <a:r>
              <a:rPr lang="en-US" dirty="0"/>
              <a:t> </a:t>
            </a:r>
            <a:r>
              <a:rPr lang="en-US" b="1" i="1" dirty="0"/>
              <a:t>x</a:t>
            </a:r>
            <a:r>
              <a:rPr lang="en-US" dirty="0"/>
              <a:t> ?</a:t>
            </a:r>
          </a:p>
          <a:p>
            <a:r>
              <a:rPr lang="en-US" dirty="0"/>
              <a:t>Hypothesis may perfectly predict for all known </a:t>
            </a:r>
            <a:r>
              <a:rPr lang="en-US" b="1" i="1" dirty="0"/>
              <a:t>x</a:t>
            </a:r>
            <a:r>
              <a:rPr lang="en-US" dirty="0"/>
              <a:t>’s but not unseen </a:t>
            </a:r>
            <a:r>
              <a:rPr lang="en-US" b="1" i="1" dirty="0"/>
              <a:t>x</a:t>
            </a:r>
            <a:r>
              <a:rPr lang="en-US" dirty="0"/>
              <a:t>’s</a:t>
            </a:r>
          </a:p>
          <a:p>
            <a:pPr lvl="1"/>
            <a:r>
              <a:rPr lang="en-US" dirty="0"/>
              <a:t>This is called </a:t>
            </a:r>
            <a:r>
              <a:rPr lang="en-US" dirty="0" err="1">
                <a:solidFill>
                  <a:srgbClr val="FF0000"/>
                </a:solidFill>
              </a:rPr>
              <a:t>overfitting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Each hypothesis </a:t>
            </a:r>
            <a:r>
              <a:rPr lang="en-US" i="1" dirty="0"/>
              <a:t>h</a:t>
            </a:r>
            <a:r>
              <a:rPr lang="en-US" dirty="0"/>
              <a:t> has an </a:t>
            </a:r>
            <a:r>
              <a:rPr lang="en-US" dirty="0">
                <a:solidFill>
                  <a:srgbClr val="FF0000"/>
                </a:solidFill>
              </a:rPr>
              <a:t>unknown true error </a:t>
            </a:r>
            <a:r>
              <a:rPr lang="en-US" dirty="0"/>
              <a:t>on the universe: </a:t>
            </a:r>
            <a:r>
              <a:rPr lang="en-US" i="1" dirty="0"/>
              <a:t>J</a:t>
            </a:r>
            <a:r>
              <a:rPr lang="en-US" i="1" baseline="-25000" dirty="0"/>
              <a:t>U</a:t>
            </a:r>
            <a:r>
              <a:rPr lang="en-US" dirty="0"/>
              <a:t>(</a:t>
            </a:r>
            <a:r>
              <a:rPr lang="en-US" i="1" dirty="0"/>
              <a:t>h</a:t>
            </a:r>
            <a:r>
              <a:rPr lang="en-US" dirty="0"/>
              <a:t>)</a:t>
            </a:r>
          </a:p>
          <a:p>
            <a:r>
              <a:rPr lang="en-US" dirty="0"/>
              <a:t>But we only measured the </a:t>
            </a:r>
            <a:r>
              <a:rPr lang="en-US" dirty="0">
                <a:solidFill>
                  <a:srgbClr val="FF0000"/>
                </a:solidFill>
              </a:rPr>
              <a:t>empirical error </a:t>
            </a:r>
            <a:r>
              <a:rPr lang="en-US" dirty="0"/>
              <a:t>on the training set: </a:t>
            </a:r>
            <a:r>
              <a:rPr lang="en-US" i="1" dirty="0"/>
              <a:t>J</a:t>
            </a:r>
            <a:r>
              <a:rPr lang="en-US" i="1" baseline="-25000" dirty="0"/>
              <a:t>D</a:t>
            </a:r>
            <a:r>
              <a:rPr lang="en-US" dirty="0"/>
              <a:t>(</a:t>
            </a:r>
            <a:r>
              <a:rPr lang="en-US" i="1" dirty="0"/>
              <a:t>h</a:t>
            </a:r>
            <a:r>
              <a:rPr lang="en-US" dirty="0"/>
              <a:t>)</a:t>
            </a:r>
          </a:p>
          <a:p>
            <a:r>
              <a:rPr lang="en-US" dirty="0"/>
              <a:t>Let </a:t>
            </a:r>
            <a:r>
              <a:rPr lang="en-US" i="1" dirty="0"/>
              <a:t>h</a:t>
            </a:r>
            <a:r>
              <a:rPr lang="en-US" baseline="-25000" dirty="0"/>
              <a:t>1</a:t>
            </a:r>
            <a:r>
              <a:rPr lang="en-US" dirty="0"/>
              <a:t> and </a:t>
            </a:r>
            <a:r>
              <a:rPr lang="en-US" i="1" dirty="0"/>
              <a:t>h</a:t>
            </a:r>
            <a:r>
              <a:rPr lang="en-US" baseline="-25000" dirty="0"/>
              <a:t>2</a:t>
            </a:r>
            <a:r>
              <a:rPr lang="en-US" dirty="0"/>
              <a:t> be two hypotheses compared on training set </a:t>
            </a:r>
            <a:r>
              <a:rPr lang="en-US" i="1" dirty="0"/>
              <a:t>D</a:t>
            </a:r>
            <a:r>
              <a:rPr lang="en-US" dirty="0"/>
              <a:t>, such that we obtained the result </a:t>
            </a:r>
            <a:r>
              <a:rPr lang="en-US" i="1" dirty="0"/>
              <a:t>J</a:t>
            </a:r>
            <a:r>
              <a:rPr lang="en-US" i="1" baseline="-25000" dirty="0"/>
              <a:t>D</a:t>
            </a:r>
            <a:r>
              <a:rPr lang="en-US" dirty="0"/>
              <a:t>(</a:t>
            </a:r>
            <a:r>
              <a:rPr lang="en-US" i="1" dirty="0"/>
              <a:t>h</a:t>
            </a:r>
            <a:r>
              <a:rPr lang="en-US" baseline="-25000" dirty="0"/>
              <a:t>1</a:t>
            </a:r>
            <a:r>
              <a:rPr lang="en-US" dirty="0"/>
              <a:t>) &lt; </a:t>
            </a:r>
            <a:r>
              <a:rPr lang="en-US" i="1" dirty="0"/>
              <a:t>J</a:t>
            </a:r>
            <a:r>
              <a:rPr lang="en-US" i="1" baseline="-25000" dirty="0"/>
              <a:t>D</a:t>
            </a:r>
            <a:r>
              <a:rPr lang="en-US" dirty="0"/>
              <a:t>(</a:t>
            </a:r>
            <a:r>
              <a:rPr lang="en-US" i="1" dirty="0"/>
              <a:t>h</a:t>
            </a:r>
            <a:r>
              <a:rPr lang="en-US" baseline="-25000" dirty="0"/>
              <a:t>2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If </a:t>
            </a:r>
            <a:r>
              <a:rPr lang="en-US" i="1" dirty="0"/>
              <a:t>h</a:t>
            </a:r>
            <a:r>
              <a:rPr lang="en-US" baseline="-25000" dirty="0"/>
              <a:t>2</a:t>
            </a:r>
            <a:r>
              <a:rPr lang="en-US" dirty="0"/>
              <a:t> is “</a:t>
            </a:r>
            <a:r>
              <a:rPr lang="en-US" i="1" dirty="0"/>
              <a:t>truly</a:t>
            </a:r>
            <a:r>
              <a:rPr lang="en-US" dirty="0"/>
              <a:t>” better, that is </a:t>
            </a:r>
            <a:r>
              <a:rPr lang="en-US" i="1" dirty="0"/>
              <a:t>J</a:t>
            </a:r>
            <a:r>
              <a:rPr lang="en-US" i="1" baseline="-25000" dirty="0"/>
              <a:t>U</a:t>
            </a:r>
            <a:r>
              <a:rPr lang="en-US" dirty="0"/>
              <a:t>(</a:t>
            </a:r>
            <a:r>
              <a:rPr lang="en-US" i="1" dirty="0"/>
              <a:t>h</a:t>
            </a:r>
            <a:r>
              <a:rPr lang="en-US" baseline="-25000" dirty="0"/>
              <a:t>2</a:t>
            </a:r>
            <a:r>
              <a:rPr lang="en-US" dirty="0"/>
              <a:t>) &lt; </a:t>
            </a:r>
            <a:r>
              <a:rPr lang="en-US" i="1" dirty="0"/>
              <a:t>J</a:t>
            </a:r>
            <a:r>
              <a:rPr lang="en-US" i="1" baseline="-25000" dirty="0"/>
              <a:t>U</a:t>
            </a:r>
            <a:r>
              <a:rPr lang="en-US" dirty="0"/>
              <a:t>(</a:t>
            </a:r>
            <a:r>
              <a:rPr lang="en-US" i="1" dirty="0"/>
              <a:t>h</a:t>
            </a:r>
            <a:r>
              <a:rPr lang="en-US" baseline="-25000" dirty="0"/>
              <a:t>1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Then your algorithm is </a:t>
            </a:r>
            <a:r>
              <a:rPr lang="en-US" dirty="0" err="1"/>
              <a:t>overfitting</a:t>
            </a:r>
            <a:r>
              <a:rPr lang="en-US" dirty="0"/>
              <a:t>, and won’t generalize to unseen data</a:t>
            </a:r>
          </a:p>
          <a:p>
            <a:pPr lvl="1"/>
            <a:r>
              <a:rPr lang="en-US" dirty="0"/>
              <a:t>We are not interested in </a:t>
            </a:r>
            <a:r>
              <a:rPr lang="en-US" dirty="0">
                <a:solidFill>
                  <a:srgbClr val="FF0000"/>
                </a:solidFill>
              </a:rPr>
              <a:t>memorizing</a:t>
            </a:r>
            <a:r>
              <a:rPr lang="en-US" dirty="0"/>
              <a:t> the training set</a:t>
            </a:r>
          </a:p>
          <a:p>
            <a:pPr lvl="2"/>
            <a:r>
              <a:rPr lang="en-US" dirty="0"/>
              <a:t>In our examples, highest degree </a:t>
            </a:r>
            <a:r>
              <a:rPr lang="en-US" i="1" dirty="0"/>
              <a:t>d</a:t>
            </a:r>
            <a:r>
              <a:rPr lang="en-US" dirty="0"/>
              <a:t> hypotheses </a:t>
            </a:r>
            <a:r>
              <a:rPr lang="en-US" dirty="0" err="1"/>
              <a:t>overfit</a:t>
            </a:r>
            <a:r>
              <a:rPr lang="en-US" dirty="0"/>
              <a:t> (i.e. memorize) the data</a:t>
            </a:r>
          </a:p>
          <a:p>
            <a:r>
              <a:rPr lang="en-US" dirty="0"/>
              <a:t>We need methods to overcome </a:t>
            </a:r>
            <a:r>
              <a:rPr lang="en-US" dirty="0" err="1"/>
              <a:t>overfitting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6645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6"/>
          <p:cNvSpPr>
            <a:spLocks noGrp="1" noChangeArrowheads="1"/>
          </p:cNvSpPr>
          <p:nvPr>
            <p:ph type="title"/>
          </p:nvPr>
        </p:nvSpPr>
        <p:spPr>
          <a:xfrm>
            <a:off x="914400" y="214290"/>
            <a:ext cx="7772400" cy="70328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 err="1"/>
              <a:t>Overfitting</a:t>
            </a:r>
            <a:endParaRPr lang="tr-TR" dirty="0"/>
          </a:p>
        </p:txBody>
      </p:sp>
      <p:sp>
        <p:nvSpPr>
          <p:cNvPr id="1126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defPPr>
              <a:defRPr lang="tr-TR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432274A5-B9D2-4812-BB3E-AF82EEF8ADFB}" type="slidenum">
              <a:rPr lang="tr-TR" smtClean="0"/>
              <a:pPr>
                <a:defRPr/>
              </a:pPr>
              <a:t>24</a:t>
            </a:fld>
            <a:endParaRPr lang="tr-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69" name="Rectangle 7"/>
              <p:cNvSpPr>
                <a:spLocks noGrp="1" noChangeArrowheads="1"/>
              </p:cNvSpPr>
              <p:nvPr>
                <p:ph sz="quarter" idx="1"/>
              </p:nvPr>
            </p:nvSpPr>
            <p:spPr>
              <a:xfrm>
                <a:off x="142844" y="1000108"/>
                <a:ext cx="8858312" cy="5715040"/>
              </a:xfrm>
            </p:spPr>
            <p:txBody>
              <a:bodyPr>
                <a:normAutofit/>
              </a:bodyPr>
              <a:lstStyle/>
              <a:p>
                <a:pPr eaLnBrk="1" hangingPunct="1"/>
                <a:r>
                  <a:rPr lang="en-US" dirty="0"/>
                  <a:t>We have </a:t>
                </a:r>
                <a:r>
                  <a:rPr lang="en-US" dirty="0" err="1"/>
                  <a:t>overfitting</a:t>
                </a:r>
                <a:r>
                  <a:rPr lang="en-US" dirty="0"/>
                  <a:t> when hypothesis </a:t>
                </a:r>
                <a:r>
                  <a:rPr lang="en-US" i="1" dirty="0"/>
                  <a:t>h</a:t>
                </a:r>
                <a:r>
                  <a:rPr lang="en-US" dirty="0"/>
                  <a:t> is more complex than the data</a:t>
                </a:r>
              </a:p>
              <a:p>
                <a:pPr lvl="1"/>
                <a:r>
                  <a:rPr lang="en-US" dirty="0"/>
                  <a:t>Complexity of </a:t>
                </a:r>
                <a:r>
                  <a:rPr lang="en-US" i="1" dirty="0"/>
                  <a:t>h</a:t>
                </a:r>
                <a:r>
                  <a:rPr lang="en-US" dirty="0"/>
                  <a:t> = number of parameters in </a:t>
                </a:r>
                <a:r>
                  <a:rPr lang="en-US" i="1" dirty="0"/>
                  <a:t>h</a:t>
                </a:r>
                <a:endParaRPr lang="en-US" dirty="0"/>
              </a:p>
              <a:p>
                <a:pPr lvl="2"/>
                <a:r>
                  <a:rPr lang="en-US" dirty="0"/>
                  <a:t>Number of weight parameters in our example increases with degree </a:t>
                </a:r>
                <a:r>
                  <a:rPr lang="en-US" i="1" dirty="0"/>
                  <a:t>d</a:t>
                </a:r>
                <a:endParaRPr lang="en-US" dirty="0"/>
              </a:p>
              <a:p>
                <a:r>
                  <a:rPr lang="en-US" dirty="0" err="1"/>
                  <a:t>Overfitting</a:t>
                </a:r>
                <a:r>
                  <a:rPr lang="en-US" dirty="0"/>
                  <a:t> = low error on training data but high error on unseen data</a:t>
                </a:r>
              </a:p>
              <a:p>
                <a:r>
                  <a:rPr lang="en-US" dirty="0"/>
                  <a:t>Assume </a:t>
                </a:r>
                <a:r>
                  <a:rPr lang="en-US" i="1" dirty="0"/>
                  <a:t>D</a:t>
                </a:r>
                <a:r>
                  <a:rPr lang="en-US" dirty="0"/>
                  <a:t> is drawn from some unknown probability distribution</a:t>
                </a:r>
              </a:p>
              <a:p>
                <a:pPr eaLnBrk="1" hangingPunct="1"/>
                <a:r>
                  <a:rPr lang="en-US" dirty="0"/>
                  <a:t>Given the universe </a:t>
                </a:r>
                <a:r>
                  <a:rPr lang="en-US" i="1" dirty="0"/>
                  <a:t>U</a:t>
                </a:r>
                <a:r>
                  <a:rPr lang="en-US" dirty="0"/>
                  <a:t> of data, we want to learn a hypothesis </a:t>
                </a:r>
                <a:r>
                  <a:rPr lang="en-US" i="1" dirty="0"/>
                  <a:t>h</a:t>
                </a:r>
                <a:r>
                  <a:rPr lang="en-US" dirty="0"/>
                  <a:t> from the training 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𝐷</m:t>
                    </m:r>
                    <m:r>
                      <a:rPr lang="en-US" b="0" i="1" smtClean="0">
                        <a:latin typeface="Cambria Math"/>
                      </a:rPr>
                      <m:t>⊂</m:t>
                    </m:r>
                    <m:r>
                      <a:rPr lang="en-US" b="0" i="1" smtClean="0">
                        <a:latin typeface="Cambria Math"/>
                      </a:rPr>
                      <m:t>𝑈</m:t>
                    </m:r>
                  </m:oMath>
                </a14:m>
                <a:r>
                  <a:rPr lang="en-US" dirty="0"/>
                  <a:t> minimizing the error on unseen data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𝑈</m:t>
                    </m:r>
                    <m:r>
                      <a:rPr lang="en-US" b="0" i="1" smtClean="0">
                        <a:latin typeface="Cambria Math"/>
                      </a:rPr>
                      <m:t>∖</m:t>
                    </m:r>
                    <m:r>
                      <a:rPr lang="en-US" b="0" i="1" smtClean="0">
                        <a:latin typeface="Cambria Math"/>
                      </a:rPr>
                      <m:t>𝐷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 algn="just"/>
                <a:r>
                  <a:rPr lang="en-US" dirty="0"/>
                  <a:t>Every </a:t>
                </a:r>
                <a:r>
                  <a:rPr lang="en-US" i="1" dirty="0"/>
                  <a:t>h</a:t>
                </a:r>
                <a:r>
                  <a:rPr lang="en-US" dirty="0"/>
                  <a:t> has a true error </a:t>
                </a:r>
                <a:r>
                  <a:rPr lang="en-US" i="1" dirty="0"/>
                  <a:t>J</a:t>
                </a:r>
                <a:r>
                  <a:rPr lang="en-US" i="1" baseline="-25000" dirty="0"/>
                  <a:t>U</a:t>
                </a:r>
                <a:r>
                  <a:rPr lang="en-US" i="1" dirty="0"/>
                  <a:t>(h</a:t>
                </a:r>
                <a:r>
                  <a:rPr lang="en-US" dirty="0"/>
                  <a:t>) on </a:t>
                </a:r>
                <a:r>
                  <a:rPr lang="en-US" i="1" dirty="0"/>
                  <a:t>U</a:t>
                </a:r>
                <a:r>
                  <a:rPr lang="en-US" dirty="0"/>
                  <a:t>, which is the expected error when the data is drawn from the distribution</a:t>
                </a:r>
              </a:p>
              <a:p>
                <a:pPr lvl="1"/>
                <a:r>
                  <a:rPr lang="en-US" dirty="0"/>
                  <a:t>We can only measure the empirical error </a:t>
                </a:r>
                <a:r>
                  <a:rPr lang="en-US" i="1" dirty="0"/>
                  <a:t>J</a:t>
                </a:r>
                <a:r>
                  <a:rPr lang="en-US" i="1" baseline="-25000" dirty="0"/>
                  <a:t>D</a:t>
                </a:r>
                <a:r>
                  <a:rPr lang="en-US" i="1" dirty="0"/>
                  <a:t>(h)</a:t>
                </a:r>
                <a:r>
                  <a:rPr lang="en-US" dirty="0"/>
                  <a:t> on </a:t>
                </a:r>
                <a:r>
                  <a:rPr lang="en-US" i="1" dirty="0"/>
                  <a:t>D</a:t>
                </a:r>
                <a:r>
                  <a:rPr lang="en-US" dirty="0"/>
                  <a:t>; we do not have </a:t>
                </a:r>
                <a:r>
                  <a:rPr lang="en-US" i="1" dirty="0"/>
                  <a:t>U</a:t>
                </a:r>
                <a:endParaRPr lang="en-US" dirty="0"/>
              </a:p>
              <a:p>
                <a:pPr lvl="1"/>
                <a:r>
                  <a:rPr lang="en-US" dirty="0"/>
                  <a:t>Then… How can we estimate the error </a:t>
                </a:r>
                <a:r>
                  <a:rPr lang="en-US" i="1" dirty="0"/>
                  <a:t>J</a:t>
                </a:r>
                <a:r>
                  <a:rPr lang="en-US" i="1" baseline="-25000" dirty="0"/>
                  <a:t>U</a:t>
                </a:r>
                <a:r>
                  <a:rPr lang="en-US" i="1" dirty="0"/>
                  <a:t>(h</a:t>
                </a:r>
                <a:r>
                  <a:rPr lang="en-US" dirty="0"/>
                  <a:t>) from </a:t>
                </a:r>
                <a:r>
                  <a:rPr lang="en-US" i="1" dirty="0"/>
                  <a:t>D</a:t>
                </a:r>
                <a:r>
                  <a:rPr lang="en-US" dirty="0"/>
                  <a:t>?</a:t>
                </a:r>
              </a:p>
              <a:p>
                <a:pPr lvl="2"/>
                <a:r>
                  <a:rPr lang="en-US" dirty="0"/>
                  <a:t>Apply a </a:t>
                </a:r>
                <a:r>
                  <a:rPr lang="en-US" dirty="0">
                    <a:solidFill>
                      <a:srgbClr val="FF0000"/>
                    </a:solidFill>
                  </a:rPr>
                  <a:t>cross-validation</a:t>
                </a:r>
                <a:r>
                  <a:rPr lang="en-US" dirty="0"/>
                  <a:t> method during </a:t>
                </a:r>
                <a:r>
                  <a:rPr lang="en-US" i="1" dirty="0"/>
                  <a:t>D</a:t>
                </a:r>
                <a:endParaRPr lang="en-US" dirty="0"/>
              </a:p>
              <a:p>
                <a:pPr lvl="2"/>
                <a:r>
                  <a:rPr lang="en-US" dirty="0"/>
                  <a:t>Determining best hypothesis </a:t>
                </a:r>
                <a:r>
                  <a:rPr lang="en-US" i="1" dirty="0"/>
                  <a:t>h</a:t>
                </a:r>
                <a:r>
                  <a:rPr lang="en-US" dirty="0"/>
                  <a:t> which generalizes best is called </a:t>
                </a:r>
                <a:r>
                  <a:rPr lang="en-US" dirty="0">
                    <a:solidFill>
                      <a:srgbClr val="FF0000"/>
                    </a:solidFill>
                  </a:rPr>
                  <a:t>model selection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11269" name="Rectangle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42844" y="1000108"/>
                <a:ext cx="8858312" cy="5715040"/>
              </a:xfrm>
              <a:blipFill rotWithShape="1">
                <a:blip r:embed="rId3"/>
                <a:stretch>
                  <a:fillRect l="-619" t="-853" r="-17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40131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6"/>
          <p:cNvSpPr>
            <a:spLocks noGrp="1" noChangeArrowheads="1"/>
          </p:cNvSpPr>
          <p:nvPr>
            <p:ph type="title"/>
          </p:nvPr>
        </p:nvSpPr>
        <p:spPr>
          <a:xfrm>
            <a:off x="914400" y="214290"/>
            <a:ext cx="7772400" cy="70328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Avoiding Overfitting</a:t>
            </a:r>
            <a:endParaRPr lang="tr-TR" dirty="0"/>
          </a:p>
        </p:txBody>
      </p:sp>
      <p:sp>
        <p:nvSpPr>
          <p:cNvPr id="1126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defPPr>
              <a:defRPr lang="tr-TR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432274A5-B9D2-4812-BB3E-AF82EEF8ADFB}" type="slidenum">
              <a:rPr lang="tr-TR" smtClean="0"/>
              <a:pPr>
                <a:defRPr/>
              </a:pPr>
              <a:t>25</a:t>
            </a:fld>
            <a:endParaRPr lang="tr-TR"/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sz="quarter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980728"/>
            <a:ext cx="3312368" cy="2443550"/>
          </a:xfrm>
          <a:ln>
            <a:solidFill>
              <a:schemeClr val="tx1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3707904" y="980728"/>
            <a:ext cx="525658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Red curve = Test set</a:t>
            </a:r>
            <a:endParaRPr lang="en-US" sz="2800" dirty="0">
              <a:solidFill>
                <a:srgbClr val="3333FF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FF"/>
                </a:solidFill>
              </a:rPr>
              <a:t>Blue curve = Training set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What is the best </a:t>
            </a:r>
            <a:r>
              <a:rPr lang="en-US" sz="2800" i="1" dirty="0"/>
              <a:t>h?</a:t>
            </a:r>
            <a:endParaRPr lang="en-US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Find the degree </a:t>
            </a:r>
            <a:r>
              <a:rPr lang="en-US" sz="2800" i="1" dirty="0"/>
              <a:t>d</a:t>
            </a:r>
            <a:endParaRPr lang="en-US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Such that </a:t>
            </a:r>
            <a:r>
              <a:rPr lang="en-US" sz="2800" i="1" dirty="0"/>
              <a:t>J</a:t>
            </a:r>
            <a:r>
              <a:rPr lang="en-US" sz="2800" i="1" baseline="-25000" dirty="0">
                <a:solidFill>
                  <a:srgbClr val="FF0000"/>
                </a:solidFill>
              </a:rPr>
              <a:t>T</a:t>
            </a:r>
            <a:r>
              <a:rPr lang="en-US" sz="2800" dirty="0"/>
              <a:t>(</a:t>
            </a:r>
            <a:r>
              <a:rPr lang="en-US" sz="2800" i="1" dirty="0"/>
              <a:t>h</a:t>
            </a:r>
            <a:r>
              <a:rPr lang="en-US" sz="2800" dirty="0"/>
              <a:t>) minimal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520" y="3620656"/>
            <a:ext cx="871296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Training error decreases with complexity of </a:t>
            </a:r>
            <a:r>
              <a:rPr lang="en-US" sz="2800" i="1" dirty="0"/>
              <a:t>h</a:t>
            </a:r>
            <a:r>
              <a:rPr lang="en-US" sz="2800" dirty="0"/>
              <a:t>; degree </a:t>
            </a:r>
            <a:r>
              <a:rPr lang="en-US" sz="2800" i="1" dirty="0"/>
              <a:t>d</a:t>
            </a:r>
            <a:r>
              <a:rPr lang="en-US" sz="2800" dirty="0"/>
              <a:t> in our example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Testing error decreases initially then increases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We need three </a:t>
            </a:r>
            <a:r>
              <a:rPr lang="en-US" sz="2800" b="1" i="1" u="sng" dirty="0"/>
              <a:t>disjoint</a:t>
            </a:r>
            <a:r>
              <a:rPr lang="en-US" sz="2800" dirty="0"/>
              <a:t> sets of data </a:t>
            </a:r>
            <a:r>
              <a:rPr lang="en-US" sz="2800" i="1" dirty="0"/>
              <a:t>T</a:t>
            </a:r>
            <a:r>
              <a:rPr lang="en-US" sz="2800" dirty="0"/>
              <a:t>,</a:t>
            </a:r>
            <a:r>
              <a:rPr lang="en-US" sz="2800" i="1" dirty="0"/>
              <a:t> V</a:t>
            </a:r>
            <a:r>
              <a:rPr lang="en-US" sz="2800" dirty="0"/>
              <a:t>,</a:t>
            </a:r>
            <a:r>
              <a:rPr lang="en-US" sz="2800" i="1" dirty="0"/>
              <a:t> U</a:t>
            </a:r>
            <a:r>
              <a:rPr lang="en-US" sz="2800" dirty="0"/>
              <a:t> of </a:t>
            </a:r>
            <a:r>
              <a:rPr lang="en-US" sz="2800" i="1" dirty="0"/>
              <a:t>D</a:t>
            </a:r>
            <a:endParaRPr lang="en-US" sz="28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Learn a potential </a:t>
            </a:r>
            <a:r>
              <a:rPr lang="en-US" sz="2800" i="1" dirty="0"/>
              <a:t>h</a:t>
            </a:r>
            <a:r>
              <a:rPr lang="en-US" sz="2800" dirty="0"/>
              <a:t> using the </a:t>
            </a:r>
            <a:r>
              <a:rPr lang="en-US" sz="2800" dirty="0">
                <a:solidFill>
                  <a:srgbClr val="3333FF"/>
                </a:solidFill>
              </a:rPr>
              <a:t>training set </a:t>
            </a:r>
            <a:r>
              <a:rPr lang="en-US" sz="2800" i="1" dirty="0">
                <a:solidFill>
                  <a:srgbClr val="3333FF"/>
                </a:solidFill>
              </a:rPr>
              <a:t>T</a:t>
            </a:r>
            <a:endParaRPr lang="en-US" sz="2800" dirty="0">
              <a:solidFill>
                <a:srgbClr val="3333FF"/>
              </a:solidFill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Estimate error of </a:t>
            </a:r>
            <a:r>
              <a:rPr lang="en-US" sz="2800" i="1" dirty="0"/>
              <a:t>h</a:t>
            </a:r>
            <a:r>
              <a:rPr lang="en-US" sz="2800" dirty="0"/>
              <a:t> using the </a:t>
            </a:r>
            <a:r>
              <a:rPr lang="en-US" sz="2800" dirty="0">
                <a:solidFill>
                  <a:srgbClr val="00B050"/>
                </a:solidFill>
              </a:rPr>
              <a:t>validation set </a:t>
            </a:r>
            <a:r>
              <a:rPr lang="en-US" sz="2800" i="1" dirty="0">
                <a:solidFill>
                  <a:srgbClr val="00B050"/>
                </a:solidFill>
              </a:rPr>
              <a:t>V</a:t>
            </a:r>
            <a:endParaRPr lang="en-US" sz="2800" dirty="0">
              <a:solidFill>
                <a:srgbClr val="00B050"/>
              </a:solidFill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Report unbiased </a:t>
            </a:r>
            <a:r>
              <a:rPr lang="en-US" sz="2800" i="1" dirty="0"/>
              <a:t>h</a:t>
            </a:r>
            <a:r>
              <a:rPr lang="en-US" sz="2800" dirty="0"/>
              <a:t> using the </a:t>
            </a:r>
            <a:r>
              <a:rPr lang="en-US" sz="2800" dirty="0">
                <a:solidFill>
                  <a:srgbClr val="FF0000"/>
                </a:solidFill>
              </a:rPr>
              <a:t>test set </a:t>
            </a:r>
            <a:r>
              <a:rPr lang="en-US" sz="2800" i="1" dirty="0">
                <a:solidFill>
                  <a:srgbClr val="FF0000"/>
                </a:solidFill>
              </a:rPr>
              <a:t>U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643635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6"/>
          <p:cNvSpPr>
            <a:spLocks noGrp="1" noChangeArrowheads="1"/>
          </p:cNvSpPr>
          <p:nvPr>
            <p:ph type="title"/>
          </p:nvPr>
        </p:nvSpPr>
        <p:spPr>
          <a:xfrm>
            <a:off x="914400" y="214290"/>
            <a:ext cx="7772400" cy="70328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Cross-Validation</a:t>
            </a:r>
            <a:endParaRPr lang="tr-TR" dirty="0"/>
          </a:p>
        </p:txBody>
      </p:sp>
      <p:sp>
        <p:nvSpPr>
          <p:cNvPr id="1126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defPPr>
              <a:defRPr lang="tr-TR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432274A5-B9D2-4812-BB3E-AF82EEF8ADFB}" type="slidenum">
              <a:rPr lang="tr-TR" smtClean="0"/>
              <a:pPr>
                <a:defRPr/>
              </a:pPr>
              <a:t>26</a:t>
            </a:fld>
            <a:endParaRPr lang="tr-TR"/>
          </a:p>
        </p:txBody>
      </p:sp>
      <p:sp>
        <p:nvSpPr>
          <p:cNvPr id="11269" name="Rectangle 7"/>
          <p:cNvSpPr>
            <a:spLocks noGrp="1" noChangeArrowheads="1"/>
          </p:cNvSpPr>
          <p:nvPr>
            <p:ph sz="quarter" idx="1"/>
          </p:nvPr>
        </p:nvSpPr>
        <p:spPr>
          <a:xfrm>
            <a:off x="142844" y="1000108"/>
            <a:ext cx="8858312" cy="5715040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/>
              <a:t>General procedure for estimating the true error of a learner.</a:t>
            </a:r>
          </a:p>
          <a:p>
            <a:pPr eaLnBrk="1" hangingPunct="1"/>
            <a:endParaRPr lang="en-US" dirty="0"/>
          </a:p>
          <a:p>
            <a:r>
              <a:rPr lang="en-US" dirty="0"/>
              <a:t>Randomly partition the data into three subsets: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pPr marL="777240" lvl="1" indent="-4572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Training Set </a:t>
            </a:r>
            <a:r>
              <a:rPr lang="en-US" i="1" dirty="0">
                <a:solidFill>
                  <a:srgbClr val="FF0000"/>
                </a:solidFill>
              </a:rPr>
              <a:t>T</a:t>
            </a:r>
            <a:r>
              <a:rPr lang="en-US" dirty="0"/>
              <a:t>: used only to find the parameters of classifier, e.g. </a:t>
            </a:r>
            <a:r>
              <a:rPr lang="en-US" b="1" i="1" dirty="0"/>
              <a:t>w</a:t>
            </a:r>
            <a:r>
              <a:rPr lang="en-US" dirty="0"/>
              <a:t>.</a:t>
            </a:r>
          </a:p>
          <a:p>
            <a:pPr marL="777240" lvl="1" indent="-4572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Validation Set </a:t>
            </a:r>
            <a:r>
              <a:rPr lang="en-US" i="1" dirty="0">
                <a:solidFill>
                  <a:srgbClr val="FF0000"/>
                </a:solidFill>
              </a:rPr>
              <a:t>V</a:t>
            </a:r>
            <a:r>
              <a:rPr lang="en-US" dirty="0"/>
              <a:t>: used to find the correct hypothesis class, e.g. </a:t>
            </a:r>
            <a:r>
              <a:rPr lang="en-US" i="1" dirty="0"/>
              <a:t>d</a:t>
            </a:r>
            <a:r>
              <a:rPr lang="en-US" dirty="0"/>
              <a:t>.</a:t>
            </a:r>
          </a:p>
          <a:p>
            <a:pPr marL="777240" lvl="1" indent="-4572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Test Set </a:t>
            </a:r>
            <a:r>
              <a:rPr lang="en-US" i="1" dirty="0">
                <a:solidFill>
                  <a:srgbClr val="FF0000"/>
                </a:solidFill>
              </a:rPr>
              <a:t>U</a:t>
            </a:r>
            <a:r>
              <a:rPr lang="en-US" dirty="0"/>
              <a:t>: used to estimate the true error of your algorithm</a:t>
            </a:r>
          </a:p>
          <a:p>
            <a:endParaRPr lang="en-US" dirty="0"/>
          </a:p>
          <a:p>
            <a:r>
              <a:rPr lang="en-US" dirty="0"/>
              <a:t>These three sets </a:t>
            </a:r>
            <a:r>
              <a:rPr lang="en-US" dirty="0">
                <a:solidFill>
                  <a:srgbClr val="FF0000"/>
                </a:solidFill>
              </a:rPr>
              <a:t>do not intersect</a:t>
            </a:r>
            <a:r>
              <a:rPr lang="en-US" dirty="0"/>
              <a:t>, i.e. they are disjoint</a:t>
            </a:r>
          </a:p>
          <a:p>
            <a:r>
              <a:rPr lang="en-US" dirty="0"/>
              <a:t>Repeat cross-validation many times</a:t>
            </a:r>
          </a:p>
          <a:p>
            <a:r>
              <a:rPr lang="en-US" dirty="0"/>
              <a:t>Results are averaged to give true error estimate.</a:t>
            </a:r>
          </a:p>
        </p:txBody>
      </p:sp>
    </p:spTree>
    <p:extLst>
      <p:ext uri="{BB962C8B-B14F-4D97-AF65-F5344CB8AC3E}">
        <p14:creationId xmlns:p14="http://schemas.microsoft.com/office/powerpoint/2010/main" val="29194731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6"/>
          <p:cNvSpPr>
            <a:spLocks noGrp="1" noChangeArrowheads="1"/>
          </p:cNvSpPr>
          <p:nvPr>
            <p:ph type="title"/>
          </p:nvPr>
        </p:nvSpPr>
        <p:spPr>
          <a:xfrm>
            <a:off x="914400" y="214290"/>
            <a:ext cx="7772400" cy="70328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Cross-Validation and Model Selection</a:t>
            </a:r>
            <a:endParaRPr lang="tr-TR" dirty="0"/>
          </a:p>
        </p:txBody>
      </p:sp>
      <p:sp>
        <p:nvSpPr>
          <p:cNvPr id="1126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defPPr>
              <a:defRPr lang="tr-TR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432274A5-B9D2-4812-BB3E-AF82EEF8ADFB}" type="slidenum">
              <a:rPr lang="tr-TR" smtClean="0"/>
              <a:pPr>
                <a:defRPr/>
              </a:pPr>
              <a:t>27</a:t>
            </a:fld>
            <a:endParaRPr lang="tr-TR"/>
          </a:p>
        </p:txBody>
      </p:sp>
      <p:sp>
        <p:nvSpPr>
          <p:cNvPr id="11269" name="Rectangle 7"/>
          <p:cNvSpPr>
            <a:spLocks noGrp="1" noChangeArrowheads="1"/>
          </p:cNvSpPr>
          <p:nvPr>
            <p:ph sz="quarter" idx="1"/>
          </p:nvPr>
        </p:nvSpPr>
        <p:spPr>
          <a:xfrm>
            <a:off x="142844" y="1000108"/>
            <a:ext cx="8858312" cy="5715040"/>
          </a:xfrm>
        </p:spPr>
        <p:txBody>
          <a:bodyPr>
            <a:noAutofit/>
          </a:bodyPr>
          <a:lstStyle/>
          <a:p>
            <a:pPr eaLnBrk="1" hangingPunct="1"/>
            <a:r>
              <a:rPr lang="en-US" sz="2800" dirty="0"/>
              <a:t>How to find the best degree </a:t>
            </a:r>
            <a:r>
              <a:rPr lang="en-US" sz="2800" i="1" dirty="0"/>
              <a:t>d</a:t>
            </a:r>
            <a:r>
              <a:rPr lang="en-US" sz="2800" dirty="0"/>
              <a:t> which fits the data </a:t>
            </a:r>
            <a:r>
              <a:rPr lang="en-US" sz="2800" i="1" dirty="0"/>
              <a:t>D</a:t>
            </a:r>
            <a:r>
              <a:rPr lang="en-US" sz="2800" dirty="0"/>
              <a:t> the best?</a:t>
            </a:r>
          </a:p>
          <a:p>
            <a:pPr eaLnBrk="1" hangingPunct="1"/>
            <a:r>
              <a:rPr lang="en-US" sz="2800" dirty="0"/>
              <a:t>Randomly partition the available data </a:t>
            </a:r>
            <a:r>
              <a:rPr lang="en-US" sz="2800" i="1" dirty="0"/>
              <a:t>D</a:t>
            </a:r>
            <a:r>
              <a:rPr lang="en-US" sz="2800" dirty="0"/>
              <a:t> into three </a:t>
            </a:r>
            <a:r>
              <a:rPr lang="en-US" sz="2800" b="1" i="1" u="sng" dirty="0"/>
              <a:t>disjoint</a:t>
            </a:r>
            <a:r>
              <a:rPr lang="en-US" sz="2800" dirty="0"/>
              <a:t> sets; training set </a:t>
            </a:r>
            <a:r>
              <a:rPr lang="en-US" sz="2800" i="1" dirty="0">
                <a:solidFill>
                  <a:srgbClr val="3333FF"/>
                </a:solidFill>
              </a:rPr>
              <a:t>T</a:t>
            </a:r>
            <a:r>
              <a:rPr lang="en-US" sz="2800" dirty="0"/>
              <a:t>, validation set </a:t>
            </a:r>
            <a:r>
              <a:rPr lang="en-US" sz="2800" i="1" dirty="0">
                <a:solidFill>
                  <a:srgbClr val="00B050"/>
                </a:solidFill>
              </a:rPr>
              <a:t>V</a:t>
            </a:r>
            <a:r>
              <a:rPr lang="en-US" sz="2800" dirty="0"/>
              <a:t>, and test set </a:t>
            </a:r>
            <a:r>
              <a:rPr lang="en-US" sz="2800" i="1" dirty="0">
                <a:solidFill>
                  <a:srgbClr val="FF0000"/>
                </a:solidFill>
              </a:rPr>
              <a:t>U</a:t>
            </a:r>
            <a:r>
              <a:rPr lang="en-US" sz="2800" dirty="0"/>
              <a:t>, then:</a:t>
            </a:r>
          </a:p>
          <a:p>
            <a:pPr marL="1154430" lvl="1" indent="-514350">
              <a:buFont typeface="+mj-lt"/>
              <a:buAutoNum type="arabicPeriod"/>
            </a:pPr>
            <a:r>
              <a:rPr lang="en-US" sz="2800" dirty="0"/>
              <a:t>Cross-validation: For each degree </a:t>
            </a:r>
            <a:r>
              <a:rPr lang="en-US" sz="2800" i="1" dirty="0"/>
              <a:t>d</a:t>
            </a:r>
            <a:r>
              <a:rPr lang="en-US" sz="2800" dirty="0"/>
              <a:t>, perform a cross-validation method using </a:t>
            </a:r>
            <a:r>
              <a:rPr lang="en-US" sz="2800" i="1" dirty="0">
                <a:solidFill>
                  <a:srgbClr val="3333FF"/>
                </a:solidFill>
              </a:rPr>
              <a:t>T</a:t>
            </a:r>
            <a:r>
              <a:rPr lang="en-US" sz="2800" dirty="0">
                <a:solidFill>
                  <a:srgbClr val="3333FF"/>
                </a:solidFill>
              </a:rPr>
              <a:t> </a:t>
            </a:r>
            <a:r>
              <a:rPr lang="en-US" sz="2800" dirty="0"/>
              <a:t>and </a:t>
            </a:r>
            <a:r>
              <a:rPr lang="en-US" sz="2800" i="1" dirty="0">
                <a:solidFill>
                  <a:srgbClr val="00B050"/>
                </a:solidFill>
              </a:rPr>
              <a:t>V</a:t>
            </a:r>
            <a:r>
              <a:rPr lang="en-US" sz="2800" dirty="0"/>
              <a:t> sets for evaluating the </a:t>
            </a:r>
            <a:r>
              <a:rPr lang="en-US" sz="2800" i="1" dirty="0">
                <a:solidFill>
                  <a:srgbClr val="FF0000"/>
                </a:solidFill>
              </a:rPr>
              <a:t>goodness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of </a:t>
            </a:r>
            <a:r>
              <a:rPr lang="en-US" sz="2800" i="1" dirty="0"/>
              <a:t>d</a:t>
            </a:r>
            <a:r>
              <a:rPr lang="en-US" sz="2800" dirty="0"/>
              <a:t>.</a:t>
            </a:r>
          </a:p>
          <a:p>
            <a:pPr marL="1703070" lvl="3" indent="-514350"/>
            <a:r>
              <a:rPr lang="en-US" dirty="0"/>
              <a:t>Some cross-validation techniques to be discussed later</a:t>
            </a:r>
          </a:p>
          <a:p>
            <a:pPr marL="1154430" lvl="1" indent="-514350">
              <a:buFont typeface="+mj-lt"/>
              <a:buAutoNum type="arabicPeriod"/>
            </a:pPr>
            <a:r>
              <a:rPr lang="en-US" sz="2800" dirty="0"/>
              <a:t>Model Selection: Given the best </a:t>
            </a:r>
            <a:r>
              <a:rPr lang="en-US" sz="2800" i="1" dirty="0"/>
              <a:t>d</a:t>
            </a:r>
            <a:r>
              <a:rPr lang="en-US" sz="2800" dirty="0"/>
              <a:t> found in step 1, find </a:t>
            </a:r>
            <a:r>
              <a:rPr lang="en-US" sz="2800" i="1" dirty="0" err="1"/>
              <a:t>h</a:t>
            </a:r>
            <a:r>
              <a:rPr lang="en-US" sz="2800" b="1" i="1" baseline="-25000" dirty="0" err="1"/>
              <a:t>w</a:t>
            </a:r>
            <a:r>
              <a:rPr lang="en-US" sz="2800" i="1" baseline="-25000" dirty="0" err="1"/>
              <a:t>,d</a:t>
            </a:r>
            <a:r>
              <a:rPr lang="en-US" sz="2800" dirty="0"/>
              <a:t>  using </a:t>
            </a:r>
            <a:r>
              <a:rPr lang="en-US" sz="2800" i="1" dirty="0">
                <a:solidFill>
                  <a:srgbClr val="3333FF"/>
                </a:solidFill>
              </a:rPr>
              <a:t>T</a:t>
            </a:r>
            <a:r>
              <a:rPr lang="en-US" sz="2800" dirty="0">
                <a:solidFill>
                  <a:srgbClr val="3333FF"/>
                </a:solidFill>
              </a:rPr>
              <a:t> </a:t>
            </a:r>
            <a:r>
              <a:rPr lang="en-US" sz="2800" dirty="0"/>
              <a:t>and </a:t>
            </a:r>
            <a:r>
              <a:rPr lang="en-US" sz="2800" i="1" dirty="0">
                <a:solidFill>
                  <a:srgbClr val="00B050"/>
                </a:solidFill>
              </a:rPr>
              <a:t>V</a:t>
            </a:r>
            <a:r>
              <a:rPr lang="en-US" sz="2800" dirty="0"/>
              <a:t> sets and report the </a:t>
            </a:r>
            <a:r>
              <a:rPr lang="en-US" sz="2800" b="1" i="1" u="sng" dirty="0"/>
              <a:t>prediction error</a:t>
            </a:r>
            <a:r>
              <a:rPr lang="en-US" sz="2800" b="1" i="1" dirty="0"/>
              <a:t> </a:t>
            </a:r>
            <a:r>
              <a:rPr lang="en-US" sz="2800" dirty="0"/>
              <a:t>of </a:t>
            </a:r>
            <a:r>
              <a:rPr lang="en-US" sz="2800" i="1" dirty="0" err="1"/>
              <a:t>h</a:t>
            </a:r>
            <a:r>
              <a:rPr lang="en-US" sz="2800" b="1" i="1" baseline="-25000" dirty="0" err="1"/>
              <a:t>w</a:t>
            </a:r>
            <a:r>
              <a:rPr lang="en-US" sz="2800" i="1" baseline="-25000" dirty="0" err="1"/>
              <a:t>,d</a:t>
            </a:r>
            <a:r>
              <a:rPr lang="en-US" sz="2800" dirty="0"/>
              <a:t> using the test set </a:t>
            </a:r>
            <a:r>
              <a:rPr lang="en-US" sz="2800" i="1" dirty="0">
                <a:solidFill>
                  <a:srgbClr val="FF0000"/>
                </a:solidFill>
              </a:rPr>
              <a:t>U</a:t>
            </a:r>
          </a:p>
          <a:p>
            <a:pPr marL="1703070" lvl="3" indent="-514350"/>
            <a:r>
              <a:rPr lang="en-US" dirty="0"/>
              <a:t>Some model selection approaches to be discussed later.</a:t>
            </a:r>
          </a:p>
          <a:p>
            <a:pPr eaLnBrk="1" hangingPunct="1"/>
            <a:r>
              <a:rPr lang="en-US" sz="2800" dirty="0"/>
              <a:t>The prediction error on </a:t>
            </a:r>
            <a:r>
              <a:rPr lang="en-US" sz="2800" i="1" dirty="0"/>
              <a:t>U</a:t>
            </a:r>
            <a:r>
              <a:rPr lang="en-US" sz="2800" dirty="0"/>
              <a:t> is an </a:t>
            </a:r>
            <a:r>
              <a:rPr lang="en-US" sz="2800" i="1" dirty="0">
                <a:solidFill>
                  <a:srgbClr val="FF0000"/>
                </a:solidFill>
              </a:rPr>
              <a:t>unbiased estimate</a:t>
            </a:r>
            <a:r>
              <a:rPr lang="en-US" sz="2800" dirty="0"/>
              <a:t> of the true error</a:t>
            </a:r>
          </a:p>
        </p:txBody>
      </p:sp>
    </p:spTree>
    <p:extLst>
      <p:ext uri="{BB962C8B-B14F-4D97-AF65-F5344CB8AC3E}">
        <p14:creationId xmlns:p14="http://schemas.microsoft.com/office/powerpoint/2010/main" val="21591207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6"/>
          <p:cNvSpPr>
            <a:spLocks noGrp="1" noChangeArrowheads="1"/>
          </p:cNvSpPr>
          <p:nvPr>
            <p:ph type="title"/>
          </p:nvPr>
        </p:nvSpPr>
        <p:spPr>
          <a:xfrm>
            <a:off x="914400" y="214290"/>
            <a:ext cx="7772400" cy="70328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Leave-One-Out Cross-Validation</a:t>
            </a:r>
            <a:endParaRPr lang="tr-TR" dirty="0"/>
          </a:p>
        </p:txBody>
      </p:sp>
      <p:sp>
        <p:nvSpPr>
          <p:cNvPr id="1126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defPPr>
              <a:defRPr lang="tr-TR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432274A5-B9D2-4812-BB3E-AF82EEF8ADFB}" type="slidenum">
              <a:rPr lang="tr-TR" smtClean="0"/>
              <a:pPr>
                <a:defRPr/>
              </a:pPr>
              <a:t>28</a:t>
            </a:fld>
            <a:endParaRPr lang="tr-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69" name="Rectangle 7"/>
              <p:cNvSpPr>
                <a:spLocks noGrp="1" noChangeArrowheads="1"/>
              </p:cNvSpPr>
              <p:nvPr>
                <p:ph sz="quarter" idx="1"/>
              </p:nvPr>
            </p:nvSpPr>
            <p:spPr>
              <a:xfrm>
                <a:off x="142844" y="1000108"/>
                <a:ext cx="8858312" cy="5715040"/>
              </a:xfrm>
            </p:spPr>
            <p:txBody>
              <a:bodyPr>
                <a:normAutofit/>
              </a:bodyPr>
              <a:lstStyle/>
              <a:p>
                <a:r>
                  <a:rPr lang="en-US" sz="3200" dirty="0"/>
                  <a:t>For each degree </a:t>
                </a:r>
                <a:r>
                  <a:rPr lang="en-US" sz="3200" i="1" dirty="0"/>
                  <a:t>d</a:t>
                </a:r>
                <a:r>
                  <a:rPr lang="en-US" sz="3200" dirty="0"/>
                  <a:t> do: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3200" dirty="0"/>
                  <a:t>for </a:t>
                </a:r>
                <a:r>
                  <a:rPr lang="en-US" sz="3200" i="1" dirty="0" err="1"/>
                  <a:t>i</a:t>
                </a:r>
                <a:r>
                  <a:rPr lang="en-US" sz="3200" dirty="0"/>
                  <a:t> </a:t>
                </a:r>
                <a:r>
                  <a:rPr lang="en-US" sz="3200" dirty="0">
                    <a:latin typeface="Courier New"/>
                    <a:cs typeface="Courier New"/>
                  </a:rPr>
                  <a:t>←</a:t>
                </a:r>
                <a:r>
                  <a:rPr lang="en-US" sz="3200" dirty="0"/>
                  <a:t> 1 to </a:t>
                </a:r>
                <a:r>
                  <a:rPr lang="en-US" sz="3200" i="1" dirty="0"/>
                  <a:t>m</a:t>
                </a:r>
                <a:r>
                  <a:rPr lang="en-US" sz="3200" dirty="0"/>
                  <a:t> do:</a:t>
                </a:r>
                <a:endParaRPr lang="en-US" sz="3200" dirty="0">
                  <a:solidFill>
                    <a:srgbClr val="FF0000"/>
                  </a:solidFill>
                </a:endParaRPr>
              </a:p>
              <a:p>
                <a:pPr marL="777240" lvl="1" indent="-457200">
                  <a:buFont typeface="+mj-lt"/>
                  <a:buAutoNum type="arabicPeriod"/>
                </a:pPr>
                <a:r>
                  <a:rPr lang="en-US" sz="3200" dirty="0"/>
                  <a:t>Validation set </a:t>
                </a:r>
                <a:r>
                  <a:rPr lang="en-US" sz="3200" i="1" dirty="0"/>
                  <a:t>V</a:t>
                </a:r>
                <a:r>
                  <a:rPr lang="en-US" sz="3200" i="1" baseline="-25000" dirty="0"/>
                  <a:t>i</a:t>
                </a:r>
                <a:r>
                  <a:rPr lang="en-US" sz="3200" i="1" dirty="0"/>
                  <a:t> </a:t>
                </a:r>
                <a:r>
                  <a:rPr lang="en-US" sz="3200" i="1" dirty="0">
                    <a:latin typeface="Courier New"/>
                    <a:cs typeface="Courier New"/>
                  </a:rPr>
                  <a:t>←</a:t>
                </a:r>
                <a:r>
                  <a:rPr lang="en-US" sz="3200" i="1" dirty="0"/>
                  <a:t> {</a:t>
                </a:r>
                <a:r>
                  <a:rPr lang="en-US" sz="3200" b="1" i="1" dirty="0" err="1"/>
                  <a:t>e</a:t>
                </a:r>
                <a:r>
                  <a:rPr lang="en-US" sz="3200" i="1" baseline="-25000" dirty="0" err="1"/>
                  <a:t>i</a:t>
                </a:r>
                <a:r>
                  <a:rPr lang="en-US" sz="3200" i="1" dirty="0"/>
                  <a:t> = </a:t>
                </a:r>
                <a:r>
                  <a:rPr lang="en-US" sz="3200" dirty="0"/>
                  <a:t>( </a:t>
                </a:r>
                <a:r>
                  <a:rPr lang="en-US" sz="3200" b="1" i="1" dirty="0"/>
                  <a:t>x</a:t>
                </a:r>
                <a:r>
                  <a:rPr lang="en-US" sz="3200" i="1" baseline="-25000" dirty="0"/>
                  <a:t>i</a:t>
                </a:r>
                <a:r>
                  <a:rPr lang="en-US" sz="3200" i="1" dirty="0"/>
                  <a:t>, </a:t>
                </a:r>
                <a:r>
                  <a:rPr lang="en-US" sz="3200" i="1" dirty="0" err="1"/>
                  <a:t>y</a:t>
                </a:r>
                <a:r>
                  <a:rPr lang="en-US" sz="3200" i="1" baseline="-25000" dirty="0" err="1"/>
                  <a:t>i</a:t>
                </a:r>
                <a:r>
                  <a:rPr lang="en-US" sz="3200" dirty="0"/>
                  <a:t> )} ; </a:t>
                </a:r>
                <a:r>
                  <a:rPr lang="en-US" sz="2000" dirty="0">
                    <a:solidFill>
                      <a:srgbClr val="FF0000"/>
                    </a:solidFill>
                  </a:rPr>
                  <a:t>leave the </a:t>
                </a:r>
                <a:r>
                  <a:rPr lang="en-US" sz="2000" i="1" dirty="0" err="1">
                    <a:solidFill>
                      <a:srgbClr val="FF0000"/>
                    </a:solidFill>
                  </a:rPr>
                  <a:t>i</a:t>
                </a:r>
                <a:r>
                  <a:rPr lang="en-US" sz="2000" dirty="0">
                    <a:solidFill>
                      <a:srgbClr val="FF0000"/>
                    </a:solidFill>
                  </a:rPr>
                  <a:t>-the sample out</a:t>
                </a:r>
              </a:p>
              <a:p>
                <a:pPr marL="777240" lvl="1" indent="-457200">
                  <a:buFont typeface="+mj-lt"/>
                  <a:buAutoNum type="arabicPeriod"/>
                </a:pPr>
                <a:r>
                  <a:rPr lang="en-US" sz="3200" dirty="0"/>
                  <a:t>Training set: </a:t>
                </a:r>
                <a:r>
                  <a:rPr lang="en-US" sz="3200" i="1" dirty="0"/>
                  <a:t>T</a:t>
                </a:r>
                <a:r>
                  <a:rPr lang="en-US" sz="3200" i="1" baseline="-25000" dirty="0"/>
                  <a:t>i</a:t>
                </a:r>
                <a:r>
                  <a:rPr lang="en-US" sz="3200" i="1" dirty="0"/>
                  <a:t> </a:t>
                </a:r>
                <a:r>
                  <a:rPr lang="en-US" sz="3200" i="1" dirty="0">
                    <a:latin typeface="Courier New"/>
                    <a:cs typeface="Courier New"/>
                  </a:rPr>
                  <a:t>←</a:t>
                </a:r>
                <a:r>
                  <a:rPr lang="en-US" sz="3200" i="1" dirty="0"/>
                  <a:t> D \  V</a:t>
                </a:r>
                <a:r>
                  <a:rPr lang="en-US" sz="3200" i="1" baseline="-25000" dirty="0"/>
                  <a:t>i</a:t>
                </a:r>
                <a:endParaRPr lang="en-US" sz="3200" i="1" dirty="0"/>
              </a:p>
              <a:p>
                <a:pPr marL="777240" lvl="1" indent="-457200">
                  <a:buFont typeface="+mj-lt"/>
                  <a:buAutoNum type="arabicPeriod"/>
                </a:pPr>
                <a:r>
                  <a:rPr lang="en-US" sz="3200" b="1" i="1" dirty="0" err="1"/>
                  <a:t>w</a:t>
                </a:r>
                <a:r>
                  <a:rPr lang="en-US" sz="3200" i="1" baseline="-25000" dirty="0" err="1"/>
                  <a:t>d,i</a:t>
                </a:r>
                <a:r>
                  <a:rPr lang="en-US" sz="3200" dirty="0"/>
                  <a:t> </a:t>
                </a:r>
                <a:r>
                  <a:rPr lang="en-US" sz="3200" dirty="0">
                    <a:latin typeface="Courier New"/>
                    <a:cs typeface="Courier New"/>
                  </a:rPr>
                  <a:t>←</a:t>
                </a:r>
                <a:r>
                  <a:rPr lang="en-US" sz="3200" dirty="0"/>
                  <a:t> Train(</a:t>
                </a:r>
                <a:r>
                  <a:rPr lang="en-US" sz="3200" i="1" dirty="0"/>
                  <a:t>T</a:t>
                </a:r>
                <a:r>
                  <a:rPr lang="en-US" sz="3200" i="1" baseline="-25000" dirty="0"/>
                  <a:t>i</a:t>
                </a:r>
                <a:r>
                  <a:rPr lang="en-US" sz="3200" dirty="0"/>
                  <a:t>, </a:t>
                </a:r>
                <a:r>
                  <a:rPr lang="en-US" sz="3200" i="1" dirty="0"/>
                  <a:t>d</a:t>
                </a:r>
                <a:r>
                  <a:rPr lang="en-US" sz="3200" dirty="0"/>
                  <a:t>) ; </a:t>
                </a:r>
                <a:r>
                  <a:rPr lang="en-US" sz="3200" dirty="0">
                    <a:solidFill>
                      <a:srgbClr val="FF0000"/>
                    </a:solidFill>
                  </a:rPr>
                  <a:t>optimal </a:t>
                </a:r>
                <a:r>
                  <a:rPr lang="en-US" sz="3200" b="1" i="1" dirty="0" err="1">
                    <a:solidFill>
                      <a:srgbClr val="FF0000"/>
                    </a:solidFill>
                  </a:rPr>
                  <a:t>w</a:t>
                </a:r>
                <a:r>
                  <a:rPr lang="en-US" sz="3200" i="1" baseline="-25000" dirty="0" err="1">
                    <a:solidFill>
                      <a:srgbClr val="FF0000"/>
                    </a:solidFill>
                  </a:rPr>
                  <a:t>d,i</a:t>
                </a:r>
                <a:r>
                  <a:rPr lang="en-US" sz="3200" dirty="0">
                    <a:solidFill>
                      <a:srgbClr val="FF0000"/>
                    </a:solidFill>
                  </a:rPr>
                  <a:t> using training set </a:t>
                </a:r>
                <a:r>
                  <a:rPr lang="en-US" sz="3200" i="1" dirty="0">
                    <a:solidFill>
                      <a:srgbClr val="FF0000"/>
                    </a:solidFill>
                  </a:rPr>
                  <a:t>T</a:t>
                </a:r>
                <a:r>
                  <a:rPr lang="en-US" sz="3200" i="1" baseline="-25000" dirty="0">
                    <a:solidFill>
                      <a:srgbClr val="FF0000"/>
                    </a:solidFill>
                  </a:rPr>
                  <a:t>i</a:t>
                </a:r>
                <a:endParaRPr lang="en-US" sz="3200" i="1" dirty="0">
                  <a:solidFill>
                    <a:srgbClr val="FF0000"/>
                  </a:solidFill>
                </a:endParaRPr>
              </a:p>
              <a:p>
                <a:pPr marL="777240" lvl="1" indent="-457200">
                  <a:buFont typeface="+mj-lt"/>
                  <a:buAutoNum type="arabicPeriod"/>
                </a:pPr>
                <a:r>
                  <a:rPr lang="en-US" sz="3200" i="1" dirty="0"/>
                  <a:t>J</a:t>
                </a:r>
                <a:r>
                  <a:rPr lang="en-US" sz="3200" dirty="0"/>
                  <a:t>(</a:t>
                </a:r>
                <a:r>
                  <a:rPr lang="en-US" sz="3200" i="1" dirty="0"/>
                  <a:t>d, </a:t>
                </a:r>
                <a:r>
                  <a:rPr lang="en-US" sz="3200" i="1" dirty="0" err="1"/>
                  <a:t>i</a:t>
                </a:r>
                <a:r>
                  <a:rPr lang="en-US" sz="3200" dirty="0"/>
                  <a:t>) </a:t>
                </a:r>
                <a:r>
                  <a:rPr lang="en-US" sz="3200" dirty="0">
                    <a:latin typeface="Courier New"/>
                    <a:cs typeface="Courier New"/>
                  </a:rPr>
                  <a:t>←</a:t>
                </a:r>
                <a:r>
                  <a:rPr lang="en-US" sz="3200" dirty="0"/>
                  <a:t> Test(</a:t>
                </a:r>
                <a:r>
                  <a:rPr lang="en-US" sz="3200" i="1" dirty="0"/>
                  <a:t>V</a:t>
                </a:r>
                <a:r>
                  <a:rPr lang="en-US" sz="3200" i="1" baseline="-25000" dirty="0"/>
                  <a:t>i</a:t>
                </a:r>
                <a:r>
                  <a:rPr lang="en-US" sz="3200" dirty="0"/>
                  <a:t>) ; </a:t>
                </a:r>
                <a:r>
                  <a:rPr lang="en-US" sz="3200" dirty="0">
                    <a:solidFill>
                      <a:srgbClr val="FF0000"/>
                    </a:solidFill>
                  </a:rPr>
                  <a:t>validation error of </a:t>
                </a:r>
                <a:r>
                  <a:rPr lang="en-US" sz="3200" b="1" i="1" dirty="0" err="1">
                    <a:solidFill>
                      <a:srgbClr val="FF0000"/>
                    </a:solidFill>
                  </a:rPr>
                  <a:t>w</a:t>
                </a:r>
                <a:r>
                  <a:rPr lang="en-US" sz="3200" i="1" baseline="-25000" dirty="0" err="1">
                    <a:solidFill>
                      <a:srgbClr val="FF0000"/>
                    </a:solidFill>
                  </a:rPr>
                  <a:t>d,i</a:t>
                </a:r>
                <a:r>
                  <a:rPr lang="en-US" sz="3200" dirty="0">
                    <a:solidFill>
                      <a:srgbClr val="FF0000"/>
                    </a:solidFill>
                  </a:rPr>
                  <a:t> on </a:t>
                </a:r>
                <a:r>
                  <a:rPr lang="en-US" sz="3200" b="1" i="1" dirty="0">
                    <a:solidFill>
                      <a:srgbClr val="FF0000"/>
                    </a:solidFill>
                  </a:rPr>
                  <a:t>x</a:t>
                </a:r>
                <a:r>
                  <a:rPr lang="en-US" sz="3200" i="1" baseline="-25000" dirty="0">
                    <a:solidFill>
                      <a:srgbClr val="FF0000"/>
                    </a:solidFill>
                  </a:rPr>
                  <a:t>i</a:t>
                </a:r>
                <a:endParaRPr lang="en-US" sz="3200" dirty="0">
                  <a:solidFill>
                    <a:srgbClr val="FF0000"/>
                  </a:solidFill>
                </a:endParaRPr>
              </a:p>
              <a:p>
                <a:pPr marL="1097280" lvl="4" indent="0">
                  <a:buNone/>
                </a:pPr>
                <a:r>
                  <a:rPr lang="en-US" sz="2600" dirty="0">
                    <a:solidFill>
                      <a:srgbClr val="3333FF"/>
                    </a:solidFill>
                  </a:rPr>
                  <a:t>; </a:t>
                </a:r>
                <a:r>
                  <a:rPr lang="en-US" sz="2800" i="1" dirty="0">
                    <a:solidFill>
                      <a:srgbClr val="3333FF"/>
                    </a:solidFill>
                  </a:rPr>
                  <a:t>J</a:t>
                </a:r>
                <a:r>
                  <a:rPr lang="en-US" sz="2800" dirty="0">
                    <a:solidFill>
                      <a:srgbClr val="3333FF"/>
                    </a:solidFill>
                  </a:rPr>
                  <a:t>(</a:t>
                </a:r>
                <a:r>
                  <a:rPr lang="en-US" sz="2800" i="1" dirty="0">
                    <a:solidFill>
                      <a:srgbClr val="3333FF"/>
                    </a:solidFill>
                  </a:rPr>
                  <a:t>d, </a:t>
                </a:r>
                <a:r>
                  <a:rPr lang="en-US" sz="2800" i="1" dirty="0" err="1">
                    <a:solidFill>
                      <a:srgbClr val="3333FF"/>
                    </a:solidFill>
                  </a:rPr>
                  <a:t>i</a:t>
                </a:r>
                <a:r>
                  <a:rPr lang="en-US" sz="2800" dirty="0">
                    <a:solidFill>
                      <a:srgbClr val="3333FF"/>
                    </a:solidFill>
                  </a:rPr>
                  <a:t>) is an unbiased estimate of the true prediction error </a:t>
                </a:r>
                <a:endParaRPr lang="en-US" sz="2600" dirty="0">
                  <a:solidFill>
                    <a:srgbClr val="3333FF"/>
                  </a:solidFill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3200" dirty="0"/>
                  <a:t>Average validation error: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/>
                        <a:ea typeface="Cambria Math"/>
                      </a:rPr>
                      <m:t>𝐽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/>
                            <a:ea typeface="Cambria Math"/>
                          </a:rPr>
                          <m:t>𝑑</m:t>
                        </m:r>
                      </m:e>
                    </m:d>
                    <m:r>
                      <a:rPr lang="en-US" sz="3200" b="0" i="1" smtClean="0">
                        <a:latin typeface="Cambria Math"/>
                        <a:ea typeface="Cambria Math"/>
                      </a:rPr>
                      <m:t> ←</m:t>
                    </m:r>
                    <m:r>
                      <a:rPr lang="en-US" sz="3200" b="0" i="1" smtClean="0">
                        <a:latin typeface="Cambria Math"/>
                      </a:rPr>
                      <m:t> </m:t>
                    </m:r>
                    <m:box>
                      <m:box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200" b="0" i="1" smtClean="0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US" sz="3200" b="0" i="1" smtClean="0">
                                <a:latin typeface="Cambria Math"/>
                              </a:rPr>
                              <m:t>𝑚</m:t>
                            </m:r>
                          </m:den>
                        </m:f>
                      </m:e>
                    </m:box>
                    <m:nary>
                      <m:naryPr>
                        <m:chr m:val="∑"/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3200" b="0" i="1" smtClean="0">
                            <a:latin typeface="Cambria Math"/>
                          </a:rPr>
                          <m:t>𝑖</m:t>
                        </m:r>
                        <m:r>
                          <a:rPr lang="en-US" sz="3200" b="0" i="1" smtClean="0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sz="3200" b="0" i="1" smtClean="0">
                            <a:latin typeface="Cambria Math"/>
                          </a:rPr>
                          <m:t>𝑚</m:t>
                        </m:r>
                      </m:sup>
                      <m:e>
                        <m:r>
                          <a:rPr lang="en-US" sz="3200" b="0" i="1" smtClean="0">
                            <a:latin typeface="Cambria Math"/>
                          </a:rPr>
                          <m:t>𝐽</m:t>
                        </m:r>
                        <m:r>
                          <a:rPr lang="en-US" sz="3200" b="0" i="1" smtClean="0">
                            <a:latin typeface="Cambria Math"/>
                          </a:rPr>
                          <m:t>(</m:t>
                        </m:r>
                        <m:r>
                          <a:rPr lang="en-US" sz="3200" b="0" i="1" smtClean="0">
                            <a:latin typeface="Cambria Math"/>
                          </a:rPr>
                          <m:t>𝑑</m:t>
                        </m:r>
                        <m:r>
                          <a:rPr lang="en-US" sz="3200" b="0" i="1" smtClean="0">
                            <a:latin typeface="Cambria Math"/>
                          </a:rPr>
                          <m:t>, </m:t>
                        </m:r>
                        <m:r>
                          <a:rPr lang="en-US" sz="3200" b="0" i="1" smtClean="0">
                            <a:latin typeface="Cambria Math"/>
                          </a:rPr>
                          <m:t>𝑖</m:t>
                        </m:r>
                        <m:r>
                          <a:rPr lang="en-US" sz="3200" b="0" i="1" smtClean="0">
                            <a:latin typeface="Cambria Math"/>
                          </a:rPr>
                          <m:t>)</m:t>
                        </m:r>
                      </m:e>
                    </m:nary>
                  </m:oMath>
                </a14:m>
                <a:endParaRPr lang="en-US" sz="3200" i="1" dirty="0"/>
              </a:p>
              <a:p>
                <a:r>
                  <a:rPr lang="en-US" sz="3200" i="1" dirty="0"/>
                  <a:t>d</a:t>
                </a:r>
                <a:r>
                  <a:rPr lang="en-US" sz="3200" i="1" baseline="30000" dirty="0"/>
                  <a:t>*</a:t>
                </a:r>
                <a:r>
                  <a:rPr lang="en-US" sz="3200" i="1" dirty="0"/>
                  <a:t> </a:t>
                </a:r>
                <a:r>
                  <a:rPr lang="en-US" sz="3200" i="1" dirty="0">
                    <a:latin typeface="Courier New"/>
                    <a:cs typeface="Courier New"/>
                  </a:rPr>
                  <a:t>←</a:t>
                </a:r>
                <a:r>
                  <a:rPr lang="en-US" sz="3200" i="1" dirty="0"/>
                  <a:t> </a:t>
                </a:r>
                <a:r>
                  <a:rPr lang="en-US" sz="3200" dirty="0" err="1"/>
                  <a:t>arg</a:t>
                </a:r>
                <a:r>
                  <a:rPr lang="en-US" sz="3200" dirty="0"/>
                  <a:t> min</a:t>
                </a:r>
                <a:r>
                  <a:rPr lang="en-US" sz="3200" i="1" baseline="-25000" dirty="0"/>
                  <a:t>d</a:t>
                </a:r>
                <a:r>
                  <a:rPr lang="en-US" sz="3200" dirty="0"/>
                  <a:t> </a:t>
                </a:r>
                <a:r>
                  <a:rPr lang="en-US" sz="3200" i="1" dirty="0"/>
                  <a:t>J</a:t>
                </a:r>
                <a:r>
                  <a:rPr lang="en-US" sz="3200" dirty="0"/>
                  <a:t>(</a:t>
                </a:r>
                <a:r>
                  <a:rPr lang="en-US" sz="3200" i="1" dirty="0"/>
                  <a:t>d</a:t>
                </a:r>
                <a:r>
                  <a:rPr lang="en-US" sz="3200" dirty="0"/>
                  <a:t>) ; </a:t>
                </a:r>
                <a:r>
                  <a:rPr lang="en-US" sz="2400" dirty="0">
                    <a:solidFill>
                      <a:srgbClr val="FF0000"/>
                    </a:solidFill>
                  </a:rPr>
                  <a:t>select the degree </a:t>
                </a:r>
                <a:r>
                  <a:rPr lang="en-US" sz="2400" i="1" dirty="0">
                    <a:solidFill>
                      <a:srgbClr val="FF0000"/>
                    </a:solidFill>
                  </a:rPr>
                  <a:t>d</a:t>
                </a:r>
                <a:r>
                  <a:rPr lang="en-US" sz="2400" dirty="0">
                    <a:solidFill>
                      <a:srgbClr val="FF0000"/>
                    </a:solidFill>
                  </a:rPr>
                  <a:t> with lowest average error</a:t>
                </a:r>
              </a:p>
              <a:p>
                <a:pPr marL="868680" lvl="3" indent="0">
                  <a:buNone/>
                </a:pPr>
                <a:r>
                  <a:rPr lang="en-US" sz="2600" dirty="0">
                    <a:solidFill>
                      <a:srgbClr val="3333FF"/>
                    </a:solidFill>
                  </a:rPr>
                  <a:t>;</a:t>
                </a:r>
                <a:r>
                  <a:rPr lang="en-US" sz="2400" i="1" dirty="0">
                    <a:solidFill>
                      <a:srgbClr val="3333FF"/>
                    </a:solidFill>
                  </a:rPr>
                  <a:t> J</a:t>
                </a:r>
                <a:r>
                  <a:rPr lang="en-US" sz="2400" dirty="0">
                    <a:solidFill>
                      <a:srgbClr val="3333FF"/>
                    </a:solidFill>
                  </a:rPr>
                  <a:t>(</a:t>
                </a:r>
                <a:r>
                  <a:rPr lang="en-US" sz="2400" i="1" dirty="0">
                    <a:solidFill>
                      <a:srgbClr val="3333FF"/>
                    </a:solidFill>
                  </a:rPr>
                  <a:t>d</a:t>
                </a:r>
                <a:r>
                  <a:rPr lang="en-US" sz="2400" i="1" baseline="30000" dirty="0">
                    <a:solidFill>
                      <a:srgbClr val="3333FF"/>
                    </a:solidFill>
                  </a:rPr>
                  <a:t>*</a:t>
                </a:r>
                <a:r>
                  <a:rPr lang="en-US" sz="2400" dirty="0">
                    <a:solidFill>
                      <a:srgbClr val="3333FF"/>
                    </a:solidFill>
                  </a:rPr>
                  <a:t>) is </a:t>
                </a:r>
                <a:r>
                  <a:rPr lang="en-US" sz="2400" b="1" i="1" u="sng" dirty="0">
                    <a:solidFill>
                      <a:srgbClr val="3333FF"/>
                    </a:solidFill>
                  </a:rPr>
                  <a:t>not</a:t>
                </a:r>
                <a:r>
                  <a:rPr lang="en-US" sz="2400" dirty="0">
                    <a:solidFill>
                      <a:srgbClr val="3333FF"/>
                    </a:solidFill>
                  </a:rPr>
                  <a:t> an unbiased estimate since all data is used to find it.</a:t>
                </a:r>
                <a:endParaRPr lang="en-US" sz="2600" dirty="0">
                  <a:solidFill>
                    <a:srgbClr val="3333FF"/>
                  </a:solidFill>
                </a:endParaRPr>
              </a:p>
            </p:txBody>
          </p:sp>
        </mc:Choice>
        <mc:Fallback xmlns="">
          <p:sp>
            <p:nvSpPr>
              <p:cNvPr id="11269" name="Rectangle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42844" y="1000108"/>
                <a:ext cx="8858312" cy="5715040"/>
              </a:xfrm>
              <a:blipFill rotWithShape="1">
                <a:blip r:embed="rId3"/>
                <a:stretch>
                  <a:fillRect l="-1238" t="-1386" r="-6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23469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6"/>
          <p:cNvSpPr>
            <a:spLocks noGrp="1" noChangeArrowheads="1"/>
          </p:cNvSpPr>
          <p:nvPr>
            <p:ph type="title"/>
          </p:nvPr>
        </p:nvSpPr>
        <p:spPr>
          <a:xfrm>
            <a:off x="714348" y="214290"/>
            <a:ext cx="7972452" cy="70328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Example: Estimating True Error for </a:t>
            </a:r>
            <a:r>
              <a:rPr lang="en-US" i="1" dirty="0"/>
              <a:t>d</a:t>
            </a:r>
            <a:r>
              <a:rPr lang="en-US" dirty="0"/>
              <a:t> = 1</a:t>
            </a:r>
            <a:endParaRPr lang="tr-TR" dirty="0"/>
          </a:p>
        </p:txBody>
      </p:sp>
      <p:sp>
        <p:nvSpPr>
          <p:cNvPr id="1126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defPPr>
              <a:defRPr lang="tr-TR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432274A5-B9D2-4812-BB3E-AF82EEF8ADFB}" type="slidenum">
              <a:rPr lang="tr-TR" smtClean="0"/>
              <a:pPr>
                <a:defRPr/>
              </a:pPr>
              <a:t>29</a:t>
            </a:fld>
            <a:endParaRPr lang="tr-TR"/>
          </a:p>
        </p:txBody>
      </p:sp>
      <p:sp>
        <p:nvSpPr>
          <p:cNvPr id="11269" name="Rectangle 7"/>
          <p:cNvSpPr>
            <a:spLocks noGrp="1" noChangeArrowheads="1"/>
          </p:cNvSpPr>
          <p:nvPr>
            <p:ph sz="quarter" idx="1"/>
          </p:nvPr>
        </p:nvSpPr>
        <p:spPr>
          <a:xfrm>
            <a:off x="142844" y="6643710"/>
            <a:ext cx="8858312" cy="71438"/>
          </a:xfrm>
        </p:spPr>
        <p:txBody>
          <a:bodyPr>
            <a:normAutofit fontScale="25000" lnSpcReduction="20000"/>
          </a:bodyPr>
          <a:lstStyle/>
          <a:p>
            <a:pPr lvl="1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 descr="ex26-ch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2843" y="1214422"/>
            <a:ext cx="8874683" cy="4786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0705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6"/>
          <p:cNvSpPr>
            <a:spLocks noGrp="1" noChangeArrowheads="1"/>
          </p:cNvSpPr>
          <p:nvPr>
            <p:ph type="title"/>
          </p:nvPr>
        </p:nvSpPr>
        <p:spPr>
          <a:xfrm>
            <a:off x="714348" y="214290"/>
            <a:ext cx="7972452" cy="70328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Example: Estimation results for all </a:t>
            </a:r>
            <a:r>
              <a:rPr lang="en-US" i="1" dirty="0"/>
              <a:t>d</a:t>
            </a:r>
            <a:endParaRPr lang="tr-TR" dirty="0"/>
          </a:p>
        </p:txBody>
      </p:sp>
      <p:sp>
        <p:nvSpPr>
          <p:cNvPr id="1126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defPPr>
              <a:defRPr lang="tr-TR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432274A5-B9D2-4812-BB3E-AF82EEF8ADFB}" type="slidenum">
              <a:rPr lang="tr-TR" smtClean="0"/>
              <a:pPr>
                <a:defRPr/>
              </a:pPr>
              <a:t>30</a:t>
            </a:fld>
            <a:endParaRPr lang="tr-TR"/>
          </a:p>
        </p:txBody>
      </p:sp>
      <p:sp>
        <p:nvSpPr>
          <p:cNvPr id="11269" name="Rectangle 7"/>
          <p:cNvSpPr>
            <a:spLocks noGrp="1" noChangeArrowheads="1"/>
          </p:cNvSpPr>
          <p:nvPr>
            <p:ph sz="quarter" idx="1"/>
          </p:nvPr>
        </p:nvSpPr>
        <p:spPr>
          <a:xfrm>
            <a:off x="142844" y="5214950"/>
            <a:ext cx="8858312" cy="1500198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Optimal choice is </a:t>
            </a:r>
            <a:r>
              <a:rPr lang="en-US" i="1" dirty="0"/>
              <a:t>d</a:t>
            </a:r>
            <a:r>
              <a:rPr lang="en-US" dirty="0"/>
              <a:t> = 2</a:t>
            </a:r>
          </a:p>
          <a:p>
            <a:pPr lvl="1"/>
            <a:r>
              <a:rPr lang="en-US" dirty="0" err="1"/>
              <a:t>Overfitting</a:t>
            </a:r>
            <a:r>
              <a:rPr lang="en-US" dirty="0"/>
              <a:t> for </a:t>
            </a:r>
            <a:r>
              <a:rPr lang="en-US" i="1" dirty="0"/>
              <a:t>d</a:t>
            </a:r>
            <a:r>
              <a:rPr lang="en-US" dirty="0"/>
              <a:t> &gt; 2</a:t>
            </a:r>
          </a:p>
          <a:p>
            <a:pPr lvl="1"/>
            <a:r>
              <a:rPr lang="en-US" dirty="0"/>
              <a:t>Very high validation error for </a:t>
            </a:r>
            <a:r>
              <a:rPr lang="en-US" i="1" dirty="0"/>
              <a:t>d</a:t>
            </a:r>
            <a:r>
              <a:rPr lang="en-US" dirty="0"/>
              <a:t> = 8 and 9</a:t>
            </a:r>
          </a:p>
        </p:txBody>
      </p:sp>
      <p:pic>
        <p:nvPicPr>
          <p:cNvPr id="6" name="Picture 5" descr="ex27-ch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85984" y="887544"/>
            <a:ext cx="4089672" cy="425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3162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6"/>
          <p:cNvSpPr>
            <a:spLocks noGrp="1" noChangeArrowheads="1"/>
          </p:cNvSpPr>
          <p:nvPr>
            <p:ph type="title"/>
          </p:nvPr>
        </p:nvSpPr>
        <p:spPr>
          <a:xfrm>
            <a:off x="914400" y="214290"/>
            <a:ext cx="7772400" cy="70328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Model Selection</a:t>
            </a:r>
            <a:endParaRPr lang="tr-TR" dirty="0"/>
          </a:p>
        </p:txBody>
      </p:sp>
      <p:sp>
        <p:nvSpPr>
          <p:cNvPr id="1126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defPPr>
              <a:defRPr lang="tr-TR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432274A5-B9D2-4812-BB3E-AF82EEF8ADFB}" type="slidenum">
              <a:rPr lang="tr-TR" smtClean="0"/>
              <a:pPr>
                <a:defRPr/>
              </a:pPr>
              <a:t>31</a:t>
            </a:fld>
            <a:endParaRPr lang="tr-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69" name="Rectangle 7"/>
              <p:cNvSpPr>
                <a:spLocks noGrp="1" noChangeArrowheads="1"/>
              </p:cNvSpPr>
              <p:nvPr>
                <p:ph sz="quarter" idx="1"/>
              </p:nvPr>
            </p:nvSpPr>
            <p:spPr>
              <a:xfrm>
                <a:off x="142844" y="1000108"/>
                <a:ext cx="8858312" cy="5715040"/>
              </a:xfrm>
            </p:spPr>
            <p:txBody>
              <a:bodyPr>
                <a:normAutofit/>
              </a:bodyPr>
              <a:lstStyle/>
              <a:p>
                <a:r>
                  <a:rPr lang="en-US" sz="2800" i="1" dirty="0"/>
                  <a:t>J</a:t>
                </a:r>
                <a:r>
                  <a:rPr lang="en-US" sz="2800" dirty="0"/>
                  <a:t>(</a:t>
                </a:r>
                <a:r>
                  <a:rPr lang="en-US" sz="2800" i="1" dirty="0"/>
                  <a:t>d</a:t>
                </a:r>
                <a:r>
                  <a:rPr lang="en-US" sz="2800" baseline="30000" dirty="0"/>
                  <a:t>*</a:t>
                </a:r>
                <a:r>
                  <a:rPr lang="en-US" sz="2800" dirty="0"/>
                  <a:t>) is not unbiased since it was obtained using </a:t>
                </a:r>
                <a:r>
                  <a:rPr lang="en-US" sz="2800" b="1" i="1" u="sng" dirty="0"/>
                  <a:t>all</a:t>
                </a:r>
                <a:r>
                  <a:rPr lang="en-US" sz="2800" dirty="0"/>
                  <a:t> </a:t>
                </a:r>
                <a:r>
                  <a:rPr lang="en-US" sz="2800" b="1" i="1" u="sng" dirty="0"/>
                  <a:t>m</a:t>
                </a:r>
                <a:r>
                  <a:rPr lang="en-US" sz="2800" dirty="0"/>
                  <a:t> sample data</a:t>
                </a:r>
              </a:p>
              <a:p>
                <a:pPr lvl="1"/>
                <a:r>
                  <a:rPr lang="en-US" sz="2800" dirty="0"/>
                  <a:t>We chose the hypothesis class </a:t>
                </a:r>
                <a:r>
                  <a:rPr lang="en-US" sz="2800" i="1" dirty="0"/>
                  <a:t>d</a:t>
                </a:r>
                <a:r>
                  <a:rPr lang="en-US" sz="2800" baseline="30000" dirty="0"/>
                  <a:t>*</a:t>
                </a:r>
                <a:r>
                  <a:rPr lang="en-US" sz="2800" dirty="0"/>
                  <a:t> based on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  <a:ea typeface="Cambria Math"/>
                      </a:rPr>
                      <m:t>𝐽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𝑑</m:t>
                        </m:r>
                      </m:e>
                    </m:d>
                    <m:r>
                      <a:rPr lang="en-US" sz="2800" b="0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2800" i="1">
                        <a:latin typeface="Cambria Math"/>
                        <a:ea typeface="Cambria Math"/>
                      </a:rPr>
                      <m:t> </m:t>
                    </m:r>
                    <m:box>
                      <m:box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US" sz="2800" b="0" i="1" smtClean="0">
                                <a:latin typeface="Cambria Math"/>
                              </a:rPr>
                              <m:t>𝑚</m:t>
                            </m:r>
                          </m:den>
                        </m:f>
                      </m:e>
                    </m:box>
                    <m:nary>
                      <m:naryPr>
                        <m:chr m:val="∑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800" i="1">
                            <a:latin typeface="Cambria Math"/>
                          </a:rPr>
                          <m:t>𝑖</m:t>
                        </m:r>
                        <m:r>
                          <a:rPr lang="en-US" sz="2800" i="1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sz="2800" b="0" i="1" smtClean="0">
                            <a:latin typeface="Cambria Math"/>
                          </a:rPr>
                          <m:t>𝑚</m:t>
                        </m:r>
                      </m:sup>
                      <m:e>
                        <m:r>
                          <a:rPr lang="en-US" sz="2800" i="1">
                            <a:latin typeface="Cambria Math"/>
                          </a:rPr>
                          <m:t>𝐽</m:t>
                        </m:r>
                        <m:r>
                          <a:rPr lang="en-US" sz="2800" i="1">
                            <a:latin typeface="Cambria Math"/>
                          </a:rPr>
                          <m:t>(</m:t>
                        </m:r>
                        <m:r>
                          <a:rPr lang="en-US" sz="2800" i="1">
                            <a:latin typeface="Cambria Math"/>
                          </a:rPr>
                          <m:t>𝑑</m:t>
                        </m:r>
                        <m:r>
                          <a:rPr lang="en-US" sz="2800" i="1">
                            <a:latin typeface="Cambria Math"/>
                          </a:rPr>
                          <m:t>, </m:t>
                        </m:r>
                        <m:r>
                          <a:rPr lang="en-US" sz="2800" i="1">
                            <a:latin typeface="Cambria Math"/>
                          </a:rPr>
                          <m:t>𝑖</m:t>
                        </m:r>
                        <m:r>
                          <a:rPr lang="en-US" sz="2800" i="1">
                            <a:latin typeface="Cambria Math"/>
                          </a:rPr>
                          <m:t>)</m:t>
                        </m:r>
                      </m:e>
                    </m:nary>
                  </m:oMath>
                </a14:m>
                <a:endParaRPr lang="en-US" sz="2800" dirty="0"/>
              </a:p>
              <a:p>
                <a:pPr lvl="1"/>
                <a:r>
                  <a:rPr lang="en-US" sz="2800" dirty="0"/>
                  <a:t>We want </a:t>
                </a:r>
                <a:r>
                  <a:rPr lang="en-US" sz="2800" dirty="0">
                    <a:solidFill>
                      <a:srgbClr val="FF0000"/>
                    </a:solidFill>
                  </a:rPr>
                  <a:t>both an hypothesis class and an unbiased true error estimate</a:t>
                </a:r>
                <a:endParaRPr lang="en-US" sz="2800" dirty="0"/>
              </a:p>
              <a:p>
                <a:r>
                  <a:rPr lang="en-US" sz="2800" dirty="0"/>
                  <a:t>If we want to compare different learning algorithms (or different hypotheses) an independent test data </a:t>
                </a:r>
                <a:r>
                  <a:rPr lang="en-US" sz="2800" i="1" dirty="0"/>
                  <a:t>U</a:t>
                </a:r>
                <a:r>
                  <a:rPr lang="en-US" sz="2800" dirty="0"/>
                  <a:t> is required in order to decide for the best algorithm or the best hypothesis</a:t>
                </a:r>
              </a:p>
              <a:p>
                <a:pPr lvl="1"/>
                <a:r>
                  <a:rPr lang="en-US" sz="2800" dirty="0"/>
                  <a:t>In our case, we are trying to decide which regression model to use, </a:t>
                </a:r>
                <a:r>
                  <a:rPr lang="en-US" sz="2800" i="1" dirty="0"/>
                  <a:t>d=</a:t>
                </a:r>
                <a:r>
                  <a:rPr lang="en-US" sz="2800" dirty="0"/>
                  <a:t>1, or </a:t>
                </a:r>
                <a:r>
                  <a:rPr lang="en-US" sz="2800" i="1" dirty="0"/>
                  <a:t>d=</a:t>
                </a:r>
                <a:r>
                  <a:rPr lang="en-US" sz="2800" dirty="0"/>
                  <a:t>2, or …, or </a:t>
                </a:r>
                <a:r>
                  <a:rPr lang="en-US" sz="2800" i="1" dirty="0"/>
                  <a:t>d=</a:t>
                </a:r>
                <a:r>
                  <a:rPr lang="en-US" sz="2800" dirty="0"/>
                  <a:t>11? </a:t>
                </a:r>
              </a:p>
              <a:p>
                <a:pPr lvl="1"/>
                <a:r>
                  <a:rPr lang="en-US" sz="2800" dirty="0"/>
                  <a:t>And, which has the best unbiased true error estimate</a:t>
                </a:r>
              </a:p>
            </p:txBody>
          </p:sp>
        </mc:Choice>
        <mc:Fallback xmlns="">
          <p:sp>
            <p:nvSpPr>
              <p:cNvPr id="11269" name="Rectangle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42844" y="1000108"/>
                <a:ext cx="8858312" cy="5715040"/>
              </a:xfrm>
              <a:blipFill>
                <a:blip r:embed="rId3"/>
                <a:stretch>
                  <a:fillRect l="-825" t="-1066" r="-11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07167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6"/>
          <p:cNvSpPr>
            <a:spLocks noGrp="1" noChangeArrowheads="1"/>
          </p:cNvSpPr>
          <p:nvPr>
            <p:ph type="title"/>
          </p:nvPr>
        </p:nvSpPr>
        <p:spPr>
          <a:xfrm>
            <a:off x="914400" y="214290"/>
            <a:ext cx="7772400" cy="70328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i="1" dirty="0"/>
              <a:t>k</a:t>
            </a:r>
            <a:r>
              <a:rPr lang="en-US" dirty="0"/>
              <a:t>-Fold Cross-Validation</a:t>
            </a:r>
            <a:endParaRPr lang="tr-TR" dirty="0"/>
          </a:p>
        </p:txBody>
      </p:sp>
      <p:sp>
        <p:nvSpPr>
          <p:cNvPr id="1126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defPPr>
              <a:defRPr lang="tr-TR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432274A5-B9D2-4812-BB3E-AF82EEF8ADFB}" type="slidenum">
              <a:rPr lang="tr-TR" smtClean="0"/>
              <a:pPr>
                <a:defRPr/>
              </a:pPr>
              <a:t>32</a:t>
            </a:fld>
            <a:endParaRPr lang="tr-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69" name="Rectangle 7"/>
              <p:cNvSpPr>
                <a:spLocks noGrp="1" noChangeArrowheads="1"/>
              </p:cNvSpPr>
              <p:nvPr>
                <p:ph sz="quarter" idx="1"/>
              </p:nvPr>
            </p:nvSpPr>
            <p:spPr>
              <a:xfrm>
                <a:off x="142844" y="1000108"/>
                <a:ext cx="8858312" cy="5715040"/>
              </a:xfrm>
            </p:spPr>
            <p:txBody>
              <a:bodyPr>
                <a:noAutofit/>
              </a:bodyPr>
              <a:lstStyle/>
              <a:p>
                <a:pPr eaLnBrk="1" hangingPunct="1"/>
                <a:r>
                  <a:rPr lang="en-US" sz="3200" dirty="0"/>
                  <a:t>Partition </a:t>
                </a:r>
                <a:r>
                  <a:rPr lang="en-US" sz="3200" i="1" dirty="0"/>
                  <a:t>D</a:t>
                </a:r>
                <a:r>
                  <a:rPr lang="en-US" sz="3200" dirty="0"/>
                  <a:t> into </a:t>
                </a:r>
                <a:r>
                  <a:rPr lang="en-US" sz="3200" i="1" dirty="0"/>
                  <a:t>k</a:t>
                </a:r>
                <a:r>
                  <a:rPr lang="en-US" sz="3200" dirty="0"/>
                  <a:t> disjoint subsets of same size and same distribution, </a:t>
                </a:r>
                <a:r>
                  <a:rPr lang="en-US" sz="3200" i="1" dirty="0"/>
                  <a:t>P</a:t>
                </a:r>
                <a:r>
                  <a:rPr lang="en-US" sz="3200" baseline="-25000" dirty="0"/>
                  <a:t>1</a:t>
                </a:r>
                <a:r>
                  <a:rPr lang="en-US" sz="3200" dirty="0"/>
                  <a:t>, </a:t>
                </a:r>
                <a:r>
                  <a:rPr lang="en-US" sz="3200" i="1" dirty="0"/>
                  <a:t>P</a:t>
                </a:r>
                <a:r>
                  <a:rPr lang="en-US" sz="3200" baseline="-25000" dirty="0"/>
                  <a:t>2</a:t>
                </a:r>
                <a:r>
                  <a:rPr lang="en-US" sz="3200" dirty="0"/>
                  <a:t>, …, </a:t>
                </a:r>
                <a:r>
                  <a:rPr lang="en-US" sz="3200" i="1" dirty="0" err="1"/>
                  <a:t>P</a:t>
                </a:r>
                <a:r>
                  <a:rPr lang="en-US" sz="3200" i="1" baseline="-25000" dirty="0" err="1"/>
                  <a:t>k</a:t>
                </a:r>
                <a:endParaRPr lang="en-US" sz="3200" baseline="-25000" dirty="0"/>
              </a:p>
              <a:p>
                <a:pPr eaLnBrk="1" hangingPunct="1"/>
                <a:r>
                  <a:rPr lang="en-US" sz="3200" dirty="0"/>
                  <a:t>For each degree </a:t>
                </a:r>
                <a:r>
                  <a:rPr lang="en-US" sz="3200" i="1" dirty="0"/>
                  <a:t>d</a:t>
                </a:r>
                <a:r>
                  <a:rPr lang="en-US" sz="3200" dirty="0"/>
                  <a:t> do:</a:t>
                </a:r>
              </a:p>
              <a:p>
                <a:pPr lvl="1"/>
                <a:r>
                  <a:rPr lang="en-US" sz="3000" dirty="0"/>
                  <a:t>for </a:t>
                </a:r>
                <a:r>
                  <a:rPr lang="en-US" sz="3000" i="1" dirty="0" err="1"/>
                  <a:t>i</a:t>
                </a:r>
                <a:r>
                  <a:rPr lang="en-US" sz="3000" dirty="0"/>
                  <a:t> </a:t>
                </a:r>
                <a:r>
                  <a:rPr lang="en-US" sz="3000" dirty="0">
                    <a:latin typeface="Courier New"/>
                    <a:cs typeface="Courier New"/>
                  </a:rPr>
                  <a:t>←</a:t>
                </a:r>
                <a:r>
                  <a:rPr lang="en-US" sz="3000" dirty="0"/>
                  <a:t> 1 to </a:t>
                </a:r>
                <a:r>
                  <a:rPr lang="en-US" sz="3000" i="1" dirty="0"/>
                  <a:t>k</a:t>
                </a:r>
                <a:r>
                  <a:rPr lang="en-US" sz="3000" dirty="0"/>
                  <a:t> do:</a:t>
                </a:r>
              </a:p>
              <a:p>
                <a:pPr marL="834390" lvl="1" indent="-514350">
                  <a:buFont typeface="+mj-lt"/>
                  <a:buAutoNum type="arabicPeriod"/>
                </a:pPr>
                <a:r>
                  <a:rPr lang="en-US" sz="3000" dirty="0"/>
                  <a:t>Validation set </a:t>
                </a:r>
                <a:r>
                  <a:rPr lang="en-US" sz="3000" i="1" dirty="0"/>
                  <a:t>V</a:t>
                </a:r>
                <a:r>
                  <a:rPr lang="en-US" sz="3000" i="1" baseline="-25000" dirty="0"/>
                  <a:t>i</a:t>
                </a:r>
                <a:r>
                  <a:rPr lang="en-US" sz="3000" dirty="0"/>
                  <a:t> </a:t>
                </a:r>
                <a:r>
                  <a:rPr lang="en-US" sz="2800" dirty="0">
                    <a:latin typeface="Courier New"/>
                    <a:cs typeface="Courier New"/>
                  </a:rPr>
                  <a:t>←</a:t>
                </a:r>
                <a:r>
                  <a:rPr lang="en-US" sz="3000" dirty="0"/>
                  <a:t> </a:t>
                </a:r>
                <a:r>
                  <a:rPr lang="en-US" sz="3000" i="1" dirty="0"/>
                  <a:t>P</a:t>
                </a:r>
                <a:r>
                  <a:rPr lang="en-US" sz="3000" i="1" baseline="-25000" dirty="0"/>
                  <a:t>i</a:t>
                </a:r>
                <a:r>
                  <a:rPr lang="en-US" sz="3000" dirty="0"/>
                  <a:t> </a:t>
                </a:r>
                <a:r>
                  <a:rPr lang="en-US" sz="3000" dirty="0">
                    <a:solidFill>
                      <a:srgbClr val="FF0000"/>
                    </a:solidFill>
                  </a:rPr>
                  <a:t>; leave </a:t>
                </a:r>
                <a:r>
                  <a:rPr lang="en-US" sz="3000" i="1" dirty="0">
                    <a:solidFill>
                      <a:srgbClr val="FF0000"/>
                    </a:solidFill>
                  </a:rPr>
                  <a:t>P</a:t>
                </a:r>
                <a:r>
                  <a:rPr lang="en-US" sz="3000" i="1" baseline="-25000" dirty="0">
                    <a:solidFill>
                      <a:srgbClr val="FF0000"/>
                    </a:solidFill>
                  </a:rPr>
                  <a:t>i</a:t>
                </a:r>
                <a:r>
                  <a:rPr lang="en-US" sz="3000" dirty="0">
                    <a:solidFill>
                      <a:srgbClr val="FF0000"/>
                    </a:solidFill>
                  </a:rPr>
                  <a:t> out for validation</a:t>
                </a:r>
                <a:endParaRPr lang="en-US" sz="3000" i="1" baseline="-25000" dirty="0"/>
              </a:p>
              <a:p>
                <a:pPr marL="834390" lvl="1" indent="-514350">
                  <a:buFont typeface="+mj-lt"/>
                  <a:buAutoNum type="arabicPeriod"/>
                </a:pPr>
                <a:r>
                  <a:rPr lang="en-US" sz="3000" dirty="0"/>
                  <a:t>Training set </a:t>
                </a:r>
                <a:r>
                  <a:rPr lang="en-US" sz="3000" i="1" dirty="0"/>
                  <a:t>T</a:t>
                </a:r>
                <a:r>
                  <a:rPr lang="en-US" sz="3000" i="1" baseline="-25000" dirty="0"/>
                  <a:t>i</a:t>
                </a:r>
                <a:r>
                  <a:rPr lang="en-US" sz="3000" dirty="0"/>
                  <a:t> </a:t>
                </a:r>
                <a:r>
                  <a:rPr lang="en-US" sz="3200" dirty="0">
                    <a:latin typeface="Courier New"/>
                    <a:cs typeface="Courier New"/>
                  </a:rPr>
                  <a:t>←</a:t>
                </a:r>
                <a:r>
                  <a:rPr lang="en-US" sz="3000" dirty="0"/>
                  <a:t> </a:t>
                </a:r>
                <a:r>
                  <a:rPr lang="en-US" sz="3000" i="1" dirty="0"/>
                  <a:t>D</a:t>
                </a:r>
                <a:r>
                  <a:rPr lang="en-US" sz="3000" dirty="0"/>
                  <a:t> \ </a:t>
                </a:r>
                <a:r>
                  <a:rPr lang="en-US" sz="3000" i="1" dirty="0"/>
                  <a:t>V</a:t>
                </a:r>
                <a:r>
                  <a:rPr lang="en-US" sz="3000" i="1" baseline="-25000" dirty="0"/>
                  <a:t>i</a:t>
                </a:r>
              </a:p>
              <a:p>
                <a:pPr marL="834390" lvl="1" indent="-514350">
                  <a:buFont typeface="+mj-lt"/>
                  <a:buAutoNum type="arabicPeriod"/>
                </a:pPr>
                <a:r>
                  <a:rPr lang="en-US" sz="3000" b="1" i="1" dirty="0" err="1"/>
                  <a:t>w</a:t>
                </a:r>
                <a:r>
                  <a:rPr lang="en-US" sz="3000" i="1" baseline="-25000" dirty="0" err="1"/>
                  <a:t>d,i</a:t>
                </a:r>
                <a:r>
                  <a:rPr lang="en-US" sz="3000" dirty="0"/>
                  <a:t> </a:t>
                </a:r>
                <a:r>
                  <a:rPr lang="en-US" sz="2800" dirty="0">
                    <a:latin typeface="Courier New"/>
                    <a:cs typeface="Courier New"/>
                  </a:rPr>
                  <a:t>←</a:t>
                </a:r>
                <a:r>
                  <a:rPr lang="en-US" sz="3000" dirty="0"/>
                  <a:t> Train(</a:t>
                </a:r>
                <a:r>
                  <a:rPr lang="en-US" sz="3000" i="1" dirty="0"/>
                  <a:t>T</a:t>
                </a:r>
                <a:r>
                  <a:rPr lang="en-US" sz="3000" i="1" baseline="-25000" dirty="0"/>
                  <a:t>i</a:t>
                </a:r>
                <a:r>
                  <a:rPr lang="en-US" sz="3000" dirty="0"/>
                  <a:t>, </a:t>
                </a:r>
                <a:r>
                  <a:rPr lang="en-US" sz="3000" i="1" dirty="0"/>
                  <a:t>d</a:t>
                </a:r>
                <a:r>
                  <a:rPr lang="en-US" sz="3000" dirty="0"/>
                  <a:t>) </a:t>
                </a:r>
                <a:r>
                  <a:rPr lang="en-US" sz="3000" dirty="0">
                    <a:solidFill>
                      <a:srgbClr val="FF0000"/>
                    </a:solidFill>
                  </a:rPr>
                  <a:t>; train on </a:t>
                </a:r>
                <a:r>
                  <a:rPr lang="en-US" sz="3000" i="1" dirty="0">
                    <a:solidFill>
                      <a:srgbClr val="FF0000"/>
                    </a:solidFill>
                  </a:rPr>
                  <a:t>T</a:t>
                </a:r>
                <a:r>
                  <a:rPr lang="en-US" sz="3000" i="1" baseline="-25000" dirty="0">
                    <a:solidFill>
                      <a:srgbClr val="FF0000"/>
                    </a:solidFill>
                  </a:rPr>
                  <a:t>i</a:t>
                </a:r>
                <a:endParaRPr lang="en-US" sz="3000" dirty="0"/>
              </a:p>
              <a:p>
                <a:pPr marL="834390" lvl="1" indent="-514350">
                  <a:buFont typeface="+mj-lt"/>
                  <a:buAutoNum type="arabicPeriod"/>
                </a:pPr>
                <a:r>
                  <a:rPr lang="en-US" sz="3000" i="1" dirty="0"/>
                  <a:t>J</a:t>
                </a:r>
                <a:r>
                  <a:rPr lang="en-US" sz="3000" dirty="0"/>
                  <a:t>(</a:t>
                </a:r>
                <a:r>
                  <a:rPr lang="en-US" sz="3000" i="1" dirty="0"/>
                  <a:t>d</a:t>
                </a:r>
                <a:r>
                  <a:rPr lang="en-US" sz="3000" dirty="0"/>
                  <a:t>, </a:t>
                </a:r>
                <a:r>
                  <a:rPr lang="en-US" sz="3000" i="1" dirty="0" err="1"/>
                  <a:t>i</a:t>
                </a:r>
                <a:r>
                  <a:rPr lang="en-US" sz="3000" dirty="0"/>
                  <a:t>) </a:t>
                </a:r>
                <a:r>
                  <a:rPr lang="en-US" sz="2800" dirty="0">
                    <a:latin typeface="Courier New"/>
                    <a:cs typeface="Courier New"/>
                  </a:rPr>
                  <a:t>←</a:t>
                </a:r>
                <a:r>
                  <a:rPr lang="en-US" sz="3000" dirty="0"/>
                  <a:t> Test(</a:t>
                </a:r>
                <a:r>
                  <a:rPr lang="en-US" sz="3000" i="1" dirty="0"/>
                  <a:t>V</a:t>
                </a:r>
                <a:r>
                  <a:rPr lang="en-US" sz="3000" i="1" baseline="-25000" dirty="0"/>
                  <a:t>i</a:t>
                </a:r>
                <a:r>
                  <a:rPr lang="en-US" sz="3000" dirty="0"/>
                  <a:t>) </a:t>
                </a:r>
                <a:r>
                  <a:rPr lang="en-US" sz="3000" dirty="0">
                    <a:solidFill>
                      <a:srgbClr val="FF0000"/>
                    </a:solidFill>
                  </a:rPr>
                  <a:t>; compute validation error on </a:t>
                </a:r>
                <a:r>
                  <a:rPr lang="en-US" sz="3000" i="1" dirty="0">
                    <a:solidFill>
                      <a:srgbClr val="FF0000"/>
                    </a:solidFill>
                  </a:rPr>
                  <a:t>T</a:t>
                </a:r>
                <a:r>
                  <a:rPr lang="en-US" sz="3000" i="1" baseline="-25000" dirty="0">
                    <a:solidFill>
                      <a:srgbClr val="FF0000"/>
                    </a:solidFill>
                  </a:rPr>
                  <a:t>i</a:t>
                </a:r>
                <a:endParaRPr lang="en-US" sz="3000" dirty="0"/>
              </a:p>
              <a:p>
                <a:pPr lvl="1"/>
                <a:r>
                  <a:rPr lang="en-US" sz="2800" dirty="0"/>
                  <a:t>Average validation error: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  <a:ea typeface="Cambria Math"/>
                      </a:rPr>
                      <m:t>𝐽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𝑑</m:t>
                        </m:r>
                      </m:e>
                    </m:d>
                    <m:r>
                      <a:rPr lang="en-US" sz="2800" i="1">
                        <a:latin typeface="Cambria Math"/>
                        <a:ea typeface="Cambria Math"/>
                      </a:rPr>
                      <m:t> ←</m:t>
                    </m:r>
                    <m:r>
                      <a:rPr lang="en-US" sz="2800" i="1">
                        <a:latin typeface="Cambria Math"/>
                      </a:rPr>
                      <m:t> </m:t>
                    </m:r>
                    <m:box>
                      <m:box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US" sz="2800" i="1">
                                <a:latin typeface="Cambria Math"/>
                              </a:rPr>
                              <m:t>𝑚</m:t>
                            </m:r>
                          </m:den>
                        </m:f>
                      </m:e>
                    </m:box>
                    <m:nary>
                      <m:naryPr>
                        <m:chr m:val="∑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800" i="1">
                            <a:latin typeface="Cambria Math"/>
                          </a:rPr>
                          <m:t>𝑖</m:t>
                        </m:r>
                        <m:r>
                          <a:rPr lang="en-US" sz="2800" i="1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sz="2800" i="1">
                            <a:latin typeface="Cambria Math"/>
                          </a:rPr>
                          <m:t>𝑚</m:t>
                        </m:r>
                      </m:sup>
                      <m:e>
                        <m:r>
                          <a:rPr lang="en-US" sz="2800" i="1">
                            <a:latin typeface="Cambria Math"/>
                          </a:rPr>
                          <m:t>𝐽</m:t>
                        </m:r>
                        <m:r>
                          <a:rPr lang="en-US" sz="2800" i="1">
                            <a:latin typeface="Cambria Math"/>
                          </a:rPr>
                          <m:t>(</m:t>
                        </m:r>
                        <m:r>
                          <a:rPr lang="en-US" sz="2800" i="1">
                            <a:latin typeface="Cambria Math"/>
                          </a:rPr>
                          <m:t>𝑑</m:t>
                        </m:r>
                        <m:r>
                          <a:rPr lang="en-US" sz="2800" i="1">
                            <a:latin typeface="Cambria Math"/>
                          </a:rPr>
                          <m:t>, </m:t>
                        </m:r>
                        <m:r>
                          <a:rPr lang="en-US" sz="2800" i="1">
                            <a:latin typeface="Cambria Math"/>
                          </a:rPr>
                          <m:t>𝑖</m:t>
                        </m:r>
                        <m:r>
                          <a:rPr lang="en-US" sz="2800" i="1">
                            <a:latin typeface="Cambria Math"/>
                          </a:rPr>
                          <m:t>)</m:t>
                        </m:r>
                      </m:e>
                    </m:nary>
                  </m:oMath>
                </a14:m>
                <a:endParaRPr lang="en-US" sz="3000" dirty="0"/>
              </a:p>
              <a:p>
                <a:pPr marL="560070" indent="-514350"/>
                <a:r>
                  <a:rPr lang="en-US" sz="3200" i="1" dirty="0"/>
                  <a:t>d</a:t>
                </a:r>
                <a:r>
                  <a:rPr lang="en-US" sz="3200" i="1" baseline="30000" dirty="0"/>
                  <a:t>*</a:t>
                </a:r>
                <a:r>
                  <a:rPr lang="en-US" sz="3200" i="1" dirty="0"/>
                  <a:t> </a:t>
                </a:r>
                <a:r>
                  <a:rPr lang="en-US" sz="3200" i="1" dirty="0">
                    <a:latin typeface="Courier New"/>
                    <a:cs typeface="Courier New"/>
                  </a:rPr>
                  <a:t>←</a:t>
                </a:r>
                <a:r>
                  <a:rPr lang="en-US" sz="3200" i="1" dirty="0"/>
                  <a:t> </a:t>
                </a:r>
                <a:r>
                  <a:rPr lang="en-US" sz="3200" dirty="0" err="1"/>
                  <a:t>arg</a:t>
                </a:r>
                <a:r>
                  <a:rPr lang="en-US" sz="3200" dirty="0"/>
                  <a:t> min</a:t>
                </a:r>
                <a:r>
                  <a:rPr lang="en-US" sz="3200" i="1" baseline="-25000" dirty="0"/>
                  <a:t>d</a:t>
                </a:r>
                <a:r>
                  <a:rPr lang="en-US" sz="3200" dirty="0"/>
                  <a:t> </a:t>
                </a:r>
                <a:r>
                  <a:rPr lang="en-US" sz="3200" i="1" dirty="0"/>
                  <a:t>J</a:t>
                </a:r>
                <a:r>
                  <a:rPr lang="en-US" sz="3200" dirty="0"/>
                  <a:t>(</a:t>
                </a:r>
                <a:r>
                  <a:rPr lang="en-US" sz="3200" i="1" dirty="0"/>
                  <a:t>d</a:t>
                </a:r>
                <a:r>
                  <a:rPr lang="en-US" sz="3200" dirty="0"/>
                  <a:t>)</a:t>
                </a:r>
                <a:r>
                  <a:rPr lang="en-US" sz="3200" dirty="0">
                    <a:solidFill>
                      <a:srgbClr val="FF0000"/>
                    </a:solidFill>
                  </a:rPr>
                  <a:t> ; return optimal degree </a:t>
                </a:r>
                <a:r>
                  <a:rPr lang="en-US" sz="3200" i="1" dirty="0">
                    <a:solidFill>
                      <a:srgbClr val="FF0000"/>
                    </a:solidFill>
                  </a:rPr>
                  <a:t>d</a:t>
                </a:r>
              </a:p>
            </p:txBody>
          </p:sp>
        </mc:Choice>
        <mc:Fallback xmlns="">
          <p:sp>
            <p:nvSpPr>
              <p:cNvPr id="11269" name="Rectangle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42844" y="1000108"/>
                <a:ext cx="8858312" cy="5715040"/>
              </a:xfrm>
              <a:blipFill rotWithShape="1">
                <a:blip r:embed="rId3"/>
                <a:stretch>
                  <a:fillRect l="-1032" t="-13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96386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10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Learning a Class from Examples</a:t>
            </a:r>
          </a:p>
        </p:txBody>
      </p:sp>
      <p:sp>
        <p:nvSpPr>
          <p:cNvPr id="47111" name="Rectangle 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tr-TR" dirty="0">
                <a:solidFill>
                  <a:schemeClr val="tx2"/>
                </a:solidFill>
                <a:latin typeface="+mj-lt"/>
              </a:rPr>
              <a:t>Class C of a “family car”</a:t>
            </a:r>
          </a:p>
          <a:p>
            <a:pPr lvl="1"/>
            <a:r>
              <a:rPr lang="tr-TR" sz="2400" dirty="0">
                <a:solidFill>
                  <a:schemeClr val="accent1"/>
                </a:solidFill>
                <a:latin typeface="+mj-lt"/>
              </a:rPr>
              <a:t>Prediction: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 Is car </a:t>
            </a:r>
            <a:r>
              <a:rPr lang="tr-TR" sz="2400" i="1" dirty="0">
                <a:solidFill>
                  <a:schemeClr val="tx2"/>
                </a:solidFill>
                <a:latin typeface="+mj-lt"/>
              </a:rPr>
              <a:t>x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 a family car?</a:t>
            </a:r>
          </a:p>
          <a:p>
            <a:pPr lvl="1"/>
            <a:r>
              <a:rPr lang="tr-TR" sz="2400" dirty="0">
                <a:solidFill>
                  <a:schemeClr val="accent1"/>
                </a:solidFill>
                <a:latin typeface="+mj-lt"/>
              </a:rPr>
              <a:t>Knowledge extraction: 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What do people expect from a family car?</a:t>
            </a:r>
          </a:p>
          <a:p>
            <a:r>
              <a:rPr lang="tr-TR" dirty="0">
                <a:solidFill>
                  <a:schemeClr val="tx2"/>
                </a:solidFill>
                <a:latin typeface="+mj-lt"/>
              </a:rPr>
              <a:t>Output: </a:t>
            </a:r>
          </a:p>
          <a:p>
            <a:pPr lvl="1">
              <a:buFont typeface="Wingdings" pitchFamily="2" charset="2"/>
              <a:buNone/>
            </a:pPr>
            <a:r>
              <a:rPr lang="tr-TR" sz="2400" dirty="0">
                <a:solidFill>
                  <a:schemeClr val="tx2"/>
                </a:solidFill>
                <a:latin typeface="+mj-lt"/>
              </a:rPr>
              <a:t>		Positive (+) and negative (–) examples</a:t>
            </a:r>
          </a:p>
          <a:p>
            <a:r>
              <a:rPr lang="tr-TR" dirty="0">
                <a:solidFill>
                  <a:schemeClr val="tx2"/>
                </a:solidFill>
                <a:latin typeface="+mj-lt"/>
              </a:rPr>
              <a:t>Input representation: </a:t>
            </a:r>
          </a:p>
          <a:p>
            <a:pPr>
              <a:buFont typeface="Wingdings" pitchFamily="2" charset="2"/>
              <a:buNone/>
            </a:pPr>
            <a:r>
              <a:rPr lang="tr-TR" i="1" dirty="0">
                <a:solidFill>
                  <a:schemeClr val="tx2"/>
                </a:solidFill>
                <a:latin typeface="+mj-lt"/>
              </a:rPr>
              <a:t>		x</a:t>
            </a:r>
            <a:r>
              <a:rPr lang="tr-TR" baseline="-25000" dirty="0">
                <a:solidFill>
                  <a:schemeClr val="tx2"/>
                </a:solidFill>
                <a:latin typeface="+mj-lt"/>
              </a:rPr>
              <a:t>1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: price, </a:t>
            </a:r>
            <a:r>
              <a:rPr lang="tr-TR" i="1" dirty="0">
                <a:solidFill>
                  <a:schemeClr val="tx2"/>
                </a:solidFill>
                <a:latin typeface="+mj-lt"/>
              </a:rPr>
              <a:t>x</a:t>
            </a:r>
            <a:r>
              <a:rPr lang="tr-TR" baseline="-25000" dirty="0">
                <a:solidFill>
                  <a:schemeClr val="tx2"/>
                </a:solidFill>
                <a:latin typeface="+mj-lt"/>
              </a:rPr>
              <a:t>2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 : engine power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defPPr>
              <a:defRPr lang="tr-TR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200" kern="1200">
                <a:solidFill>
                  <a:schemeClr val="tx2">
                    <a:shade val="90000"/>
                  </a:schemeClr>
                </a:solidFill>
                <a:latin typeface="Palatino Linotype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9pPr>
          </a:lstStyle>
          <a:p>
            <a:fld id="{DAC0D210-71C6-4AB2-92CC-A96B65609C9A}" type="slidenum">
              <a:rPr lang="tr-TR" smtClean="0"/>
              <a:pPr/>
              <a:t>33</a:t>
            </a:fld>
            <a:endParaRPr lang="tr-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46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288" y="1557338"/>
            <a:ext cx="5581650" cy="508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2644" name="Rectangle 4"/>
          <p:cNvSpPr>
            <a:spLocks noGrp="1" noChangeArrowheads="1"/>
          </p:cNvSpPr>
          <p:nvPr>
            <p:ph type="title" sz="quarter"/>
          </p:nvPr>
        </p:nvSpPr>
        <p:spPr>
          <a:xfrm>
            <a:off x="457200" y="457200"/>
            <a:ext cx="8229600" cy="828660"/>
          </a:xfrm>
        </p:spPr>
        <p:txBody>
          <a:bodyPr/>
          <a:lstStyle/>
          <a:p>
            <a:r>
              <a:rPr lang="tr-TR" dirty="0"/>
              <a:t>Training set </a:t>
            </a:r>
            <a:r>
              <a:rPr lang="tr-TR" i="0" dirty="0">
                <a:latin typeface="Lucida Calligraphy" pitchFamily="66" charset="0"/>
              </a:rPr>
              <a:t>X</a:t>
            </a:r>
          </a:p>
        </p:txBody>
      </p:sp>
      <p:graphicFrame>
        <p:nvGraphicFramePr>
          <p:cNvPr id="112665" name="Rectangle 25"/>
          <p:cNvGraphicFramePr>
            <a:graphicFrameLocks noGrp="1"/>
          </p:cNvGraphicFramePr>
          <p:nvPr>
            <p:ph sz="quarter" idx="1"/>
          </p:nvPr>
        </p:nvGraphicFramePr>
        <p:xfrm>
          <a:off x="2476500" y="2914650"/>
          <a:ext cx="0" cy="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0" imgH="0" progId="Equation.3">
                  <p:embed/>
                </p:oleObj>
              </mc:Choice>
              <mc:Fallback>
                <p:oleObj name="Equation" r:id="rId3" imgW="0" imgH="0" progId="Equation.3">
                  <p:embed/>
                  <p:pic>
                    <p:nvPicPr>
                      <p:cNvPr id="112665" name="Rectangle 25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500" y="2914650"/>
                        <a:ext cx="0" cy="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67" name="Object 27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6175375" y="1357313"/>
          <a:ext cx="180657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63280" imgH="241200" progId="Equation.3">
                  <p:embed/>
                </p:oleObj>
              </mc:Choice>
              <mc:Fallback>
                <p:oleObj name="Equation" r:id="rId4" imgW="863280" imgH="241200" progId="Equation.3">
                  <p:embed/>
                  <p:pic>
                    <p:nvPicPr>
                      <p:cNvPr id="112667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5375" y="1357313"/>
                        <a:ext cx="1806575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71" name="Object 31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4810125" y="2071688"/>
          <a:ext cx="3095625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71600" imgH="457200" progId="Equation.3">
                  <p:embed/>
                </p:oleObj>
              </mc:Choice>
              <mc:Fallback>
                <p:oleObj name="Equation" r:id="rId6" imgW="1371600" imgH="457200" progId="Equation.3">
                  <p:embed/>
                  <p:pic>
                    <p:nvPicPr>
                      <p:cNvPr id="112671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0125" y="2071688"/>
                        <a:ext cx="3095625" cy="1031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73" name="Object 33"/>
          <p:cNvGraphicFramePr>
            <a:graphicFrameLocks noChangeAspect="1"/>
          </p:cNvGraphicFramePr>
          <p:nvPr/>
        </p:nvGraphicFramePr>
        <p:xfrm>
          <a:off x="6359525" y="3746500"/>
          <a:ext cx="1247775" cy="1068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33160" imgH="457200" progId="Equation.3">
                  <p:embed/>
                </p:oleObj>
              </mc:Choice>
              <mc:Fallback>
                <p:oleObj name="Equation" r:id="rId8" imgW="533160" imgH="457200" progId="Equation.3">
                  <p:embed/>
                  <p:pic>
                    <p:nvPicPr>
                      <p:cNvPr id="112673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9525" y="3746500"/>
                        <a:ext cx="1247775" cy="1068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71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188" y="1635968"/>
            <a:ext cx="5400675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34" y="428604"/>
            <a:ext cx="8229600" cy="1143000"/>
          </a:xfrm>
        </p:spPr>
        <p:txBody>
          <a:bodyPr/>
          <a:lstStyle/>
          <a:p>
            <a:r>
              <a:rPr lang="tr-TR" dirty="0"/>
              <a:t>Class </a:t>
            </a:r>
            <a:r>
              <a:rPr lang="tr-TR" i="0" dirty="0">
                <a:latin typeface="Lucida Calligraphy" pitchFamily="66" charset="0"/>
              </a:rPr>
              <a:t>C</a:t>
            </a:r>
          </a:p>
        </p:txBody>
      </p:sp>
      <p:graphicFrame>
        <p:nvGraphicFramePr>
          <p:cNvPr id="115723" name="Object 11"/>
          <p:cNvGraphicFramePr>
            <a:graphicFrameLocks noGrp="1" noChangeAspect="1"/>
          </p:cNvGraphicFramePr>
          <p:nvPr>
            <p:ph idx="1"/>
          </p:nvPr>
        </p:nvGraphicFramePr>
        <p:xfrm>
          <a:off x="2114550" y="1863725"/>
          <a:ext cx="6135688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22560" imgH="203040" progId="Equation.3">
                  <p:embed/>
                </p:oleObj>
              </mc:Choice>
              <mc:Fallback>
                <p:oleObj name="Equation" r:id="rId3" imgW="3022560" imgH="203040" progId="Equation.3">
                  <p:embed/>
                  <p:pic>
                    <p:nvPicPr>
                      <p:cNvPr id="11572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4550" y="1863725"/>
                        <a:ext cx="6135688" cy="412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defPPr>
              <a:defRPr lang="tr-TR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200" kern="1200">
                <a:solidFill>
                  <a:schemeClr val="tx2">
                    <a:shade val="90000"/>
                  </a:schemeClr>
                </a:solidFill>
                <a:latin typeface="Palatino Linotype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9pPr>
          </a:lstStyle>
          <a:p>
            <a:fld id="{DAC0D210-71C6-4AB2-92CC-A96B65609C9A}" type="slidenum">
              <a:rPr lang="tr-TR" smtClean="0"/>
              <a:pPr/>
              <a:t>35</a:t>
            </a:fld>
            <a:endParaRPr lang="tr-T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701" name="Picture 1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750" y="1484313"/>
            <a:ext cx="6153150" cy="489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34" y="357166"/>
            <a:ext cx="8229600" cy="1143000"/>
          </a:xfrm>
        </p:spPr>
        <p:txBody>
          <a:bodyPr/>
          <a:lstStyle/>
          <a:p>
            <a:r>
              <a:rPr lang="tr-TR" dirty="0"/>
              <a:t>Hypothesis class </a:t>
            </a:r>
            <a:r>
              <a:rPr lang="tr-TR" i="0" dirty="0">
                <a:latin typeface="Lucida Calligraphy" pitchFamily="66" charset="0"/>
              </a:rPr>
              <a:t>H</a:t>
            </a:r>
          </a:p>
        </p:txBody>
      </p:sp>
      <p:graphicFrame>
        <p:nvGraphicFramePr>
          <p:cNvPr id="114712" name="Object 24"/>
          <p:cNvGraphicFramePr>
            <a:graphicFrameLocks noGrp="1" noChangeAspect="1"/>
          </p:cNvGraphicFramePr>
          <p:nvPr>
            <p:ph sz="half" idx="1"/>
          </p:nvPr>
        </p:nvGraphicFramePr>
        <p:xfrm>
          <a:off x="3922713" y="1543050"/>
          <a:ext cx="3689350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19240" imgH="457200" progId="Equation.3">
                  <p:embed/>
                </p:oleObj>
              </mc:Choice>
              <mc:Fallback>
                <p:oleObj name="Equation" r:id="rId3" imgW="2019240" imgH="457200" progId="Equation.3">
                  <p:embed/>
                  <p:pic>
                    <p:nvPicPr>
                      <p:cNvPr id="114712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2713" y="1543050"/>
                        <a:ext cx="3689350" cy="835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714" name="Object 26"/>
          <p:cNvGraphicFramePr>
            <a:graphicFrameLocks noGrp="1" noChangeAspect="1"/>
          </p:cNvGraphicFramePr>
          <p:nvPr>
            <p:ph sz="half" idx="2"/>
          </p:nvPr>
        </p:nvGraphicFramePr>
        <p:xfrm>
          <a:off x="5503863" y="4500563"/>
          <a:ext cx="3000375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11280" imgH="431640" progId="Equation.3">
                  <p:embed/>
                </p:oleObj>
              </mc:Choice>
              <mc:Fallback>
                <p:oleObj name="Equation" r:id="rId5" imgW="1511280" imgH="431640" progId="Equation.3">
                  <p:embed/>
                  <p:pic>
                    <p:nvPicPr>
                      <p:cNvPr id="114714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3863" y="4500563"/>
                        <a:ext cx="3000375" cy="857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709" name="Text Box 21"/>
          <p:cNvSpPr txBox="1">
            <a:spLocks noChangeArrowheads="1"/>
          </p:cNvSpPr>
          <p:nvPr/>
        </p:nvSpPr>
        <p:spPr bwMode="auto">
          <a:xfrm>
            <a:off x="5148263" y="4000504"/>
            <a:ext cx="362108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tr-TR" sz="2400" dirty="0">
                <a:latin typeface="+mj-lt"/>
              </a:rPr>
              <a:t>Error of </a:t>
            </a:r>
            <a:r>
              <a:rPr lang="tr-TR" sz="2400" i="1" dirty="0">
                <a:latin typeface="+mj-lt"/>
              </a:rPr>
              <a:t>h </a:t>
            </a:r>
            <a:r>
              <a:rPr lang="tr-TR" sz="2400" dirty="0">
                <a:latin typeface="+mj-lt"/>
              </a:rPr>
              <a:t>on</a:t>
            </a:r>
            <a:r>
              <a:rPr lang="tr-TR" sz="2400" i="1" dirty="0">
                <a:latin typeface="+mj-lt"/>
              </a:rPr>
              <a:t> </a:t>
            </a:r>
            <a:r>
              <a:rPr lang="tr-TR" sz="2400" i="0" dirty="0">
                <a:latin typeface="Lucida Calligraphy" pitchFamily="66" charset="0"/>
              </a:rPr>
              <a:t>H</a:t>
            </a:r>
            <a:endParaRPr lang="en-GB" sz="2400" dirty="0">
              <a:latin typeface="+mj-l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74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750" y="1557338"/>
            <a:ext cx="5000625" cy="466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S, G, and the Version Space</a:t>
            </a:r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defPPr>
              <a:defRPr lang="tr-TR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200" kern="1200">
                <a:solidFill>
                  <a:schemeClr val="tx2">
                    <a:shade val="90000"/>
                  </a:schemeClr>
                </a:solidFill>
                <a:latin typeface="Palatino Linotype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9pPr>
          </a:lstStyle>
          <a:p>
            <a:fld id="{DAC0D210-71C6-4AB2-92CC-A96B65609C9A}" type="slidenum">
              <a:rPr lang="tr-TR" smtClean="0"/>
              <a:pPr/>
              <a:t>37</a:t>
            </a:fld>
            <a:endParaRPr lang="tr-TR"/>
          </a:p>
        </p:txBody>
      </p:sp>
      <p:sp>
        <p:nvSpPr>
          <p:cNvPr id="116749" name="Line 13"/>
          <p:cNvSpPr>
            <a:spLocks noChangeShapeType="1"/>
          </p:cNvSpPr>
          <p:nvPr/>
        </p:nvSpPr>
        <p:spPr bwMode="auto">
          <a:xfrm>
            <a:off x="2411413" y="2349500"/>
            <a:ext cx="215900" cy="1079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116750" name="Line 14"/>
          <p:cNvSpPr>
            <a:spLocks noChangeShapeType="1"/>
          </p:cNvSpPr>
          <p:nvPr/>
        </p:nvSpPr>
        <p:spPr bwMode="auto">
          <a:xfrm flipH="1">
            <a:off x="4427538" y="2781300"/>
            <a:ext cx="576262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116753" name="Text Box 17"/>
          <p:cNvSpPr txBox="1">
            <a:spLocks noChangeArrowheads="1"/>
          </p:cNvSpPr>
          <p:nvPr/>
        </p:nvSpPr>
        <p:spPr bwMode="auto">
          <a:xfrm>
            <a:off x="1547813" y="1952625"/>
            <a:ext cx="296626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tr-TR" sz="2000" dirty="0">
                <a:latin typeface="+mj-lt"/>
              </a:rPr>
              <a:t>most specific hypothesis, </a:t>
            </a:r>
            <a:r>
              <a:rPr lang="tr-TR" sz="2000" i="1" dirty="0">
                <a:latin typeface="+mj-lt"/>
              </a:rPr>
              <a:t>S</a:t>
            </a:r>
            <a:endParaRPr lang="en-GB" sz="2000" i="1" dirty="0">
              <a:latin typeface="+mj-lt"/>
            </a:endParaRPr>
          </a:p>
        </p:txBody>
      </p:sp>
      <p:sp>
        <p:nvSpPr>
          <p:cNvPr id="116754" name="Text Box 18"/>
          <p:cNvSpPr txBox="1">
            <a:spLocks noChangeArrowheads="1"/>
          </p:cNvSpPr>
          <p:nvPr/>
        </p:nvSpPr>
        <p:spPr bwMode="auto">
          <a:xfrm>
            <a:off x="5003800" y="2457450"/>
            <a:ext cx="301018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tr-TR" sz="2000" dirty="0">
                <a:latin typeface="+mj-lt"/>
              </a:rPr>
              <a:t>most general hypothesis, </a:t>
            </a:r>
            <a:r>
              <a:rPr lang="tr-TR" sz="2000" i="1" dirty="0">
                <a:latin typeface="+mj-lt"/>
              </a:rPr>
              <a:t>G</a:t>
            </a:r>
            <a:endParaRPr lang="en-GB" sz="2000" i="1" dirty="0">
              <a:latin typeface="+mj-lt"/>
            </a:endParaRPr>
          </a:p>
        </p:txBody>
      </p:sp>
      <p:sp>
        <p:nvSpPr>
          <p:cNvPr id="116756" name="Text Box 20"/>
          <p:cNvSpPr txBox="1">
            <a:spLocks noChangeArrowheads="1"/>
          </p:cNvSpPr>
          <p:nvPr/>
        </p:nvSpPr>
        <p:spPr bwMode="auto">
          <a:xfrm>
            <a:off x="5148263" y="3482975"/>
            <a:ext cx="2883738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tr-TR" sz="2000" i="1" dirty="0">
                <a:latin typeface="+mj-lt"/>
              </a:rPr>
              <a:t>h </a:t>
            </a:r>
            <a:r>
              <a:rPr lang="tr-TR" sz="2000" dirty="0">
                <a:latin typeface="Symbol" pitchFamily="18" charset="2"/>
              </a:rPr>
              <a:t>Î </a:t>
            </a:r>
            <a:r>
              <a:rPr lang="tr-TR" sz="2000" dirty="0">
                <a:latin typeface="+mj-lt"/>
              </a:rPr>
              <a:t>H, between </a:t>
            </a:r>
            <a:r>
              <a:rPr lang="tr-TR" sz="2000" i="1" dirty="0">
                <a:latin typeface="+mj-lt"/>
              </a:rPr>
              <a:t>S</a:t>
            </a:r>
            <a:r>
              <a:rPr lang="tr-TR" sz="2000" dirty="0">
                <a:latin typeface="+mj-lt"/>
              </a:rPr>
              <a:t> and </a:t>
            </a:r>
            <a:r>
              <a:rPr lang="tr-TR" sz="2000" i="1" dirty="0">
                <a:latin typeface="+mj-lt"/>
              </a:rPr>
              <a:t>G</a:t>
            </a:r>
            <a:r>
              <a:rPr lang="tr-TR" sz="2000" dirty="0">
                <a:latin typeface="+mj-lt"/>
              </a:rPr>
              <a:t> is</a:t>
            </a:r>
          </a:p>
          <a:p>
            <a:r>
              <a:rPr lang="tr-TR" sz="2000" dirty="0">
                <a:solidFill>
                  <a:schemeClr val="tx2"/>
                </a:solidFill>
                <a:latin typeface="+mj-lt"/>
              </a:rPr>
              <a:t>consistent </a:t>
            </a:r>
          </a:p>
          <a:p>
            <a:r>
              <a:rPr lang="tr-TR" sz="2000" dirty="0">
                <a:latin typeface="+mj-lt"/>
              </a:rPr>
              <a:t>and make up the </a:t>
            </a:r>
          </a:p>
          <a:p>
            <a:r>
              <a:rPr lang="tr-TR" sz="2000" dirty="0">
                <a:solidFill>
                  <a:schemeClr val="tx2"/>
                </a:solidFill>
                <a:latin typeface="+mj-lt"/>
              </a:rPr>
              <a:t>version space</a:t>
            </a:r>
          </a:p>
          <a:p>
            <a:r>
              <a:rPr lang="tr-TR" sz="2000" dirty="0">
                <a:latin typeface="+mj-lt"/>
              </a:rPr>
              <a:t>(Mitchell, 1997)</a:t>
            </a:r>
            <a:endParaRPr lang="en-GB" sz="2000" dirty="0">
              <a:latin typeface="+mj-l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Margin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Choose </a:t>
            </a:r>
            <a:r>
              <a:rPr lang="tr-TR" i="1" dirty="0"/>
              <a:t>h</a:t>
            </a:r>
            <a:r>
              <a:rPr lang="tr-TR" dirty="0"/>
              <a:t> with largest margin</a:t>
            </a:r>
          </a:p>
        </p:txBody>
      </p:sp>
      <p:pic>
        <p:nvPicPr>
          <p:cNvPr id="40858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28926" y="2643182"/>
            <a:ext cx="3829050" cy="3724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86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11638" y="2205038"/>
            <a:ext cx="4714875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Noise and Model Complexity</a:t>
            </a:r>
          </a:p>
        </p:txBody>
      </p:sp>
      <p:sp>
        <p:nvSpPr>
          <p:cNvPr id="121859" name="AutoShape 3"/>
          <p:cNvSpPr>
            <a:spLocks noGrp="1" noChangeAspect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tr-TR"/>
              <a:t>Use the simpler one because</a:t>
            </a:r>
          </a:p>
          <a:p>
            <a:r>
              <a:rPr lang="tr-TR" sz="2000"/>
              <a:t>Simpler to use </a:t>
            </a:r>
          </a:p>
          <a:p>
            <a:pPr>
              <a:buFont typeface="Wingdings" pitchFamily="2" charset="2"/>
              <a:buNone/>
            </a:pPr>
            <a:r>
              <a:rPr lang="tr-TR" sz="2000"/>
              <a:t>	(lower computational </a:t>
            </a:r>
          </a:p>
          <a:p>
            <a:pPr>
              <a:buFont typeface="Wingdings" pitchFamily="2" charset="2"/>
              <a:buNone/>
            </a:pPr>
            <a:r>
              <a:rPr lang="tr-TR" sz="2000"/>
              <a:t>	complexity)</a:t>
            </a:r>
          </a:p>
          <a:p>
            <a:r>
              <a:rPr lang="tr-TR" sz="2000"/>
              <a:t>Easier to train (lower </a:t>
            </a:r>
          </a:p>
          <a:p>
            <a:pPr>
              <a:buFont typeface="Wingdings" pitchFamily="2" charset="2"/>
              <a:buNone/>
            </a:pPr>
            <a:r>
              <a:rPr lang="tr-TR" sz="2000"/>
              <a:t>	space complexity)</a:t>
            </a:r>
          </a:p>
          <a:p>
            <a:r>
              <a:rPr lang="tr-TR" sz="2000"/>
              <a:t>Easier to explain </a:t>
            </a:r>
          </a:p>
          <a:p>
            <a:pPr>
              <a:buFont typeface="Wingdings" pitchFamily="2" charset="2"/>
              <a:buNone/>
            </a:pPr>
            <a:r>
              <a:rPr lang="tr-TR" sz="2000"/>
              <a:t>	(more interpretable)</a:t>
            </a:r>
          </a:p>
          <a:p>
            <a:r>
              <a:rPr lang="tr-TR" sz="2000"/>
              <a:t>Generalizes better (lower </a:t>
            </a:r>
          </a:p>
          <a:p>
            <a:pPr>
              <a:buFont typeface="Wingdings" pitchFamily="2" charset="2"/>
              <a:buNone/>
            </a:pPr>
            <a:r>
              <a:rPr lang="tr-TR" sz="2000"/>
              <a:t>	variance - Occam’s razor)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defPPr>
              <a:defRPr lang="tr-TR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200" kern="1200">
                <a:solidFill>
                  <a:schemeClr val="tx2">
                    <a:shade val="90000"/>
                  </a:schemeClr>
                </a:solidFill>
                <a:latin typeface="Palatino Linotype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9pPr>
          </a:lstStyle>
          <a:p>
            <a:fld id="{DAC0D210-71C6-4AB2-92CC-A96B65609C9A}" type="slidenum">
              <a:rPr lang="tr-TR" smtClean="0"/>
              <a:pPr/>
              <a:t>39</a:t>
            </a:fld>
            <a:endParaRPr lang="tr-TR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88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188" y="1557338"/>
            <a:ext cx="6153150" cy="470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757222"/>
          </a:xfrm>
        </p:spPr>
        <p:txBody>
          <a:bodyPr>
            <a:normAutofit/>
          </a:bodyPr>
          <a:lstStyle/>
          <a:p>
            <a:r>
              <a:rPr lang="tr-TR" noProof="1"/>
              <a:t>Multiple Classes</a:t>
            </a:r>
            <a:r>
              <a:rPr lang="tr-TR" dirty="0"/>
              <a:t>, </a:t>
            </a:r>
            <a:r>
              <a:rPr lang="tr-TR" i="0" dirty="0">
                <a:latin typeface="Lucida Calligraphy" pitchFamily="66" charset="0"/>
              </a:rPr>
              <a:t>C</a:t>
            </a:r>
            <a:r>
              <a:rPr lang="tr-TR" baseline="-25000" dirty="0"/>
              <a:t>i</a:t>
            </a:r>
            <a:r>
              <a:rPr lang="tr-TR" dirty="0"/>
              <a:t> i=1,...,K</a:t>
            </a:r>
            <a:endParaRPr lang="tr-TR" i="0" noProof="1"/>
          </a:p>
        </p:txBody>
      </p:sp>
      <p:graphicFrame>
        <p:nvGraphicFramePr>
          <p:cNvPr id="122902" name="Object 22"/>
          <p:cNvGraphicFramePr>
            <a:graphicFrameLocks noGrp="1" noChangeAspect="1"/>
          </p:cNvGraphicFramePr>
          <p:nvPr>
            <p:ph sz="half" idx="1"/>
          </p:nvPr>
        </p:nvGraphicFramePr>
        <p:xfrm>
          <a:off x="5575300" y="1412875"/>
          <a:ext cx="1881188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63280" imgH="241200" progId="Equation.3">
                  <p:embed/>
                </p:oleObj>
              </mc:Choice>
              <mc:Fallback>
                <p:oleObj name="Equation" r:id="rId3" imgW="863280" imgH="241200" progId="Equation.3">
                  <p:embed/>
                  <p:pic>
                    <p:nvPicPr>
                      <p:cNvPr id="122902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5300" y="1412875"/>
                        <a:ext cx="1881188" cy="525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04" name="Object 2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5816600" y="2009775"/>
          <a:ext cx="2620963" cy="99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33440" imgH="507960" progId="Equation.3">
                  <p:embed/>
                </p:oleObj>
              </mc:Choice>
              <mc:Fallback>
                <p:oleObj name="Equation" r:id="rId5" imgW="1333440" imgH="507960" progId="Equation.3">
                  <p:embed/>
                  <p:pic>
                    <p:nvPicPr>
                      <p:cNvPr id="122904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6600" y="2009775"/>
                        <a:ext cx="2620963" cy="998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06" name="Object 26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1496612967"/>
              </p:ext>
            </p:extLst>
          </p:nvPr>
        </p:nvGraphicFramePr>
        <p:xfrm>
          <a:off x="5506368" y="4516331"/>
          <a:ext cx="3241425" cy="10715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36480" imgH="507960" progId="Equation.3">
                  <p:embed/>
                </p:oleObj>
              </mc:Choice>
              <mc:Fallback>
                <p:oleObj name="Equation" r:id="rId7" imgW="1536480" imgH="507960" progId="Equation.3">
                  <p:embed/>
                  <p:pic>
                    <p:nvPicPr>
                      <p:cNvPr id="122906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6368" y="4516331"/>
                        <a:ext cx="3241425" cy="107157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2895" name="Picture 15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476375" y="2924175"/>
            <a:ext cx="685800" cy="31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2901" name="Text Box 21"/>
          <p:cNvSpPr txBox="1">
            <a:spLocks noChangeArrowheads="1"/>
          </p:cNvSpPr>
          <p:nvPr/>
        </p:nvSpPr>
        <p:spPr bwMode="auto">
          <a:xfrm>
            <a:off x="5867400" y="3357563"/>
            <a:ext cx="236731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tr-TR" sz="2400" dirty="0">
                <a:latin typeface="+mj-lt"/>
              </a:rPr>
              <a:t>Train hypotheses </a:t>
            </a:r>
          </a:p>
          <a:p>
            <a:r>
              <a:rPr lang="tr-TR" sz="2400" i="1" dirty="0">
                <a:latin typeface="Calibri" pitchFamily="34" charset="0"/>
                <a:cs typeface="Calibri" pitchFamily="34" charset="0"/>
              </a:rPr>
              <a:t>h</a:t>
            </a:r>
            <a:r>
              <a:rPr lang="tr-TR" sz="2400" i="1" baseline="-25000" dirty="0">
                <a:latin typeface="Calibri" pitchFamily="34" charset="0"/>
                <a:cs typeface="Calibri" pitchFamily="34" charset="0"/>
              </a:rPr>
              <a:t>i</a:t>
            </a:r>
            <a:r>
              <a:rPr lang="tr-TR" sz="2400" dirty="0">
                <a:latin typeface="Calibri" pitchFamily="34" charset="0"/>
                <a:cs typeface="Calibri" pitchFamily="34" charset="0"/>
              </a:rPr>
              <a:t>(</a:t>
            </a:r>
            <a:r>
              <a:rPr lang="tr-TR" sz="2400" b="1" i="1" dirty="0">
                <a:latin typeface="Calibri" pitchFamily="34" charset="0"/>
                <a:cs typeface="Calibri" pitchFamily="34" charset="0"/>
              </a:rPr>
              <a:t>x</a:t>
            </a:r>
            <a:r>
              <a:rPr lang="tr-TR" sz="2400" dirty="0">
                <a:latin typeface="Calibri" pitchFamily="34" charset="0"/>
                <a:cs typeface="Calibri" pitchFamily="34" charset="0"/>
              </a:rPr>
              <a:t>), </a:t>
            </a:r>
            <a:r>
              <a:rPr lang="tr-TR" sz="2400" i="1" dirty="0">
                <a:latin typeface="Calibri" pitchFamily="34" charset="0"/>
                <a:cs typeface="Calibri" pitchFamily="34" charset="0"/>
              </a:rPr>
              <a:t>i </a:t>
            </a:r>
            <a:r>
              <a:rPr lang="tr-TR" sz="2400" dirty="0">
                <a:latin typeface="Calibri" pitchFamily="34" charset="0"/>
                <a:cs typeface="Calibri" pitchFamily="34" charset="0"/>
              </a:rPr>
              <a:t>=1,...,</a:t>
            </a:r>
            <a:r>
              <a:rPr lang="tr-TR" sz="2400" i="1" dirty="0">
                <a:latin typeface="Calibri" pitchFamily="34" charset="0"/>
                <a:cs typeface="Calibri" pitchFamily="34" charset="0"/>
              </a:rPr>
              <a:t>K</a:t>
            </a:r>
            <a:r>
              <a:rPr lang="tr-TR" sz="2400" dirty="0">
                <a:latin typeface="Calibri" pitchFamily="34" charset="0"/>
                <a:cs typeface="Calibri" pitchFamily="34" charset="0"/>
              </a:rPr>
              <a:t>: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90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84438" y="1412875"/>
            <a:ext cx="6124575" cy="489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3906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457200" y="457200"/>
            <a:ext cx="8229600" cy="757222"/>
          </a:xfrm>
        </p:spPr>
        <p:txBody>
          <a:bodyPr>
            <a:normAutofit/>
          </a:bodyPr>
          <a:lstStyle/>
          <a:p>
            <a:r>
              <a:rPr lang="tr-TR" dirty="0"/>
              <a:t>Regression</a:t>
            </a:r>
          </a:p>
        </p:txBody>
      </p:sp>
      <p:graphicFrame>
        <p:nvGraphicFramePr>
          <p:cNvPr id="123945" name="Object 41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4506913" y="2205038"/>
          <a:ext cx="193357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52200" imgH="215640" progId="Equation.3">
                  <p:embed/>
                </p:oleObj>
              </mc:Choice>
              <mc:Fallback>
                <p:oleObj name="Equation" r:id="rId3" imgW="952200" imgH="215640" progId="Equation.3">
                  <p:embed/>
                  <p:pic>
                    <p:nvPicPr>
                      <p:cNvPr id="123945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6913" y="2205038"/>
                        <a:ext cx="1933575" cy="4381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939" name="Object 35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6038850" y="2794000"/>
          <a:ext cx="2848745" cy="4921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96800" imgH="241200" progId="Equation.3">
                  <p:embed/>
                </p:oleObj>
              </mc:Choice>
              <mc:Fallback>
                <p:oleObj name="Equation" r:id="rId5" imgW="1396800" imgH="241200" progId="Equation.3">
                  <p:embed/>
                  <p:pic>
                    <p:nvPicPr>
                      <p:cNvPr id="123939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8850" y="2794000"/>
                        <a:ext cx="2848745" cy="492124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941" name="Object 37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639763" y="4076700"/>
          <a:ext cx="3541712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63560" imgH="431640" progId="Equation.3">
                  <p:embed/>
                </p:oleObj>
              </mc:Choice>
              <mc:Fallback>
                <p:oleObj name="Equation" r:id="rId7" imgW="1663560" imgH="431640" progId="Equation.3">
                  <p:embed/>
                  <p:pic>
                    <p:nvPicPr>
                      <p:cNvPr id="123941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763" y="4076700"/>
                        <a:ext cx="3541712" cy="9191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916" name="Line 12"/>
          <p:cNvSpPr>
            <a:spLocks noChangeShapeType="1"/>
          </p:cNvSpPr>
          <p:nvPr/>
        </p:nvSpPr>
        <p:spPr bwMode="auto">
          <a:xfrm flipH="1">
            <a:off x="4211638" y="2781300"/>
            <a:ext cx="360362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123917" name="Line 13"/>
          <p:cNvSpPr>
            <a:spLocks noChangeShapeType="1"/>
          </p:cNvSpPr>
          <p:nvPr/>
        </p:nvSpPr>
        <p:spPr bwMode="auto">
          <a:xfrm flipH="1">
            <a:off x="5292725" y="3429000"/>
            <a:ext cx="576263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tr-TR"/>
          </a:p>
        </p:txBody>
      </p:sp>
      <p:graphicFrame>
        <p:nvGraphicFramePr>
          <p:cNvPr id="123952" name="Object 48"/>
          <p:cNvGraphicFramePr>
            <a:graphicFrameLocks noChangeAspect="1"/>
          </p:cNvGraphicFramePr>
          <p:nvPr/>
        </p:nvGraphicFramePr>
        <p:xfrm>
          <a:off x="736600" y="4968875"/>
          <a:ext cx="5491163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323800" imgH="431640" progId="Equation.3">
                  <p:embed/>
                </p:oleObj>
              </mc:Choice>
              <mc:Fallback>
                <p:oleObj name="Equation" r:id="rId9" imgW="2323800" imgH="431640" progId="Equation.3">
                  <p:embed/>
                  <p:pic>
                    <p:nvPicPr>
                      <p:cNvPr id="123952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600" y="4968875"/>
                        <a:ext cx="5491163" cy="10175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953" name="Object 49"/>
          <p:cNvGraphicFramePr>
            <a:graphicFrameLocks noChangeAspect="1"/>
          </p:cNvGraphicFramePr>
          <p:nvPr/>
        </p:nvGraphicFramePr>
        <p:xfrm>
          <a:off x="627063" y="1844675"/>
          <a:ext cx="1912937" cy="173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838080" imgH="761760" progId="Equation.3">
                  <p:embed/>
                </p:oleObj>
              </mc:Choice>
              <mc:Fallback>
                <p:oleObj name="Equation" r:id="rId11" imgW="838080" imgH="761760" progId="Equation.3">
                  <p:embed/>
                  <p:pic>
                    <p:nvPicPr>
                      <p:cNvPr id="123953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063" y="1844675"/>
                        <a:ext cx="1912937" cy="1738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Cross-Validation</a:t>
            </a:r>
          </a:p>
        </p:txBody>
      </p:sp>
      <p:sp>
        <p:nvSpPr>
          <p:cNvPr id="1269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tr-TR"/>
              <a:t>To estimate generalization error, we need data unseen during training. We split the data as</a:t>
            </a:r>
          </a:p>
          <a:p>
            <a:pPr lvl="1"/>
            <a:r>
              <a:rPr lang="tr-TR" sz="2400"/>
              <a:t>Training set (50%)</a:t>
            </a:r>
          </a:p>
          <a:p>
            <a:pPr lvl="1"/>
            <a:r>
              <a:rPr lang="tr-TR" sz="2400"/>
              <a:t>Validation set (25%)</a:t>
            </a:r>
          </a:p>
          <a:p>
            <a:pPr lvl="1"/>
            <a:r>
              <a:rPr lang="tr-TR" sz="2400"/>
              <a:t>Test (publication) set (25%)</a:t>
            </a:r>
          </a:p>
          <a:p>
            <a:r>
              <a:rPr lang="tr-TR"/>
              <a:t>Resampling when there is few data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4DAB4-334F-46A6-AC30-7CFC470DC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Textbook/ Reference Materials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95FD06-FA6F-4036-946C-495CF14360CB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199" y="1981200"/>
            <a:ext cx="8264525" cy="3886200"/>
          </a:xfrm>
        </p:spPr>
        <p:txBody>
          <a:bodyPr>
            <a:normAutofit/>
          </a:bodyPr>
          <a:lstStyle/>
          <a:p>
            <a:pPr marL="868680" marR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  <a:spcAft>
                <a:spcPts val="750"/>
              </a:spcAft>
              <a:tabLst>
                <a:tab pos="685800" algn="l"/>
              </a:tabLst>
            </a:pPr>
            <a:r>
              <a:rPr lang="en-US" sz="28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Introduction to Machine Learning by </a:t>
            </a:r>
            <a:r>
              <a:rPr lang="en-US" sz="28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Ethem</a:t>
            </a:r>
            <a:r>
              <a:rPr lang="en-US" sz="28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Alpaydin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  <a:spcAft>
                <a:spcPts val="750"/>
              </a:spcAft>
              <a:tabLst>
                <a:tab pos="685800" algn="l"/>
              </a:tabLst>
            </a:pPr>
            <a:r>
              <a:rPr lang="en-US" sz="28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Machine Learning: An Algorithmic Perspective by Stephen </a:t>
            </a:r>
            <a:r>
              <a:rPr lang="en-US" sz="28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Marsland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  <a:spcAft>
                <a:spcPts val="750"/>
              </a:spcAft>
              <a:tabLst>
                <a:tab pos="685800" algn="l"/>
              </a:tabLst>
            </a:pPr>
            <a:r>
              <a:rPr lang="en-US" sz="28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Pattern Recognition and Machine Learning by Christopher M. Bishop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3459DD-A40C-40FE-9E3F-718034B12B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1E02EA1-D2B5-4355-B372-290AC846D86A}" type="slidenum">
              <a:rPr lang="tr-TR" smtClean="0"/>
              <a:pPr/>
              <a:t>43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988792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878E6EE8A70B48A83B8463F15F18B7" ma:contentTypeVersion="0" ma:contentTypeDescription="Create a new document." ma:contentTypeScope="" ma:versionID="5b1c09136bc71acd7719dd8778ba31bf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D68E119-2E74-4A2E-B83F-E755125D9750}"/>
</file>

<file path=customXml/itemProps2.xml><?xml version="1.0" encoding="utf-8"?>
<ds:datastoreItem xmlns:ds="http://schemas.openxmlformats.org/officeDocument/2006/customXml" ds:itemID="{68629423-BB53-49E3-95A6-4F3C1680138F}"/>
</file>

<file path=customXml/itemProps3.xml><?xml version="1.0" encoding="utf-8"?>
<ds:datastoreItem xmlns:ds="http://schemas.openxmlformats.org/officeDocument/2006/customXml" ds:itemID="{6EAE18F1-9366-4F5F-A599-FCC39D22AA60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4747</TotalTime>
  <Words>2335</Words>
  <Application>Microsoft Office PowerPoint</Application>
  <PresentationFormat>On-screen Show (4:3)</PresentationFormat>
  <Paragraphs>306</Paragraphs>
  <Slides>43</Slides>
  <Notes>31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4" baseType="lpstr">
      <vt:lpstr>Equity</vt:lpstr>
      <vt:lpstr>PowerPoint Presentation</vt:lpstr>
      <vt:lpstr>Supervised Learning</vt:lpstr>
      <vt:lpstr>Supervised Learning Problem</vt:lpstr>
      <vt:lpstr>Supervised Learning Problem</vt:lpstr>
      <vt:lpstr>Supervised Learning Steps</vt:lpstr>
      <vt:lpstr>EX: What Model or Hypothesis Space H ? </vt:lpstr>
      <vt:lpstr>Linear Hypothesis</vt:lpstr>
      <vt:lpstr>Sum-of-Squares Error function  (or Mean Squared Error, MSE)</vt:lpstr>
      <vt:lpstr>Example – Minimizing J(w)</vt:lpstr>
      <vt:lpstr>Least Mean Squares (LMS) </vt:lpstr>
      <vt:lpstr>Limitation of MSE</vt:lpstr>
      <vt:lpstr>Mean Absolute Error (MAE)</vt:lpstr>
      <vt:lpstr>Mean Absolute Error (MAE)</vt:lpstr>
      <vt:lpstr>Huber Loss and RMSE</vt:lpstr>
      <vt:lpstr>Some Linear Algebra</vt:lpstr>
      <vt:lpstr>Some Linear Algebra …</vt:lpstr>
      <vt:lpstr>Some Linear Algebra - The Solution!</vt:lpstr>
      <vt:lpstr>Example of Linear Regression - Data Matrices</vt:lpstr>
      <vt:lpstr>XTX</vt:lpstr>
      <vt:lpstr>XTY</vt:lpstr>
      <vt:lpstr>Solving for w – Regression Curve</vt:lpstr>
      <vt:lpstr>Linear Regression - Summary</vt:lpstr>
      <vt:lpstr>Generalization Ability vs Overfitting</vt:lpstr>
      <vt:lpstr>Overfitting</vt:lpstr>
      <vt:lpstr>Avoiding Overfitting</vt:lpstr>
      <vt:lpstr>Cross-Validation</vt:lpstr>
      <vt:lpstr>Cross-Validation and Model Selection</vt:lpstr>
      <vt:lpstr>Leave-One-Out Cross-Validation</vt:lpstr>
      <vt:lpstr>Example: Estimating True Error for d = 1</vt:lpstr>
      <vt:lpstr>Example: Estimation results for all d</vt:lpstr>
      <vt:lpstr>Model Selection</vt:lpstr>
      <vt:lpstr>k-Fold Cross-Validation</vt:lpstr>
      <vt:lpstr>Learning a Class from Examples</vt:lpstr>
      <vt:lpstr>Training set X</vt:lpstr>
      <vt:lpstr>Class C</vt:lpstr>
      <vt:lpstr>Hypothesis class H</vt:lpstr>
      <vt:lpstr>S, G, and the Version Space</vt:lpstr>
      <vt:lpstr>Margin</vt:lpstr>
      <vt:lpstr>Noise and Model Complexity</vt:lpstr>
      <vt:lpstr>Multiple Classes, Ci i=1,...,K</vt:lpstr>
      <vt:lpstr>Regression</vt:lpstr>
      <vt:lpstr>Cross-Validation</vt:lpstr>
      <vt:lpstr>Textbook/ Reference Materials</vt:lpstr>
    </vt:vector>
  </TitlesOfParts>
  <Company>BOGAZICI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Machine Learning</dc:title>
  <dc:creator>ethem</dc:creator>
  <cp:lastModifiedBy>Dr. Kamruddin Nur</cp:lastModifiedBy>
  <cp:revision>328</cp:revision>
  <dcterms:created xsi:type="dcterms:W3CDTF">2005-01-24T14:46:28Z</dcterms:created>
  <dcterms:modified xsi:type="dcterms:W3CDTF">2025-07-18T21:33:25Z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0x01010083878E6EE8A70B48A83B8463F15F18B7</vt:lpwstr>
  </property>
</Properties>
</file>