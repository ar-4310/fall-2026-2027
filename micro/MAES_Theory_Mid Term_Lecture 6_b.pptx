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402" r:id="rId2"/>
    <p:sldId id="403" r:id="rId3"/>
    <p:sldId id="404" r:id="rId4"/>
    <p:sldId id="405" r:id="rId5"/>
    <p:sldId id="406" r:id="rId6"/>
    <p:sldId id="407" r:id="rId7"/>
    <p:sldId id="408" r:id="rId8"/>
    <p:sldId id="409" r:id="rId9"/>
    <p:sldId id="410" r:id="rId10"/>
    <p:sldId id="411" r:id="rId11"/>
    <p:sldId id="412" r:id="rId12"/>
    <p:sldId id="413" r:id="rId13"/>
    <p:sldId id="414" r:id="rId14"/>
    <p:sldId id="415" r:id="rId15"/>
    <p:sldId id="416" r:id="rId16"/>
    <p:sldId id="417" r:id="rId17"/>
    <p:sldId id="418" r:id="rId18"/>
    <p:sldId id="312" r:id="rId19"/>
    <p:sldId id="340" r:id="rId20"/>
  </p:sldIdLst>
  <p:sldSz cx="14630400" cy="7772400"/>
  <p:notesSz cx="6858000" cy="9144000"/>
  <p:defaultTextStyle>
    <a:defPPr>
      <a:defRPr lang="en-US"/>
    </a:defPPr>
    <a:lvl1pPr marL="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46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321" autoAdjust="0"/>
  </p:normalViewPr>
  <p:slideViewPr>
    <p:cSldViewPr>
      <p:cViewPr varScale="1">
        <p:scale>
          <a:sx n="56" d="100"/>
          <a:sy n="56" d="100"/>
        </p:scale>
        <p:origin x="644" y="28"/>
      </p:cViewPr>
      <p:guideLst>
        <p:guide orient="horz" pos="2448"/>
        <p:guide pos="46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tik Parvez Sheikh" userId="980b2c0e-c4be-48b4-89f1-66949b55d700" providerId="ADAL" clId="{E7A6213D-DD47-4BB5-A2D2-C322353A4A35}"/>
    <pc:docChg chg="modSld">
      <pc:chgData name="Protik Parvez Sheikh" userId="980b2c0e-c4be-48b4-89f1-66949b55d700" providerId="ADAL" clId="{E7A6213D-DD47-4BB5-A2D2-C322353A4A35}" dt="2025-11-05T10:40:37.071" v="0" actId="14734"/>
      <pc:docMkLst>
        <pc:docMk/>
      </pc:docMkLst>
      <pc:sldChg chg="modSp mod">
        <pc:chgData name="Protik Parvez Sheikh" userId="980b2c0e-c4be-48b4-89f1-66949b55d700" providerId="ADAL" clId="{E7A6213D-DD47-4BB5-A2D2-C322353A4A35}" dt="2025-11-05T10:40:37.071" v="0" actId="14734"/>
        <pc:sldMkLst>
          <pc:docMk/>
          <pc:sldMk cId="428501824" sldId="405"/>
        </pc:sldMkLst>
        <pc:graphicFrameChg chg="modGraphic">
          <ac:chgData name="Protik Parvez Sheikh" userId="980b2c0e-c4be-48b4-89f1-66949b55d700" providerId="ADAL" clId="{E7A6213D-DD47-4BB5-A2D2-C322353A4A35}" dt="2025-11-05T10:40:37.071" v="0" actId="14734"/>
          <ac:graphicFrameMkLst>
            <pc:docMk/>
            <pc:sldMk cId="428501824" sldId="405"/>
            <ac:graphicFrameMk id="7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3B376-41F8-407B-865F-003C89CFA985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3200" y="685800"/>
            <a:ext cx="64516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28183-2755-4A32-BE4D-8CF9D3263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10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8656292" y="4318001"/>
            <a:ext cx="5974110" cy="10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>
        <p:nvSpPr>
          <p:cNvPr id="24" name="Rectangle 23"/>
          <p:cNvSpPr/>
          <p:nvPr/>
        </p:nvSpPr>
        <p:spPr>
          <a:xfrm flipV="1">
            <a:off x="8656321" y="4416611"/>
            <a:ext cx="5974082" cy="21762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>
        <p:nvSpPr>
          <p:cNvPr id="25" name="Rectangle 24"/>
          <p:cNvSpPr/>
          <p:nvPr/>
        </p:nvSpPr>
        <p:spPr>
          <a:xfrm flipV="1">
            <a:off x="8656321" y="4663856"/>
            <a:ext cx="5974082" cy="10363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>
        <p:nvSpPr>
          <p:cNvPr id="26" name="Rectangle 25"/>
          <p:cNvSpPr/>
          <p:nvPr/>
        </p:nvSpPr>
        <p:spPr>
          <a:xfrm flipV="1">
            <a:off x="8656320" y="4719657"/>
            <a:ext cx="3145536" cy="20726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>
        <p:nvSpPr>
          <p:cNvPr id="27" name="Rectangle 26"/>
          <p:cNvSpPr/>
          <p:nvPr/>
        </p:nvSpPr>
        <p:spPr>
          <a:xfrm flipV="1">
            <a:off x="8656320" y="4759515"/>
            <a:ext cx="3145536" cy="10363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8656320" y="4490720"/>
            <a:ext cx="4901184" cy="31090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11802411" y="4602447"/>
            <a:ext cx="2560320" cy="4145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>
        <p:nvSpPr>
          <p:cNvPr id="7" name="Rectangle 6"/>
          <p:cNvSpPr/>
          <p:nvPr/>
        </p:nvSpPr>
        <p:spPr>
          <a:xfrm>
            <a:off x="2" y="4136284"/>
            <a:ext cx="14630400" cy="276726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>
        <p:nvSpPr>
          <p:cNvPr id="10" name="Rectangle 9"/>
          <p:cNvSpPr/>
          <p:nvPr/>
        </p:nvSpPr>
        <p:spPr>
          <a:xfrm>
            <a:off x="1" y="4165598"/>
            <a:ext cx="14630402" cy="15943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>
        <p:nvSpPr>
          <p:cNvPr id="11" name="Rectangle 10"/>
          <p:cNvSpPr/>
          <p:nvPr/>
        </p:nvSpPr>
        <p:spPr>
          <a:xfrm flipV="1">
            <a:off x="10262482" y="4128835"/>
            <a:ext cx="4367920" cy="281556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4630400" cy="419526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31520" y="2722139"/>
            <a:ext cx="13533120" cy="1666028"/>
          </a:xfrm>
        </p:spPr>
        <p:txBody>
          <a:bodyPr anchor="b"/>
          <a:lstStyle>
            <a:lvl1pPr algn="ctr">
              <a:defRPr sz="4987">
                <a:solidFill>
                  <a:schemeClr val="bg1"/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3312141" y="1287"/>
            <a:ext cx="1196339" cy="414528"/>
          </a:xfrm>
        </p:spPr>
        <p:txBody>
          <a:bodyPr/>
          <a:lstStyle>
            <a:lvl1pPr algn="r">
              <a:defRPr sz="204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250A6-A80F-4F89-8715-EB74E732A57A}" type="datetime3">
              <a:rPr lang="en-US" smtClean="0"/>
              <a:t>5 November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Teacher: Prof. Dr. Engr. Muhibul Haque Bhuyan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2245361"/>
            <a:ext cx="12435840" cy="1543685"/>
          </a:xfrm>
        </p:spPr>
        <p:txBody>
          <a:bodyPr anchor="b">
            <a:noAutofit/>
          </a:bodyPr>
          <a:lstStyle>
            <a:lvl1pPr algn="l">
              <a:buNone/>
              <a:defRPr sz="4873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816033"/>
            <a:ext cx="12435840" cy="1711007"/>
          </a:xfrm>
        </p:spPr>
        <p:txBody>
          <a:bodyPr anchor="t"/>
          <a:lstStyle>
            <a:lvl1pPr marL="51814" indent="0">
              <a:buNone/>
              <a:defRPr sz="2380" b="0">
                <a:solidFill>
                  <a:schemeClr val="tx2"/>
                </a:solidFill>
              </a:defRPr>
            </a:lvl1pPr>
            <a:lvl2pPr>
              <a:buNone/>
              <a:defRPr sz="204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813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587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587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56251-AA6C-45DF-B60A-EC8FE7CC5DCD}" type="datetime3">
              <a:rPr lang="en-US" smtClean="0"/>
              <a:t>5 November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Teacher: Prof. Dr. Engr. Muhibul Haque Bhuyan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549348"/>
            <a:ext cx="6461760" cy="5129425"/>
          </a:xfrm>
        </p:spPr>
        <p:txBody>
          <a:bodyPr/>
          <a:lstStyle>
            <a:lvl1pPr>
              <a:defRPr sz="2267"/>
            </a:lvl1pPr>
            <a:lvl2pPr>
              <a:defRPr sz="2153"/>
            </a:lvl2pPr>
            <a:lvl3pPr>
              <a:defRPr sz="2040"/>
            </a:lvl3pPr>
            <a:lvl4pPr>
              <a:defRPr sz="2040"/>
            </a:lvl4pPr>
            <a:lvl5pPr>
              <a:defRPr sz="204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7120" y="2549348"/>
            <a:ext cx="6461760" cy="5129425"/>
          </a:xfrm>
        </p:spPr>
        <p:txBody>
          <a:bodyPr/>
          <a:lstStyle>
            <a:lvl1pPr>
              <a:defRPr sz="2267"/>
            </a:lvl1pPr>
            <a:lvl2pPr>
              <a:defRPr sz="2153"/>
            </a:lvl2pPr>
            <a:lvl3pPr>
              <a:defRPr sz="2040"/>
            </a:lvl3pPr>
            <a:lvl4pPr>
              <a:defRPr sz="2040"/>
            </a:lvl4pPr>
            <a:lvl5pPr>
              <a:defRPr sz="204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2AA51-5D30-40CA-BCEC-A6F7E77B42DF}" type="datetime3">
              <a:rPr lang="en-US" smtClean="0"/>
              <a:t>5 November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Teacher: Prof. Dr. Engr. Muhibul Haque Bhuyan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95400"/>
            <a:ext cx="13411200" cy="1212494"/>
          </a:xfrm>
        </p:spPr>
        <p:txBody>
          <a:bodyPr anchor="ctr"/>
          <a:lstStyle>
            <a:lvl1pPr>
              <a:defRPr sz="4533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544299"/>
            <a:ext cx="6466637" cy="51816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51814" indent="0">
              <a:buNone/>
              <a:defRPr sz="2153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267" b="1"/>
            </a:lvl2pPr>
            <a:lvl3pPr>
              <a:buNone/>
              <a:defRPr sz="2040" b="1"/>
            </a:lvl3pPr>
            <a:lvl4pPr>
              <a:buNone/>
              <a:defRPr sz="1813" b="1"/>
            </a:lvl4pPr>
            <a:lvl5pPr>
              <a:buNone/>
              <a:defRPr sz="181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553961" y="2544299"/>
            <a:ext cx="6466840" cy="51816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51814" indent="0">
              <a:buNone/>
              <a:defRPr sz="2153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267" b="1"/>
            </a:lvl2pPr>
            <a:lvl3pPr>
              <a:buNone/>
              <a:defRPr sz="2040" b="1"/>
            </a:lvl3pPr>
            <a:lvl4pPr>
              <a:buNone/>
              <a:defRPr sz="1813" b="1"/>
            </a:lvl4pPr>
            <a:lvl5pPr>
              <a:buNone/>
              <a:defRPr sz="181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3069655"/>
            <a:ext cx="6466637" cy="4404360"/>
          </a:xfrm>
        </p:spPr>
        <p:txBody>
          <a:bodyPr/>
          <a:lstStyle>
            <a:lvl1pPr>
              <a:defRPr sz="2267"/>
            </a:lvl1pPr>
            <a:lvl2pPr>
              <a:defRPr sz="2267"/>
            </a:lvl2pPr>
            <a:lvl3pPr>
              <a:defRPr sz="2040"/>
            </a:lvl3pPr>
            <a:lvl4pPr>
              <a:defRPr sz="1813"/>
            </a:lvl4pPr>
            <a:lvl5pPr>
              <a:defRPr sz="1813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9287" y="3069655"/>
            <a:ext cx="6466840" cy="4404360"/>
          </a:xfrm>
        </p:spPr>
        <p:txBody>
          <a:bodyPr/>
          <a:lstStyle>
            <a:lvl1pPr>
              <a:defRPr sz="2267"/>
            </a:lvl1pPr>
            <a:lvl2pPr>
              <a:defRPr sz="2267"/>
            </a:lvl2pPr>
            <a:lvl3pPr>
              <a:defRPr sz="2040"/>
            </a:lvl3pPr>
            <a:lvl4pPr>
              <a:defRPr sz="1813"/>
            </a:lvl4pPr>
            <a:lvl5pPr>
              <a:defRPr sz="1813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777C449-E92F-47F0-A72D-FA90152868A2}" type="datetime3">
              <a:rPr lang="en-US" smtClean="0"/>
              <a:t>5 November 2025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/>
              <a:t>Course Teacher: Prof. Dr. Engr. Muhibul Haque Bhuyan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295400"/>
            <a:ext cx="13167360" cy="1212494"/>
          </a:xfrm>
        </p:spPr>
        <p:txBody>
          <a:bodyPr anchor="ctr"/>
          <a:lstStyle>
            <a:lvl1pPr>
              <a:defRPr sz="4533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533888" y="694334"/>
            <a:ext cx="1531622" cy="518160"/>
          </a:xfrm>
        </p:spPr>
        <p:txBody>
          <a:bodyPr/>
          <a:lstStyle/>
          <a:p>
            <a:fld id="{C73EA64D-47B6-402A-8A60-6A9744D73A1E}" type="datetime3">
              <a:rPr lang="en-US" smtClean="0"/>
              <a:t>5 November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412480" y="694334"/>
            <a:ext cx="2121408" cy="518160"/>
          </a:xfrm>
        </p:spPr>
        <p:txBody>
          <a:bodyPr/>
          <a:lstStyle/>
          <a:p>
            <a:r>
              <a:rPr lang="en-US"/>
              <a:t>Course Teacher: Prof. Dr. Engr. Muhibul Haque Bhuyan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3079578" y="2575"/>
            <a:ext cx="1219200" cy="41452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5F553-CAE9-4362-892D-979220DC0F52}" type="datetime3">
              <a:rPr lang="en-US" smtClean="0"/>
              <a:t>5 November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Teacher: Prof. Dr. Engr. Muhibul Haque Bhuyan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5594" y="1248899"/>
            <a:ext cx="5413248" cy="994867"/>
          </a:xfrm>
        </p:spPr>
        <p:txBody>
          <a:bodyPr anchor="b"/>
          <a:lstStyle>
            <a:lvl1pPr algn="l">
              <a:buNone/>
              <a:defRPr sz="204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565594" y="2278824"/>
            <a:ext cx="5413248" cy="5233416"/>
          </a:xfrm>
        </p:spPr>
        <p:txBody>
          <a:bodyPr/>
          <a:lstStyle>
            <a:lvl1pPr marL="10363" indent="0">
              <a:buNone/>
              <a:defRPr sz="1587"/>
            </a:lvl1pPr>
            <a:lvl2pPr>
              <a:buNone/>
              <a:defRPr sz="1360"/>
            </a:lvl2pPr>
            <a:lvl3pPr>
              <a:buNone/>
              <a:defRPr sz="1133"/>
            </a:lvl3pPr>
            <a:lvl4pPr>
              <a:buNone/>
              <a:defRPr sz="1020"/>
            </a:lvl4pPr>
            <a:lvl5pPr>
              <a:buNone/>
              <a:defRPr sz="102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43840" y="879792"/>
            <a:ext cx="8163763" cy="6632448"/>
          </a:xfrm>
        </p:spPr>
        <p:txBody>
          <a:bodyPr/>
          <a:lstStyle>
            <a:lvl1pPr>
              <a:defRPr sz="3627"/>
            </a:lvl1pPr>
            <a:lvl2pPr>
              <a:defRPr sz="3173"/>
            </a:lvl2pPr>
            <a:lvl3pPr>
              <a:defRPr sz="2720"/>
            </a:lvl3pPr>
            <a:lvl4pPr>
              <a:defRPr sz="2267"/>
            </a:lvl4pPr>
            <a:lvl5pPr>
              <a:defRPr sz="2267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3AAF9-9C22-457D-B411-DBF5A1E2A9A5}" type="datetime3">
              <a:rPr lang="en-US" smtClean="0"/>
              <a:t>5 November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Teacher: Prof. Dr. Engr. Muhibul Haque Bhuyan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4695" y="1257049"/>
            <a:ext cx="938885" cy="5305855"/>
          </a:xfrm>
        </p:spPr>
        <p:txBody>
          <a:bodyPr vert="vert270" lIns="45720" tIns="0" rIns="45720" anchor="t"/>
          <a:lstStyle>
            <a:lvl1pPr algn="ctr">
              <a:buNone/>
              <a:defRPr sz="2267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874" y="1295400"/>
            <a:ext cx="7315200" cy="51816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627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41509" y="3710883"/>
            <a:ext cx="4145280" cy="2852021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73"/>
            </a:lvl1pPr>
            <a:lvl2pPr>
              <a:buFontTx/>
              <a:buNone/>
              <a:defRPr sz="1360"/>
            </a:lvl2pPr>
            <a:lvl3pPr>
              <a:buFontTx/>
              <a:buNone/>
              <a:defRPr sz="1133"/>
            </a:lvl3pPr>
            <a:lvl4pPr>
              <a:buFontTx/>
              <a:buNone/>
              <a:defRPr sz="1020"/>
            </a:lvl4pPr>
            <a:lvl5pPr>
              <a:buFontTx/>
              <a:buNone/>
              <a:defRPr sz="102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6CC3F-0822-4718-8708-0C035C18A818}" type="datetime3">
              <a:rPr lang="en-US" smtClean="0"/>
              <a:t>5 November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Teacher: Prof. Dr. Engr. Muhibul Haque Bhuyan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F73A8-4E68-4A7A-9A7F-A1DD506FDE5B}" type="datetime3">
              <a:rPr lang="en-US" smtClean="0"/>
              <a:t>5 November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Teacher: Prof. Dr. Engr. Muhibul Haque Bhuyan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50880" y="1295400"/>
            <a:ext cx="3048000" cy="621792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1295400"/>
            <a:ext cx="9997440" cy="621792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357F-ABE7-48DF-A2BF-7E0DE67279AF}" type="datetime3">
              <a:rPr lang="en-US" smtClean="0"/>
              <a:t>5 November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Teacher: Prof. Dr. Engr. Muhibul Haque Bhuyan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2" y="415728"/>
            <a:ext cx="14630400" cy="95661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14630400" cy="352085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>
        <p:nvSpPr>
          <p:cNvPr id="30" name="Rectangle 29"/>
          <p:cNvSpPr/>
          <p:nvPr/>
        </p:nvSpPr>
        <p:spPr>
          <a:xfrm>
            <a:off x="1" y="349380"/>
            <a:ext cx="14630402" cy="103633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>
        <p:nvSpPr>
          <p:cNvPr id="31" name="Rectangle 30"/>
          <p:cNvSpPr/>
          <p:nvPr/>
        </p:nvSpPr>
        <p:spPr>
          <a:xfrm flipV="1">
            <a:off x="8656292" y="408279"/>
            <a:ext cx="5974110" cy="10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>
        <p:nvSpPr>
          <p:cNvPr id="32" name="Rectangle 31"/>
          <p:cNvSpPr/>
          <p:nvPr/>
        </p:nvSpPr>
        <p:spPr>
          <a:xfrm flipV="1">
            <a:off x="8656321" y="498794"/>
            <a:ext cx="5974082" cy="20404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8651742" y="563838"/>
            <a:ext cx="4901184" cy="31090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11797834" y="667469"/>
            <a:ext cx="2560320" cy="4145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>
        <p:nvSpPr>
          <p:cNvPr id="35" name="Rectangle 34"/>
          <p:cNvSpPr/>
          <p:nvPr/>
        </p:nvSpPr>
        <p:spPr bwMode="invGray">
          <a:xfrm>
            <a:off x="14535945" y="-2268"/>
            <a:ext cx="92202" cy="704698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14471170" y="-2268"/>
            <a:ext cx="43891" cy="704698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14440685" y="-2268"/>
            <a:ext cx="14630" cy="704698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>
        <p:nvSpPr>
          <p:cNvPr id="38" name="Rectangle 37"/>
          <p:cNvSpPr/>
          <p:nvPr/>
        </p:nvSpPr>
        <p:spPr bwMode="invGray">
          <a:xfrm>
            <a:off x="14360677" y="-2268"/>
            <a:ext cx="43891" cy="704698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>
        <p:nvSpPr>
          <p:cNvPr id="39" name="Rectangle 38"/>
          <p:cNvSpPr/>
          <p:nvPr/>
        </p:nvSpPr>
        <p:spPr bwMode="invGray">
          <a:xfrm>
            <a:off x="14265083" y="431"/>
            <a:ext cx="87782" cy="663245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/>
          </a:p>
        </p:txBody>
      </p:sp>
      <p:sp>
        <p:nvSpPr>
          <p:cNvPr id="40" name="Rectangle 39"/>
          <p:cNvSpPr/>
          <p:nvPr/>
        </p:nvSpPr>
        <p:spPr bwMode="invGray">
          <a:xfrm>
            <a:off x="14197560" y="431"/>
            <a:ext cx="14630" cy="663245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856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731520" y="1295400"/>
            <a:ext cx="13167360" cy="120904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731520" y="2549347"/>
            <a:ext cx="13167360" cy="490179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53181" y="7496048"/>
            <a:ext cx="4852219" cy="276352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Course Teacher: </a:t>
            </a:r>
            <a:r>
              <a:rPr lang="en-US" b="1" dirty="0"/>
              <a:t>Prof. Dr. Engr. </a:t>
            </a:r>
            <a:r>
              <a:rPr lang="en-US" b="1" dirty="0" err="1"/>
              <a:t>Muhibul</a:t>
            </a:r>
            <a:r>
              <a:rPr lang="en-US" b="1" dirty="0"/>
              <a:t> </a:t>
            </a:r>
            <a:r>
              <a:rPr lang="en-US" b="1" dirty="0" err="1"/>
              <a:t>Haque</a:t>
            </a:r>
            <a:r>
              <a:rPr lang="en-US" b="1" dirty="0"/>
              <a:t> </a:t>
            </a:r>
            <a:r>
              <a:rPr lang="en-US" b="1" dirty="0" err="1"/>
              <a:t>Bhuyan</a:t>
            </a:r>
            <a:endParaRPr lang="en-US" b="1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3182600" y="7451140"/>
            <a:ext cx="1388741" cy="3212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2000">
                <a:solidFill>
                  <a:srgbClr val="FF0000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11102334" y="7496048"/>
            <a:ext cx="1531622" cy="276352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rgbClr val="0070C0"/>
                </a:solidFill>
              </a:defRPr>
            </a:lvl1pPr>
          </a:lstStyle>
          <a:p>
            <a:fld id="{AE2A8651-ADBD-459F-9895-6F0164A75990}" type="datetime3">
              <a:rPr lang="en-US" smtClean="0"/>
              <a:t>5 November 2025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533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14516" indent="-290161" algn="l" rtl="0" eaLnBrk="1" latinLnBrk="0" hangingPunct="1">
        <a:spcBef>
          <a:spcPts val="340"/>
        </a:spcBef>
        <a:buClr>
          <a:schemeClr val="accent3"/>
        </a:buClr>
        <a:buFont typeface="Georgia"/>
        <a:buChar char="•"/>
        <a:defRPr kumimoji="0" sz="3173" kern="1200">
          <a:solidFill>
            <a:schemeClr val="tx1"/>
          </a:solidFill>
          <a:latin typeface="+mn-lt"/>
          <a:ea typeface="+mn-ea"/>
          <a:cs typeface="+mn-cs"/>
        </a:defRPr>
      </a:lvl1pPr>
      <a:lvl2pPr marL="746128" indent="-279798" algn="l" rtl="0" eaLnBrk="1" latinLnBrk="0" hangingPunct="1">
        <a:spcBef>
          <a:spcPts val="340"/>
        </a:spcBef>
        <a:buClr>
          <a:schemeClr val="accent2"/>
        </a:buClr>
        <a:buFont typeface="Georgia"/>
        <a:buChar char="▫"/>
        <a:defRPr kumimoji="0" sz="2947" kern="1200">
          <a:solidFill>
            <a:schemeClr val="accent2"/>
          </a:solidFill>
          <a:latin typeface="+mn-lt"/>
          <a:ea typeface="+mn-ea"/>
          <a:cs typeface="+mn-cs"/>
        </a:defRPr>
      </a:lvl2pPr>
      <a:lvl3pPr marL="1046652" indent="-248709" algn="l" rtl="0" eaLnBrk="1" latinLnBrk="0" hangingPunct="1">
        <a:spcBef>
          <a:spcPts val="340"/>
        </a:spcBef>
        <a:buClr>
          <a:schemeClr val="accent1"/>
        </a:buClr>
        <a:buFont typeface="Wingdings 2"/>
        <a:buChar char=""/>
        <a:defRPr kumimoji="0" sz="272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336813" indent="-227984" algn="l" rtl="0" eaLnBrk="1" latinLnBrk="0" hangingPunct="1">
        <a:spcBef>
          <a:spcPts val="340"/>
        </a:spcBef>
        <a:buClr>
          <a:schemeClr val="accent1"/>
        </a:buClr>
        <a:buFont typeface="Wingdings 2"/>
        <a:buChar char=""/>
        <a:defRPr kumimoji="0" sz="2493" kern="1200">
          <a:solidFill>
            <a:schemeClr val="accent1"/>
          </a:solidFill>
          <a:latin typeface="+mn-lt"/>
          <a:ea typeface="+mn-ea"/>
          <a:cs typeface="+mn-cs"/>
        </a:defRPr>
      </a:lvl4pPr>
      <a:lvl5pPr marL="1575160" indent="-207258" algn="l" rtl="0" eaLnBrk="1" latinLnBrk="0" hangingPunct="1">
        <a:spcBef>
          <a:spcPts val="340"/>
        </a:spcBef>
        <a:buClr>
          <a:schemeClr val="accent3"/>
        </a:buClr>
        <a:buFont typeface="Georgia"/>
        <a:buChar char="▫"/>
        <a:defRPr kumimoji="0" sz="2267" kern="1200">
          <a:solidFill>
            <a:schemeClr val="accent3"/>
          </a:solidFill>
          <a:latin typeface="+mn-lt"/>
          <a:ea typeface="+mn-ea"/>
          <a:cs typeface="+mn-cs"/>
        </a:defRPr>
      </a:lvl5pPr>
      <a:lvl6pPr marL="1823870" indent="-207258" algn="l" rtl="0" eaLnBrk="1" latinLnBrk="0" hangingPunct="1">
        <a:spcBef>
          <a:spcPts val="340"/>
        </a:spcBef>
        <a:buClr>
          <a:schemeClr val="accent3"/>
        </a:buClr>
        <a:buFont typeface="Georgia"/>
        <a:buChar char="▫"/>
        <a:defRPr kumimoji="0" sz="2040" kern="1200">
          <a:solidFill>
            <a:schemeClr val="accent3"/>
          </a:solidFill>
          <a:latin typeface="+mn-lt"/>
          <a:ea typeface="+mn-ea"/>
          <a:cs typeface="+mn-cs"/>
        </a:defRPr>
      </a:lvl6pPr>
      <a:lvl7pPr marL="2072579" indent="-207258" algn="l" rtl="0" eaLnBrk="1" latinLnBrk="0" hangingPunct="1">
        <a:spcBef>
          <a:spcPts val="340"/>
        </a:spcBef>
        <a:buClr>
          <a:schemeClr val="accent3"/>
        </a:buClr>
        <a:buFont typeface="Georgia"/>
        <a:buChar char="▫"/>
        <a:defRPr kumimoji="0" sz="1813" kern="1200">
          <a:solidFill>
            <a:schemeClr val="accent3"/>
          </a:solidFill>
          <a:latin typeface="+mn-lt"/>
          <a:ea typeface="+mn-ea"/>
          <a:cs typeface="+mn-cs"/>
        </a:defRPr>
      </a:lvl7pPr>
      <a:lvl8pPr marL="2300563" indent="-207258" algn="l" rtl="0" eaLnBrk="1" latinLnBrk="0" hangingPunct="1">
        <a:spcBef>
          <a:spcPts val="340"/>
        </a:spcBef>
        <a:buClr>
          <a:schemeClr val="accent3"/>
        </a:buClr>
        <a:buFont typeface="Georgia"/>
        <a:buChar char="◦"/>
        <a:defRPr kumimoji="0" sz="17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538909" indent="-207258" algn="l" rtl="0" eaLnBrk="1" latinLnBrk="0" hangingPunct="1">
        <a:spcBef>
          <a:spcPts val="340"/>
        </a:spcBef>
        <a:buClr>
          <a:schemeClr val="accent3"/>
        </a:buClr>
        <a:buFont typeface="Georgia"/>
        <a:buChar char="◦"/>
        <a:defRPr kumimoji="0" sz="1587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81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362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55443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7257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907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1088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62701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14515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ansfield-devine.com/speculatrix/2018/04/debouncing-fun-with-schmitt-triggers-and-capacitors/" TargetMode="External"/><Relationship Id="rId2" Type="http://schemas.openxmlformats.org/officeDocument/2006/relationships/hyperlink" Target="http://www.ganssle.com/debouncing-pt2.ht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gammon.com.au/forum/?id=11488" TargetMode="External"/><Relationship Id="rId5" Type="http://schemas.openxmlformats.org/officeDocument/2006/relationships/hyperlink" Target="https://www.arxterra.com/11-atmega328p-external-interrupts/" TargetMode="External"/><Relationship Id="rId4" Type="http://schemas.openxmlformats.org/officeDocument/2006/relationships/hyperlink" Target="https://www.arxterra.com/10-atmega328p-interrupts/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13944600" cy="6019800"/>
          </a:xfrm>
        </p:spPr>
        <p:txBody>
          <a:bodyPr>
            <a:normAutofit fontScale="77500" lnSpcReduction="20000"/>
          </a:bodyPr>
          <a:lstStyle/>
          <a:p>
            <a:r>
              <a:rPr lang="en-US" sz="4600" dirty="0"/>
              <a:t>External interrupts triggered by:</a:t>
            </a:r>
          </a:p>
          <a:p>
            <a:pPr lvl="1"/>
            <a:r>
              <a:rPr lang="en-US" sz="4100" dirty="0"/>
              <a:t>INT0 or INT1 pins</a:t>
            </a:r>
          </a:p>
          <a:p>
            <a:pPr lvl="1"/>
            <a:r>
              <a:rPr lang="en-US" sz="4100" dirty="0"/>
              <a:t>Any of the PCINT23:0 pins</a:t>
            </a:r>
          </a:p>
          <a:p>
            <a:pPr lvl="1"/>
            <a:endParaRPr lang="en-US" sz="3200" dirty="0"/>
          </a:p>
          <a:p>
            <a:pPr>
              <a:buFont typeface="Arial" pitchFamily="34" charset="0"/>
              <a:buChar char="•"/>
            </a:pPr>
            <a:r>
              <a:rPr lang="en-US" sz="4200" dirty="0"/>
              <a:t>INT0 and INT1 are mapped with the pins PD2 and PD3 on ATMega328P</a:t>
            </a:r>
          </a:p>
          <a:p>
            <a:pPr>
              <a:buFont typeface="Arial" pitchFamily="34" charset="0"/>
              <a:buChar char="•"/>
            </a:pPr>
            <a:r>
              <a:rPr lang="en-US" sz="4200" dirty="0"/>
              <a:t>PD2 and PD3 are mapped with digital pins 2 and 3 (GPIO) on the </a:t>
            </a:r>
            <a:r>
              <a:rPr lang="en-US" sz="4200" dirty="0" err="1"/>
              <a:t>Arduino</a:t>
            </a:r>
            <a:r>
              <a:rPr lang="en-US" sz="4200" dirty="0"/>
              <a:t> Uno board</a:t>
            </a:r>
          </a:p>
          <a:p>
            <a:pPr>
              <a:buFont typeface="Arial" pitchFamily="34" charset="0"/>
              <a:buChar char="•"/>
            </a:pPr>
            <a:r>
              <a:rPr lang="en-US" sz="4200" dirty="0"/>
              <a:t>PCINT23:0 are mapped with ports B, C, and D on the Arduino Uno board</a:t>
            </a:r>
          </a:p>
          <a:p>
            <a:pPr>
              <a:buFont typeface="Arial" pitchFamily="34" charset="0"/>
              <a:buChar char="•"/>
            </a:pPr>
            <a:r>
              <a:rPr lang="en-US" sz="4200" dirty="0"/>
              <a:t>Implies any of the I/O pins on the board can be configured to handle interrupts</a:t>
            </a:r>
          </a:p>
          <a:p>
            <a:pPr>
              <a:buFont typeface="Arial" pitchFamily="34" charset="0"/>
              <a:buChar char="•"/>
            </a:pPr>
            <a:r>
              <a:rPr lang="en-US" sz="4200" dirty="0"/>
              <a:t>These interrupts can be used to wake up the processor from sleep modes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Title 6">
            <a:extLst>
              <a:ext uri="{FF2B5EF4-FFF2-40B4-BE49-F238E27FC236}">
                <a16:creationId xmlns:a16="http://schemas.microsoft.com/office/drawing/2014/main" id="{6D549DBC-B852-21C5-4065-C3E94A769860}"/>
              </a:ext>
            </a:extLst>
          </p:cNvPr>
          <p:cNvSpPr txBox="1">
            <a:spLocks/>
          </p:cNvSpPr>
          <p:nvPr/>
        </p:nvSpPr>
        <p:spPr>
          <a:xfrm>
            <a:off x="381000" y="495706"/>
            <a:ext cx="13517880" cy="799694"/>
          </a:xfrm>
          <a:prstGeom prst="rect">
            <a:avLst/>
          </a:prstGeom>
        </p:spPr>
        <p:txBody>
          <a:bodyPr vert="horz" anchor="ctr">
            <a:normAutofit lnSpcReduction="10000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533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r>
              <a:rPr lang="en-US" sz="4800" dirty="0">
                <a:solidFill>
                  <a:srgbClr val="FF0000"/>
                </a:solidFill>
              </a:rPr>
              <a:t>External Interrupts</a:t>
            </a:r>
          </a:p>
        </p:txBody>
      </p:sp>
    </p:spTree>
    <p:extLst>
      <p:ext uri="{BB962C8B-B14F-4D97-AF65-F5344CB8AC3E}">
        <p14:creationId xmlns:p14="http://schemas.microsoft.com/office/powerpoint/2010/main" val="1684481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13167360" cy="120904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0000"/>
                </a:solidFill>
              </a:rPr>
              <a:t>External Interrupts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630" y="1600200"/>
            <a:ext cx="13933170" cy="4901794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INT0 and INT1 are referred to as ‘External Interrupts’</a:t>
            </a:r>
          </a:p>
          <a:p>
            <a:pPr lvl="1"/>
            <a:r>
              <a:rPr lang="en-US" sz="3600" dirty="0"/>
              <a:t>Can be triggered by a rising edge, falling edge, logical change, or low level</a:t>
            </a:r>
          </a:p>
          <a:p>
            <a:r>
              <a:rPr lang="en-US" sz="3600" dirty="0"/>
              <a:t>PCINT23:0 are referred to as ‘Pin Change Interrupts’</a:t>
            </a:r>
          </a:p>
          <a:p>
            <a:r>
              <a:rPr lang="en-US" sz="3600" dirty="0"/>
              <a:t>External interrupts have a higher priority</a:t>
            </a:r>
          </a:p>
          <a:p>
            <a:r>
              <a:rPr lang="en-US" sz="3600" dirty="0"/>
              <a:t>External interrupts have their own interrupt vectors</a:t>
            </a:r>
          </a:p>
          <a:p>
            <a:r>
              <a:rPr lang="en-US" sz="3600" dirty="0"/>
              <a:t>Pin change interrupts share interrupt vectors</a:t>
            </a:r>
          </a:p>
          <a:p>
            <a:pPr lvl="1"/>
            <a:r>
              <a:rPr lang="en-US" sz="3600" dirty="0"/>
              <a:t>The interrupt handler has to decide which pin the interrupt originated from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0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708" y="720954"/>
            <a:ext cx="13167360" cy="1209040"/>
          </a:xfrm>
        </p:spPr>
        <p:txBody>
          <a:bodyPr>
            <a:normAutofit/>
          </a:bodyPr>
          <a:lstStyle/>
          <a:p>
            <a:r>
              <a:rPr lang="en-US" sz="4800" dirty="0"/>
              <a:t>EICRA – External Interrupt Control Register 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40998" y="1828800"/>
            <a:ext cx="13167360" cy="5334000"/>
          </a:xfrm>
        </p:spPr>
        <p:txBody>
          <a:bodyPr>
            <a:normAutofit/>
          </a:bodyPr>
          <a:lstStyle/>
          <a:p>
            <a:r>
              <a:rPr lang="en-US" sz="3600" dirty="0"/>
              <a:t>Contains control bits for interrupt sense control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Bits 7:4 – Reserved bits – always read as 0</a:t>
            </a:r>
          </a:p>
          <a:p>
            <a:r>
              <a:rPr lang="en-US" sz="3600" dirty="0"/>
              <a:t>Bits 3:2 – ISC11, ISC10 - Interrupt Sense Control 1</a:t>
            </a:r>
          </a:p>
          <a:p>
            <a:r>
              <a:rPr lang="en-US" sz="3600" dirty="0"/>
              <a:t>Bits 1:0 – ISC01, ISC00 – Interrupt Sense Control 0</a:t>
            </a:r>
          </a:p>
          <a:p>
            <a:r>
              <a:rPr lang="en-US" sz="3600" dirty="0"/>
              <a:t>ISC1x corresponds to INT1</a:t>
            </a:r>
          </a:p>
          <a:p>
            <a:r>
              <a:rPr lang="en-US" sz="3600" dirty="0"/>
              <a:t>ISC0x corresponds to INT0</a:t>
            </a:r>
          </a:p>
          <a:p>
            <a:endParaRPr lang="en-US" sz="36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464416"/>
            <a:ext cx="12420600" cy="1650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0748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09600"/>
            <a:ext cx="13167360" cy="1209040"/>
          </a:xfrm>
        </p:spPr>
        <p:txBody>
          <a:bodyPr>
            <a:normAutofit/>
          </a:bodyPr>
          <a:lstStyle/>
          <a:p>
            <a:r>
              <a:rPr lang="en-US" sz="4800" dirty="0"/>
              <a:t>EICRA – External Interrupt Control Register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" y="1752600"/>
            <a:ext cx="13822680" cy="4901794"/>
          </a:xfrm>
        </p:spPr>
        <p:txBody>
          <a:bodyPr>
            <a:normAutofit/>
          </a:bodyPr>
          <a:lstStyle/>
          <a:p>
            <a:r>
              <a:rPr lang="en-US" sz="3600" dirty="0"/>
              <a:t>External Interrupts activated by the external pin INT1 or INT0 if the SREG I-flag and the corresponding interrupt mask are set.</a:t>
            </a:r>
          </a:p>
          <a:p>
            <a:r>
              <a:rPr lang="en-US" sz="3600" dirty="0"/>
              <a:t>Level/edge on INT1/INT0 pin which activates interrupts:</a:t>
            </a:r>
          </a:p>
          <a:p>
            <a:pPr marL="124355" indent="0">
              <a:buNone/>
            </a:pPr>
            <a:endParaRPr lang="en-US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92695"/>
              </p:ext>
            </p:extLst>
          </p:nvPr>
        </p:nvGraphicFramePr>
        <p:xfrm>
          <a:off x="533400" y="3734257"/>
          <a:ext cx="13751560" cy="282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1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ISCx1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ISCx0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Low level of INT1/INT0</a:t>
                      </a:r>
                      <a:r>
                        <a:rPr lang="en-US" sz="2800" baseline="0" dirty="0"/>
                        <a:t> generates interrupt request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Any logical/level change on INT1/INT0 generates</a:t>
                      </a:r>
                      <a:r>
                        <a:rPr lang="en-US" sz="2800" baseline="0" dirty="0"/>
                        <a:t> interrupt request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Falling edge of INT1/INT0</a:t>
                      </a:r>
                      <a:r>
                        <a:rPr lang="en-US" sz="2800" baseline="0" dirty="0"/>
                        <a:t> generates interrupt request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Rising edge of INT1/INT0</a:t>
                      </a:r>
                      <a:r>
                        <a:rPr lang="en-US" sz="2800" baseline="0" dirty="0"/>
                        <a:t> generates interrupt request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01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610" y="838200"/>
            <a:ext cx="13167360" cy="1209040"/>
          </a:xfrm>
        </p:spPr>
        <p:txBody>
          <a:bodyPr>
            <a:normAutofit/>
          </a:bodyPr>
          <a:lstStyle/>
          <a:p>
            <a:r>
              <a:rPr lang="en-US" sz="4800" dirty="0"/>
              <a:t>EICRA – External Interrupt Control Register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32406"/>
            <a:ext cx="13944600" cy="4901794"/>
          </a:xfrm>
        </p:spPr>
        <p:txBody>
          <a:bodyPr>
            <a:normAutofit/>
          </a:bodyPr>
          <a:lstStyle/>
          <a:p>
            <a:r>
              <a:rPr lang="en-US" sz="3600" dirty="0"/>
              <a:t>Value of the pin is sampled before detecting the edges</a:t>
            </a:r>
          </a:p>
          <a:p>
            <a:r>
              <a:rPr lang="en-US" sz="3600" dirty="0"/>
              <a:t>If edge or toggle interrupt is selected:</a:t>
            </a:r>
          </a:p>
          <a:p>
            <a:pPr lvl="1"/>
            <a:r>
              <a:rPr lang="en-US" sz="3600" dirty="0"/>
              <a:t>Pulses longer than 1 clock period will generate an interrupt</a:t>
            </a:r>
          </a:p>
          <a:p>
            <a:pPr lvl="1"/>
            <a:r>
              <a:rPr lang="en-US" sz="3600" dirty="0"/>
              <a:t>Shorter pulses are not guaranteed to generate an interrupt</a:t>
            </a:r>
          </a:p>
          <a:p>
            <a:r>
              <a:rPr lang="en-US" sz="3600" dirty="0"/>
              <a:t>If low-level interrupt is selected, to generate interrupt:</a:t>
            </a:r>
          </a:p>
          <a:p>
            <a:pPr lvl="1"/>
            <a:r>
              <a:rPr lang="en-US" sz="3600" dirty="0"/>
              <a:t>Low level must be held until the completion of currently executing instruction</a:t>
            </a:r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32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98576"/>
            <a:ext cx="13167360" cy="1209040"/>
          </a:xfrm>
        </p:spPr>
        <p:txBody>
          <a:bodyPr>
            <a:normAutofit/>
          </a:bodyPr>
          <a:lstStyle/>
          <a:p>
            <a:r>
              <a:rPr lang="en-US" sz="4800" dirty="0"/>
              <a:t>EIMSK – External Interrupt Mask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081576"/>
            <a:ext cx="13167360" cy="2166824"/>
          </a:xfrm>
        </p:spPr>
        <p:txBody>
          <a:bodyPr>
            <a:normAutofit/>
          </a:bodyPr>
          <a:lstStyle/>
          <a:p>
            <a:r>
              <a:rPr lang="en-US" sz="3600" dirty="0"/>
              <a:t>Bits 7:2 – Reserved – always read as 0</a:t>
            </a:r>
          </a:p>
          <a:p>
            <a:r>
              <a:rPr lang="en-US" sz="3600" dirty="0"/>
              <a:t>Bit 1 – INT1: External Interrupt Request 1 Enable</a:t>
            </a:r>
          </a:p>
          <a:p>
            <a:r>
              <a:rPr lang="en-US" sz="3600" dirty="0"/>
              <a:t>Bit 0 – INT0: External Interrupt Request 0 Enable</a:t>
            </a:r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39"/>
          <a:stretch/>
        </p:blipFill>
        <p:spPr bwMode="auto">
          <a:xfrm>
            <a:off x="723900" y="2209038"/>
            <a:ext cx="12573000" cy="1677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4368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19760"/>
            <a:ext cx="13167360" cy="1209040"/>
          </a:xfrm>
        </p:spPr>
        <p:txBody>
          <a:bodyPr>
            <a:normAutofit/>
          </a:bodyPr>
          <a:lstStyle/>
          <a:p>
            <a:r>
              <a:rPr lang="en-US" sz="4800" dirty="0"/>
              <a:t>EIMSK – External Interrupt Mask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13944600" cy="5819648"/>
          </a:xfrm>
        </p:spPr>
        <p:txBody>
          <a:bodyPr>
            <a:noAutofit/>
          </a:bodyPr>
          <a:lstStyle/>
          <a:p>
            <a:r>
              <a:rPr lang="en-US" sz="3200" dirty="0"/>
              <a:t>When INT1/INT0 bit is enabled, and I bit (bit 7) of SREG is enabled:</a:t>
            </a:r>
          </a:p>
          <a:p>
            <a:pPr lvl="1"/>
            <a:r>
              <a:rPr lang="en-US" sz="3200" dirty="0"/>
              <a:t>External pin interrupt is activated</a:t>
            </a:r>
          </a:p>
          <a:p>
            <a:pPr lvl="1"/>
            <a:r>
              <a:rPr lang="en-US" sz="3200" dirty="0"/>
              <a:t>ISCx1, and ISCx0 pins in EICRA define whether the external interrupt will be activated on:</a:t>
            </a:r>
          </a:p>
          <a:p>
            <a:pPr lvl="2"/>
            <a:r>
              <a:rPr lang="en-US" sz="3200" dirty="0"/>
              <a:t>Rising edge</a:t>
            </a:r>
          </a:p>
          <a:p>
            <a:pPr lvl="2"/>
            <a:r>
              <a:rPr lang="en-US" sz="3200" dirty="0"/>
              <a:t>Falling edge</a:t>
            </a:r>
          </a:p>
          <a:p>
            <a:pPr lvl="2"/>
            <a:r>
              <a:rPr lang="en-US" sz="3200" dirty="0"/>
              <a:t>Logic change</a:t>
            </a:r>
          </a:p>
          <a:p>
            <a:pPr lvl="2"/>
            <a:r>
              <a:rPr lang="en-US" sz="3200" dirty="0"/>
              <a:t>Low level</a:t>
            </a:r>
          </a:p>
          <a:p>
            <a:r>
              <a:rPr lang="en-US" sz="3200" dirty="0"/>
              <a:t>Activity on the pin will cause an interrupt even if the pin is configured as an output</a:t>
            </a:r>
          </a:p>
          <a:p>
            <a:r>
              <a:rPr lang="en-US" sz="3200" dirty="0"/>
              <a:t>Executed from INT1/INT0 interrupt vector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10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8200"/>
            <a:ext cx="13167360" cy="1209040"/>
          </a:xfrm>
        </p:spPr>
        <p:txBody>
          <a:bodyPr>
            <a:normAutofit/>
          </a:bodyPr>
          <a:lstStyle/>
          <a:p>
            <a:r>
              <a:rPr lang="en-US" sz="4800" dirty="0"/>
              <a:t>EIFR – External Interrupt Flag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4038600"/>
            <a:ext cx="13167360" cy="2209800"/>
          </a:xfrm>
        </p:spPr>
        <p:txBody>
          <a:bodyPr>
            <a:normAutofit/>
          </a:bodyPr>
          <a:lstStyle/>
          <a:p>
            <a:r>
              <a:rPr lang="en-US" sz="3600" dirty="0"/>
              <a:t>Bits 7:2 – Reserved – always read as 0</a:t>
            </a:r>
          </a:p>
          <a:p>
            <a:r>
              <a:rPr lang="en-US" sz="3600" dirty="0"/>
              <a:t>Bit 1 – INTF1: External Interrupt Flag 1</a:t>
            </a:r>
          </a:p>
          <a:p>
            <a:r>
              <a:rPr lang="en-US" sz="3600" dirty="0"/>
              <a:t>Bit 0 – INTF0: External Interrupt Flag 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29458"/>
            <a:ext cx="13167360" cy="1879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44683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610" y="1019048"/>
            <a:ext cx="13167360" cy="1209040"/>
          </a:xfrm>
        </p:spPr>
        <p:txBody>
          <a:bodyPr>
            <a:normAutofit/>
          </a:bodyPr>
          <a:lstStyle/>
          <a:p>
            <a:r>
              <a:rPr lang="en-US" sz="4800" dirty="0"/>
              <a:t>EIFR – External Interrupt Flag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49347"/>
            <a:ext cx="13868400" cy="4384853"/>
          </a:xfrm>
        </p:spPr>
        <p:txBody>
          <a:bodyPr>
            <a:normAutofit/>
          </a:bodyPr>
          <a:lstStyle/>
          <a:p>
            <a:r>
              <a:rPr lang="en-US" sz="3600" dirty="0"/>
              <a:t>When the </a:t>
            </a:r>
            <a:r>
              <a:rPr lang="en-US" sz="3600" dirty="0" err="1"/>
              <a:t>INTx</a:t>
            </a:r>
            <a:r>
              <a:rPr lang="en-US" sz="3600" dirty="0"/>
              <a:t> pin triggers an interrupt request, </a:t>
            </a:r>
            <a:r>
              <a:rPr lang="en-US" sz="3600" dirty="0" err="1"/>
              <a:t>INTFx</a:t>
            </a:r>
            <a:r>
              <a:rPr lang="en-US" sz="3600" dirty="0"/>
              <a:t> is set</a:t>
            </a:r>
          </a:p>
          <a:p>
            <a:r>
              <a:rPr lang="en-US" sz="3600" dirty="0"/>
              <a:t>If I bit in SREG and </a:t>
            </a:r>
            <a:r>
              <a:rPr lang="en-US" sz="3600" dirty="0" err="1"/>
              <a:t>INTx</a:t>
            </a:r>
            <a:r>
              <a:rPr lang="en-US" sz="3600" dirty="0"/>
              <a:t> bit in EIMSK are set, MCU will jump to a relevant interrupt vector</a:t>
            </a:r>
          </a:p>
          <a:p>
            <a:r>
              <a:rPr lang="en-US" sz="3600" dirty="0" err="1"/>
              <a:t>INTFx</a:t>
            </a:r>
            <a:r>
              <a:rPr lang="en-US" sz="3600" dirty="0"/>
              <a:t> cleared when:</a:t>
            </a:r>
          </a:p>
          <a:p>
            <a:pPr lvl="1"/>
            <a:r>
              <a:rPr lang="en-US" sz="3600" dirty="0"/>
              <a:t>Interrupt routine is executed</a:t>
            </a:r>
          </a:p>
          <a:p>
            <a:pPr lvl="1"/>
            <a:r>
              <a:rPr lang="en-US" sz="3600" dirty="0"/>
              <a:t>A logical 1 is written (cancel any falling interrupts)</a:t>
            </a:r>
          </a:p>
          <a:p>
            <a:pPr lvl="1"/>
            <a:r>
              <a:rPr lang="en-US" sz="3600" dirty="0"/>
              <a:t>Always cleared when </a:t>
            </a:r>
            <a:r>
              <a:rPr lang="en-US" sz="3600" dirty="0" err="1"/>
              <a:t>INTx</a:t>
            </a:r>
            <a:r>
              <a:rPr lang="en-US" sz="3600" dirty="0"/>
              <a:t> is configured as a level interrupt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092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76681"/>
            <a:ext cx="13167360" cy="1209040"/>
          </a:xfrm>
        </p:spPr>
        <p:txBody>
          <a:bodyPr>
            <a:normAutofit/>
          </a:bodyPr>
          <a:lstStyle/>
          <a:p>
            <a:r>
              <a:rPr lang="en-US" sz="4800" dirty="0"/>
              <a:t>PCICR – Pin Change Interrupt Control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840" y="4343400"/>
            <a:ext cx="13167360" cy="2590800"/>
          </a:xfrm>
        </p:spPr>
        <p:txBody>
          <a:bodyPr>
            <a:normAutofit/>
          </a:bodyPr>
          <a:lstStyle/>
          <a:p>
            <a:r>
              <a:rPr lang="en-US" sz="3600" dirty="0"/>
              <a:t>Bits 7: 3 – Reserved – always read as 0</a:t>
            </a:r>
          </a:p>
          <a:p>
            <a:r>
              <a:rPr lang="en-US" sz="3600" dirty="0"/>
              <a:t>Bit 2 – PCIE2 – Pin Change Interrupt Enable 2</a:t>
            </a:r>
          </a:p>
          <a:p>
            <a:r>
              <a:rPr lang="en-US" sz="3600" dirty="0"/>
              <a:t>Bit 1 – PCIE1 – Pin Change Interrupt Enable 1</a:t>
            </a:r>
          </a:p>
          <a:p>
            <a:r>
              <a:rPr lang="en-US" sz="3600" dirty="0"/>
              <a:t>Bit 0 – PCIE0 – Pin Change Interrupt Enable 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39"/>
          <a:stretch/>
        </p:blipFill>
        <p:spPr bwMode="auto">
          <a:xfrm>
            <a:off x="853440" y="2185721"/>
            <a:ext cx="13540522" cy="1929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99931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059383"/>
            <a:ext cx="13167360" cy="1209040"/>
          </a:xfrm>
        </p:spPr>
        <p:txBody>
          <a:bodyPr>
            <a:normAutofit/>
          </a:bodyPr>
          <a:lstStyle/>
          <a:p>
            <a:r>
              <a:rPr lang="en-US" sz="4800" dirty="0"/>
              <a:t>PCICR – Pin Change Interrupt Control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549347"/>
            <a:ext cx="13716000" cy="4384853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If </a:t>
            </a:r>
            <a:r>
              <a:rPr lang="en-US" sz="3600" dirty="0" err="1"/>
              <a:t>PCIEx</a:t>
            </a:r>
            <a:r>
              <a:rPr lang="en-US" sz="3600" dirty="0"/>
              <a:t> is enabled and I bit in SREG is enabled, pin change interrupt x is enabled</a:t>
            </a:r>
          </a:p>
          <a:p>
            <a:r>
              <a:rPr lang="en-US" sz="3600" dirty="0"/>
              <a:t>PCINT 23:16 corresponds to pin change interrupt 2</a:t>
            </a:r>
          </a:p>
          <a:p>
            <a:r>
              <a:rPr lang="en-US" sz="3600" dirty="0"/>
              <a:t>PCINT 14:8 corresponds to pin change interrupt 1</a:t>
            </a:r>
          </a:p>
          <a:p>
            <a:r>
              <a:rPr lang="en-US" sz="3600" dirty="0"/>
              <a:t>PCINT 7:0 corresponds to pin change interrupt 0</a:t>
            </a:r>
          </a:p>
          <a:p>
            <a:r>
              <a:rPr lang="en-US" sz="3600" dirty="0"/>
              <a:t>The pins are enabled individually from </a:t>
            </a:r>
            <a:r>
              <a:rPr lang="en-US" sz="3600" dirty="0" err="1"/>
              <a:t>PCMSKx</a:t>
            </a:r>
            <a:r>
              <a:rPr lang="en-US" sz="3600" dirty="0"/>
              <a:t> register</a:t>
            </a:r>
          </a:p>
          <a:p>
            <a:r>
              <a:rPr lang="en-US" sz="3600" dirty="0"/>
              <a:t>Executed from </a:t>
            </a:r>
            <a:r>
              <a:rPr lang="en-US" sz="3600" dirty="0" err="1"/>
              <a:t>PCIx</a:t>
            </a:r>
            <a:r>
              <a:rPr lang="en-US" sz="3600" dirty="0"/>
              <a:t> interrupt vector</a:t>
            </a:r>
          </a:p>
          <a:p>
            <a:r>
              <a:rPr lang="en-US" sz="3600" dirty="0"/>
              <a:t>Any change in these pins will cause an interrupt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98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5714"/>
            <a:ext cx="13167360" cy="1209040"/>
          </a:xfrm>
        </p:spPr>
        <p:txBody>
          <a:bodyPr>
            <a:normAutofit/>
          </a:bodyPr>
          <a:lstStyle/>
          <a:p>
            <a:r>
              <a:rPr lang="en-US" sz="4800" dirty="0"/>
              <a:t>PCICR – Pin Change Interrupt Control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0464"/>
            <a:ext cx="13167360" cy="5570676"/>
          </a:xfrm>
        </p:spPr>
        <p:txBody>
          <a:bodyPr>
            <a:normAutofit/>
          </a:bodyPr>
          <a:lstStyle/>
          <a:p>
            <a:r>
              <a:rPr lang="en-US" sz="3200" dirty="0"/>
              <a:t>PCINT 23:16 – </a:t>
            </a:r>
          </a:p>
          <a:p>
            <a:pPr lvl="1"/>
            <a:r>
              <a:rPr lang="en-US" sz="2800" dirty="0"/>
              <a:t>PD7:PD0 on ATMega328P </a:t>
            </a:r>
          </a:p>
          <a:p>
            <a:pPr lvl="1"/>
            <a:r>
              <a:rPr lang="en-US" sz="2800" dirty="0"/>
              <a:t>Pins D7:D0 (GPIO) on Arduino Uno board</a:t>
            </a:r>
          </a:p>
          <a:p>
            <a:r>
              <a:rPr lang="en-US" sz="3200" dirty="0"/>
              <a:t>PCINT 14:8 – </a:t>
            </a:r>
          </a:p>
          <a:p>
            <a:pPr lvl="1"/>
            <a:r>
              <a:rPr lang="en-US" sz="2800" dirty="0"/>
              <a:t>PC6:PC0 on ATMega328P </a:t>
            </a:r>
          </a:p>
          <a:p>
            <a:pPr lvl="1"/>
            <a:r>
              <a:rPr lang="en-US" sz="2800" dirty="0"/>
              <a:t>PC5:0 – Pins A5:A0 on Arduino Uno board</a:t>
            </a:r>
          </a:p>
          <a:p>
            <a:pPr lvl="1"/>
            <a:r>
              <a:rPr lang="en-US" sz="2800" dirty="0"/>
              <a:t>PC6 – Reset pin on Arduino Uno Board</a:t>
            </a:r>
          </a:p>
          <a:p>
            <a:r>
              <a:rPr lang="en-US" sz="3200" dirty="0"/>
              <a:t>PCINT 7:0 – </a:t>
            </a:r>
          </a:p>
          <a:p>
            <a:pPr lvl="1"/>
            <a:r>
              <a:rPr lang="en-US" sz="2800" dirty="0"/>
              <a:t>PB7:PB0 on ATMega328P </a:t>
            </a:r>
          </a:p>
          <a:p>
            <a:pPr lvl="1"/>
            <a:r>
              <a:rPr lang="en-US" sz="2800" dirty="0"/>
              <a:t>PB5:0 – Pins D13:D8 on Arduino Uno board</a:t>
            </a:r>
          </a:p>
          <a:p>
            <a:pPr lvl="1"/>
            <a:r>
              <a:rPr lang="en-US" sz="2800" dirty="0"/>
              <a:t>PB6 and PB7 are not available externally on the Arduino Uno board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761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82397"/>
            <a:ext cx="13167360" cy="1209040"/>
          </a:xfrm>
        </p:spPr>
        <p:txBody>
          <a:bodyPr>
            <a:normAutofit/>
          </a:bodyPr>
          <a:lstStyle/>
          <a:p>
            <a:r>
              <a:rPr lang="en-US" sz="4800" dirty="0"/>
              <a:t>PCIFR – Pin Change Interrupt Flag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159707"/>
            <a:ext cx="13167360" cy="2590800"/>
          </a:xfrm>
        </p:spPr>
        <p:txBody>
          <a:bodyPr>
            <a:normAutofit/>
          </a:bodyPr>
          <a:lstStyle/>
          <a:p>
            <a:r>
              <a:rPr lang="en-US" sz="3600" dirty="0"/>
              <a:t>Bits 7:3 – Reserved – Always read as 0</a:t>
            </a:r>
          </a:p>
          <a:p>
            <a:r>
              <a:rPr lang="en-US" sz="3600" dirty="0"/>
              <a:t>Bit 2 – PCIF2 – Pin Change Interrupt Flag 2</a:t>
            </a:r>
          </a:p>
          <a:p>
            <a:r>
              <a:rPr lang="en-US" sz="3600" dirty="0"/>
              <a:t>Bit 1 – PCIF1 – Pin Change Interrupt Flag 1</a:t>
            </a:r>
          </a:p>
          <a:p>
            <a:r>
              <a:rPr lang="en-US" sz="3600" dirty="0"/>
              <a:t>Bit 0 – PCIF0 – Pin Change Interrupt Flag 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5" r="1111" b="8479"/>
          <a:stretch/>
        </p:blipFill>
        <p:spPr bwMode="auto">
          <a:xfrm>
            <a:off x="609600" y="2088744"/>
            <a:ext cx="13639800" cy="1873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6477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370" y="838200"/>
            <a:ext cx="13167360" cy="1209040"/>
          </a:xfrm>
        </p:spPr>
        <p:txBody>
          <a:bodyPr>
            <a:normAutofit/>
          </a:bodyPr>
          <a:lstStyle/>
          <a:p>
            <a:r>
              <a:rPr lang="en-US" sz="4800" dirty="0"/>
              <a:t>PCIFR – Pin Change Interrupt Flag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09546"/>
            <a:ext cx="13563600" cy="4901794"/>
          </a:xfrm>
        </p:spPr>
        <p:txBody>
          <a:bodyPr>
            <a:normAutofit/>
          </a:bodyPr>
          <a:lstStyle/>
          <a:p>
            <a:r>
              <a:rPr lang="en-US" sz="3600" dirty="0"/>
              <a:t>Any logic change on PCINT23:0 triggers an interrupt request: </a:t>
            </a:r>
            <a:r>
              <a:rPr lang="en-US" sz="3600" dirty="0" err="1"/>
              <a:t>PCIFx</a:t>
            </a:r>
            <a:r>
              <a:rPr lang="en-US" sz="3600" dirty="0"/>
              <a:t> set</a:t>
            </a:r>
          </a:p>
          <a:p>
            <a:r>
              <a:rPr lang="en-US" sz="3600" dirty="0"/>
              <a:t>If I bit in SREG and </a:t>
            </a:r>
            <a:r>
              <a:rPr lang="en-US" sz="3600" dirty="0" err="1"/>
              <a:t>PCIEx</a:t>
            </a:r>
            <a:r>
              <a:rPr lang="en-US" sz="3600" dirty="0"/>
              <a:t> on PCICR are set, MCU will go to the corresponding interrupt vector</a:t>
            </a:r>
          </a:p>
          <a:p>
            <a:r>
              <a:rPr lang="en-US" sz="3600" dirty="0"/>
              <a:t>Flag is cleared when:</a:t>
            </a:r>
          </a:p>
          <a:p>
            <a:pPr lvl="1"/>
            <a:r>
              <a:rPr lang="en-US" sz="3600" dirty="0"/>
              <a:t>Interrupt routine is executed</a:t>
            </a:r>
          </a:p>
          <a:p>
            <a:pPr lvl="1"/>
            <a:r>
              <a:rPr lang="en-US" sz="3600" dirty="0"/>
              <a:t>A logical 1 is written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03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610" y="490653"/>
            <a:ext cx="13167360" cy="1209040"/>
          </a:xfrm>
        </p:spPr>
        <p:txBody>
          <a:bodyPr>
            <a:normAutofit/>
          </a:bodyPr>
          <a:lstStyle/>
          <a:p>
            <a:r>
              <a:rPr lang="en-US" sz="4800" dirty="0"/>
              <a:t>PCMSK2 – Pin Change Mask Register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1" y="3124200"/>
            <a:ext cx="13996218" cy="4114800"/>
          </a:xfrm>
        </p:spPr>
        <p:txBody>
          <a:bodyPr>
            <a:normAutofit/>
          </a:bodyPr>
          <a:lstStyle/>
          <a:p>
            <a:r>
              <a:rPr lang="en-US" sz="3600" dirty="0"/>
              <a:t>Bits 7:0 – PCINT23:16 – Pin Change Enable Mask 23:16</a:t>
            </a:r>
          </a:p>
          <a:p>
            <a:r>
              <a:rPr lang="en-US" sz="3600" dirty="0"/>
              <a:t>Each bit selects whether the pin change interrupt is enabled on the corresponding I/O pin</a:t>
            </a:r>
          </a:p>
          <a:p>
            <a:r>
              <a:rPr lang="en-US" sz="3600" dirty="0"/>
              <a:t>If any bit from PCINT23:16 is set and the PCIE2 bit on PCICR is set, pin change interrupt is enabled on the corresponding I/O pin</a:t>
            </a:r>
          </a:p>
          <a:p>
            <a:r>
              <a:rPr lang="en-US" sz="3600" dirty="0"/>
              <a:t>If PCINT23:16 is cleared, the pin change interrupt on the corresponding I/O pin is disabled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44"/>
          <a:stretch/>
        </p:blipFill>
        <p:spPr bwMode="auto">
          <a:xfrm>
            <a:off x="766259" y="1544727"/>
            <a:ext cx="13330741" cy="1579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8947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3167360" cy="1209040"/>
          </a:xfrm>
        </p:spPr>
        <p:txBody>
          <a:bodyPr>
            <a:normAutofit/>
          </a:bodyPr>
          <a:lstStyle/>
          <a:p>
            <a:r>
              <a:rPr lang="en-US" sz="4800" dirty="0"/>
              <a:t>PCMSK1 – Pin Change Mask Register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930" y="3051949"/>
            <a:ext cx="13666470" cy="4187051"/>
          </a:xfrm>
        </p:spPr>
        <p:txBody>
          <a:bodyPr>
            <a:normAutofit/>
          </a:bodyPr>
          <a:lstStyle/>
          <a:p>
            <a:r>
              <a:rPr lang="en-US" sz="3200" dirty="0"/>
              <a:t>Bit 7 – Reserved – Always read as 0</a:t>
            </a:r>
          </a:p>
          <a:p>
            <a:r>
              <a:rPr lang="en-US" sz="3200" dirty="0"/>
              <a:t>Bits 6:0 – PCINT14:8 – Pin Change Enable Mask 14:8</a:t>
            </a:r>
          </a:p>
          <a:p>
            <a:r>
              <a:rPr lang="en-US" sz="3200" dirty="0"/>
              <a:t>Each bit selects whether the pin change interrupt is enabled on the corresponding I/O pin</a:t>
            </a:r>
          </a:p>
          <a:p>
            <a:r>
              <a:rPr lang="en-US" sz="3200" dirty="0"/>
              <a:t>If any bit from PCINT14:8 is set and the PCIE1 bit on PCICR is set, pin change interrupt is enabled on the corresponding I/O pin</a:t>
            </a:r>
          </a:p>
          <a:p>
            <a:r>
              <a:rPr lang="en-US" sz="3200" dirty="0"/>
              <a:t>If PCINT14:8 is cleared, the pin change interrupt on the corresponding I/O pin is disabled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0" y="1600200"/>
            <a:ext cx="11658600" cy="1455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9211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320" y="670967"/>
            <a:ext cx="13167360" cy="1209040"/>
          </a:xfrm>
        </p:spPr>
        <p:txBody>
          <a:bodyPr/>
          <a:lstStyle/>
          <a:p>
            <a:r>
              <a:rPr lang="en-US" dirty="0"/>
              <a:t>PCMSK0 – Pin Change Mask Register 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320" y="3490367"/>
            <a:ext cx="13269280" cy="3748633"/>
          </a:xfrm>
        </p:spPr>
        <p:txBody>
          <a:bodyPr>
            <a:normAutofit/>
          </a:bodyPr>
          <a:lstStyle/>
          <a:p>
            <a:r>
              <a:rPr lang="en-US" sz="3200" dirty="0"/>
              <a:t>Bits 7:0 – PCINT7:0 – Pin Change Enable Mask 7:0</a:t>
            </a:r>
          </a:p>
          <a:p>
            <a:r>
              <a:rPr lang="en-US" sz="3200" dirty="0"/>
              <a:t>Each bit selects whether the pin change interrupt is enabled on the corresponding I/O pin</a:t>
            </a:r>
          </a:p>
          <a:p>
            <a:r>
              <a:rPr lang="en-US" sz="3200" dirty="0"/>
              <a:t>If any bit from PCINT7:0 is set and the PCIE0 bit on PCICR is set, pin change interrupt is enabled on the corresponding I/O pin</a:t>
            </a:r>
          </a:p>
          <a:p>
            <a:r>
              <a:rPr lang="en-US" sz="3200" dirty="0"/>
              <a:t>If PCINT7:0 is cleared, the pin change interrupt on the corresponding I/O pin is disabled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20" y="1663603"/>
            <a:ext cx="12851424" cy="1765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1530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620" y="854660"/>
            <a:ext cx="13167360" cy="1209040"/>
          </a:xfrm>
        </p:spPr>
        <p:txBody>
          <a:bodyPr>
            <a:normAutofit/>
          </a:bodyPr>
          <a:lstStyle/>
          <a:p>
            <a:r>
              <a:rPr lang="en-US" sz="4400" b="1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81200"/>
            <a:ext cx="13792200" cy="450596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dirty="0"/>
              <a:t>ATMega328 Datasheet</a:t>
            </a:r>
          </a:p>
          <a:p>
            <a:pPr algn="just"/>
            <a:r>
              <a:rPr lang="en-US" sz="3200" dirty="0" err="1"/>
              <a:t>Arduino</a:t>
            </a:r>
            <a:r>
              <a:rPr lang="en-US" sz="3200" dirty="0"/>
              <a:t> Uno Datasheet</a:t>
            </a:r>
          </a:p>
          <a:p>
            <a:pPr algn="just"/>
            <a:r>
              <a:rPr lang="en-US" sz="3200" dirty="0"/>
              <a:t>Chapter 5: Microprocessors, Advanced Industrial Control Technology by </a:t>
            </a:r>
            <a:r>
              <a:rPr lang="en-US" sz="3200" dirty="0" err="1"/>
              <a:t>Peng</a:t>
            </a:r>
            <a:r>
              <a:rPr lang="en-US" sz="3200" dirty="0"/>
              <a:t> Zhang</a:t>
            </a:r>
          </a:p>
          <a:p>
            <a:pPr algn="just"/>
            <a:r>
              <a:rPr lang="en-US" sz="3200" dirty="0">
                <a:hlinkClick r:id="rId2"/>
              </a:rPr>
              <a:t>http://www.ganssle.com/debouncing-pt2.htm</a:t>
            </a:r>
            <a:endParaRPr lang="en-US" sz="3200" dirty="0"/>
          </a:p>
          <a:p>
            <a:pPr algn="just"/>
            <a:r>
              <a:rPr lang="en-US" sz="3200" dirty="0">
                <a:hlinkClick r:id="rId3"/>
              </a:rPr>
              <a:t>https://mansfield-devine.com/speculatrix/2018/04/debouncing-fun-with-schmitt-triggers-and-capacitors/</a:t>
            </a:r>
            <a:endParaRPr lang="en-US" sz="3200" dirty="0"/>
          </a:p>
          <a:p>
            <a:pPr algn="just"/>
            <a:r>
              <a:rPr lang="en-US" sz="3200" dirty="0">
                <a:hlinkClick r:id="rId4"/>
              </a:rPr>
              <a:t>https://www.arxterra.com/10-atmega328p-interrupts/</a:t>
            </a:r>
            <a:endParaRPr lang="en-US" sz="3200" dirty="0"/>
          </a:p>
          <a:p>
            <a:pPr algn="just"/>
            <a:r>
              <a:rPr lang="en-US" sz="3200" dirty="0">
                <a:hlinkClick r:id="rId5"/>
              </a:rPr>
              <a:t>https://www.arxterra.com/11-atmega328p-external-interrupts/</a:t>
            </a:r>
            <a:endParaRPr lang="en-US" sz="3200" dirty="0"/>
          </a:p>
          <a:p>
            <a:pPr algn="just"/>
            <a:r>
              <a:rPr lang="en-US" sz="3200" dirty="0">
                <a:hlinkClick r:id="rId6"/>
              </a:rPr>
              <a:t>http://www.gammon.com.au/forum/?id=11488</a:t>
            </a:r>
            <a:endParaRPr lang="en-US" sz="3200" dirty="0"/>
          </a:p>
          <a:p>
            <a:pPr marL="124355" indent="0" algn="just">
              <a:buNone/>
            </a:pPr>
            <a:endParaRPr lang="en-US" sz="3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99652-6805-4BCB-82F2-65ABD02EC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687" y="617191"/>
            <a:ext cx="12412287" cy="1125461"/>
          </a:xfrm>
        </p:spPr>
        <p:txBody>
          <a:bodyPr>
            <a:normAutofit/>
          </a:bodyPr>
          <a:lstStyle/>
          <a:p>
            <a:r>
              <a:rPr lang="en-US" sz="6120" b="1" dirty="0"/>
              <a:t>Thanks </a:t>
            </a:r>
            <a:r>
              <a:rPr lang="en-US" sz="6600" b="1" dirty="0"/>
              <a:t>for</a:t>
            </a:r>
            <a:r>
              <a:rPr lang="en-US" sz="6120" b="1" dirty="0"/>
              <a:t> attending….</a:t>
            </a:r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7086600" y="1179920"/>
            <a:ext cx="6934200" cy="6135279"/>
            <a:chOff x="432" y="1584"/>
            <a:chExt cx="3072" cy="2426"/>
          </a:xfrm>
        </p:grpSpPr>
        <p:sp>
          <p:nvSpPr>
            <p:cNvPr id="6" name="AutoShape 3"/>
            <p:cNvSpPr>
              <a:spLocks noChangeArrowheads="1"/>
            </p:cNvSpPr>
            <p:nvPr/>
          </p:nvSpPr>
          <p:spPr bwMode="auto">
            <a:xfrm>
              <a:off x="1296" y="1584"/>
              <a:ext cx="2208" cy="816"/>
            </a:xfrm>
            <a:prstGeom prst="cloudCallout">
              <a:avLst>
                <a:gd name="adj1" fmla="val -41574"/>
                <a:gd name="adj2" fmla="val 140565"/>
              </a:avLst>
            </a:prstGeom>
            <a:solidFill>
              <a:schemeClr val="accent3"/>
            </a:solidFill>
            <a:ln w="952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cs typeface="Arial" pitchFamily="34" charset="0"/>
                </a:defRPr>
              </a:lvl9pPr>
            </a:lstStyle>
            <a:p>
              <a:pPr algn="ctr" eaLnBrk="1" hangingPunct="1"/>
              <a:endParaRPr lang="en-US" altLang="en-US" sz="2856"/>
            </a:p>
          </p:txBody>
        </p:sp>
        <p:pic>
          <p:nvPicPr>
            <p:cNvPr id="7" name="Picture 4" descr="j030125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3024"/>
              <a:ext cx="1153" cy="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WordArt 5"/>
            <p:cNvSpPr>
              <a:spLocks noChangeArrowheads="1" noChangeShapeType="1" noTextEdit="1"/>
            </p:cNvSpPr>
            <p:nvPr/>
          </p:nvSpPr>
          <p:spPr bwMode="auto">
            <a:xfrm>
              <a:off x="2208" y="1728"/>
              <a:ext cx="421" cy="61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5213" kern="10" dirty="0">
                  <a:ln w="9525">
                    <a:solidFill>
                      <a:schemeClr val="accent5">
                        <a:lumMod val="75000"/>
                      </a:schemeClr>
                    </a:solidFill>
                    <a:round/>
                    <a:headEnd/>
                    <a:tailEnd/>
                  </a:ln>
                  <a:solidFill>
                    <a:srgbClr val="00B050"/>
                  </a:solidFill>
                  <a:latin typeface="Arial Black"/>
                </a:rPr>
                <a:t>?</a:t>
              </a:r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02278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20921</TotalTime>
  <Words>1241</Words>
  <Application>Microsoft Office PowerPoint</Application>
  <PresentationFormat>Custom</PresentationFormat>
  <Paragraphs>160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Black</vt:lpstr>
      <vt:lpstr>Calibri</vt:lpstr>
      <vt:lpstr>Georgia</vt:lpstr>
      <vt:lpstr>Trebuchet MS</vt:lpstr>
      <vt:lpstr>Wingdings 2</vt:lpstr>
      <vt:lpstr>Urban</vt:lpstr>
      <vt:lpstr>PowerPoint Presentation</vt:lpstr>
      <vt:lpstr>External Interrupts</vt:lpstr>
      <vt:lpstr>EICRA – External Interrupt Control Register A</vt:lpstr>
      <vt:lpstr>EICRA – External Interrupt Control Register A</vt:lpstr>
      <vt:lpstr>EICRA – External Interrupt Control Register A</vt:lpstr>
      <vt:lpstr>EIMSK – External Interrupt Mask Register</vt:lpstr>
      <vt:lpstr>EIMSK – External Interrupt Mask Register</vt:lpstr>
      <vt:lpstr>EIFR – External Interrupt Flag Register</vt:lpstr>
      <vt:lpstr>EIFR – External Interrupt Flag Register</vt:lpstr>
      <vt:lpstr>PCICR – Pin Change Interrupt Control Register</vt:lpstr>
      <vt:lpstr>PCICR – Pin Change Interrupt Control Register</vt:lpstr>
      <vt:lpstr>PCICR – Pin Change Interrupt Control Register</vt:lpstr>
      <vt:lpstr>PCIFR – Pin Change Interrupt Flag Register</vt:lpstr>
      <vt:lpstr>PCIFR – Pin Change Interrupt Flag Register</vt:lpstr>
      <vt:lpstr>PCMSK2 – Pin Change Mask Register 2</vt:lpstr>
      <vt:lpstr>PCMSK1 – Pin Change Mask Register 1</vt:lpstr>
      <vt:lpstr>PCMSK0 – Pin Change Mask Register 0</vt:lpstr>
      <vt:lpstr>References</vt:lpstr>
      <vt:lpstr>Thanks for attending….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debouncing and interrupt</dc:title>
  <dc:creator>Teacher</dc:creator>
  <cp:lastModifiedBy>Protik Parvez Sheikh</cp:lastModifiedBy>
  <cp:revision>461</cp:revision>
  <dcterms:created xsi:type="dcterms:W3CDTF">2006-08-16T00:00:00Z</dcterms:created>
  <dcterms:modified xsi:type="dcterms:W3CDTF">2025-11-05T10:40:47Z</dcterms:modified>
</cp:coreProperties>
</file>