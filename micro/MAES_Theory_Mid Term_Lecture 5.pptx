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wdp" ContentType="image/vnd.ms-photo"/>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handoutMasterIdLst>
    <p:handoutMasterId r:id="rId58"/>
  </p:handoutMasterIdLst>
  <p:sldIdLst>
    <p:sldId id="256" r:id="rId2"/>
    <p:sldId id="315" r:id="rId3"/>
    <p:sldId id="316" r:id="rId4"/>
    <p:sldId id="317" r:id="rId5"/>
    <p:sldId id="351" r:id="rId6"/>
    <p:sldId id="356" r:id="rId7"/>
    <p:sldId id="352" r:id="rId8"/>
    <p:sldId id="384" r:id="rId9"/>
    <p:sldId id="353" r:id="rId10"/>
    <p:sldId id="354" r:id="rId11"/>
    <p:sldId id="355" r:id="rId12"/>
    <p:sldId id="382" r:id="rId13"/>
    <p:sldId id="338" r:id="rId14"/>
    <p:sldId id="325" r:id="rId15"/>
    <p:sldId id="383" r:id="rId16"/>
    <p:sldId id="327" r:id="rId17"/>
    <p:sldId id="328" r:id="rId18"/>
    <p:sldId id="329" r:id="rId19"/>
    <p:sldId id="330" r:id="rId20"/>
    <p:sldId id="331" r:id="rId21"/>
    <p:sldId id="332" r:id="rId22"/>
    <p:sldId id="333" r:id="rId23"/>
    <p:sldId id="339" r:id="rId24"/>
    <p:sldId id="340" r:id="rId25"/>
    <p:sldId id="341" r:id="rId26"/>
    <p:sldId id="358" r:id="rId27"/>
    <p:sldId id="371" r:id="rId28"/>
    <p:sldId id="359" r:id="rId29"/>
    <p:sldId id="360" r:id="rId30"/>
    <p:sldId id="357" r:id="rId31"/>
    <p:sldId id="362" r:id="rId32"/>
    <p:sldId id="361" r:id="rId33"/>
    <p:sldId id="342" r:id="rId34"/>
    <p:sldId id="364" r:id="rId35"/>
    <p:sldId id="343" r:id="rId36"/>
    <p:sldId id="344" r:id="rId37"/>
    <p:sldId id="345" r:id="rId38"/>
    <p:sldId id="346" r:id="rId39"/>
    <p:sldId id="365" r:id="rId40"/>
    <p:sldId id="347" r:id="rId41"/>
    <p:sldId id="376" r:id="rId42"/>
    <p:sldId id="348" r:id="rId43"/>
    <p:sldId id="349" r:id="rId44"/>
    <p:sldId id="366" r:id="rId45"/>
    <p:sldId id="373" r:id="rId46"/>
    <p:sldId id="379" r:id="rId47"/>
    <p:sldId id="380" r:id="rId48"/>
    <p:sldId id="381" r:id="rId49"/>
    <p:sldId id="378" r:id="rId50"/>
    <p:sldId id="374" r:id="rId51"/>
    <p:sldId id="375" r:id="rId52"/>
    <p:sldId id="367" r:id="rId53"/>
    <p:sldId id="377" r:id="rId54"/>
    <p:sldId id="370" r:id="rId55"/>
    <p:sldId id="314" r:id="rId56"/>
  </p:sldIdLst>
  <p:sldSz cx="16459200" cy="8229600"/>
  <p:notesSz cx="9232900" cy="6934200"/>
  <p:defaultTextStyle>
    <a:defPPr>
      <a:defRPr lang="en-US"/>
    </a:defPPr>
    <a:lvl1pPr algn="l" rtl="0" eaLnBrk="0" fontAlgn="base" hangingPunct="0">
      <a:spcBef>
        <a:spcPct val="0"/>
      </a:spcBef>
      <a:spcAft>
        <a:spcPct val="0"/>
      </a:spcAft>
      <a:defRPr sz="3700" kern="1200">
        <a:solidFill>
          <a:schemeClr val="tx1"/>
        </a:solidFill>
        <a:latin typeface="Times New Roman" panose="02020603050405020304" pitchFamily="18" charset="0"/>
        <a:ea typeface="+mn-ea"/>
        <a:cs typeface="+mn-cs"/>
      </a:defRPr>
    </a:lvl1pPr>
    <a:lvl2pPr marL="704850" indent="-247650" algn="l" rtl="0" eaLnBrk="0" fontAlgn="base" hangingPunct="0">
      <a:spcBef>
        <a:spcPct val="0"/>
      </a:spcBef>
      <a:spcAft>
        <a:spcPct val="0"/>
      </a:spcAft>
      <a:defRPr sz="3700" kern="1200">
        <a:solidFill>
          <a:schemeClr val="tx1"/>
        </a:solidFill>
        <a:latin typeface="Times New Roman" panose="02020603050405020304" pitchFamily="18" charset="0"/>
        <a:ea typeface="+mn-ea"/>
        <a:cs typeface="+mn-cs"/>
      </a:defRPr>
    </a:lvl2pPr>
    <a:lvl3pPr marL="1409700" indent="-495300" algn="l" rtl="0" eaLnBrk="0" fontAlgn="base" hangingPunct="0">
      <a:spcBef>
        <a:spcPct val="0"/>
      </a:spcBef>
      <a:spcAft>
        <a:spcPct val="0"/>
      </a:spcAft>
      <a:defRPr sz="3700" kern="1200">
        <a:solidFill>
          <a:schemeClr val="tx1"/>
        </a:solidFill>
        <a:latin typeface="Times New Roman" panose="02020603050405020304" pitchFamily="18" charset="0"/>
        <a:ea typeface="+mn-ea"/>
        <a:cs typeface="+mn-cs"/>
      </a:defRPr>
    </a:lvl3pPr>
    <a:lvl4pPr marL="2114550" indent="-742950" algn="l" rtl="0" eaLnBrk="0" fontAlgn="base" hangingPunct="0">
      <a:spcBef>
        <a:spcPct val="0"/>
      </a:spcBef>
      <a:spcAft>
        <a:spcPct val="0"/>
      </a:spcAft>
      <a:defRPr sz="3700" kern="1200">
        <a:solidFill>
          <a:schemeClr val="tx1"/>
        </a:solidFill>
        <a:latin typeface="Times New Roman" panose="02020603050405020304" pitchFamily="18" charset="0"/>
        <a:ea typeface="+mn-ea"/>
        <a:cs typeface="+mn-cs"/>
      </a:defRPr>
    </a:lvl4pPr>
    <a:lvl5pPr marL="2820988" indent="-992188" algn="l" rtl="0" eaLnBrk="0" fontAlgn="base" hangingPunct="0">
      <a:spcBef>
        <a:spcPct val="0"/>
      </a:spcBef>
      <a:spcAft>
        <a:spcPct val="0"/>
      </a:spcAft>
      <a:defRPr sz="3700" kern="1200">
        <a:solidFill>
          <a:schemeClr val="tx1"/>
        </a:solidFill>
        <a:latin typeface="Times New Roman" panose="02020603050405020304" pitchFamily="18" charset="0"/>
        <a:ea typeface="+mn-ea"/>
        <a:cs typeface="+mn-cs"/>
      </a:defRPr>
    </a:lvl5pPr>
    <a:lvl6pPr marL="2286000" algn="l" defTabSz="914400" rtl="0" eaLnBrk="1" latinLnBrk="0" hangingPunct="1">
      <a:defRPr sz="3700" kern="1200">
        <a:solidFill>
          <a:schemeClr val="tx1"/>
        </a:solidFill>
        <a:latin typeface="Times New Roman" panose="02020603050405020304" pitchFamily="18" charset="0"/>
        <a:ea typeface="+mn-ea"/>
        <a:cs typeface="+mn-cs"/>
      </a:defRPr>
    </a:lvl6pPr>
    <a:lvl7pPr marL="2743200" algn="l" defTabSz="914400" rtl="0" eaLnBrk="1" latinLnBrk="0" hangingPunct="1">
      <a:defRPr sz="3700" kern="1200">
        <a:solidFill>
          <a:schemeClr val="tx1"/>
        </a:solidFill>
        <a:latin typeface="Times New Roman" panose="02020603050405020304" pitchFamily="18" charset="0"/>
        <a:ea typeface="+mn-ea"/>
        <a:cs typeface="+mn-cs"/>
      </a:defRPr>
    </a:lvl7pPr>
    <a:lvl8pPr marL="3200400" algn="l" defTabSz="914400" rtl="0" eaLnBrk="1" latinLnBrk="0" hangingPunct="1">
      <a:defRPr sz="3700" kern="1200">
        <a:solidFill>
          <a:schemeClr val="tx1"/>
        </a:solidFill>
        <a:latin typeface="Times New Roman" panose="02020603050405020304" pitchFamily="18" charset="0"/>
        <a:ea typeface="+mn-ea"/>
        <a:cs typeface="+mn-cs"/>
      </a:defRPr>
    </a:lvl8pPr>
    <a:lvl9pPr marL="3657600" algn="l" defTabSz="914400" rtl="0" eaLnBrk="1" latinLnBrk="0" hangingPunct="1">
      <a:defRPr sz="37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592">
          <p15:clr>
            <a:srgbClr val="A4A3A4"/>
          </p15:clr>
        </p15:guide>
        <p15:guide id="2" pos="5184">
          <p15:clr>
            <a:srgbClr val="A4A3A4"/>
          </p15:clr>
        </p15:guide>
      </p15:sldGuideLst>
    </p:ext>
    <p:ext uri="{2D200454-40CA-4A62-9FC3-DE9A4176ACB9}">
      <p15:notesGuideLst xmlns:p15="http://schemas.microsoft.com/office/powerpoint/2012/main">
        <p15:guide id="1" orient="horz" pos="2184">
          <p15:clr>
            <a:srgbClr val="A4A3A4"/>
          </p15:clr>
        </p15:guide>
        <p15:guide id="2" pos="29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66FF3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0C5333-F441-4ADE-BE23-68BE07D110C0}" v="6" dt="2026-03-13T18:22:50.7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28" autoAdjust="0"/>
    <p:restoredTop sz="94679" autoAdjust="0"/>
  </p:normalViewPr>
  <p:slideViewPr>
    <p:cSldViewPr>
      <p:cViewPr varScale="1">
        <p:scale>
          <a:sx n="71" d="100"/>
          <a:sy n="71" d="100"/>
        </p:scale>
        <p:origin x="96" y="221"/>
      </p:cViewPr>
      <p:guideLst>
        <p:guide orient="horz" pos="2592"/>
        <p:guide pos="518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3" d="100"/>
          <a:sy n="43" d="100"/>
        </p:scale>
        <p:origin x="-581" y="-58"/>
      </p:cViewPr>
      <p:guideLst>
        <p:guide orient="horz" pos="2184"/>
        <p:guide pos="29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tik Parvez Sheikh" userId="980b2c0e-c4be-48b4-89f1-66949b55d700" providerId="ADAL" clId="{A6601BA9-0B5C-4B28-9B3C-C04A3E53A861}"/>
  </pc:docChgLst>
  <pc:docChgLst>
    <pc:chgData name="Protik Parvez Sheikh" userId="980b2c0e-c4be-48b4-89f1-66949b55d700" providerId="ADAL" clId="{E7A6213D-DD47-4BB5-A2D2-C322353A4A35}"/>
    <pc:docChg chg="undo custSel modSld">
      <pc:chgData name="Protik Parvez Sheikh" userId="980b2c0e-c4be-48b4-89f1-66949b55d700" providerId="ADAL" clId="{E7A6213D-DD47-4BB5-A2D2-C322353A4A35}" dt="2026-03-08T04:59:56.006" v="6" actId="1076"/>
      <pc:docMkLst>
        <pc:docMk/>
      </pc:docMkLst>
      <pc:sldChg chg="modSp mod">
        <pc:chgData name="Protik Parvez Sheikh" userId="980b2c0e-c4be-48b4-89f1-66949b55d700" providerId="ADAL" clId="{E7A6213D-DD47-4BB5-A2D2-C322353A4A35}" dt="2026-03-08T04:59:56.006" v="6" actId="1076"/>
        <pc:sldMkLst>
          <pc:docMk/>
          <pc:sldMk cId="4031068912" sldId="351"/>
        </pc:sldMkLst>
        <pc:spChg chg="mod">
          <ac:chgData name="Protik Parvez Sheikh" userId="980b2c0e-c4be-48b4-89f1-66949b55d700" providerId="ADAL" clId="{E7A6213D-DD47-4BB5-A2D2-C322353A4A35}" dt="2026-03-08T04:59:48.080" v="5" actId="1076"/>
          <ac:spMkLst>
            <pc:docMk/>
            <pc:sldMk cId="4031068912" sldId="351"/>
            <ac:spMk id="7" creationId="{47D844CC-76FD-C0FA-2443-866DB21EB4D7}"/>
          </ac:spMkLst>
        </pc:spChg>
        <pc:spChg chg="mod">
          <ac:chgData name="Protik Parvez Sheikh" userId="980b2c0e-c4be-48b4-89f1-66949b55d700" providerId="ADAL" clId="{E7A6213D-DD47-4BB5-A2D2-C322353A4A35}" dt="2026-03-08T04:59:56.006" v="6" actId="1076"/>
          <ac:spMkLst>
            <pc:docMk/>
            <pc:sldMk cId="4031068912" sldId="351"/>
            <ac:spMk id="9" creationId="{E7117E7F-F208-DDB0-2E4D-0D0E6E6871D7}"/>
          </ac:spMkLst>
        </pc:spChg>
        <pc:graphicFrameChg chg="mod">
          <ac:chgData name="Protik Parvez Sheikh" userId="980b2c0e-c4be-48b4-89f1-66949b55d700" providerId="ADAL" clId="{E7A6213D-DD47-4BB5-A2D2-C322353A4A35}" dt="2026-03-08T04:59:48.080" v="5" actId="1076"/>
          <ac:graphicFrameMkLst>
            <pc:docMk/>
            <pc:sldMk cId="4031068912" sldId="351"/>
            <ac:graphicFrameMk id="6" creationId="{B6DCD12B-3E91-6CF4-EC93-09976410DFEE}"/>
          </ac:graphicFrameMkLst>
        </pc:graphicFrameChg>
        <pc:graphicFrameChg chg="mod">
          <ac:chgData name="Protik Parvez Sheikh" userId="980b2c0e-c4be-48b4-89f1-66949b55d700" providerId="ADAL" clId="{E7A6213D-DD47-4BB5-A2D2-C322353A4A35}" dt="2026-03-08T04:59:56.006" v="6" actId="1076"/>
          <ac:graphicFrameMkLst>
            <pc:docMk/>
            <pc:sldMk cId="4031068912" sldId="351"/>
            <ac:graphicFrameMk id="8" creationId="{40A3F512-3DE4-17F7-1E90-AAEE8A293537}"/>
          </ac:graphicFrameMkLst>
        </pc:graphicFrameChg>
      </pc:sldChg>
    </pc:docChg>
  </pc:docChgLst>
  <pc:docChgLst>
    <pc:chgData name="Protik Parvez Sheikh" userId="980b2c0e-c4be-48b4-89f1-66949b55d700" providerId="ADAL" clId="{550C5333-F441-4ADE-BE23-68BE07D110C0}"/>
    <pc:docChg chg="addSld delSld modSld">
      <pc:chgData name="Protik Parvez Sheikh" userId="980b2c0e-c4be-48b4-89f1-66949b55d700" providerId="ADAL" clId="{550C5333-F441-4ADE-BE23-68BE07D110C0}" dt="2026-03-13T18:22:50.705" v="5"/>
      <pc:docMkLst>
        <pc:docMk/>
      </pc:docMkLst>
      <pc:sldChg chg="modSp">
        <pc:chgData name="Protik Parvez Sheikh" userId="980b2c0e-c4be-48b4-89f1-66949b55d700" providerId="ADAL" clId="{550C5333-F441-4ADE-BE23-68BE07D110C0}" dt="2026-03-10T04:14:27.087" v="0" actId="1076"/>
        <pc:sldMkLst>
          <pc:docMk/>
          <pc:sldMk cId="2229750033" sldId="346"/>
        </pc:sldMkLst>
        <pc:picChg chg="mod">
          <ac:chgData name="Protik Parvez Sheikh" userId="980b2c0e-c4be-48b4-89f1-66949b55d700" providerId="ADAL" clId="{550C5333-F441-4ADE-BE23-68BE07D110C0}" dt="2026-03-10T04:14:27.087" v="0" actId="1076"/>
          <ac:picMkLst>
            <pc:docMk/>
            <pc:sldMk cId="2229750033" sldId="346"/>
            <ac:picMk id="7" creationId="{AFAEE584-788D-868F-2C81-9C62CBD0D027}"/>
          </ac:picMkLst>
        </pc:picChg>
      </pc:sldChg>
      <pc:sldChg chg="add del">
        <pc:chgData name="Protik Parvez Sheikh" userId="980b2c0e-c4be-48b4-89f1-66949b55d700" providerId="ADAL" clId="{550C5333-F441-4ADE-BE23-68BE07D110C0}" dt="2026-03-13T18:22:50.705" v="5"/>
        <pc:sldMkLst>
          <pc:docMk/>
          <pc:sldMk cId="1720940121" sldId="352"/>
        </pc:sldMkLst>
      </pc:sldChg>
      <pc:sldChg chg="add del">
        <pc:chgData name="Protik Parvez Sheikh" userId="980b2c0e-c4be-48b4-89f1-66949b55d700" providerId="ADAL" clId="{550C5333-F441-4ADE-BE23-68BE07D110C0}" dt="2026-03-13T18:22:50.705" v="5"/>
        <pc:sldMkLst>
          <pc:docMk/>
          <pc:sldMk cId="1341699151" sldId="353"/>
        </pc:sldMkLst>
      </pc:sldChg>
      <pc:sldChg chg="add del">
        <pc:chgData name="Protik Parvez Sheikh" userId="980b2c0e-c4be-48b4-89f1-66949b55d700" providerId="ADAL" clId="{550C5333-F441-4ADE-BE23-68BE07D110C0}" dt="2026-03-13T18:22:50.705" v="5"/>
        <pc:sldMkLst>
          <pc:docMk/>
          <pc:sldMk cId="249985704" sldId="354"/>
        </pc:sldMkLst>
      </pc:sldChg>
      <pc:sldChg chg="modSp">
        <pc:chgData name="Protik Parvez Sheikh" userId="980b2c0e-c4be-48b4-89f1-66949b55d700" providerId="ADAL" clId="{550C5333-F441-4ADE-BE23-68BE07D110C0}" dt="2026-03-11T06:33:31.495" v="1" actId="14734"/>
        <pc:sldMkLst>
          <pc:docMk/>
          <pc:sldMk cId="2510588440" sldId="356"/>
        </pc:sldMkLst>
        <pc:graphicFrameChg chg="modGraphic">
          <ac:chgData name="Protik Parvez Sheikh" userId="980b2c0e-c4be-48b4-89f1-66949b55d700" providerId="ADAL" clId="{550C5333-F441-4ADE-BE23-68BE07D110C0}" dt="2026-03-11T06:33:31.495" v="1" actId="14734"/>
          <ac:graphicFrameMkLst>
            <pc:docMk/>
            <pc:sldMk cId="2510588440" sldId="356"/>
            <ac:graphicFrameMk id="37" creationId="{1056FCF6-A927-004A-36DD-A6737256ACD3}"/>
          </ac:graphicFrameMkLst>
        </pc:graphicFrameChg>
      </pc:sldChg>
      <pc:sldChg chg="add">
        <pc:chgData name="Protik Parvez Sheikh" userId="980b2c0e-c4be-48b4-89f1-66949b55d700" providerId="ADAL" clId="{550C5333-F441-4ADE-BE23-68BE07D110C0}" dt="2026-03-13T18:22:50.705" v="5"/>
        <pc:sldMkLst>
          <pc:docMk/>
          <pc:sldMk cId="2123055649" sldId="38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4000500" cy="346075"/>
          </a:xfrm>
          <a:prstGeom prst="rect">
            <a:avLst/>
          </a:prstGeom>
          <a:noFill/>
          <a:ln w="9525">
            <a:noFill/>
            <a:miter lim="800000"/>
            <a:headEnd/>
            <a:tailEnd/>
          </a:ln>
          <a:effectLst/>
        </p:spPr>
        <p:txBody>
          <a:bodyPr vert="horz" wrap="square" lIns="92341" tIns="46172" rIns="92341" bIns="46172" numCol="1" anchor="t" anchorCtr="0" compatLnSpc="1">
            <a:prstTxWarp prst="textNoShape">
              <a:avLst/>
            </a:prstTxWarp>
          </a:bodyPr>
          <a:lstStyle>
            <a:lvl1pPr defTabSz="920925" eaLnBrk="1" hangingPunct="1">
              <a:defRPr sz="1200"/>
            </a:lvl1pPr>
          </a:lstStyle>
          <a:p>
            <a:pPr>
              <a:defRPr/>
            </a:pPr>
            <a:endParaRPr lang="en-US"/>
          </a:p>
        </p:txBody>
      </p:sp>
      <p:sp>
        <p:nvSpPr>
          <p:cNvPr id="5123" name="Rectangle 3"/>
          <p:cNvSpPr>
            <a:spLocks noGrp="1" noChangeArrowheads="1"/>
          </p:cNvSpPr>
          <p:nvPr>
            <p:ph type="dt" sz="quarter" idx="1"/>
          </p:nvPr>
        </p:nvSpPr>
        <p:spPr bwMode="auto">
          <a:xfrm>
            <a:off x="5232400" y="0"/>
            <a:ext cx="4000500" cy="346075"/>
          </a:xfrm>
          <a:prstGeom prst="rect">
            <a:avLst/>
          </a:prstGeom>
          <a:noFill/>
          <a:ln w="9525">
            <a:noFill/>
            <a:miter lim="800000"/>
            <a:headEnd/>
            <a:tailEnd/>
          </a:ln>
          <a:effectLst/>
        </p:spPr>
        <p:txBody>
          <a:bodyPr vert="horz" wrap="square" lIns="92341" tIns="46172" rIns="92341" bIns="46172" numCol="1" anchor="t" anchorCtr="0" compatLnSpc="1">
            <a:prstTxWarp prst="textNoShape">
              <a:avLst/>
            </a:prstTxWarp>
          </a:bodyPr>
          <a:lstStyle>
            <a:lvl1pPr algn="r" defTabSz="920925" eaLnBrk="1" hangingPunct="1">
              <a:defRPr sz="1200"/>
            </a:lvl1pPr>
          </a:lstStyle>
          <a:p>
            <a:pPr>
              <a:defRPr/>
            </a:pPr>
            <a:endParaRPr lang="en-US"/>
          </a:p>
        </p:txBody>
      </p:sp>
      <p:sp>
        <p:nvSpPr>
          <p:cNvPr id="5124" name="Rectangle 4"/>
          <p:cNvSpPr>
            <a:spLocks noGrp="1" noChangeArrowheads="1"/>
          </p:cNvSpPr>
          <p:nvPr>
            <p:ph type="ftr" sz="quarter" idx="2"/>
          </p:nvPr>
        </p:nvSpPr>
        <p:spPr bwMode="auto">
          <a:xfrm>
            <a:off x="0" y="6588125"/>
            <a:ext cx="4000500" cy="346075"/>
          </a:xfrm>
          <a:prstGeom prst="rect">
            <a:avLst/>
          </a:prstGeom>
          <a:noFill/>
          <a:ln w="9525">
            <a:noFill/>
            <a:miter lim="800000"/>
            <a:headEnd/>
            <a:tailEnd/>
          </a:ln>
          <a:effectLst/>
        </p:spPr>
        <p:txBody>
          <a:bodyPr vert="horz" wrap="square" lIns="92341" tIns="46172" rIns="92341" bIns="46172" numCol="1" anchor="b" anchorCtr="0" compatLnSpc="1">
            <a:prstTxWarp prst="textNoShape">
              <a:avLst/>
            </a:prstTxWarp>
          </a:bodyPr>
          <a:lstStyle>
            <a:lvl1pPr defTabSz="920925" eaLnBrk="1" hangingPunct="1">
              <a:defRPr sz="1200"/>
            </a:lvl1pPr>
          </a:lstStyle>
          <a:p>
            <a:pPr>
              <a:defRPr/>
            </a:pPr>
            <a:endParaRPr lang="en-US"/>
          </a:p>
        </p:txBody>
      </p:sp>
      <p:sp>
        <p:nvSpPr>
          <p:cNvPr id="5125" name="Rectangle 5"/>
          <p:cNvSpPr>
            <a:spLocks noGrp="1" noChangeArrowheads="1"/>
          </p:cNvSpPr>
          <p:nvPr>
            <p:ph type="sldNum" sz="quarter" idx="3"/>
          </p:nvPr>
        </p:nvSpPr>
        <p:spPr bwMode="auto">
          <a:xfrm>
            <a:off x="5232400" y="6588125"/>
            <a:ext cx="4000500" cy="346075"/>
          </a:xfrm>
          <a:prstGeom prst="rect">
            <a:avLst/>
          </a:prstGeom>
          <a:noFill/>
          <a:ln w="9525">
            <a:noFill/>
            <a:miter lim="800000"/>
            <a:headEnd/>
            <a:tailEnd/>
          </a:ln>
          <a:effectLst/>
        </p:spPr>
        <p:txBody>
          <a:bodyPr vert="horz" wrap="square" lIns="92341" tIns="46172" rIns="92341" bIns="46172" numCol="1" anchor="b" anchorCtr="0" compatLnSpc="1">
            <a:prstTxWarp prst="textNoShape">
              <a:avLst/>
            </a:prstTxWarp>
          </a:bodyPr>
          <a:lstStyle>
            <a:lvl1pPr algn="r" defTabSz="920750" eaLnBrk="1" hangingPunct="1">
              <a:defRPr sz="1200" smtClean="0"/>
            </a:lvl1pPr>
          </a:lstStyle>
          <a:p>
            <a:pPr>
              <a:defRPr/>
            </a:pPr>
            <a:fld id="{77875FC0-46AE-4733-AEC8-5C1521AE5FCD}"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000500" cy="346075"/>
          </a:xfrm>
          <a:prstGeom prst="rect">
            <a:avLst/>
          </a:prstGeom>
          <a:noFill/>
          <a:ln w="9525">
            <a:noFill/>
            <a:miter lim="800000"/>
            <a:headEnd/>
            <a:tailEnd/>
          </a:ln>
          <a:effectLst/>
        </p:spPr>
        <p:txBody>
          <a:bodyPr vert="horz" wrap="square" lIns="92341" tIns="46172" rIns="92341" bIns="46172" numCol="1" anchor="t" anchorCtr="0" compatLnSpc="1">
            <a:prstTxWarp prst="textNoShape">
              <a:avLst/>
            </a:prstTxWarp>
          </a:bodyPr>
          <a:lstStyle>
            <a:lvl1pPr defTabSz="920925" eaLnBrk="1" hangingPunct="1">
              <a:defRPr sz="1200"/>
            </a:lvl1pPr>
          </a:lstStyle>
          <a:p>
            <a:pPr>
              <a:defRPr/>
            </a:pPr>
            <a:endParaRPr lang="en-US"/>
          </a:p>
        </p:txBody>
      </p:sp>
      <p:sp>
        <p:nvSpPr>
          <p:cNvPr id="4099" name="Rectangle 3"/>
          <p:cNvSpPr>
            <a:spLocks noGrp="1" noChangeArrowheads="1"/>
          </p:cNvSpPr>
          <p:nvPr>
            <p:ph type="dt" idx="1"/>
          </p:nvPr>
        </p:nvSpPr>
        <p:spPr bwMode="auto">
          <a:xfrm>
            <a:off x="5232400" y="0"/>
            <a:ext cx="4000500" cy="346075"/>
          </a:xfrm>
          <a:prstGeom prst="rect">
            <a:avLst/>
          </a:prstGeom>
          <a:noFill/>
          <a:ln w="9525">
            <a:noFill/>
            <a:miter lim="800000"/>
            <a:headEnd/>
            <a:tailEnd/>
          </a:ln>
          <a:effectLst/>
        </p:spPr>
        <p:txBody>
          <a:bodyPr vert="horz" wrap="square" lIns="92341" tIns="46172" rIns="92341" bIns="46172" numCol="1" anchor="t" anchorCtr="0" compatLnSpc="1">
            <a:prstTxWarp prst="textNoShape">
              <a:avLst/>
            </a:prstTxWarp>
          </a:bodyPr>
          <a:lstStyle>
            <a:lvl1pPr algn="r" defTabSz="920925" eaLnBrk="1" hangingPunct="1">
              <a:defRPr sz="1200"/>
            </a:lvl1pPr>
          </a:lstStyle>
          <a:p>
            <a:pPr>
              <a:defRPr/>
            </a:pPr>
            <a:endParaRPr lang="en-US"/>
          </a:p>
        </p:txBody>
      </p:sp>
      <p:sp>
        <p:nvSpPr>
          <p:cNvPr id="2052" name="Rectangle 4"/>
          <p:cNvSpPr>
            <a:spLocks noGrp="1" noRot="1" noChangeAspect="1" noChangeArrowheads="1" noTextEdit="1"/>
          </p:cNvSpPr>
          <p:nvPr>
            <p:ph type="sldImg" idx="2"/>
          </p:nvPr>
        </p:nvSpPr>
        <p:spPr bwMode="auto">
          <a:xfrm>
            <a:off x="2016125" y="519113"/>
            <a:ext cx="5205413" cy="26035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1233488" y="3295650"/>
            <a:ext cx="6765925" cy="3119438"/>
          </a:xfrm>
          <a:prstGeom prst="rect">
            <a:avLst/>
          </a:prstGeom>
          <a:noFill/>
          <a:ln w="9525">
            <a:noFill/>
            <a:miter lim="800000"/>
            <a:headEnd/>
            <a:tailEnd/>
          </a:ln>
          <a:effectLst/>
        </p:spPr>
        <p:txBody>
          <a:bodyPr vert="horz" wrap="square" lIns="92341" tIns="46172" rIns="92341" bIns="4617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6588125"/>
            <a:ext cx="4000500" cy="346075"/>
          </a:xfrm>
          <a:prstGeom prst="rect">
            <a:avLst/>
          </a:prstGeom>
          <a:noFill/>
          <a:ln w="9525">
            <a:noFill/>
            <a:miter lim="800000"/>
            <a:headEnd/>
            <a:tailEnd/>
          </a:ln>
          <a:effectLst/>
        </p:spPr>
        <p:txBody>
          <a:bodyPr vert="horz" wrap="square" lIns="92341" tIns="46172" rIns="92341" bIns="46172" numCol="1" anchor="b" anchorCtr="0" compatLnSpc="1">
            <a:prstTxWarp prst="textNoShape">
              <a:avLst/>
            </a:prstTxWarp>
          </a:bodyPr>
          <a:lstStyle>
            <a:lvl1pPr defTabSz="920925" eaLnBrk="1" hangingPunct="1">
              <a:defRPr sz="1200"/>
            </a:lvl1pPr>
          </a:lstStyle>
          <a:p>
            <a:pPr>
              <a:defRPr/>
            </a:pPr>
            <a:endParaRPr lang="en-US"/>
          </a:p>
        </p:txBody>
      </p:sp>
      <p:sp>
        <p:nvSpPr>
          <p:cNvPr id="4103" name="Rectangle 7"/>
          <p:cNvSpPr>
            <a:spLocks noGrp="1" noChangeArrowheads="1"/>
          </p:cNvSpPr>
          <p:nvPr>
            <p:ph type="sldNum" sz="quarter" idx="5"/>
          </p:nvPr>
        </p:nvSpPr>
        <p:spPr bwMode="auto">
          <a:xfrm>
            <a:off x="5232400" y="6588125"/>
            <a:ext cx="4000500" cy="346075"/>
          </a:xfrm>
          <a:prstGeom prst="rect">
            <a:avLst/>
          </a:prstGeom>
          <a:noFill/>
          <a:ln w="9525">
            <a:noFill/>
            <a:miter lim="800000"/>
            <a:headEnd/>
            <a:tailEnd/>
          </a:ln>
          <a:effectLst/>
        </p:spPr>
        <p:txBody>
          <a:bodyPr vert="horz" wrap="square" lIns="92341" tIns="46172" rIns="92341" bIns="46172" numCol="1" anchor="b" anchorCtr="0" compatLnSpc="1">
            <a:prstTxWarp prst="textNoShape">
              <a:avLst/>
            </a:prstTxWarp>
          </a:bodyPr>
          <a:lstStyle>
            <a:lvl1pPr algn="r" defTabSz="920750" eaLnBrk="1" hangingPunct="1">
              <a:defRPr sz="1200" smtClean="0"/>
            </a:lvl1pPr>
          </a:lstStyle>
          <a:p>
            <a:pPr>
              <a:defRPr/>
            </a:pPr>
            <a:fld id="{E545AC70-609B-45AB-A613-8BF9B949A7C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ern="1200">
        <a:solidFill>
          <a:schemeClr val="tx1"/>
        </a:solidFill>
        <a:latin typeface="Times New Roman" pitchFamily="18" charset="0"/>
        <a:ea typeface="+mn-ea"/>
        <a:cs typeface="+mn-cs"/>
      </a:defRPr>
    </a:lvl1pPr>
    <a:lvl2pPr marL="704850" algn="l" rtl="0" eaLnBrk="0" fontAlgn="base" hangingPunct="0">
      <a:spcBef>
        <a:spcPct val="30000"/>
      </a:spcBef>
      <a:spcAft>
        <a:spcPct val="0"/>
      </a:spcAft>
      <a:defRPr kern="1200">
        <a:solidFill>
          <a:schemeClr val="tx1"/>
        </a:solidFill>
        <a:latin typeface="Times New Roman" pitchFamily="18" charset="0"/>
        <a:ea typeface="+mn-ea"/>
        <a:cs typeface="+mn-cs"/>
      </a:defRPr>
    </a:lvl2pPr>
    <a:lvl3pPr marL="1409700" algn="l" rtl="0" eaLnBrk="0" fontAlgn="base" hangingPunct="0">
      <a:spcBef>
        <a:spcPct val="30000"/>
      </a:spcBef>
      <a:spcAft>
        <a:spcPct val="0"/>
      </a:spcAft>
      <a:defRPr kern="1200">
        <a:solidFill>
          <a:schemeClr val="tx1"/>
        </a:solidFill>
        <a:latin typeface="Times New Roman" pitchFamily="18" charset="0"/>
        <a:ea typeface="+mn-ea"/>
        <a:cs typeface="+mn-cs"/>
      </a:defRPr>
    </a:lvl3pPr>
    <a:lvl4pPr marL="2114550" algn="l" rtl="0" eaLnBrk="0" fontAlgn="base" hangingPunct="0">
      <a:spcBef>
        <a:spcPct val="30000"/>
      </a:spcBef>
      <a:spcAft>
        <a:spcPct val="0"/>
      </a:spcAft>
      <a:defRPr kern="1200">
        <a:solidFill>
          <a:schemeClr val="tx1"/>
        </a:solidFill>
        <a:latin typeface="Times New Roman" pitchFamily="18" charset="0"/>
        <a:ea typeface="+mn-ea"/>
        <a:cs typeface="+mn-cs"/>
      </a:defRPr>
    </a:lvl4pPr>
    <a:lvl5pPr marL="2820988" algn="l" rtl="0" eaLnBrk="0" fontAlgn="base" hangingPunct="0">
      <a:spcBef>
        <a:spcPct val="30000"/>
      </a:spcBef>
      <a:spcAft>
        <a:spcPct val="0"/>
      </a:spcAft>
      <a:defRPr kern="1200">
        <a:solidFill>
          <a:schemeClr val="tx1"/>
        </a:solidFill>
        <a:latin typeface="Times New Roman" pitchFamily="18" charset="0"/>
        <a:ea typeface="+mn-ea"/>
        <a:cs typeface="+mn-cs"/>
      </a:defRPr>
    </a:lvl5pPr>
    <a:lvl6pPr marL="3526841" algn="l" defTabSz="1410736" rtl="0" eaLnBrk="1" latinLnBrk="0" hangingPunct="1">
      <a:defRPr sz="1851" kern="1200">
        <a:solidFill>
          <a:schemeClr val="tx1"/>
        </a:solidFill>
        <a:latin typeface="+mn-lt"/>
        <a:ea typeface="+mn-ea"/>
        <a:cs typeface="+mn-cs"/>
      </a:defRPr>
    </a:lvl6pPr>
    <a:lvl7pPr marL="4232209" algn="l" defTabSz="1410736" rtl="0" eaLnBrk="1" latinLnBrk="0" hangingPunct="1">
      <a:defRPr sz="1851" kern="1200">
        <a:solidFill>
          <a:schemeClr val="tx1"/>
        </a:solidFill>
        <a:latin typeface="+mn-lt"/>
        <a:ea typeface="+mn-ea"/>
        <a:cs typeface="+mn-cs"/>
      </a:defRPr>
    </a:lvl7pPr>
    <a:lvl8pPr marL="4937577" algn="l" defTabSz="1410736" rtl="0" eaLnBrk="1" latinLnBrk="0" hangingPunct="1">
      <a:defRPr sz="1851" kern="1200">
        <a:solidFill>
          <a:schemeClr val="tx1"/>
        </a:solidFill>
        <a:latin typeface="+mn-lt"/>
        <a:ea typeface="+mn-ea"/>
        <a:cs typeface="+mn-cs"/>
      </a:defRPr>
    </a:lvl8pPr>
    <a:lvl9pPr marL="5642945" algn="l" defTabSz="1410736" rtl="0" eaLnBrk="1" latinLnBrk="0" hangingPunct="1">
      <a:defRPr sz="185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0750">
              <a:spcBef>
                <a:spcPct val="30000"/>
              </a:spcBef>
              <a:defRPr>
                <a:solidFill>
                  <a:schemeClr val="tx1"/>
                </a:solidFill>
                <a:latin typeface="Times New Roman" panose="02020603050405020304" pitchFamily="18" charset="0"/>
              </a:defRPr>
            </a:lvl1pPr>
            <a:lvl2pPr marL="742950" indent="-285750" defTabSz="920750">
              <a:spcBef>
                <a:spcPct val="30000"/>
              </a:spcBef>
              <a:defRPr>
                <a:solidFill>
                  <a:schemeClr val="tx1"/>
                </a:solidFill>
                <a:latin typeface="Times New Roman" panose="02020603050405020304" pitchFamily="18" charset="0"/>
              </a:defRPr>
            </a:lvl2pPr>
            <a:lvl3pPr marL="1143000" indent="-228600" defTabSz="920750">
              <a:spcBef>
                <a:spcPct val="30000"/>
              </a:spcBef>
              <a:defRPr>
                <a:solidFill>
                  <a:schemeClr val="tx1"/>
                </a:solidFill>
                <a:latin typeface="Times New Roman" panose="02020603050405020304" pitchFamily="18" charset="0"/>
              </a:defRPr>
            </a:lvl3pPr>
            <a:lvl4pPr marL="1600200" indent="-228600" defTabSz="920750">
              <a:spcBef>
                <a:spcPct val="30000"/>
              </a:spcBef>
              <a:defRPr>
                <a:solidFill>
                  <a:schemeClr val="tx1"/>
                </a:solidFill>
                <a:latin typeface="Times New Roman" panose="02020603050405020304" pitchFamily="18" charset="0"/>
              </a:defRPr>
            </a:lvl4pPr>
            <a:lvl5pPr marL="2057400" indent="-228600" defTabSz="920750">
              <a:spcBef>
                <a:spcPct val="30000"/>
              </a:spcBef>
              <a:defRPr>
                <a:solidFill>
                  <a:schemeClr val="tx1"/>
                </a:solidFill>
                <a:latin typeface="Times New Roman" panose="02020603050405020304" pitchFamily="18" charset="0"/>
              </a:defRPr>
            </a:lvl5pPr>
            <a:lvl6pPr marL="2514600" indent="-228600" defTabSz="920750" eaLnBrk="0" fontAlgn="base" hangingPunct="0">
              <a:spcBef>
                <a:spcPct val="30000"/>
              </a:spcBef>
              <a:spcAft>
                <a:spcPct val="0"/>
              </a:spcAft>
              <a:defRPr>
                <a:solidFill>
                  <a:schemeClr val="tx1"/>
                </a:solidFill>
                <a:latin typeface="Times New Roman" panose="02020603050405020304" pitchFamily="18" charset="0"/>
              </a:defRPr>
            </a:lvl6pPr>
            <a:lvl7pPr marL="2971800" indent="-228600" defTabSz="920750" eaLnBrk="0" fontAlgn="base" hangingPunct="0">
              <a:spcBef>
                <a:spcPct val="30000"/>
              </a:spcBef>
              <a:spcAft>
                <a:spcPct val="0"/>
              </a:spcAft>
              <a:defRPr>
                <a:solidFill>
                  <a:schemeClr val="tx1"/>
                </a:solidFill>
                <a:latin typeface="Times New Roman" panose="02020603050405020304" pitchFamily="18" charset="0"/>
              </a:defRPr>
            </a:lvl7pPr>
            <a:lvl8pPr marL="3429000" indent="-228600" defTabSz="920750" eaLnBrk="0" fontAlgn="base" hangingPunct="0">
              <a:spcBef>
                <a:spcPct val="30000"/>
              </a:spcBef>
              <a:spcAft>
                <a:spcPct val="0"/>
              </a:spcAft>
              <a:defRPr>
                <a:solidFill>
                  <a:schemeClr val="tx1"/>
                </a:solidFill>
                <a:latin typeface="Times New Roman" panose="02020603050405020304" pitchFamily="18" charset="0"/>
              </a:defRPr>
            </a:lvl8pPr>
            <a:lvl9pPr marL="3886200" indent="-228600" defTabSz="920750" eaLnBrk="0" fontAlgn="base" hangingPunct="0">
              <a:spcBef>
                <a:spcPct val="30000"/>
              </a:spcBef>
              <a:spcAft>
                <a:spcPct val="0"/>
              </a:spcAft>
              <a:defRPr>
                <a:solidFill>
                  <a:schemeClr val="tx1"/>
                </a:solidFill>
                <a:latin typeface="Times New Roman" panose="02020603050405020304" pitchFamily="18" charset="0"/>
              </a:defRPr>
            </a:lvl9pPr>
          </a:lstStyle>
          <a:p>
            <a:pPr>
              <a:spcBef>
                <a:spcPct val="0"/>
              </a:spcBef>
            </a:pPr>
            <a:fld id="{197BAB13-D4A1-40A8-A557-79A139C3ED67}" type="slidenum">
              <a:rPr lang="en-US" altLang="en-US"/>
              <a:pPr>
                <a:spcBef>
                  <a:spcPct val="0"/>
                </a:spcBef>
              </a:pPr>
              <a:t>1</a:t>
            </a:fld>
            <a:endParaRPr lang="en-US" altLang="en-US"/>
          </a:p>
        </p:txBody>
      </p:sp>
      <p:sp>
        <p:nvSpPr>
          <p:cNvPr id="5123"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endParaRPr lang="en-US" altLang="en-US" sz="1851"/>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7900">
              <a:spcBef>
                <a:spcPct val="30000"/>
              </a:spcBef>
              <a:defRPr sz="1200">
                <a:solidFill>
                  <a:schemeClr val="tx1"/>
                </a:solidFill>
                <a:latin typeface="Times New Roman" panose="02020603050405020304" pitchFamily="18" charset="0"/>
              </a:defRPr>
            </a:lvl1pPr>
            <a:lvl2pPr marL="742950" indent="-285750" defTabSz="977900">
              <a:spcBef>
                <a:spcPct val="30000"/>
              </a:spcBef>
              <a:defRPr sz="1200">
                <a:solidFill>
                  <a:schemeClr val="tx1"/>
                </a:solidFill>
                <a:latin typeface="Times New Roman" panose="02020603050405020304" pitchFamily="18" charset="0"/>
              </a:defRPr>
            </a:lvl2pPr>
            <a:lvl3pPr marL="1143000" indent="-228600" defTabSz="977900">
              <a:spcBef>
                <a:spcPct val="30000"/>
              </a:spcBef>
              <a:defRPr sz="1200">
                <a:solidFill>
                  <a:schemeClr val="tx1"/>
                </a:solidFill>
                <a:latin typeface="Times New Roman" panose="02020603050405020304" pitchFamily="18" charset="0"/>
              </a:defRPr>
            </a:lvl3pPr>
            <a:lvl4pPr marL="1600200" indent="-228600" defTabSz="977900">
              <a:spcBef>
                <a:spcPct val="30000"/>
              </a:spcBef>
              <a:defRPr sz="1200">
                <a:solidFill>
                  <a:schemeClr val="tx1"/>
                </a:solidFill>
                <a:latin typeface="Times New Roman" panose="02020603050405020304" pitchFamily="18" charset="0"/>
              </a:defRPr>
            </a:lvl4pPr>
            <a:lvl5pPr marL="2057400" indent="-228600" defTabSz="977900">
              <a:spcBef>
                <a:spcPct val="30000"/>
              </a:spcBef>
              <a:defRPr sz="1200">
                <a:solidFill>
                  <a:schemeClr val="tx1"/>
                </a:solidFill>
                <a:latin typeface="Times New Roman" panose="02020603050405020304" pitchFamily="18" charset="0"/>
              </a:defRPr>
            </a:lvl5pPr>
            <a:lvl6pPr marL="2514600" indent="-228600" defTabSz="9779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779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779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779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9FEB136-550E-41E0-9FF6-C4E4F2D6776F}" type="slidenum">
              <a:rPr lang="en-US" altLang="en-US"/>
              <a:pPr>
                <a:spcBef>
                  <a:spcPct val="0"/>
                </a:spcBef>
              </a:pPr>
              <a:t>2</a:t>
            </a:fld>
            <a:endParaRPr lang="en-US" altLang="en-US"/>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40425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545AC70-609B-45AB-A613-8BF9B949A7C3}" type="slidenum">
              <a:rPr lang="en-US" altLang="en-US" smtClean="0"/>
              <a:pPr>
                <a:defRPr/>
              </a:pPr>
              <a:t>11</a:t>
            </a:fld>
            <a:endParaRPr lang="en-US" altLang="en-US"/>
          </a:p>
        </p:txBody>
      </p:sp>
    </p:spTree>
    <p:extLst>
      <p:ext uri="{BB962C8B-B14F-4D97-AF65-F5344CB8AC3E}">
        <p14:creationId xmlns:p14="http://schemas.microsoft.com/office/powerpoint/2010/main" val="1056804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545AC70-609B-45AB-A613-8BF9B949A7C3}" type="slidenum">
              <a:rPr lang="en-US" altLang="en-US" smtClean="0"/>
              <a:pPr>
                <a:defRPr/>
              </a:pPr>
              <a:t>52</a:t>
            </a:fld>
            <a:endParaRPr lang="en-US" altLang="en-US"/>
          </a:p>
        </p:txBody>
      </p:sp>
    </p:spTree>
    <p:extLst>
      <p:ext uri="{BB962C8B-B14F-4D97-AF65-F5344CB8AC3E}">
        <p14:creationId xmlns:p14="http://schemas.microsoft.com/office/powerpoint/2010/main" val="1160599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0750">
              <a:spcBef>
                <a:spcPct val="30000"/>
              </a:spcBef>
              <a:defRPr>
                <a:solidFill>
                  <a:schemeClr val="tx1"/>
                </a:solidFill>
                <a:latin typeface="Times New Roman" panose="02020603050405020304" pitchFamily="18" charset="0"/>
              </a:defRPr>
            </a:lvl1pPr>
            <a:lvl2pPr marL="742950" indent="-285750" defTabSz="920750">
              <a:spcBef>
                <a:spcPct val="30000"/>
              </a:spcBef>
              <a:defRPr>
                <a:solidFill>
                  <a:schemeClr val="tx1"/>
                </a:solidFill>
                <a:latin typeface="Times New Roman" panose="02020603050405020304" pitchFamily="18" charset="0"/>
              </a:defRPr>
            </a:lvl2pPr>
            <a:lvl3pPr marL="1143000" indent="-228600" defTabSz="920750">
              <a:spcBef>
                <a:spcPct val="30000"/>
              </a:spcBef>
              <a:defRPr>
                <a:solidFill>
                  <a:schemeClr val="tx1"/>
                </a:solidFill>
                <a:latin typeface="Times New Roman" panose="02020603050405020304" pitchFamily="18" charset="0"/>
              </a:defRPr>
            </a:lvl3pPr>
            <a:lvl4pPr marL="1600200" indent="-228600" defTabSz="920750">
              <a:spcBef>
                <a:spcPct val="30000"/>
              </a:spcBef>
              <a:defRPr>
                <a:solidFill>
                  <a:schemeClr val="tx1"/>
                </a:solidFill>
                <a:latin typeface="Times New Roman" panose="02020603050405020304" pitchFamily="18" charset="0"/>
              </a:defRPr>
            </a:lvl4pPr>
            <a:lvl5pPr marL="2057400" indent="-228600" defTabSz="920750">
              <a:spcBef>
                <a:spcPct val="30000"/>
              </a:spcBef>
              <a:defRPr>
                <a:solidFill>
                  <a:schemeClr val="tx1"/>
                </a:solidFill>
                <a:latin typeface="Times New Roman" panose="02020603050405020304" pitchFamily="18" charset="0"/>
              </a:defRPr>
            </a:lvl5pPr>
            <a:lvl6pPr marL="2514600" indent="-228600" defTabSz="920750" eaLnBrk="0" fontAlgn="base" hangingPunct="0">
              <a:spcBef>
                <a:spcPct val="30000"/>
              </a:spcBef>
              <a:spcAft>
                <a:spcPct val="0"/>
              </a:spcAft>
              <a:defRPr>
                <a:solidFill>
                  <a:schemeClr val="tx1"/>
                </a:solidFill>
                <a:latin typeface="Times New Roman" panose="02020603050405020304" pitchFamily="18" charset="0"/>
              </a:defRPr>
            </a:lvl6pPr>
            <a:lvl7pPr marL="2971800" indent="-228600" defTabSz="920750" eaLnBrk="0" fontAlgn="base" hangingPunct="0">
              <a:spcBef>
                <a:spcPct val="30000"/>
              </a:spcBef>
              <a:spcAft>
                <a:spcPct val="0"/>
              </a:spcAft>
              <a:defRPr>
                <a:solidFill>
                  <a:schemeClr val="tx1"/>
                </a:solidFill>
                <a:latin typeface="Times New Roman" panose="02020603050405020304" pitchFamily="18" charset="0"/>
              </a:defRPr>
            </a:lvl7pPr>
            <a:lvl8pPr marL="3429000" indent="-228600" defTabSz="920750" eaLnBrk="0" fontAlgn="base" hangingPunct="0">
              <a:spcBef>
                <a:spcPct val="30000"/>
              </a:spcBef>
              <a:spcAft>
                <a:spcPct val="0"/>
              </a:spcAft>
              <a:defRPr>
                <a:solidFill>
                  <a:schemeClr val="tx1"/>
                </a:solidFill>
                <a:latin typeface="Times New Roman" panose="02020603050405020304" pitchFamily="18" charset="0"/>
              </a:defRPr>
            </a:lvl8pPr>
            <a:lvl9pPr marL="3886200" indent="-228600" defTabSz="920750" eaLnBrk="0" fontAlgn="base" hangingPunct="0">
              <a:spcBef>
                <a:spcPct val="30000"/>
              </a:spcBef>
              <a:spcAft>
                <a:spcPct val="0"/>
              </a:spcAft>
              <a:defRPr>
                <a:solidFill>
                  <a:schemeClr val="tx1"/>
                </a:solidFill>
                <a:latin typeface="Times New Roman" panose="02020603050405020304" pitchFamily="18" charset="0"/>
              </a:defRPr>
            </a:lvl9pPr>
          </a:lstStyle>
          <a:p>
            <a:pPr>
              <a:spcBef>
                <a:spcPct val="0"/>
              </a:spcBef>
            </a:pPr>
            <a:fld id="{DA04E247-7352-46AD-ADBD-23A6E41A24BA}" type="slidenum">
              <a:rPr lang="en-US" altLang="en-US"/>
              <a:pPr>
                <a:spcBef>
                  <a:spcPct val="0"/>
                </a:spcBef>
              </a:pPr>
              <a:t>55</a:t>
            </a:fld>
            <a:endParaRPr lang="en-US" altLang="en-US"/>
          </a:p>
        </p:txBody>
      </p:sp>
      <p:sp>
        <p:nvSpPr>
          <p:cNvPr id="93187"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endParaRPr lang="en-US" altLang="en-US" sz="1851"/>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34440" y="2556511"/>
            <a:ext cx="13990320" cy="1764030"/>
          </a:xfrm>
        </p:spPr>
        <p:txBody>
          <a:bodyPr/>
          <a:lstStyle/>
          <a:p>
            <a:r>
              <a:rPr lang="en-US"/>
              <a:t>Click to edit Master title style</a:t>
            </a:r>
          </a:p>
        </p:txBody>
      </p:sp>
      <p:sp>
        <p:nvSpPr>
          <p:cNvPr id="3" name="Subtitle 2"/>
          <p:cNvSpPr>
            <a:spLocks noGrp="1"/>
          </p:cNvSpPr>
          <p:nvPr>
            <p:ph type="subTitle" idx="1"/>
          </p:nvPr>
        </p:nvSpPr>
        <p:spPr>
          <a:xfrm>
            <a:off x="2468880" y="4663440"/>
            <a:ext cx="11521440" cy="2103120"/>
          </a:xfrm>
        </p:spPr>
        <p:txBody>
          <a:bodyPr/>
          <a:lstStyle>
            <a:lvl1pPr marL="0" indent="0" algn="ctr">
              <a:buNone/>
              <a:defRPr/>
            </a:lvl1pPr>
            <a:lvl2pPr marL="548640" indent="0" algn="ctr">
              <a:buNone/>
              <a:defRPr/>
            </a:lvl2pPr>
            <a:lvl3pPr marL="1097280" indent="0" algn="ctr">
              <a:buNone/>
              <a:defRPr/>
            </a:lvl3pPr>
            <a:lvl4pPr marL="1645920" indent="0" algn="ctr">
              <a:buNone/>
              <a:defRPr/>
            </a:lvl4pPr>
            <a:lvl5pPr marL="2194560" indent="0" algn="ctr">
              <a:buNone/>
              <a:defRPr/>
            </a:lvl5pPr>
            <a:lvl6pPr marL="2743200" indent="0" algn="ctr">
              <a:buNone/>
              <a:defRPr/>
            </a:lvl6pPr>
            <a:lvl7pPr marL="3291840" indent="0" algn="ctr">
              <a:buNone/>
              <a:defRPr/>
            </a:lvl7pPr>
            <a:lvl8pPr marL="3840480" indent="0" algn="ctr">
              <a:buNone/>
              <a:defRPr/>
            </a:lvl8pPr>
            <a:lvl9pPr marL="4389120" indent="0" algn="ctr">
              <a:buNone/>
              <a:defRPr/>
            </a:lvl9pPr>
          </a:lstStyle>
          <a:p>
            <a:r>
              <a:rPr lang="en-US"/>
              <a:t>Click to edit Master subtitle style</a:t>
            </a:r>
          </a:p>
        </p:txBody>
      </p:sp>
      <p:sp>
        <p:nvSpPr>
          <p:cNvPr id="4" name="Rectangle 16"/>
          <p:cNvSpPr>
            <a:spLocks noGrp="1" noChangeArrowheads="1"/>
          </p:cNvSpPr>
          <p:nvPr>
            <p:ph type="dt" sz="half" idx="10"/>
          </p:nvPr>
        </p:nvSpPr>
        <p:spPr>
          <a:xfrm>
            <a:off x="103188" y="7924800"/>
            <a:ext cx="1779587" cy="279400"/>
          </a:xfrm>
          <a:ln/>
        </p:spPr>
        <p:txBody>
          <a:bodyPr/>
          <a:lstStyle>
            <a:lvl1pPr>
              <a:defRPr/>
            </a:lvl1pPr>
          </a:lstStyle>
          <a:p>
            <a:pPr>
              <a:defRPr/>
            </a:pPr>
            <a:fld id="{D772E854-8A5A-41DB-9951-5DFB5B9985DF}" type="datetime3">
              <a:rPr lang="en-US" smtClean="0"/>
              <a:t>14 March 2026</a:t>
            </a:fld>
            <a:endParaRPr lang="en-US" dirty="0"/>
          </a:p>
        </p:txBody>
      </p:sp>
    </p:spTree>
    <p:extLst>
      <p:ext uri="{BB962C8B-B14F-4D97-AF65-F5344CB8AC3E}">
        <p14:creationId xmlns:p14="http://schemas.microsoft.com/office/powerpoint/2010/main" val="3449165277"/>
      </p:ext>
    </p:extLst>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6"/>
          <p:cNvSpPr>
            <a:spLocks noGrp="1" noChangeArrowheads="1"/>
          </p:cNvSpPr>
          <p:nvPr>
            <p:ph type="dt" sz="half" idx="10"/>
          </p:nvPr>
        </p:nvSpPr>
        <p:spPr>
          <a:xfrm>
            <a:off x="103188" y="7924800"/>
            <a:ext cx="1779587" cy="279400"/>
          </a:xfrm>
          <a:ln/>
        </p:spPr>
        <p:txBody>
          <a:bodyPr/>
          <a:lstStyle>
            <a:lvl1pPr>
              <a:defRPr/>
            </a:lvl1pPr>
          </a:lstStyle>
          <a:p>
            <a:pPr>
              <a:defRPr/>
            </a:pPr>
            <a:fld id="{4A79C504-8A26-4E12-A4FA-A7C494B1F4DB}" type="datetime3">
              <a:rPr lang="en-US" smtClean="0"/>
              <a:t>14 March 2026</a:t>
            </a:fld>
            <a:endParaRPr lang="en-US" dirty="0"/>
          </a:p>
        </p:txBody>
      </p:sp>
    </p:spTree>
    <p:extLst>
      <p:ext uri="{BB962C8B-B14F-4D97-AF65-F5344CB8AC3E}">
        <p14:creationId xmlns:p14="http://schemas.microsoft.com/office/powerpoint/2010/main" val="64094793"/>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724472"/>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521B3F-3F80-41D6-B29B-9D7D49B5045B}" type="datetimeFigureOut">
              <a:rPr lang="en-CA" smtClean="0"/>
              <a:t>2026-03-14</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441D65A7-F927-4C10-B62E-78F1BA97AAD6}" type="slidenum">
              <a:rPr lang="en-CA" smtClean="0"/>
              <a:t>‹#›</a:t>
            </a:fld>
            <a:endParaRPr lang="en-CA"/>
          </a:p>
        </p:txBody>
      </p:sp>
    </p:spTree>
    <p:extLst>
      <p:ext uri="{BB962C8B-B14F-4D97-AF65-F5344CB8AC3E}">
        <p14:creationId xmlns:p14="http://schemas.microsoft.com/office/powerpoint/2010/main" val="4526869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bwMode="auto">
          <a:xfrm>
            <a:off x="1235075" y="639763"/>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a:t>
            </a:r>
          </a:p>
        </p:txBody>
      </p:sp>
      <p:sp>
        <p:nvSpPr>
          <p:cNvPr id="34819" name="Rectangle 3"/>
          <p:cNvSpPr>
            <a:spLocks noGrp="1" noChangeArrowheads="1"/>
          </p:cNvSpPr>
          <p:nvPr>
            <p:ph type="body" idx="1"/>
          </p:nvPr>
        </p:nvSpPr>
        <p:spPr bwMode="auto">
          <a:xfrm>
            <a:off x="1235075" y="1641475"/>
            <a:ext cx="13989050" cy="5911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35" name="Rectangle 11" descr="Small checker board"/>
          <p:cNvSpPr>
            <a:spLocks noChangeArrowheads="1"/>
          </p:cNvSpPr>
          <p:nvPr userDrawn="1"/>
        </p:nvSpPr>
        <p:spPr bwMode="auto">
          <a:xfrm>
            <a:off x="1235075" y="7589837"/>
            <a:ext cx="13989050" cy="182563"/>
          </a:xfrm>
          <a:prstGeom prst="rect">
            <a:avLst/>
          </a:prstGeom>
          <a:pattFill prst="smCheck">
            <a:fgClr>
              <a:srgbClr val="0000FF"/>
            </a:fgClr>
            <a:bgClr>
              <a:srgbClr val="FFFFFF"/>
            </a:bgClr>
          </a:pattFill>
          <a:ln w="9525">
            <a:noFill/>
            <a:miter lim="800000"/>
            <a:headEnd/>
            <a:tailEnd/>
          </a:ln>
          <a:effectLst/>
        </p:spPr>
        <p:txBody>
          <a:bodyPr wrap="none" anchor="ctr"/>
          <a:lstStyle/>
          <a:p>
            <a:pPr eaLnBrk="1" hangingPunct="1">
              <a:defRPr/>
            </a:pPr>
            <a:endParaRPr lang="en-US" sz="4444"/>
          </a:p>
        </p:txBody>
      </p:sp>
      <p:sp>
        <p:nvSpPr>
          <p:cNvPr id="1036" name="Rectangle 12" descr="Small checker board"/>
          <p:cNvSpPr>
            <a:spLocks noChangeArrowheads="1"/>
          </p:cNvSpPr>
          <p:nvPr userDrawn="1"/>
        </p:nvSpPr>
        <p:spPr bwMode="auto">
          <a:xfrm>
            <a:off x="1235075" y="1447800"/>
            <a:ext cx="13989050" cy="182562"/>
          </a:xfrm>
          <a:prstGeom prst="rect">
            <a:avLst/>
          </a:prstGeom>
          <a:pattFill prst="smCheck">
            <a:fgClr>
              <a:srgbClr val="0000FF"/>
            </a:fgClr>
            <a:bgClr>
              <a:srgbClr val="FFFFFF"/>
            </a:bgClr>
          </a:pattFill>
          <a:ln w="9525">
            <a:noFill/>
            <a:miter lim="800000"/>
            <a:headEnd/>
            <a:tailEnd/>
          </a:ln>
          <a:effectLst/>
        </p:spPr>
        <p:txBody>
          <a:bodyPr wrap="none" anchor="ctr"/>
          <a:lstStyle/>
          <a:p>
            <a:pPr eaLnBrk="1" hangingPunct="1">
              <a:defRPr/>
            </a:pPr>
            <a:endParaRPr lang="en-US" sz="4444"/>
          </a:p>
        </p:txBody>
      </p:sp>
      <p:sp>
        <p:nvSpPr>
          <p:cNvPr id="13" name="Text Box 16"/>
          <p:cNvSpPr txBox="1">
            <a:spLocks noChangeArrowheads="1"/>
          </p:cNvSpPr>
          <p:nvPr userDrawn="1"/>
        </p:nvSpPr>
        <p:spPr bwMode="auto">
          <a:xfrm>
            <a:off x="76200" y="58738"/>
            <a:ext cx="16362363" cy="246062"/>
          </a:xfrm>
          <a:prstGeom prst="rect">
            <a:avLst/>
          </a:prstGeom>
          <a:solidFill>
            <a:schemeClr val="bg1"/>
          </a:solidFill>
          <a:ln w="9525">
            <a:solidFill>
              <a:schemeClr val="bg1"/>
            </a:solidFill>
            <a:miter lim="800000"/>
            <a:headEnd/>
            <a:tailEnd/>
          </a:ln>
        </p:spPr>
        <p:txBody>
          <a:bodyPr lIns="117208" tIns="0" rIns="117208" bIns="0">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ctr" eaLnBrk="1" hangingPunct="1">
              <a:spcBef>
                <a:spcPct val="50000"/>
              </a:spcBef>
              <a:defRPr/>
            </a:pPr>
            <a:r>
              <a:rPr lang="en-US" sz="1600" b="1" dirty="0">
                <a:solidFill>
                  <a:srgbClr val="0000FF"/>
                </a:solidFill>
              </a:rPr>
              <a:t>Lecture # 05: Assembly Language Programming for ATmega328P</a:t>
            </a:r>
          </a:p>
        </p:txBody>
      </p:sp>
      <p:sp>
        <p:nvSpPr>
          <p:cNvPr id="14" name="Rectangle 5"/>
          <p:cNvSpPr>
            <a:spLocks noChangeAspect="1" noChangeArrowheads="1"/>
          </p:cNvSpPr>
          <p:nvPr userDrawn="1"/>
        </p:nvSpPr>
        <p:spPr bwMode="auto">
          <a:xfrm>
            <a:off x="2720975" y="7848600"/>
            <a:ext cx="12115800" cy="381000"/>
          </a:xfrm>
          <a:prstGeom prst="rect">
            <a:avLst/>
          </a:prstGeom>
          <a:solidFill>
            <a:schemeClr val="bg1"/>
          </a:solidFill>
          <a:ln w="9525">
            <a:solidFill>
              <a:schemeClr val="bg1"/>
            </a:solidFill>
            <a:miter lim="800000"/>
            <a:headEnd/>
            <a:tailEnd/>
          </a:ln>
        </p:spPr>
        <p:txBody>
          <a:bodyPr lIns="117191" tIns="0" rIns="117191" bIns="0"/>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r>
              <a:rPr lang="en-US" altLang="en-US" sz="1200" dirty="0"/>
              <a:t>Course Teacher:</a:t>
            </a:r>
            <a:r>
              <a:rPr lang="en-US" altLang="en-US" sz="1200" b="1" dirty="0">
                <a:solidFill>
                  <a:srgbClr val="0000FF"/>
                </a:solidFill>
              </a:rPr>
              <a:t> Prof. Dr. Engr. </a:t>
            </a:r>
            <a:r>
              <a:rPr lang="en-US" altLang="en-US" sz="1200" b="1" dirty="0" err="1">
                <a:solidFill>
                  <a:srgbClr val="0000FF"/>
                </a:solidFill>
              </a:rPr>
              <a:t>Muhibul</a:t>
            </a:r>
            <a:r>
              <a:rPr lang="en-US" altLang="en-US" sz="1200" b="1" dirty="0">
                <a:solidFill>
                  <a:srgbClr val="0000FF"/>
                </a:solidFill>
              </a:rPr>
              <a:t> </a:t>
            </a:r>
            <a:r>
              <a:rPr lang="en-US" altLang="en-US" sz="1200" b="1" dirty="0" err="1">
                <a:solidFill>
                  <a:srgbClr val="0000FF"/>
                </a:solidFill>
              </a:rPr>
              <a:t>Haque</a:t>
            </a:r>
            <a:r>
              <a:rPr lang="en-US" altLang="en-US" sz="1200" b="1" dirty="0">
                <a:solidFill>
                  <a:srgbClr val="0000FF"/>
                </a:solidFill>
              </a:rPr>
              <a:t> </a:t>
            </a:r>
            <a:r>
              <a:rPr lang="en-US" altLang="en-US" sz="1200" b="1" dirty="0" err="1">
                <a:solidFill>
                  <a:srgbClr val="0000FF"/>
                </a:solidFill>
              </a:rPr>
              <a:t>Bhuyan</a:t>
            </a:r>
            <a:endParaRPr lang="en-US" altLang="en-US" sz="1200" b="1" dirty="0">
              <a:solidFill>
                <a:srgbClr val="0000FF"/>
              </a:solidFill>
            </a:endParaRPr>
          </a:p>
          <a:p>
            <a:pPr algn="ctr" eaLnBrk="1" hangingPunct="1">
              <a:defRPr/>
            </a:pPr>
            <a:r>
              <a:rPr lang="en-US" altLang="en-US" sz="1200" dirty="0">
                <a:solidFill>
                  <a:srgbClr val="00B050"/>
                </a:solidFill>
              </a:rPr>
              <a:t>Professor, Department of EEE,</a:t>
            </a:r>
            <a:r>
              <a:rPr lang="en-US" altLang="en-US" sz="1200" dirty="0"/>
              <a:t> </a:t>
            </a:r>
            <a:r>
              <a:rPr lang="en-US" altLang="en-US" sz="1200" b="1" dirty="0">
                <a:solidFill>
                  <a:srgbClr val="008000"/>
                </a:solidFill>
              </a:rPr>
              <a:t>American International University-Bangladesh (AIUB), Dhaka, Bangladesh</a:t>
            </a:r>
          </a:p>
        </p:txBody>
      </p:sp>
      <p:sp>
        <p:nvSpPr>
          <p:cNvPr id="15" name="Rectangle 14"/>
          <p:cNvSpPr/>
          <p:nvPr userDrawn="1"/>
        </p:nvSpPr>
        <p:spPr>
          <a:xfrm>
            <a:off x="12700" y="763588"/>
            <a:ext cx="1655763" cy="303212"/>
          </a:xfrm>
          <a:prstGeom prst="rect">
            <a:avLst/>
          </a:prstGeom>
        </p:spPr>
        <p:txBody>
          <a:bodyPr lIns="0" tIns="58604" rIns="0" bIns="58604">
            <a:spAutoFit/>
          </a:bodyPr>
          <a:lstStyle/>
          <a:p>
            <a:pPr eaLnBrk="1" hangingPunct="1">
              <a:defRPr/>
            </a:pPr>
            <a:r>
              <a:rPr lang="en-US" altLang="en-US" sz="1200" b="1" i="1" cap="small" dirty="0">
                <a:solidFill>
                  <a:srgbClr val="002060"/>
                </a:solidFill>
                <a:latin typeface="Calibri" panose="020F0502020204030204" pitchFamily="34" charset="0"/>
                <a:ea typeface="Agency FB" charset="0"/>
                <a:cs typeface="Calibri" panose="020F0502020204030204" pitchFamily="34" charset="0"/>
              </a:rPr>
              <a:t>Where Leaders are Created</a:t>
            </a:r>
            <a:endParaRPr lang="en-US" sz="1200" i="1" dirty="0">
              <a:solidFill>
                <a:srgbClr val="002060"/>
              </a:solidFill>
              <a:latin typeface="Calibri" panose="020F0502020204030204" pitchFamily="34" charset="0"/>
              <a:cs typeface="Calibri" panose="020F0502020204030204" pitchFamily="34" charset="0"/>
            </a:endParaRPr>
          </a:p>
        </p:txBody>
      </p:sp>
      <p:sp>
        <p:nvSpPr>
          <p:cNvPr id="16" name="Rectangle 16"/>
          <p:cNvSpPr>
            <a:spLocks noGrp="1" noChangeArrowheads="1"/>
          </p:cNvSpPr>
          <p:nvPr>
            <p:ph type="dt" sz="half" idx="2"/>
          </p:nvPr>
        </p:nvSpPr>
        <p:spPr bwMode="auto">
          <a:xfrm>
            <a:off x="103188" y="7950200"/>
            <a:ext cx="1779587" cy="279400"/>
          </a:xfrm>
          <a:prstGeom prst="rect">
            <a:avLst/>
          </a:prstGeom>
          <a:solidFill>
            <a:schemeClr val="bg1"/>
          </a:solidFill>
          <a:ln w="9525">
            <a:solidFill>
              <a:schemeClr val="bg1"/>
            </a:solidFill>
            <a:miter lim="800000"/>
            <a:headEnd/>
            <a:tailEnd/>
          </a:ln>
          <a:effectLst/>
        </p:spPr>
        <p:txBody>
          <a:bodyPr vert="horz" wrap="square" lIns="117208" tIns="58604" rIns="117208" bIns="58604" numCol="1" anchor="t" anchorCtr="0" compatLnSpc="1">
            <a:prstTxWarp prst="textNoShape">
              <a:avLst/>
            </a:prstTxWarp>
          </a:bodyPr>
          <a:lstStyle>
            <a:lvl1pPr eaLnBrk="1" hangingPunct="1">
              <a:defRPr sz="1300" smtClean="0">
                <a:latin typeface="Arial" charset="0"/>
                <a:cs typeface="Arial" charset="0"/>
              </a:defRPr>
            </a:lvl1pPr>
          </a:lstStyle>
          <a:p>
            <a:pPr>
              <a:defRPr/>
            </a:pPr>
            <a:fld id="{C606520B-F858-45C6-87E9-3C43CC3A2CF1}" type="datetime3">
              <a:rPr lang="en-US" smtClean="0"/>
              <a:t>14 March 2026</a:t>
            </a:fld>
            <a:endParaRPr lang="en-US" dirty="0"/>
          </a:p>
        </p:txBody>
      </p:sp>
      <p:sp>
        <p:nvSpPr>
          <p:cNvPr id="17" name="Rectangle 6"/>
          <p:cNvSpPr>
            <a:spLocks noChangeArrowheads="1"/>
          </p:cNvSpPr>
          <p:nvPr userDrawn="1"/>
        </p:nvSpPr>
        <p:spPr bwMode="auto">
          <a:xfrm>
            <a:off x="13654088" y="7950200"/>
            <a:ext cx="2743200" cy="279400"/>
          </a:xfrm>
          <a:prstGeom prst="rect">
            <a:avLst/>
          </a:prstGeom>
          <a:solidFill>
            <a:schemeClr val="bg1"/>
          </a:solidFill>
          <a:ln w="9525">
            <a:solidFill>
              <a:schemeClr val="bg1"/>
            </a:solidFill>
            <a:miter lim="800000"/>
            <a:headEnd/>
            <a:tailEnd/>
          </a:ln>
        </p:spPr>
        <p:txBody>
          <a:bodyPr lIns="117191" tIns="58595" rIns="117191" bIns="58595"/>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eaLnBrk="1" hangingPunct="1">
              <a:defRPr/>
            </a:pPr>
            <a:r>
              <a:rPr lang="en-US" altLang="en-US" sz="1200" dirty="0"/>
              <a:t>Slide # </a:t>
            </a:r>
            <a:fld id="{6501C82C-20DD-4AB7-8FA5-C736E197E819}" type="slidenum">
              <a:rPr lang="en-US" altLang="en-US" sz="1200" smtClean="0"/>
              <a:pPr algn="r" eaLnBrk="1" hangingPunct="1">
                <a:defRPr/>
              </a:pPr>
              <a:t>‹#›</a:t>
            </a:fld>
            <a:r>
              <a:rPr lang="en-US" altLang="en-US" sz="1200" dirty="0"/>
              <a:t> of Total 54 Slides</a:t>
            </a:r>
          </a:p>
        </p:txBody>
      </p:sp>
      <p:pic>
        <p:nvPicPr>
          <p:cNvPr id="2" name="Picture 17"/>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3338" y="22225"/>
            <a:ext cx="788987"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zoom/>
  </p:transition>
  <p:hf sldNum="0" hdr="0" ftr="0" dt="0"/>
  <p:txStyles>
    <p:title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p:titleStyle>
    <p:bodyStyle>
      <a:lvl1pPr marL="546100" indent="-546100" algn="l" rtl="0" eaLnBrk="0" fontAlgn="base" hangingPunct="0">
        <a:spcBef>
          <a:spcPct val="20000"/>
        </a:spcBef>
        <a:spcAft>
          <a:spcPct val="0"/>
        </a:spcAft>
        <a:buFont typeface="Wingdings" panose="05000000000000000000" pitchFamily="2" charset="2"/>
        <a:buChar char="q"/>
        <a:defRPr sz="2800">
          <a:solidFill>
            <a:schemeClr val="tx1"/>
          </a:solidFill>
          <a:latin typeface="+mn-lt"/>
          <a:ea typeface="+mn-ea"/>
          <a:cs typeface="+mn-cs"/>
        </a:defRPr>
      </a:lvl1pPr>
      <a:lvl2pPr marL="1025525" indent="-342900" algn="l" rtl="0" eaLnBrk="0" fontAlgn="base" hangingPunct="0">
        <a:spcBef>
          <a:spcPct val="20000"/>
        </a:spcBef>
        <a:spcAft>
          <a:spcPct val="0"/>
        </a:spcAft>
        <a:buChar char="–"/>
        <a:defRPr sz="2800">
          <a:solidFill>
            <a:schemeClr val="tx1"/>
          </a:solidFill>
          <a:latin typeface="+mn-lt"/>
        </a:defRPr>
      </a:lvl2pPr>
      <a:lvl3pPr marL="1438275" indent="-273050" algn="l" rtl="0" eaLnBrk="0" fontAlgn="base" hangingPunct="0">
        <a:spcBef>
          <a:spcPct val="20000"/>
        </a:spcBef>
        <a:spcAft>
          <a:spcPct val="0"/>
        </a:spcAft>
        <a:buChar char="•"/>
        <a:defRPr sz="2800">
          <a:solidFill>
            <a:schemeClr val="tx1"/>
          </a:solidFill>
          <a:latin typeface="+mn-lt"/>
        </a:defRPr>
      </a:lvl3pPr>
      <a:lvl4pPr marL="1919288" indent="-273050" algn="l" rtl="0" eaLnBrk="0" fontAlgn="base" hangingPunct="0">
        <a:spcBef>
          <a:spcPct val="20000"/>
        </a:spcBef>
        <a:spcAft>
          <a:spcPct val="0"/>
        </a:spcAft>
        <a:buChar char="–"/>
        <a:defRPr sz="2400">
          <a:solidFill>
            <a:schemeClr val="tx1"/>
          </a:solidFill>
          <a:latin typeface="+mn-lt"/>
        </a:defRPr>
      </a:lvl4pPr>
      <a:lvl5pPr marL="2468563" indent="-273050" algn="l" rtl="0" eaLnBrk="0" fontAlgn="base" hangingPunct="0">
        <a:spcBef>
          <a:spcPct val="20000"/>
        </a:spcBef>
        <a:spcAft>
          <a:spcPct val="0"/>
        </a:spcAft>
        <a:buChar char="»"/>
        <a:defRPr sz="2400">
          <a:solidFill>
            <a:schemeClr val="tx1"/>
          </a:solidFill>
          <a:latin typeface="+mn-lt"/>
        </a:defRPr>
      </a:lvl5pPr>
      <a:lvl6pPr marL="3017520" indent="-274320" algn="l" rtl="0" fontAlgn="base">
        <a:spcBef>
          <a:spcPct val="20000"/>
        </a:spcBef>
        <a:spcAft>
          <a:spcPct val="0"/>
        </a:spcAft>
        <a:buChar char="»"/>
        <a:defRPr sz="2400">
          <a:solidFill>
            <a:schemeClr val="tx1"/>
          </a:solidFill>
          <a:latin typeface="+mn-lt"/>
        </a:defRPr>
      </a:lvl6pPr>
      <a:lvl7pPr marL="3566160" indent="-274320" algn="l" rtl="0" fontAlgn="base">
        <a:spcBef>
          <a:spcPct val="20000"/>
        </a:spcBef>
        <a:spcAft>
          <a:spcPct val="0"/>
        </a:spcAft>
        <a:buChar char="»"/>
        <a:defRPr sz="2400">
          <a:solidFill>
            <a:schemeClr val="tx1"/>
          </a:solidFill>
          <a:latin typeface="+mn-lt"/>
        </a:defRPr>
      </a:lvl7pPr>
      <a:lvl8pPr marL="4114800" indent="-274320" algn="l" rtl="0" fontAlgn="base">
        <a:spcBef>
          <a:spcPct val="20000"/>
        </a:spcBef>
        <a:spcAft>
          <a:spcPct val="0"/>
        </a:spcAft>
        <a:buChar char="»"/>
        <a:defRPr sz="2400">
          <a:solidFill>
            <a:schemeClr val="tx1"/>
          </a:solidFill>
          <a:latin typeface="+mn-lt"/>
        </a:defRPr>
      </a:lvl8pPr>
      <a:lvl9pPr marL="4663440" indent="-274320" algn="l" rtl="0" fontAlgn="base">
        <a:spcBef>
          <a:spcPct val="20000"/>
        </a:spcBef>
        <a:spcAft>
          <a:spcPct val="0"/>
        </a:spcAft>
        <a:buChar char="»"/>
        <a:defRPr sz="2400">
          <a:solidFill>
            <a:schemeClr val="tx1"/>
          </a:solidFill>
          <a:latin typeface="+mn-lt"/>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hyperlink" Target="http://programmingposts.com/c-program-converting-celsius-fahrenheit/" TargetMode="External"/><Relationship Id="rId2" Type="http://schemas.openxmlformats.org/officeDocument/2006/relationships/hyperlink" Target="http://www.yspuniversity.ac.in/cic/algorithm-manual.pdf" TargetMode="External"/><Relationship Id="rId1" Type="http://schemas.openxmlformats.org/officeDocument/2006/relationships/slideLayout" Target="../slideLayouts/slideLayout4.xml"/><Relationship Id="rId6" Type="http://schemas.openxmlformats.org/officeDocument/2006/relationships/hyperlink" Target="https://faradars.org/wp-content/uploads/2015/07/Algorithm-and-Flow-Chart.pdf" TargetMode="External"/><Relationship Id="rId5" Type="http://schemas.openxmlformats.org/officeDocument/2006/relationships/hyperlink" Target="https://www.c-programming-simple-steps.com/flow-chart.html" TargetMode="External"/><Relationship Id="rId4" Type="http://schemas.openxmlformats.org/officeDocument/2006/relationships/hyperlink" Target="https://www.edrawsoft.com/explain-algorithm-flowchart.html" TargetMode="External"/></Relationships>
</file>

<file path=ppt/slides/_rels/slide55.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6517521" y="152401"/>
            <a:ext cx="9789279" cy="7828858"/>
          </a:xfrm>
          <a:prstGeom prst="rect">
            <a:avLst/>
          </a:prstGeom>
        </p:spPr>
      </p:pic>
      <p:sp>
        <p:nvSpPr>
          <p:cNvPr id="4098" name="Rectangle 2"/>
          <p:cNvSpPr>
            <a:spLocks noGrp="1" noChangeArrowheads="1"/>
          </p:cNvSpPr>
          <p:nvPr>
            <p:ph type="ctrTitle"/>
          </p:nvPr>
        </p:nvSpPr>
        <p:spPr>
          <a:xfrm>
            <a:off x="6477000" y="152401"/>
            <a:ext cx="9677400" cy="3581399"/>
          </a:xfrm>
        </p:spPr>
        <p:txBody>
          <a:bodyPr anchor="t"/>
          <a:lstStyle/>
          <a:p>
            <a:pPr algn="l" eaLnBrk="1" hangingPunct="1"/>
            <a:r>
              <a:rPr lang="en-US" altLang="en-US" sz="4800" dirty="0">
                <a:solidFill>
                  <a:srgbClr val="0000FF"/>
                </a:solidFill>
              </a:rPr>
              <a:t>Lecture # 06M: </a:t>
            </a:r>
            <a:br>
              <a:rPr lang="en-US" altLang="en-US" sz="4800" dirty="0">
                <a:solidFill>
                  <a:srgbClr val="0000FF"/>
                </a:solidFill>
              </a:rPr>
            </a:br>
            <a:r>
              <a:rPr lang="en-US" altLang="en-US" sz="5400" dirty="0">
                <a:solidFill>
                  <a:srgbClr val="0000FF"/>
                </a:solidFill>
              </a:rPr>
              <a:t>Assembly Language Programming for ATmega328P</a:t>
            </a:r>
            <a:endParaRPr lang="en-US" altLang="en-US" sz="4800" dirty="0">
              <a:solidFill>
                <a:srgbClr val="0000FF"/>
              </a:solidFill>
            </a:endParaRPr>
          </a:p>
        </p:txBody>
      </p:sp>
      <p:pic>
        <p:nvPicPr>
          <p:cNvPr id="6" name="Picture 5"/>
          <p:cNvPicPr>
            <a:picLocks noChangeAspect="1"/>
          </p:cNvPicPr>
          <p:nvPr/>
        </p:nvPicPr>
        <p:blipFill>
          <a:blip r:embed="rId4"/>
          <a:stretch>
            <a:fillRect/>
          </a:stretch>
        </p:blipFill>
        <p:spPr>
          <a:xfrm>
            <a:off x="228600" y="152401"/>
            <a:ext cx="6174012" cy="7828858"/>
          </a:xfrm>
          <a:prstGeom prst="rect">
            <a:avLst/>
          </a:prstGeom>
          <a:ln>
            <a:solidFill>
              <a:schemeClr val="tx1"/>
            </a:solidFill>
          </a:ln>
        </p:spPr>
      </p:pic>
    </p:spTree>
  </p:cSld>
  <p:clrMapOvr>
    <a:masterClrMapping/>
  </p:clrMapOvr>
  <p:transition advTm="7000">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idx="4294967295"/>
          </p:nvPr>
        </p:nvSpPr>
        <p:spPr>
          <a:xfrm>
            <a:off x="3566160" y="381000"/>
            <a:ext cx="9326880" cy="1082040"/>
          </a:xfrm>
        </p:spPr>
        <p:txBody>
          <a:bodyPr/>
          <a:lstStyle/>
          <a:p>
            <a:pPr eaLnBrk="1" hangingPunct="1"/>
            <a:r>
              <a:rPr lang="en-US" altLang="en-US" sz="5400" dirty="0"/>
              <a:t>Outline</a:t>
            </a:r>
          </a:p>
        </p:txBody>
      </p:sp>
      <p:sp>
        <p:nvSpPr>
          <p:cNvPr id="6149" name="Rectangle 3"/>
          <p:cNvSpPr>
            <a:spLocks noGrp="1" noChangeArrowheads="1"/>
          </p:cNvSpPr>
          <p:nvPr>
            <p:ph type="body" idx="4294967295"/>
          </p:nvPr>
        </p:nvSpPr>
        <p:spPr>
          <a:xfrm>
            <a:off x="1143000" y="1828800"/>
            <a:ext cx="13639800" cy="5486400"/>
          </a:xfrm>
        </p:spPr>
        <p:txBody>
          <a:bodyPr/>
          <a:lstStyle/>
          <a:p>
            <a:pPr eaLnBrk="1" hangingPunct="1">
              <a:spcBef>
                <a:spcPts val="1200"/>
              </a:spcBef>
            </a:pPr>
            <a:r>
              <a:rPr lang="en-US" altLang="en-US" sz="4400" dirty="0"/>
              <a:t>Arduino AVR Architecture</a:t>
            </a:r>
          </a:p>
          <a:p>
            <a:pPr eaLnBrk="1" hangingPunct="1">
              <a:spcBef>
                <a:spcPts val="1200"/>
              </a:spcBef>
            </a:pPr>
            <a:r>
              <a:rPr lang="en-US" altLang="en-US" sz="4400" dirty="0"/>
              <a:t>Assembly Language Programming</a:t>
            </a:r>
          </a:p>
          <a:p>
            <a:pPr eaLnBrk="1" hangingPunct="1">
              <a:spcBef>
                <a:spcPts val="1200"/>
              </a:spcBef>
            </a:pPr>
            <a:r>
              <a:rPr lang="en-US" altLang="en-US" sz="4400" dirty="0"/>
              <a:t>Examples of Assembly Programming</a:t>
            </a:r>
          </a:p>
          <a:p>
            <a:pPr eaLnBrk="1" hangingPunct="1">
              <a:spcBef>
                <a:spcPts val="1200"/>
              </a:spcBef>
            </a:pPr>
            <a:r>
              <a:rPr lang="en-US" altLang="en-US" sz="4400" dirty="0"/>
              <a:t>Flow Chart Drawing and Algorithm Development</a:t>
            </a:r>
          </a:p>
          <a:p>
            <a:pPr eaLnBrk="1" hangingPunct="1">
              <a:spcBef>
                <a:spcPts val="1200"/>
              </a:spcBef>
              <a:buFont typeface="Wingdings" panose="05000000000000000000" pitchFamily="2" charset="2"/>
              <a:buNone/>
            </a:pPr>
            <a:endParaRPr lang="en-US" altLang="en-US" sz="4400" dirty="0"/>
          </a:p>
        </p:txBody>
      </p:sp>
    </p:spTree>
    <p:extLst>
      <p:ext uri="{BB962C8B-B14F-4D97-AF65-F5344CB8AC3E}">
        <p14:creationId xmlns:p14="http://schemas.microsoft.com/office/powerpoint/2010/main" val="4177092267"/>
      </p:ext>
    </p:extLst>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3D565-303F-1CB1-1CB5-67C6983F7BF7}"/>
              </a:ext>
            </a:extLst>
          </p:cNvPr>
          <p:cNvSpPr>
            <a:spLocks noGrp="1"/>
          </p:cNvSpPr>
          <p:nvPr>
            <p:ph type="title"/>
          </p:nvPr>
        </p:nvSpPr>
        <p:spPr>
          <a:xfrm>
            <a:off x="2362200" y="424946"/>
            <a:ext cx="11963399" cy="870454"/>
          </a:xfrm>
        </p:spPr>
        <p:txBody>
          <a:bodyPr>
            <a:noAutofit/>
          </a:bodyPr>
          <a:lstStyle/>
          <a:p>
            <a:r>
              <a:rPr lang="en-US" dirty="0"/>
              <a:t>AVR Architecture of CPU</a:t>
            </a:r>
          </a:p>
        </p:txBody>
      </p:sp>
      <p:pic>
        <p:nvPicPr>
          <p:cNvPr id="5" name="Content Placeholder 4">
            <a:extLst>
              <a:ext uri="{FF2B5EF4-FFF2-40B4-BE49-F238E27FC236}">
                <a16:creationId xmlns:a16="http://schemas.microsoft.com/office/drawing/2014/main" id="{0E03B81F-C765-4CCC-CACF-40DC4BB30944}"/>
              </a:ext>
            </a:extLst>
          </p:cNvPr>
          <p:cNvPicPr>
            <a:picLocks noChangeAspect="1"/>
          </p:cNvPicPr>
          <p:nvPr/>
        </p:nvPicPr>
        <p:blipFill>
          <a:blip r:embed="rId2"/>
          <a:stretch>
            <a:fillRect/>
          </a:stretch>
        </p:blipFill>
        <p:spPr>
          <a:xfrm>
            <a:off x="914400" y="1295400"/>
            <a:ext cx="6483802" cy="6297296"/>
          </a:xfrm>
          <a:prstGeom prst="rect">
            <a:avLst/>
          </a:prstGeom>
        </p:spPr>
      </p:pic>
      <p:sp>
        <p:nvSpPr>
          <p:cNvPr id="21" name="Content Placeholder 8">
            <a:extLst>
              <a:ext uri="{FF2B5EF4-FFF2-40B4-BE49-F238E27FC236}">
                <a16:creationId xmlns:a16="http://schemas.microsoft.com/office/drawing/2014/main" id="{0447B229-0A4F-D851-A21D-76E026672E11}"/>
              </a:ext>
            </a:extLst>
          </p:cNvPr>
          <p:cNvSpPr>
            <a:spLocks noGrp="1"/>
          </p:cNvSpPr>
          <p:nvPr>
            <p:ph idx="1"/>
          </p:nvPr>
        </p:nvSpPr>
        <p:spPr>
          <a:xfrm>
            <a:off x="7772400" y="1828800"/>
            <a:ext cx="8153400" cy="4404216"/>
          </a:xfrm>
        </p:spPr>
        <p:txBody>
          <a:bodyPr>
            <a:normAutofit/>
          </a:bodyPr>
          <a:lstStyle/>
          <a:p>
            <a:pPr>
              <a:buFont typeface="Wingdings" panose="05000000000000000000" pitchFamily="2" charset="2"/>
              <a:buChar char="§"/>
            </a:pPr>
            <a:r>
              <a:rPr lang="en-US" sz="3600" dirty="0"/>
              <a:t>Arithmetic Logic Unit (ALU)</a:t>
            </a:r>
          </a:p>
          <a:p>
            <a:pPr>
              <a:buFont typeface="Wingdings" panose="05000000000000000000" pitchFamily="2" charset="2"/>
              <a:buChar char="§"/>
            </a:pPr>
            <a:r>
              <a:rPr lang="en-US" sz="3600" dirty="0"/>
              <a:t>32 General Purpose Register (GPR) </a:t>
            </a:r>
            <a:r>
              <a:rPr lang="en-US" sz="3600" dirty="0">
                <a:sym typeface="Wingdings" panose="05000000000000000000" pitchFamily="2" charset="2"/>
              </a:rPr>
              <a:t></a:t>
            </a:r>
            <a:r>
              <a:rPr lang="en-US" sz="3600" dirty="0"/>
              <a:t> each 8-bit</a:t>
            </a:r>
          </a:p>
          <a:p>
            <a:pPr>
              <a:buFont typeface="Wingdings" panose="05000000000000000000" pitchFamily="2" charset="2"/>
              <a:buChar char="§"/>
            </a:pPr>
            <a:r>
              <a:rPr lang="en-US" sz="3600" dirty="0"/>
              <a:t>Program Counter (PC)</a:t>
            </a:r>
          </a:p>
          <a:p>
            <a:pPr>
              <a:buFont typeface="Wingdings" panose="05000000000000000000" pitchFamily="2" charset="2"/>
              <a:buChar char="§"/>
            </a:pPr>
            <a:r>
              <a:rPr lang="en-US" sz="3600" dirty="0"/>
              <a:t>Instruction Decoder</a:t>
            </a:r>
          </a:p>
          <a:p>
            <a:pPr>
              <a:buFont typeface="Wingdings" panose="05000000000000000000" pitchFamily="2" charset="2"/>
              <a:buChar char="§"/>
            </a:pPr>
            <a:r>
              <a:rPr lang="en-US" sz="3600" dirty="0"/>
              <a:t>Status Register (SREG)</a:t>
            </a:r>
          </a:p>
          <a:p>
            <a:pPr marL="548640" indent="-548640">
              <a:buFont typeface="+mj-lt"/>
              <a:buAutoNum type="arabicPeriod"/>
            </a:pPr>
            <a:endParaRPr lang="en-US" sz="3600" dirty="0"/>
          </a:p>
          <a:p>
            <a:pPr>
              <a:buFont typeface="Wingdings" panose="05000000000000000000" pitchFamily="2" charset="2"/>
              <a:buChar char="§"/>
            </a:pPr>
            <a:endParaRPr lang="en-US" sz="3600" dirty="0"/>
          </a:p>
        </p:txBody>
      </p:sp>
    </p:spTree>
    <p:extLst>
      <p:ext uri="{BB962C8B-B14F-4D97-AF65-F5344CB8AC3E}">
        <p14:creationId xmlns:p14="http://schemas.microsoft.com/office/powerpoint/2010/main" val="1273813157"/>
      </p:ext>
    </p:extLst>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70DE5-4EC1-092C-CD9B-2D6244499171}"/>
              </a:ext>
            </a:extLst>
          </p:cNvPr>
          <p:cNvSpPr>
            <a:spLocks noGrp="1"/>
          </p:cNvSpPr>
          <p:nvPr>
            <p:ph type="title"/>
          </p:nvPr>
        </p:nvSpPr>
        <p:spPr>
          <a:xfrm>
            <a:off x="1505244" y="763651"/>
            <a:ext cx="3701813" cy="6775450"/>
          </a:xfrm>
        </p:spPr>
        <p:txBody>
          <a:bodyPr anchor="ctr">
            <a:normAutofit/>
          </a:bodyPr>
          <a:lstStyle/>
          <a:p>
            <a:r>
              <a:rPr lang="en-US" sz="4320">
                <a:solidFill>
                  <a:srgbClr val="FFFFFF"/>
                </a:solidFill>
              </a:rPr>
              <a:t>Status Register</a:t>
            </a:r>
          </a:p>
        </p:txBody>
      </p:sp>
      <p:sp>
        <p:nvSpPr>
          <p:cNvPr id="17" name="Content Placeholder 2">
            <a:extLst>
              <a:ext uri="{FF2B5EF4-FFF2-40B4-BE49-F238E27FC236}">
                <a16:creationId xmlns:a16="http://schemas.microsoft.com/office/drawing/2014/main" id="{04852E81-1757-4F42-4DBA-68180F1F9923}"/>
              </a:ext>
            </a:extLst>
          </p:cNvPr>
          <p:cNvSpPr>
            <a:spLocks noGrp="1"/>
          </p:cNvSpPr>
          <p:nvPr>
            <p:ph idx="1"/>
          </p:nvPr>
        </p:nvSpPr>
        <p:spPr>
          <a:xfrm>
            <a:off x="457200" y="1600200"/>
            <a:ext cx="15621000" cy="6096000"/>
          </a:xfrm>
        </p:spPr>
        <p:txBody>
          <a:bodyPr anchor="t">
            <a:noAutofit/>
          </a:bodyPr>
          <a:lstStyle/>
          <a:p>
            <a:pPr defTabSz="1097280">
              <a:spcBef>
                <a:spcPct val="0"/>
              </a:spcBef>
            </a:pPr>
            <a:r>
              <a:rPr lang="en-US" dirty="0"/>
              <a:t>C</a:t>
            </a:r>
            <a:r>
              <a:rPr kumimoji="0" lang="en-US" altLang="en-US" b="0" i="0" u="none" strike="noStrike" cap="none" normalizeH="0" baseline="0" dirty="0">
                <a:ln>
                  <a:noFill/>
                </a:ln>
                <a:effectLst/>
              </a:rPr>
              <a:t> = Carry Flag, This flag is set whenever there is a carry out from the D7 bit after an arithmetic operation(Addition, subtraction, increment, decrement, etc.). This flag bit is affected after an 8-bit addition or substruction.</a:t>
            </a:r>
          </a:p>
          <a:p>
            <a:pPr defTabSz="1097280">
              <a:spcBef>
                <a:spcPct val="0"/>
              </a:spcBef>
            </a:pPr>
            <a:r>
              <a:rPr kumimoji="0" lang="en-US" altLang="en-US" b="0" i="0" u="none" strike="noStrike" cap="none" normalizeH="0" baseline="0" dirty="0">
                <a:ln>
                  <a:noFill/>
                </a:ln>
                <a:effectLst/>
              </a:rPr>
              <a:t>Z = Zero Flag, This flag is affected after an arithmetic or logic operation. If the result is zero than Z = 1, else Z = 0.</a:t>
            </a:r>
          </a:p>
          <a:p>
            <a:pPr defTabSz="1097280">
              <a:spcBef>
                <a:spcPct val="0"/>
              </a:spcBef>
            </a:pPr>
            <a:r>
              <a:rPr kumimoji="0" lang="en-US" altLang="en-US" b="0" i="0" u="none" strike="noStrike" cap="none" normalizeH="0" baseline="0" dirty="0">
                <a:ln>
                  <a:noFill/>
                </a:ln>
                <a:effectLst/>
              </a:rPr>
              <a:t>N = Negative Flag, It reflects the result of an arithmetic operation. If the D7 bit of the result is zero, then N = 0 and the result is positive. Else N = 1 and the result is negative.</a:t>
            </a:r>
          </a:p>
          <a:p>
            <a:pPr defTabSz="1097280">
              <a:spcBef>
                <a:spcPct val="0"/>
              </a:spcBef>
            </a:pPr>
            <a:r>
              <a:rPr kumimoji="0" lang="en-US" altLang="en-US" b="0" i="0" u="none" strike="noStrike" cap="none" normalizeH="0" baseline="0" dirty="0">
                <a:ln>
                  <a:noFill/>
                </a:ln>
                <a:effectLst/>
              </a:rPr>
              <a:t>V = Overflow Flag,</a:t>
            </a:r>
          </a:p>
          <a:p>
            <a:pPr defTabSz="1097280">
              <a:spcBef>
                <a:spcPct val="0"/>
              </a:spcBef>
            </a:pPr>
            <a:r>
              <a:rPr kumimoji="0" lang="en-US" altLang="en-US" b="0" i="0" u="none" strike="noStrike" cap="none" normalizeH="0" baseline="0" dirty="0">
                <a:ln>
                  <a:noFill/>
                </a:ln>
                <a:effectLst/>
              </a:rPr>
              <a:t>S = Sign Flag,</a:t>
            </a:r>
          </a:p>
          <a:p>
            <a:pPr defTabSz="1097280">
              <a:spcBef>
                <a:spcPct val="0"/>
              </a:spcBef>
            </a:pPr>
            <a:r>
              <a:rPr kumimoji="0" lang="en-US" altLang="en-US" b="0" i="0" u="none" strike="noStrike" cap="none" normalizeH="0" baseline="0" dirty="0">
                <a:ln>
                  <a:noFill/>
                </a:ln>
                <a:effectLst/>
              </a:rPr>
              <a:t>H = Half Carry Flag, this bit is set if there is a carry from D3 to D4 bit after ADD or SUB instruction.</a:t>
            </a:r>
          </a:p>
          <a:p>
            <a:pPr defTabSz="1097280">
              <a:spcBef>
                <a:spcPct val="0"/>
              </a:spcBef>
            </a:pPr>
            <a:r>
              <a:rPr kumimoji="0" lang="en-US" altLang="en-US" b="0" i="0" u="none" strike="noStrike" cap="none" normalizeH="0" baseline="0" dirty="0">
                <a:ln>
                  <a:noFill/>
                </a:ln>
                <a:effectLst/>
              </a:rPr>
              <a:t>T = Bit Copy Storage. Used as a temporary storage for bit. It can be used to copy a bit from a GPR to another GPR.</a:t>
            </a:r>
          </a:p>
          <a:p>
            <a:pPr defTabSz="1097280">
              <a:spcBef>
                <a:spcPct val="0"/>
              </a:spcBef>
            </a:pPr>
            <a:r>
              <a:rPr kumimoji="0" lang="en-US" altLang="en-US" b="0" i="0" u="none" strike="noStrike" cap="none" normalizeH="0" baseline="0" dirty="0">
                <a:ln>
                  <a:noFill/>
                </a:ln>
                <a:effectLst/>
              </a:rPr>
              <a:t>I = Global Interrupt Enable</a:t>
            </a:r>
          </a:p>
          <a:p>
            <a:pPr marL="0" indent="0">
              <a:buNone/>
            </a:pPr>
            <a:endParaRPr lang="en-US" dirty="0"/>
          </a:p>
        </p:txBody>
      </p:sp>
      <p:sp>
        <p:nvSpPr>
          <p:cNvPr id="5" name="Rectangle 2">
            <a:extLst>
              <a:ext uri="{FF2B5EF4-FFF2-40B4-BE49-F238E27FC236}">
                <a16:creationId xmlns:a16="http://schemas.microsoft.com/office/drawing/2014/main" id="{EB5CBE2B-E1D2-B4FB-B22D-D578C75CD64C}"/>
              </a:ext>
            </a:extLst>
          </p:cNvPr>
          <p:cNvSpPr>
            <a:spLocks noChangeArrowheads="1"/>
          </p:cNvSpPr>
          <p:nvPr/>
        </p:nvSpPr>
        <p:spPr bwMode="auto">
          <a:xfrm>
            <a:off x="914401" y="108121"/>
            <a:ext cx="65" cy="3323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097280"/>
            <a:endParaRPr lang="en-US" altLang="en-US" sz="2160" dirty="0"/>
          </a:p>
        </p:txBody>
      </p:sp>
      <p:sp>
        <p:nvSpPr>
          <p:cNvPr id="8" name="Title 1">
            <a:extLst>
              <a:ext uri="{FF2B5EF4-FFF2-40B4-BE49-F238E27FC236}">
                <a16:creationId xmlns:a16="http://schemas.microsoft.com/office/drawing/2014/main" id="{C4A3D565-303F-1CB1-1CB5-67C6983F7BF7}"/>
              </a:ext>
            </a:extLst>
          </p:cNvPr>
          <p:cNvSpPr txBox="1">
            <a:spLocks/>
          </p:cNvSpPr>
          <p:nvPr/>
        </p:nvSpPr>
        <p:spPr bwMode="auto">
          <a:xfrm>
            <a:off x="2362200" y="424946"/>
            <a:ext cx="11963399" cy="870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US" kern="0" dirty="0"/>
              <a:t>AVR Flags/Status Register</a:t>
            </a:r>
          </a:p>
        </p:txBody>
      </p:sp>
    </p:spTree>
    <p:extLst>
      <p:ext uri="{BB962C8B-B14F-4D97-AF65-F5344CB8AC3E}">
        <p14:creationId xmlns:p14="http://schemas.microsoft.com/office/powerpoint/2010/main" val="2577645899"/>
      </p:ext>
    </p:extLst>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00311-6DFB-C38F-201B-F61A13B018C5}"/>
              </a:ext>
            </a:extLst>
          </p:cNvPr>
          <p:cNvSpPr>
            <a:spLocks noGrp="1"/>
          </p:cNvSpPr>
          <p:nvPr>
            <p:ph type="title"/>
          </p:nvPr>
        </p:nvSpPr>
        <p:spPr>
          <a:xfrm>
            <a:off x="1235075" y="533400"/>
            <a:ext cx="13989050" cy="823912"/>
          </a:xfrm>
        </p:spPr>
        <p:txBody>
          <a:bodyPr/>
          <a:lstStyle/>
          <a:p>
            <a:r>
              <a:rPr lang="en-US" dirty="0"/>
              <a:t>Direct Data Register Method</a:t>
            </a:r>
          </a:p>
        </p:txBody>
      </p:sp>
      <p:sp>
        <p:nvSpPr>
          <p:cNvPr id="3" name="Content Placeholder 2">
            <a:extLst>
              <a:ext uri="{FF2B5EF4-FFF2-40B4-BE49-F238E27FC236}">
                <a16:creationId xmlns:a16="http://schemas.microsoft.com/office/drawing/2014/main" id="{656AC109-9B6D-172A-2D8A-DA307BF4DEE2}"/>
              </a:ext>
            </a:extLst>
          </p:cNvPr>
          <p:cNvSpPr>
            <a:spLocks noGrp="1"/>
          </p:cNvSpPr>
          <p:nvPr>
            <p:ph idx="1"/>
          </p:nvPr>
        </p:nvSpPr>
        <p:spPr>
          <a:xfrm>
            <a:off x="552364" y="1825752"/>
            <a:ext cx="8506292" cy="5184647"/>
          </a:xfrm>
        </p:spPr>
        <p:txBody>
          <a:bodyPr vert="horz" wrap="square" lIns="0" tIns="54864" rIns="0" bIns="54864" numCol="1" rtlCol="0" anchor="t" anchorCtr="0" compatLnSpc="1">
            <a:prstTxWarp prst="textNoShape">
              <a:avLst/>
            </a:prstTxWarp>
            <a:noAutofit/>
          </a:bodyPr>
          <a:lstStyle/>
          <a:p>
            <a:r>
              <a:rPr lang="en-US" sz="3200" dirty="0"/>
              <a:t>To assign input, put a </a:t>
            </a:r>
            <a:r>
              <a:rPr lang="en-US" sz="3200" b="1" dirty="0">
                <a:solidFill>
                  <a:srgbClr val="FF0000"/>
                </a:solidFill>
              </a:rPr>
              <a:t>0</a:t>
            </a:r>
            <a:endParaRPr lang="en-US" sz="3200" b="1" dirty="0">
              <a:solidFill>
                <a:srgbClr val="FF0000"/>
              </a:solidFill>
              <a:cs typeface="Calibri"/>
            </a:endParaRPr>
          </a:p>
          <a:p>
            <a:r>
              <a:rPr lang="en-US" sz="3200" dirty="0"/>
              <a:t>To assign output, put a </a:t>
            </a:r>
            <a:r>
              <a:rPr lang="en-US" sz="3200" b="1" dirty="0">
                <a:solidFill>
                  <a:srgbClr val="0000FF"/>
                </a:solidFill>
              </a:rPr>
              <a:t>1</a:t>
            </a:r>
          </a:p>
          <a:p>
            <a:r>
              <a:rPr lang="en-US" sz="3200" dirty="0"/>
              <a:t>DDRB= 0x05; </a:t>
            </a:r>
          </a:p>
          <a:p>
            <a:r>
              <a:rPr lang="en-US" sz="3200" dirty="0"/>
              <a:t>Or DDRB= 0b00000101; PB0 and PB2 are output pins while the rest are input pins.</a:t>
            </a:r>
          </a:p>
          <a:p>
            <a:r>
              <a:rPr lang="en-US" sz="3200" dirty="0"/>
              <a:t>To write HIGH, put a logical 1</a:t>
            </a:r>
          </a:p>
          <a:p>
            <a:r>
              <a:rPr lang="en-US" sz="3200" dirty="0"/>
              <a:t>To write LOW, put a logical 0</a:t>
            </a:r>
          </a:p>
          <a:p>
            <a:r>
              <a:rPr lang="en-US" sz="3200" dirty="0"/>
              <a:t>PORTB = 0x01;</a:t>
            </a:r>
          </a:p>
          <a:p>
            <a:r>
              <a:rPr lang="en-US" sz="3200" dirty="0"/>
              <a:t>PORTB = 0b00000001; write PB0 as high.</a:t>
            </a:r>
          </a:p>
        </p:txBody>
      </p:sp>
      <p:graphicFrame>
        <p:nvGraphicFramePr>
          <p:cNvPr id="6" name="Table 6">
            <a:extLst>
              <a:ext uri="{FF2B5EF4-FFF2-40B4-BE49-F238E27FC236}">
                <a16:creationId xmlns:a16="http://schemas.microsoft.com/office/drawing/2014/main" id="{B6DCD12B-3E91-6CF4-EC93-09976410DFEE}"/>
              </a:ext>
            </a:extLst>
          </p:cNvPr>
          <p:cNvGraphicFramePr>
            <a:graphicFrameLocks noGrp="1"/>
          </p:cNvGraphicFramePr>
          <p:nvPr>
            <p:extLst>
              <p:ext uri="{D42A27DB-BD31-4B8C-83A1-F6EECF244321}">
                <p14:modId xmlns:p14="http://schemas.microsoft.com/office/powerpoint/2010/main" val="2622791199"/>
              </p:ext>
            </p:extLst>
          </p:nvPr>
        </p:nvGraphicFramePr>
        <p:xfrm>
          <a:off x="9372600" y="2391405"/>
          <a:ext cx="6781800" cy="1026570"/>
        </p:xfrm>
        <a:graphic>
          <a:graphicData uri="http://schemas.openxmlformats.org/drawingml/2006/table">
            <a:tbl>
              <a:tblPr firstRow="1" bandRow="1">
                <a:tableStyleId>{D7AC3CCA-C797-4891-BE02-D94E43425B78}</a:tableStyleId>
              </a:tblPr>
              <a:tblGrid>
                <a:gridCol w="847725">
                  <a:extLst>
                    <a:ext uri="{9D8B030D-6E8A-4147-A177-3AD203B41FA5}">
                      <a16:colId xmlns:a16="http://schemas.microsoft.com/office/drawing/2014/main" val="1787849861"/>
                    </a:ext>
                  </a:extLst>
                </a:gridCol>
                <a:gridCol w="847725">
                  <a:extLst>
                    <a:ext uri="{9D8B030D-6E8A-4147-A177-3AD203B41FA5}">
                      <a16:colId xmlns:a16="http://schemas.microsoft.com/office/drawing/2014/main" val="917799899"/>
                    </a:ext>
                  </a:extLst>
                </a:gridCol>
                <a:gridCol w="847725">
                  <a:extLst>
                    <a:ext uri="{9D8B030D-6E8A-4147-A177-3AD203B41FA5}">
                      <a16:colId xmlns:a16="http://schemas.microsoft.com/office/drawing/2014/main" val="1419689249"/>
                    </a:ext>
                  </a:extLst>
                </a:gridCol>
                <a:gridCol w="847725">
                  <a:extLst>
                    <a:ext uri="{9D8B030D-6E8A-4147-A177-3AD203B41FA5}">
                      <a16:colId xmlns:a16="http://schemas.microsoft.com/office/drawing/2014/main" val="1988398595"/>
                    </a:ext>
                  </a:extLst>
                </a:gridCol>
                <a:gridCol w="847725">
                  <a:extLst>
                    <a:ext uri="{9D8B030D-6E8A-4147-A177-3AD203B41FA5}">
                      <a16:colId xmlns:a16="http://schemas.microsoft.com/office/drawing/2014/main" val="535832957"/>
                    </a:ext>
                  </a:extLst>
                </a:gridCol>
                <a:gridCol w="847725">
                  <a:extLst>
                    <a:ext uri="{9D8B030D-6E8A-4147-A177-3AD203B41FA5}">
                      <a16:colId xmlns:a16="http://schemas.microsoft.com/office/drawing/2014/main" val="1675849524"/>
                    </a:ext>
                  </a:extLst>
                </a:gridCol>
                <a:gridCol w="847725">
                  <a:extLst>
                    <a:ext uri="{9D8B030D-6E8A-4147-A177-3AD203B41FA5}">
                      <a16:colId xmlns:a16="http://schemas.microsoft.com/office/drawing/2014/main" val="3294324509"/>
                    </a:ext>
                  </a:extLst>
                </a:gridCol>
                <a:gridCol w="847725">
                  <a:extLst>
                    <a:ext uri="{9D8B030D-6E8A-4147-A177-3AD203B41FA5}">
                      <a16:colId xmlns:a16="http://schemas.microsoft.com/office/drawing/2014/main" val="416964194"/>
                    </a:ext>
                  </a:extLst>
                </a:gridCol>
              </a:tblGrid>
              <a:tr h="521821">
                <a:tc>
                  <a:txBody>
                    <a:bodyPr/>
                    <a:lstStyle/>
                    <a:p>
                      <a:pPr algn="ctr"/>
                      <a:r>
                        <a:rPr lang="en-US" sz="2400" dirty="0"/>
                        <a:t>PB7</a:t>
                      </a:r>
                    </a:p>
                  </a:txBody>
                  <a:tcPr marL="109728" marR="109728" marT="54864" marB="54864"/>
                </a:tc>
                <a:tc>
                  <a:txBody>
                    <a:bodyPr/>
                    <a:lstStyle/>
                    <a:p>
                      <a:pPr algn="ctr"/>
                      <a:r>
                        <a:rPr lang="en-US" sz="2400" dirty="0"/>
                        <a:t>PB6</a:t>
                      </a:r>
                    </a:p>
                  </a:txBody>
                  <a:tcPr marL="109728" marR="109728" marT="54864" marB="54864"/>
                </a:tc>
                <a:tc>
                  <a:txBody>
                    <a:bodyPr/>
                    <a:lstStyle/>
                    <a:p>
                      <a:pPr algn="ctr"/>
                      <a:r>
                        <a:rPr lang="en-US" sz="2400" dirty="0"/>
                        <a:t>PB5</a:t>
                      </a:r>
                    </a:p>
                  </a:txBody>
                  <a:tcPr marL="109728" marR="109728" marT="54864" marB="54864"/>
                </a:tc>
                <a:tc>
                  <a:txBody>
                    <a:bodyPr/>
                    <a:lstStyle/>
                    <a:p>
                      <a:pPr algn="ctr"/>
                      <a:r>
                        <a:rPr lang="en-US" sz="2400" dirty="0"/>
                        <a:t>PB4</a:t>
                      </a:r>
                    </a:p>
                  </a:txBody>
                  <a:tcPr marL="109728" marR="109728" marT="54864" marB="54864"/>
                </a:tc>
                <a:tc>
                  <a:txBody>
                    <a:bodyPr/>
                    <a:lstStyle/>
                    <a:p>
                      <a:pPr algn="ctr"/>
                      <a:r>
                        <a:rPr lang="en-US" sz="2400" dirty="0"/>
                        <a:t>PB3</a:t>
                      </a:r>
                    </a:p>
                  </a:txBody>
                  <a:tcPr marL="109728" marR="109728" marT="54864" marB="54864"/>
                </a:tc>
                <a:tc>
                  <a:txBody>
                    <a:bodyPr/>
                    <a:lstStyle/>
                    <a:p>
                      <a:pPr algn="ctr"/>
                      <a:r>
                        <a:rPr lang="en-US" sz="2400" dirty="0"/>
                        <a:t>PB2</a:t>
                      </a:r>
                    </a:p>
                  </a:txBody>
                  <a:tcPr marL="109728" marR="109728" marT="54864" marB="54864"/>
                </a:tc>
                <a:tc>
                  <a:txBody>
                    <a:bodyPr/>
                    <a:lstStyle/>
                    <a:p>
                      <a:pPr algn="ctr"/>
                      <a:r>
                        <a:rPr lang="en-US" sz="2400" dirty="0"/>
                        <a:t>PB1</a:t>
                      </a:r>
                    </a:p>
                  </a:txBody>
                  <a:tcPr marL="109728" marR="109728" marT="54864" marB="54864"/>
                </a:tc>
                <a:tc>
                  <a:txBody>
                    <a:bodyPr/>
                    <a:lstStyle/>
                    <a:p>
                      <a:pPr algn="ctr"/>
                      <a:r>
                        <a:rPr lang="en-US" sz="2400" dirty="0"/>
                        <a:t>PB0</a:t>
                      </a:r>
                    </a:p>
                  </a:txBody>
                  <a:tcPr marL="109728" marR="109728" marT="54864" marB="54864"/>
                </a:tc>
                <a:extLst>
                  <a:ext uri="{0D108BD9-81ED-4DB2-BD59-A6C34878D82A}">
                    <a16:rowId xmlns:a16="http://schemas.microsoft.com/office/drawing/2014/main" val="2388973828"/>
                  </a:ext>
                </a:extLst>
              </a:tr>
              <a:tr h="504749">
                <a:tc>
                  <a:txBody>
                    <a:bodyPr/>
                    <a:lstStyle/>
                    <a:p>
                      <a:pPr algn="ctr"/>
                      <a:r>
                        <a:rPr lang="en-US" sz="2400" b="1" dirty="0">
                          <a:solidFill>
                            <a:srgbClr val="FF0000"/>
                          </a:solidFill>
                        </a:rPr>
                        <a:t>0</a:t>
                      </a:r>
                    </a:p>
                  </a:txBody>
                  <a:tcPr marL="109728" marR="109728" marT="54864" marB="54864"/>
                </a:tc>
                <a:tc>
                  <a:txBody>
                    <a:bodyPr/>
                    <a:lstStyle/>
                    <a:p>
                      <a:pPr algn="ctr"/>
                      <a:r>
                        <a:rPr lang="en-US" sz="2400" b="1" dirty="0">
                          <a:solidFill>
                            <a:srgbClr val="FF0000"/>
                          </a:solidFill>
                        </a:rPr>
                        <a:t>0</a:t>
                      </a:r>
                    </a:p>
                  </a:txBody>
                  <a:tcPr marL="109728" marR="109728" marT="54864" marB="54864"/>
                </a:tc>
                <a:tc>
                  <a:txBody>
                    <a:bodyPr/>
                    <a:lstStyle/>
                    <a:p>
                      <a:pPr algn="ctr"/>
                      <a:r>
                        <a:rPr lang="en-US" sz="2400" b="1" dirty="0">
                          <a:solidFill>
                            <a:srgbClr val="FF0000"/>
                          </a:solidFill>
                        </a:rPr>
                        <a:t>0</a:t>
                      </a:r>
                    </a:p>
                  </a:txBody>
                  <a:tcPr marL="109728" marR="109728" marT="54864" marB="54864"/>
                </a:tc>
                <a:tc>
                  <a:txBody>
                    <a:bodyPr/>
                    <a:lstStyle/>
                    <a:p>
                      <a:pPr algn="ctr"/>
                      <a:r>
                        <a:rPr lang="en-US" sz="2400" b="1" dirty="0">
                          <a:solidFill>
                            <a:srgbClr val="FF0000"/>
                          </a:solidFill>
                        </a:rPr>
                        <a:t>0</a:t>
                      </a:r>
                    </a:p>
                  </a:txBody>
                  <a:tcPr marL="109728" marR="109728" marT="54864" marB="54864"/>
                </a:tc>
                <a:tc>
                  <a:txBody>
                    <a:bodyPr/>
                    <a:lstStyle/>
                    <a:p>
                      <a:pPr algn="ctr"/>
                      <a:r>
                        <a:rPr lang="en-US" sz="2400" b="1" dirty="0">
                          <a:solidFill>
                            <a:srgbClr val="FF0000"/>
                          </a:solidFill>
                        </a:rPr>
                        <a:t>0</a:t>
                      </a:r>
                    </a:p>
                  </a:txBody>
                  <a:tcPr marL="109728" marR="109728" marT="54864" marB="54864"/>
                </a:tc>
                <a:tc>
                  <a:txBody>
                    <a:bodyPr/>
                    <a:lstStyle/>
                    <a:p>
                      <a:pPr algn="ctr"/>
                      <a:r>
                        <a:rPr lang="en-US" sz="2400" b="1" dirty="0">
                          <a:solidFill>
                            <a:srgbClr val="0000FF"/>
                          </a:solidFill>
                        </a:rPr>
                        <a:t>1</a:t>
                      </a:r>
                    </a:p>
                  </a:txBody>
                  <a:tcPr marL="109728" marR="109728" marT="54864" marB="54864"/>
                </a:tc>
                <a:tc>
                  <a:txBody>
                    <a:bodyPr/>
                    <a:lstStyle/>
                    <a:p>
                      <a:pPr algn="ctr"/>
                      <a:r>
                        <a:rPr lang="en-US" sz="2400" b="1" dirty="0">
                          <a:solidFill>
                            <a:srgbClr val="FF0000"/>
                          </a:solidFill>
                        </a:rPr>
                        <a:t>0</a:t>
                      </a:r>
                    </a:p>
                  </a:txBody>
                  <a:tcPr marL="109728" marR="109728" marT="54864" marB="54864"/>
                </a:tc>
                <a:tc>
                  <a:txBody>
                    <a:bodyPr/>
                    <a:lstStyle/>
                    <a:p>
                      <a:pPr algn="ctr"/>
                      <a:r>
                        <a:rPr lang="en-US" sz="2400" b="1" dirty="0">
                          <a:solidFill>
                            <a:srgbClr val="0000FF"/>
                          </a:solidFill>
                        </a:rPr>
                        <a:t>1</a:t>
                      </a:r>
                    </a:p>
                  </a:txBody>
                  <a:tcPr marL="109728" marR="109728" marT="54864" marB="54864"/>
                </a:tc>
                <a:extLst>
                  <a:ext uri="{0D108BD9-81ED-4DB2-BD59-A6C34878D82A}">
                    <a16:rowId xmlns:a16="http://schemas.microsoft.com/office/drawing/2014/main" val="3965709337"/>
                  </a:ext>
                </a:extLst>
              </a:tr>
            </a:tbl>
          </a:graphicData>
        </a:graphic>
      </p:graphicFrame>
      <p:sp>
        <p:nvSpPr>
          <p:cNvPr id="7" name="TextBox 6">
            <a:extLst>
              <a:ext uri="{FF2B5EF4-FFF2-40B4-BE49-F238E27FC236}">
                <a16:creationId xmlns:a16="http://schemas.microsoft.com/office/drawing/2014/main" id="{47D844CC-76FD-C0FA-2443-866DB21EB4D7}"/>
              </a:ext>
            </a:extLst>
          </p:cNvPr>
          <p:cNvSpPr txBox="1"/>
          <p:nvPr/>
        </p:nvSpPr>
        <p:spPr>
          <a:xfrm>
            <a:off x="9741575" y="1519014"/>
            <a:ext cx="6031823" cy="775597"/>
          </a:xfrm>
          <a:prstGeom prst="rect">
            <a:avLst/>
          </a:prstGeom>
          <a:noFill/>
        </p:spPr>
        <p:txBody>
          <a:bodyPr wrap="square" rtlCol="0">
            <a:spAutoFit/>
          </a:bodyPr>
          <a:lstStyle/>
          <a:p>
            <a:pPr algn="ctr"/>
            <a:r>
              <a:rPr lang="en-US" sz="4440" b="1" dirty="0"/>
              <a:t>DDRB Register</a:t>
            </a:r>
          </a:p>
        </p:txBody>
      </p:sp>
      <p:graphicFrame>
        <p:nvGraphicFramePr>
          <p:cNvPr id="8" name="Table 6">
            <a:extLst>
              <a:ext uri="{FF2B5EF4-FFF2-40B4-BE49-F238E27FC236}">
                <a16:creationId xmlns:a16="http://schemas.microsoft.com/office/drawing/2014/main" id="{40A3F512-3DE4-17F7-1E90-AAEE8A293537}"/>
              </a:ext>
            </a:extLst>
          </p:cNvPr>
          <p:cNvGraphicFramePr>
            <a:graphicFrameLocks noGrp="1"/>
          </p:cNvGraphicFramePr>
          <p:nvPr>
            <p:extLst>
              <p:ext uri="{D42A27DB-BD31-4B8C-83A1-F6EECF244321}">
                <p14:modId xmlns:p14="http://schemas.microsoft.com/office/powerpoint/2010/main" val="889458496"/>
              </p:ext>
            </p:extLst>
          </p:nvPr>
        </p:nvGraphicFramePr>
        <p:xfrm>
          <a:off x="9296400" y="4648200"/>
          <a:ext cx="6781800" cy="1074725"/>
        </p:xfrm>
        <a:graphic>
          <a:graphicData uri="http://schemas.openxmlformats.org/drawingml/2006/table">
            <a:tbl>
              <a:tblPr firstRow="1" bandRow="1">
                <a:tableStyleId>{D7AC3CCA-C797-4891-BE02-D94E43425B78}</a:tableStyleId>
              </a:tblPr>
              <a:tblGrid>
                <a:gridCol w="847725">
                  <a:extLst>
                    <a:ext uri="{9D8B030D-6E8A-4147-A177-3AD203B41FA5}">
                      <a16:colId xmlns:a16="http://schemas.microsoft.com/office/drawing/2014/main" val="1787849861"/>
                    </a:ext>
                  </a:extLst>
                </a:gridCol>
                <a:gridCol w="847725">
                  <a:extLst>
                    <a:ext uri="{9D8B030D-6E8A-4147-A177-3AD203B41FA5}">
                      <a16:colId xmlns:a16="http://schemas.microsoft.com/office/drawing/2014/main" val="917799899"/>
                    </a:ext>
                  </a:extLst>
                </a:gridCol>
                <a:gridCol w="847725">
                  <a:extLst>
                    <a:ext uri="{9D8B030D-6E8A-4147-A177-3AD203B41FA5}">
                      <a16:colId xmlns:a16="http://schemas.microsoft.com/office/drawing/2014/main" val="1419689249"/>
                    </a:ext>
                  </a:extLst>
                </a:gridCol>
                <a:gridCol w="847725">
                  <a:extLst>
                    <a:ext uri="{9D8B030D-6E8A-4147-A177-3AD203B41FA5}">
                      <a16:colId xmlns:a16="http://schemas.microsoft.com/office/drawing/2014/main" val="1988398595"/>
                    </a:ext>
                  </a:extLst>
                </a:gridCol>
                <a:gridCol w="847725">
                  <a:extLst>
                    <a:ext uri="{9D8B030D-6E8A-4147-A177-3AD203B41FA5}">
                      <a16:colId xmlns:a16="http://schemas.microsoft.com/office/drawing/2014/main" val="535832957"/>
                    </a:ext>
                  </a:extLst>
                </a:gridCol>
                <a:gridCol w="847725">
                  <a:extLst>
                    <a:ext uri="{9D8B030D-6E8A-4147-A177-3AD203B41FA5}">
                      <a16:colId xmlns:a16="http://schemas.microsoft.com/office/drawing/2014/main" val="1675849524"/>
                    </a:ext>
                  </a:extLst>
                </a:gridCol>
                <a:gridCol w="847725">
                  <a:extLst>
                    <a:ext uri="{9D8B030D-6E8A-4147-A177-3AD203B41FA5}">
                      <a16:colId xmlns:a16="http://schemas.microsoft.com/office/drawing/2014/main" val="3294324509"/>
                    </a:ext>
                  </a:extLst>
                </a:gridCol>
                <a:gridCol w="847725">
                  <a:extLst>
                    <a:ext uri="{9D8B030D-6E8A-4147-A177-3AD203B41FA5}">
                      <a16:colId xmlns:a16="http://schemas.microsoft.com/office/drawing/2014/main" val="416964194"/>
                    </a:ext>
                  </a:extLst>
                </a:gridCol>
              </a:tblGrid>
              <a:tr h="569976">
                <a:tc>
                  <a:txBody>
                    <a:bodyPr/>
                    <a:lstStyle/>
                    <a:p>
                      <a:pPr algn="ctr"/>
                      <a:r>
                        <a:rPr lang="en-US" sz="2400" dirty="0"/>
                        <a:t>PB7</a:t>
                      </a:r>
                    </a:p>
                  </a:txBody>
                  <a:tcPr marL="109728" marR="109728" marT="54864" marB="54864"/>
                </a:tc>
                <a:tc>
                  <a:txBody>
                    <a:bodyPr/>
                    <a:lstStyle/>
                    <a:p>
                      <a:pPr algn="ctr"/>
                      <a:r>
                        <a:rPr lang="en-US" sz="2400" dirty="0"/>
                        <a:t>PB6</a:t>
                      </a:r>
                    </a:p>
                  </a:txBody>
                  <a:tcPr marL="109728" marR="109728" marT="54864" marB="54864"/>
                </a:tc>
                <a:tc>
                  <a:txBody>
                    <a:bodyPr/>
                    <a:lstStyle/>
                    <a:p>
                      <a:pPr algn="ctr"/>
                      <a:r>
                        <a:rPr lang="en-US" sz="2400" dirty="0"/>
                        <a:t>PB5</a:t>
                      </a:r>
                    </a:p>
                  </a:txBody>
                  <a:tcPr marL="109728" marR="109728" marT="54864" marB="54864"/>
                </a:tc>
                <a:tc>
                  <a:txBody>
                    <a:bodyPr/>
                    <a:lstStyle/>
                    <a:p>
                      <a:pPr algn="ctr"/>
                      <a:r>
                        <a:rPr lang="en-US" sz="2400" dirty="0"/>
                        <a:t>PB4</a:t>
                      </a:r>
                    </a:p>
                  </a:txBody>
                  <a:tcPr marL="109728" marR="109728" marT="54864" marB="54864"/>
                </a:tc>
                <a:tc>
                  <a:txBody>
                    <a:bodyPr/>
                    <a:lstStyle/>
                    <a:p>
                      <a:pPr algn="ctr"/>
                      <a:r>
                        <a:rPr lang="en-US" sz="2400" dirty="0"/>
                        <a:t>PB3</a:t>
                      </a:r>
                    </a:p>
                  </a:txBody>
                  <a:tcPr marL="109728" marR="109728" marT="54864" marB="54864"/>
                </a:tc>
                <a:tc>
                  <a:txBody>
                    <a:bodyPr/>
                    <a:lstStyle/>
                    <a:p>
                      <a:pPr algn="ctr"/>
                      <a:r>
                        <a:rPr lang="en-US" sz="2400" dirty="0"/>
                        <a:t>PB2</a:t>
                      </a:r>
                    </a:p>
                  </a:txBody>
                  <a:tcPr marL="109728" marR="109728" marT="54864" marB="54864"/>
                </a:tc>
                <a:tc>
                  <a:txBody>
                    <a:bodyPr/>
                    <a:lstStyle/>
                    <a:p>
                      <a:pPr algn="ctr"/>
                      <a:r>
                        <a:rPr lang="en-US" sz="2400" dirty="0"/>
                        <a:t>PB1</a:t>
                      </a:r>
                    </a:p>
                  </a:txBody>
                  <a:tcPr marL="109728" marR="109728" marT="54864" marB="54864"/>
                </a:tc>
                <a:tc>
                  <a:txBody>
                    <a:bodyPr/>
                    <a:lstStyle/>
                    <a:p>
                      <a:pPr algn="ctr"/>
                      <a:r>
                        <a:rPr lang="en-US" sz="2400" dirty="0"/>
                        <a:t>PB0</a:t>
                      </a:r>
                    </a:p>
                  </a:txBody>
                  <a:tcPr marL="109728" marR="109728" marT="54864" marB="54864"/>
                </a:tc>
                <a:extLst>
                  <a:ext uri="{0D108BD9-81ED-4DB2-BD59-A6C34878D82A}">
                    <a16:rowId xmlns:a16="http://schemas.microsoft.com/office/drawing/2014/main" val="2388973828"/>
                  </a:ext>
                </a:extLst>
              </a:tr>
              <a:tr h="504749">
                <a:tc>
                  <a:txBody>
                    <a:bodyPr/>
                    <a:lstStyle/>
                    <a:p>
                      <a:pPr algn="ctr"/>
                      <a:r>
                        <a:rPr lang="en-US" sz="2400" dirty="0"/>
                        <a:t>0</a:t>
                      </a:r>
                    </a:p>
                  </a:txBody>
                  <a:tcPr marL="109728" marR="109728" marT="54864" marB="54864"/>
                </a:tc>
                <a:tc>
                  <a:txBody>
                    <a:bodyPr/>
                    <a:lstStyle/>
                    <a:p>
                      <a:pPr algn="ctr"/>
                      <a:r>
                        <a:rPr lang="en-US" sz="2400" dirty="0"/>
                        <a:t>0</a:t>
                      </a:r>
                    </a:p>
                  </a:txBody>
                  <a:tcPr marL="109728" marR="109728" marT="54864" marB="54864"/>
                </a:tc>
                <a:tc>
                  <a:txBody>
                    <a:bodyPr/>
                    <a:lstStyle/>
                    <a:p>
                      <a:pPr algn="ctr"/>
                      <a:r>
                        <a:rPr lang="en-US" sz="2400" dirty="0"/>
                        <a:t>0</a:t>
                      </a:r>
                    </a:p>
                  </a:txBody>
                  <a:tcPr marL="109728" marR="109728" marT="54864" marB="54864"/>
                </a:tc>
                <a:tc>
                  <a:txBody>
                    <a:bodyPr/>
                    <a:lstStyle/>
                    <a:p>
                      <a:pPr algn="ctr"/>
                      <a:r>
                        <a:rPr lang="en-US" sz="2400" dirty="0"/>
                        <a:t>0</a:t>
                      </a:r>
                    </a:p>
                  </a:txBody>
                  <a:tcPr marL="109728" marR="109728" marT="54864" marB="54864"/>
                </a:tc>
                <a:tc>
                  <a:txBody>
                    <a:bodyPr/>
                    <a:lstStyle/>
                    <a:p>
                      <a:pPr algn="ctr"/>
                      <a:r>
                        <a:rPr lang="en-US" sz="2400" dirty="0"/>
                        <a:t>0</a:t>
                      </a:r>
                    </a:p>
                  </a:txBody>
                  <a:tcPr marL="109728" marR="109728" marT="54864" marB="54864"/>
                </a:tc>
                <a:tc>
                  <a:txBody>
                    <a:bodyPr/>
                    <a:lstStyle/>
                    <a:p>
                      <a:pPr algn="ctr"/>
                      <a:r>
                        <a:rPr lang="en-US" sz="2400" dirty="0"/>
                        <a:t>0</a:t>
                      </a:r>
                    </a:p>
                  </a:txBody>
                  <a:tcPr marL="109728" marR="109728" marT="54864" marB="54864"/>
                </a:tc>
                <a:tc>
                  <a:txBody>
                    <a:bodyPr/>
                    <a:lstStyle/>
                    <a:p>
                      <a:pPr algn="ctr"/>
                      <a:r>
                        <a:rPr lang="en-US" sz="2400" dirty="0"/>
                        <a:t>0</a:t>
                      </a:r>
                    </a:p>
                  </a:txBody>
                  <a:tcPr marL="109728" marR="109728" marT="54864" marB="54864"/>
                </a:tc>
                <a:tc>
                  <a:txBody>
                    <a:bodyPr/>
                    <a:lstStyle/>
                    <a:p>
                      <a:pPr algn="ctr"/>
                      <a:r>
                        <a:rPr lang="en-US" sz="2400" dirty="0"/>
                        <a:t>1</a:t>
                      </a:r>
                    </a:p>
                  </a:txBody>
                  <a:tcPr marL="109728" marR="109728" marT="54864" marB="54864"/>
                </a:tc>
                <a:extLst>
                  <a:ext uri="{0D108BD9-81ED-4DB2-BD59-A6C34878D82A}">
                    <a16:rowId xmlns:a16="http://schemas.microsoft.com/office/drawing/2014/main" val="3965709337"/>
                  </a:ext>
                </a:extLst>
              </a:tr>
            </a:tbl>
          </a:graphicData>
        </a:graphic>
      </p:graphicFrame>
      <p:sp>
        <p:nvSpPr>
          <p:cNvPr id="9" name="TextBox 8">
            <a:extLst>
              <a:ext uri="{FF2B5EF4-FFF2-40B4-BE49-F238E27FC236}">
                <a16:creationId xmlns:a16="http://schemas.microsoft.com/office/drawing/2014/main" id="{E7117E7F-F208-DDB0-2E4D-0D0E6E6871D7}"/>
              </a:ext>
            </a:extLst>
          </p:cNvPr>
          <p:cNvSpPr txBox="1"/>
          <p:nvPr/>
        </p:nvSpPr>
        <p:spPr>
          <a:xfrm>
            <a:off x="9648442" y="3805230"/>
            <a:ext cx="6048755" cy="775597"/>
          </a:xfrm>
          <a:prstGeom prst="rect">
            <a:avLst/>
          </a:prstGeom>
          <a:noFill/>
        </p:spPr>
        <p:txBody>
          <a:bodyPr wrap="square" rtlCol="0">
            <a:spAutoFit/>
          </a:bodyPr>
          <a:lstStyle/>
          <a:p>
            <a:pPr algn="ctr"/>
            <a:r>
              <a:rPr lang="en-US" sz="4440" b="1" dirty="0"/>
              <a:t>PORTB Register</a:t>
            </a:r>
          </a:p>
        </p:txBody>
      </p:sp>
    </p:spTree>
    <p:extLst>
      <p:ext uri="{BB962C8B-B14F-4D97-AF65-F5344CB8AC3E}">
        <p14:creationId xmlns:p14="http://schemas.microsoft.com/office/powerpoint/2010/main" val="4031068912"/>
      </p:ext>
    </p:extLst>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15697199" cy="920496"/>
          </a:xfrm>
        </p:spPr>
        <p:txBody>
          <a:bodyPr/>
          <a:lstStyle/>
          <a:p>
            <a:r>
              <a:rPr lang="en-CA" sz="4600" dirty="0">
                <a:solidFill>
                  <a:srgbClr val="FF0000"/>
                </a:solidFill>
              </a:rPr>
              <a:t>Examples of </a:t>
            </a:r>
            <a:r>
              <a:rPr lang="en-US" sz="4600" dirty="0">
                <a:solidFill>
                  <a:srgbClr val="FF0000"/>
                </a:solidFill>
              </a:rPr>
              <a:t>Direct Data Register Method</a:t>
            </a:r>
            <a:endParaRPr lang="en-CA" sz="4600" dirty="0">
              <a:solidFill>
                <a:srgbClr val="FF0000"/>
              </a:solidFill>
            </a:endParaRPr>
          </a:p>
        </p:txBody>
      </p:sp>
      <p:sp>
        <p:nvSpPr>
          <p:cNvPr id="23" name="TextBox 22">
            <a:extLst>
              <a:ext uri="{FF2B5EF4-FFF2-40B4-BE49-F238E27FC236}">
                <a16:creationId xmlns:a16="http://schemas.microsoft.com/office/drawing/2014/main" id="{934E9034-4B6F-6226-3F14-49D45A062750}"/>
              </a:ext>
            </a:extLst>
          </p:cNvPr>
          <p:cNvSpPr txBox="1"/>
          <p:nvPr/>
        </p:nvSpPr>
        <p:spPr>
          <a:xfrm>
            <a:off x="909320" y="1624280"/>
            <a:ext cx="3967480" cy="661720"/>
          </a:xfrm>
          <a:prstGeom prst="rect">
            <a:avLst/>
          </a:prstGeom>
          <a:noFill/>
        </p:spPr>
        <p:txBody>
          <a:bodyPr wrap="square" rtlCol="0">
            <a:spAutoFit/>
          </a:bodyPr>
          <a:lstStyle/>
          <a:p>
            <a:r>
              <a:rPr lang="en-US" sz="3600" dirty="0"/>
              <a:t>SBI DDRB, 3;</a:t>
            </a:r>
          </a:p>
        </p:txBody>
      </p:sp>
      <p:graphicFrame>
        <p:nvGraphicFramePr>
          <p:cNvPr id="24" name="Table 6">
            <a:extLst>
              <a:ext uri="{FF2B5EF4-FFF2-40B4-BE49-F238E27FC236}">
                <a16:creationId xmlns:a16="http://schemas.microsoft.com/office/drawing/2014/main" id="{1056FCF6-A927-004A-36DD-A6737256ACD3}"/>
              </a:ext>
            </a:extLst>
          </p:cNvPr>
          <p:cNvGraphicFramePr>
            <a:graphicFrameLocks noGrp="1"/>
          </p:cNvGraphicFramePr>
          <p:nvPr>
            <p:extLst>
              <p:ext uri="{D42A27DB-BD31-4B8C-83A1-F6EECF244321}">
                <p14:modId xmlns:p14="http://schemas.microsoft.com/office/powerpoint/2010/main" val="2443140349"/>
              </p:ext>
            </p:extLst>
          </p:nvPr>
        </p:nvGraphicFramePr>
        <p:xfrm>
          <a:off x="828040" y="2971800"/>
          <a:ext cx="6593840" cy="914400"/>
        </p:xfrm>
        <a:graphic>
          <a:graphicData uri="http://schemas.openxmlformats.org/drawingml/2006/table">
            <a:tbl>
              <a:tblPr firstRow="1" bandRow="1">
                <a:tableStyleId>{D7AC3CCA-C797-4891-BE02-D94E43425B78}</a:tableStyleId>
              </a:tblPr>
              <a:tblGrid>
                <a:gridCol w="824230">
                  <a:extLst>
                    <a:ext uri="{9D8B030D-6E8A-4147-A177-3AD203B41FA5}">
                      <a16:colId xmlns:a16="http://schemas.microsoft.com/office/drawing/2014/main" val="1787849861"/>
                    </a:ext>
                  </a:extLst>
                </a:gridCol>
                <a:gridCol w="824230">
                  <a:extLst>
                    <a:ext uri="{9D8B030D-6E8A-4147-A177-3AD203B41FA5}">
                      <a16:colId xmlns:a16="http://schemas.microsoft.com/office/drawing/2014/main" val="917799899"/>
                    </a:ext>
                  </a:extLst>
                </a:gridCol>
                <a:gridCol w="824230">
                  <a:extLst>
                    <a:ext uri="{9D8B030D-6E8A-4147-A177-3AD203B41FA5}">
                      <a16:colId xmlns:a16="http://schemas.microsoft.com/office/drawing/2014/main" val="1419689249"/>
                    </a:ext>
                  </a:extLst>
                </a:gridCol>
                <a:gridCol w="824230">
                  <a:extLst>
                    <a:ext uri="{9D8B030D-6E8A-4147-A177-3AD203B41FA5}">
                      <a16:colId xmlns:a16="http://schemas.microsoft.com/office/drawing/2014/main" val="1988398595"/>
                    </a:ext>
                  </a:extLst>
                </a:gridCol>
                <a:gridCol w="824230">
                  <a:extLst>
                    <a:ext uri="{9D8B030D-6E8A-4147-A177-3AD203B41FA5}">
                      <a16:colId xmlns:a16="http://schemas.microsoft.com/office/drawing/2014/main" val="535832957"/>
                    </a:ext>
                  </a:extLst>
                </a:gridCol>
                <a:gridCol w="824230">
                  <a:extLst>
                    <a:ext uri="{9D8B030D-6E8A-4147-A177-3AD203B41FA5}">
                      <a16:colId xmlns:a16="http://schemas.microsoft.com/office/drawing/2014/main" val="1675849524"/>
                    </a:ext>
                  </a:extLst>
                </a:gridCol>
                <a:gridCol w="824230">
                  <a:extLst>
                    <a:ext uri="{9D8B030D-6E8A-4147-A177-3AD203B41FA5}">
                      <a16:colId xmlns:a16="http://schemas.microsoft.com/office/drawing/2014/main" val="3294324509"/>
                    </a:ext>
                  </a:extLst>
                </a:gridCol>
                <a:gridCol w="824230">
                  <a:extLst>
                    <a:ext uri="{9D8B030D-6E8A-4147-A177-3AD203B41FA5}">
                      <a16:colId xmlns:a16="http://schemas.microsoft.com/office/drawing/2014/main" val="416964194"/>
                    </a:ext>
                  </a:extLst>
                </a:gridCol>
              </a:tblGrid>
              <a:tr h="340360">
                <a:tc>
                  <a:txBody>
                    <a:bodyPr/>
                    <a:lstStyle/>
                    <a:p>
                      <a:pPr algn="ctr"/>
                      <a:r>
                        <a:rPr lang="en-US" sz="2400" dirty="0"/>
                        <a:t>PB7</a:t>
                      </a:r>
                    </a:p>
                  </a:txBody>
                  <a:tcPr/>
                </a:tc>
                <a:tc>
                  <a:txBody>
                    <a:bodyPr/>
                    <a:lstStyle/>
                    <a:p>
                      <a:pPr algn="ctr"/>
                      <a:r>
                        <a:rPr lang="en-US" sz="2400" dirty="0"/>
                        <a:t>PB6</a:t>
                      </a:r>
                    </a:p>
                  </a:txBody>
                  <a:tcPr/>
                </a:tc>
                <a:tc>
                  <a:txBody>
                    <a:bodyPr/>
                    <a:lstStyle/>
                    <a:p>
                      <a:pPr algn="ctr"/>
                      <a:r>
                        <a:rPr lang="en-US" sz="2400" dirty="0"/>
                        <a:t>PB5</a:t>
                      </a:r>
                    </a:p>
                  </a:txBody>
                  <a:tcPr/>
                </a:tc>
                <a:tc>
                  <a:txBody>
                    <a:bodyPr/>
                    <a:lstStyle/>
                    <a:p>
                      <a:pPr algn="ctr"/>
                      <a:r>
                        <a:rPr lang="en-US" sz="2400" dirty="0"/>
                        <a:t>PB4</a:t>
                      </a:r>
                    </a:p>
                  </a:txBody>
                  <a:tcPr/>
                </a:tc>
                <a:tc>
                  <a:txBody>
                    <a:bodyPr/>
                    <a:lstStyle/>
                    <a:p>
                      <a:pPr algn="ctr"/>
                      <a:r>
                        <a:rPr lang="en-US" sz="2400" dirty="0"/>
                        <a:t>PB3</a:t>
                      </a:r>
                    </a:p>
                  </a:txBody>
                  <a:tcPr/>
                </a:tc>
                <a:tc>
                  <a:txBody>
                    <a:bodyPr/>
                    <a:lstStyle/>
                    <a:p>
                      <a:pPr algn="ctr"/>
                      <a:r>
                        <a:rPr lang="en-US" sz="2400" dirty="0"/>
                        <a:t>PB2</a:t>
                      </a:r>
                    </a:p>
                  </a:txBody>
                  <a:tcPr/>
                </a:tc>
                <a:tc>
                  <a:txBody>
                    <a:bodyPr/>
                    <a:lstStyle/>
                    <a:p>
                      <a:pPr algn="ctr"/>
                      <a:r>
                        <a:rPr lang="en-US" sz="2400" dirty="0"/>
                        <a:t>PB1</a:t>
                      </a:r>
                    </a:p>
                  </a:txBody>
                  <a:tcPr/>
                </a:tc>
                <a:tc>
                  <a:txBody>
                    <a:bodyPr/>
                    <a:lstStyle/>
                    <a:p>
                      <a:pPr algn="ctr"/>
                      <a:r>
                        <a:rPr lang="en-US" sz="2400" dirty="0"/>
                        <a:t>PB0</a:t>
                      </a:r>
                    </a:p>
                  </a:txBody>
                  <a:tcPr/>
                </a:tc>
                <a:extLst>
                  <a:ext uri="{0D108BD9-81ED-4DB2-BD59-A6C34878D82A}">
                    <a16:rowId xmlns:a16="http://schemas.microsoft.com/office/drawing/2014/main" val="2388973828"/>
                  </a:ext>
                </a:extLst>
              </a:tr>
              <a:tr h="340360">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b="1" dirty="0">
                          <a:solidFill>
                            <a:srgbClr val="FF0000"/>
                          </a:solidFill>
                        </a:rPr>
                        <a:t>1</a:t>
                      </a:r>
                      <a:endParaRPr lang="en-US" sz="2400" dirty="0"/>
                    </a:p>
                  </a:txBody>
                  <a:tcPr/>
                </a:tc>
                <a:tc>
                  <a:txBody>
                    <a:bodyPr/>
                    <a:lstStyle/>
                    <a:p>
                      <a:pPr algn="ctr"/>
                      <a:r>
                        <a:rPr lang="en-US" sz="2400" dirty="0"/>
                        <a:t>0</a:t>
                      </a:r>
                      <a:endParaRPr lang="en-US" sz="2400" b="1" dirty="0">
                        <a:solidFill>
                          <a:srgbClr val="FF0000"/>
                        </a:solidFill>
                      </a:endParaRPr>
                    </a:p>
                  </a:txBody>
                  <a:tcPr/>
                </a:tc>
                <a:tc>
                  <a:txBody>
                    <a:bodyPr/>
                    <a:lstStyle/>
                    <a:p>
                      <a:pPr algn="ctr"/>
                      <a:r>
                        <a:rPr lang="en-US" sz="2400" dirty="0"/>
                        <a:t>0</a:t>
                      </a:r>
                    </a:p>
                  </a:txBody>
                  <a:tcPr/>
                </a:tc>
                <a:tc>
                  <a:txBody>
                    <a:bodyPr/>
                    <a:lstStyle/>
                    <a:p>
                      <a:pPr algn="ctr"/>
                      <a:r>
                        <a:rPr lang="en-US" sz="2400" dirty="0"/>
                        <a:t>0</a:t>
                      </a:r>
                    </a:p>
                  </a:txBody>
                  <a:tcPr/>
                </a:tc>
                <a:extLst>
                  <a:ext uri="{0D108BD9-81ED-4DB2-BD59-A6C34878D82A}">
                    <a16:rowId xmlns:a16="http://schemas.microsoft.com/office/drawing/2014/main" val="3965709337"/>
                  </a:ext>
                </a:extLst>
              </a:tr>
            </a:tbl>
          </a:graphicData>
        </a:graphic>
      </p:graphicFrame>
      <p:sp>
        <p:nvSpPr>
          <p:cNvPr id="25" name="TextBox 24">
            <a:extLst>
              <a:ext uri="{FF2B5EF4-FFF2-40B4-BE49-F238E27FC236}">
                <a16:creationId xmlns:a16="http://schemas.microsoft.com/office/drawing/2014/main" id="{D3D96E2A-7817-B5A7-F6EF-F6F55F9FF69E}"/>
              </a:ext>
            </a:extLst>
          </p:cNvPr>
          <p:cNvSpPr txBox="1"/>
          <p:nvPr/>
        </p:nvSpPr>
        <p:spPr>
          <a:xfrm>
            <a:off x="1604432" y="2249269"/>
            <a:ext cx="5045287" cy="646331"/>
          </a:xfrm>
          <a:prstGeom prst="rect">
            <a:avLst/>
          </a:prstGeom>
          <a:noFill/>
        </p:spPr>
        <p:txBody>
          <a:bodyPr wrap="square" rtlCol="0">
            <a:spAutoFit/>
          </a:bodyPr>
          <a:lstStyle/>
          <a:p>
            <a:pPr algn="ctr"/>
            <a:r>
              <a:rPr lang="en-US" sz="3600" b="1" dirty="0"/>
              <a:t>DDRB Register</a:t>
            </a:r>
          </a:p>
        </p:txBody>
      </p:sp>
      <p:sp>
        <p:nvSpPr>
          <p:cNvPr id="26" name="TextBox 25">
            <a:extLst>
              <a:ext uri="{FF2B5EF4-FFF2-40B4-BE49-F238E27FC236}">
                <a16:creationId xmlns:a16="http://schemas.microsoft.com/office/drawing/2014/main" id="{2331B383-6C37-0A75-5005-C07EE0BC9953}"/>
              </a:ext>
            </a:extLst>
          </p:cNvPr>
          <p:cNvSpPr txBox="1"/>
          <p:nvPr/>
        </p:nvSpPr>
        <p:spPr>
          <a:xfrm>
            <a:off x="897466" y="4294665"/>
            <a:ext cx="3500120" cy="661720"/>
          </a:xfrm>
          <a:prstGeom prst="rect">
            <a:avLst/>
          </a:prstGeom>
          <a:noFill/>
        </p:spPr>
        <p:txBody>
          <a:bodyPr wrap="square" rtlCol="0">
            <a:spAutoFit/>
          </a:bodyPr>
          <a:lstStyle/>
          <a:p>
            <a:r>
              <a:rPr lang="en-US" sz="3600" dirty="0"/>
              <a:t>CBI DDRB, 5;</a:t>
            </a:r>
          </a:p>
        </p:txBody>
      </p:sp>
      <p:graphicFrame>
        <p:nvGraphicFramePr>
          <p:cNvPr id="37" name="Table 6">
            <a:extLst>
              <a:ext uri="{FF2B5EF4-FFF2-40B4-BE49-F238E27FC236}">
                <a16:creationId xmlns:a16="http://schemas.microsoft.com/office/drawing/2014/main" id="{1056FCF6-A927-004A-36DD-A6737256ACD3}"/>
              </a:ext>
            </a:extLst>
          </p:cNvPr>
          <p:cNvGraphicFramePr>
            <a:graphicFrameLocks noGrp="1"/>
          </p:cNvGraphicFramePr>
          <p:nvPr>
            <p:extLst>
              <p:ext uri="{D42A27DB-BD31-4B8C-83A1-F6EECF244321}">
                <p14:modId xmlns:p14="http://schemas.microsoft.com/office/powerpoint/2010/main" val="4098384191"/>
              </p:ext>
            </p:extLst>
          </p:nvPr>
        </p:nvGraphicFramePr>
        <p:xfrm>
          <a:off x="909320" y="5638800"/>
          <a:ext cx="6593840" cy="949960"/>
        </p:xfrm>
        <a:graphic>
          <a:graphicData uri="http://schemas.openxmlformats.org/drawingml/2006/table">
            <a:tbl>
              <a:tblPr firstRow="1" bandRow="1">
                <a:tableStyleId>{D7AC3CCA-C797-4891-BE02-D94E43425B78}</a:tableStyleId>
              </a:tblPr>
              <a:tblGrid>
                <a:gridCol w="824230">
                  <a:extLst>
                    <a:ext uri="{9D8B030D-6E8A-4147-A177-3AD203B41FA5}">
                      <a16:colId xmlns:a16="http://schemas.microsoft.com/office/drawing/2014/main" val="1787849861"/>
                    </a:ext>
                  </a:extLst>
                </a:gridCol>
                <a:gridCol w="824230">
                  <a:extLst>
                    <a:ext uri="{9D8B030D-6E8A-4147-A177-3AD203B41FA5}">
                      <a16:colId xmlns:a16="http://schemas.microsoft.com/office/drawing/2014/main" val="917799899"/>
                    </a:ext>
                  </a:extLst>
                </a:gridCol>
                <a:gridCol w="824230">
                  <a:extLst>
                    <a:ext uri="{9D8B030D-6E8A-4147-A177-3AD203B41FA5}">
                      <a16:colId xmlns:a16="http://schemas.microsoft.com/office/drawing/2014/main" val="1419689249"/>
                    </a:ext>
                  </a:extLst>
                </a:gridCol>
                <a:gridCol w="824230">
                  <a:extLst>
                    <a:ext uri="{9D8B030D-6E8A-4147-A177-3AD203B41FA5}">
                      <a16:colId xmlns:a16="http://schemas.microsoft.com/office/drawing/2014/main" val="1988398595"/>
                    </a:ext>
                  </a:extLst>
                </a:gridCol>
                <a:gridCol w="824230">
                  <a:extLst>
                    <a:ext uri="{9D8B030D-6E8A-4147-A177-3AD203B41FA5}">
                      <a16:colId xmlns:a16="http://schemas.microsoft.com/office/drawing/2014/main" val="535832957"/>
                    </a:ext>
                  </a:extLst>
                </a:gridCol>
                <a:gridCol w="824230">
                  <a:extLst>
                    <a:ext uri="{9D8B030D-6E8A-4147-A177-3AD203B41FA5}">
                      <a16:colId xmlns:a16="http://schemas.microsoft.com/office/drawing/2014/main" val="1675849524"/>
                    </a:ext>
                  </a:extLst>
                </a:gridCol>
                <a:gridCol w="824230">
                  <a:extLst>
                    <a:ext uri="{9D8B030D-6E8A-4147-A177-3AD203B41FA5}">
                      <a16:colId xmlns:a16="http://schemas.microsoft.com/office/drawing/2014/main" val="3294324509"/>
                    </a:ext>
                  </a:extLst>
                </a:gridCol>
                <a:gridCol w="824230">
                  <a:extLst>
                    <a:ext uri="{9D8B030D-6E8A-4147-A177-3AD203B41FA5}">
                      <a16:colId xmlns:a16="http://schemas.microsoft.com/office/drawing/2014/main" val="416964194"/>
                    </a:ext>
                  </a:extLst>
                </a:gridCol>
              </a:tblGrid>
              <a:tr h="492760">
                <a:tc>
                  <a:txBody>
                    <a:bodyPr/>
                    <a:lstStyle/>
                    <a:p>
                      <a:pPr algn="ctr"/>
                      <a:r>
                        <a:rPr lang="en-US" sz="2400" dirty="0"/>
                        <a:t>PB7</a:t>
                      </a:r>
                    </a:p>
                  </a:txBody>
                  <a:tcPr/>
                </a:tc>
                <a:tc>
                  <a:txBody>
                    <a:bodyPr/>
                    <a:lstStyle/>
                    <a:p>
                      <a:pPr algn="ctr"/>
                      <a:r>
                        <a:rPr lang="en-US" sz="2400" dirty="0"/>
                        <a:t>PB6</a:t>
                      </a:r>
                    </a:p>
                  </a:txBody>
                  <a:tcPr/>
                </a:tc>
                <a:tc>
                  <a:txBody>
                    <a:bodyPr/>
                    <a:lstStyle/>
                    <a:p>
                      <a:pPr algn="ctr"/>
                      <a:r>
                        <a:rPr lang="en-US" sz="2400" dirty="0"/>
                        <a:t>PB5</a:t>
                      </a:r>
                    </a:p>
                  </a:txBody>
                  <a:tcPr/>
                </a:tc>
                <a:tc>
                  <a:txBody>
                    <a:bodyPr/>
                    <a:lstStyle/>
                    <a:p>
                      <a:pPr algn="ctr"/>
                      <a:r>
                        <a:rPr lang="en-US" sz="2400" dirty="0"/>
                        <a:t>PB4</a:t>
                      </a:r>
                    </a:p>
                  </a:txBody>
                  <a:tcPr/>
                </a:tc>
                <a:tc>
                  <a:txBody>
                    <a:bodyPr/>
                    <a:lstStyle/>
                    <a:p>
                      <a:pPr algn="ctr"/>
                      <a:r>
                        <a:rPr lang="en-US" sz="2400" dirty="0"/>
                        <a:t>PB3</a:t>
                      </a:r>
                    </a:p>
                  </a:txBody>
                  <a:tcPr/>
                </a:tc>
                <a:tc>
                  <a:txBody>
                    <a:bodyPr/>
                    <a:lstStyle/>
                    <a:p>
                      <a:pPr algn="ctr"/>
                      <a:r>
                        <a:rPr lang="en-US" sz="2400" dirty="0"/>
                        <a:t>PB2</a:t>
                      </a:r>
                    </a:p>
                  </a:txBody>
                  <a:tcPr/>
                </a:tc>
                <a:tc>
                  <a:txBody>
                    <a:bodyPr/>
                    <a:lstStyle/>
                    <a:p>
                      <a:pPr algn="ctr"/>
                      <a:r>
                        <a:rPr lang="en-US" sz="2400" dirty="0"/>
                        <a:t>PB1</a:t>
                      </a:r>
                    </a:p>
                  </a:txBody>
                  <a:tcPr/>
                </a:tc>
                <a:tc>
                  <a:txBody>
                    <a:bodyPr/>
                    <a:lstStyle/>
                    <a:p>
                      <a:pPr algn="ctr"/>
                      <a:r>
                        <a:rPr lang="en-US" sz="2400" dirty="0"/>
                        <a:t>PB0</a:t>
                      </a:r>
                    </a:p>
                  </a:txBody>
                  <a:tcPr/>
                </a:tc>
                <a:extLst>
                  <a:ext uri="{0D108BD9-81ED-4DB2-BD59-A6C34878D82A}">
                    <a16:rowId xmlns:a16="http://schemas.microsoft.com/office/drawing/2014/main" val="2388973828"/>
                  </a:ext>
                </a:extLst>
              </a:tr>
              <a:tr h="346778">
                <a:tc>
                  <a:txBody>
                    <a:bodyPr/>
                    <a:lstStyle/>
                    <a:p>
                      <a:pPr algn="ctr"/>
                      <a:r>
                        <a:rPr lang="en-US" sz="2400" dirty="0"/>
                        <a:t>0</a:t>
                      </a:r>
                    </a:p>
                  </a:txBody>
                  <a:tcPr/>
                </a:tc>
                <a:tc>
                  <a:txBody>
                    <a:bodyPr/>
                    <a:lstStyle/>
                    <a:p>
                      <a:pPr algn="ctr"/>
                      <a:r>
                        <a:rPr lang="en-US" sz="2400" dirty="0"/>
                        <a:t>0</a:t>
                      </a:r>
                    </a:p>
                  </a:txBody>
                  <a:tcPr/>
                </a:tc>
                <a:tc>
                  <a:txBody>
                    <a:bodyPr/>
                    <a:lstStyle/>
                    <a:p>
                      <a:pPr algn="ctr"/>
                      <a:r>
                        <a:rPr lang="en-US" sz="2400" b="1" dirty="0">
                          <a:solidFill>
                            <a:srgbClr val="FF0000"/>
                          </a:solidFill>
                        </a:rPr>
                        <a:t>0</a:t>
                      </a:r>
                      <a:endParaRPr lang="en-US" sz="2400" dirty="0"/>
                    </a:p>
                  </a:txBody>
                  <a:tcPr/>
                </a:tc>
                <a:tc>
                  <a:txBody>
                    <a:bodyPr/>
                    <a:lstStyle/>
                    <a:p>
                      <a:pPr algn="ctr"/>
                      <a:r>
                        <a:rPr lang="en-US" sz="2400" dirty="0"/>
                        <a:t>0</a:t>
                      </a:r>
                      <a:endParaRPr lang="en-US" sz="2400" b="1" dirty="0">
                        <a:solidFill>
                          <a:srgbClr val="FF0000"/>
                        </a:solidFill>
                      </a:endParaRPr>
                    </a:p>
                  </a:txBody>
                  <a:tcPr/>
                </a:tc>
                <a:tc>
                  <a:txBody>
                    <a:bodyPr/>
                    <a:lstStyle/>
                    <a:p>
                      <a:pPr algn="ctr"/>
                      <a:r>
                        <a:rPr lang="en-US" sz="2400" dirty="0"/>
                        <a:t>0</a:t>
                      </a:r>
                    </a:p>
                  </a:txBody>
                  <a:tcP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2400" dirty="0"/>
                        <a:t>0</a:t>
                      </a:r>
                    </a:p>
                  </a:txBody>
                  <a:tcPr/>
                </a:tc>
                <a:tc>
                  <a:txBody>
                    <a:bodyPr/>
                    <a:lstStyle/>
                    <a:p>
                      <a:pPr algn="ctr"/>
                      <a:r>
                        <a:rPr lang="en-US" sz="2400" dirty="0"/>
                        <a:t>0</a:t>
                      </a:r>
                    </a:p>
                  </a:txBody>
                  <a:tcPr/>
                </a:tc>
                <a:tc>
                  <a:txBody>
                    <a:bodyPr/>
                    <a:lstStyle/>
                    <a:p>
                      <a:pPr algn="ctr"/>
                      <a:r>
                        <a:rPr lang="en-US" sz="2400" dirty="0"/>
                        <a:t>0</a:t>
                      </a:r>
                    </a:p>
                  </a:txBody>
                  <a:tcPr/>
                </a:tc>
                <a:extLst>
                  <a:ext uri="{0D108BD9-81ED-4DB2-BD59-A6C34878D82A}">
                    <a16:rowId xmlns:a16="http://schemas.microsoft.com/office/drawing/2014/main" val="3965709337"/>
                  </a:ext>
                </a:extLst>
              </a:tr>
            </a:tbl>
          </a:graphicData>
        </a:graphic>
      </p:graphicFrame>
      <p:sp>
        <p:nvSpPr>
          <p:cNvPr id="38" name="TextBox 37">
            <a:extLst>
              <a:ext uri="{FF2B5EF4-FFF2-40B4-BE49-F238E27FC236}">
                <a16:creationId xmlns:a16="http://schemas.microsoft.com/office/drawing/2014/main" id="{D3D96E2A-7817-B5A7-F6EF-F6F55F9FF69E}"/>
              </a:ext>
            </a:extLst>
          </p:cNvPr>
          <p:cNvSpPr txBox="1"/>
          <p:nvPr/>
        </p:nvSpPr>
        <p:spPr>
          <a:xfrm>
            <a:off x="909320" y="4916269"/>
            <a:ext cx="6593840" cy="646331"/>
          </a:xfrm>
          <a:prstGeom prst="rect">
            <a:avLst/>
          </a:prstGeom>
          <a:noFill/>
        </p:spPr>
        <p:txBody>
          <a:bodyPr wrap="square" rtlCol="0">
            <a:spAutoFit/>
          </a:bodyPr>
          <a:lstStyle/>
          <a:p>
            <a:pPr algn="ctr"/>
            <a:r>
              <a:rPr lang="en-US" sz="3600" b="1" dirty="0"/>
              <a:t>DDRB Register</a:t>
            </a:r>
          </a:p>
        </p:txBody>
      </p:sp>
      <p:pic>
        <p:nvPicPr>
          <p:cNvPr id="3" name="Picture 4" descr="Arduino et Timer [Wiki]">
            <a:extLst>
              <a:ext uri="{FF2B5EF4-FFF2-40B4-BE49-F238E27FC236}">
                <a16:creationId xmlns:a16="http://schemas.microsoft.com/office/drawing/2014/main" id="{D857BE2B-207E-A0DD-A925-26F2825154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02" t="2864" b="2508"/>
          <a:stretch/>
        </p:blipFill>
        <p:spPr bwMode="auto">
          <a:xfrm>
            <a:off x="8619366" y="1981200"/>
            <a:ext cx="6235402" cy="5421087"/>
          </a:xfrm>
          <a:prstGeom prst="rect">
            <a:avLst/>
          </a:prstGeom>
          <a:noFill/>
          <a:extLst>
            <a:ext uri="{909E8E84-426E-40DD-AFC4-6F175D3DCCD1}">
              <a14:hiddenFill xmlns:a14="http://schemas.microsoft.com/office/drawing/2010/main">
                <a:solidFill>
                  <a:srgbClr val="FFFFFF"/>
                </a:solidFill>
              </a14:hiddenFill>
            </a:ext>
          </a:extLst>
        </p:spPr>
      </p:pic>
      <p:sp>
        <p:nvSpPr>
          <p:cNvPr id="4" name="Right Brace 3">
            <a:extLst>
              <a:ext uri="{FF2B5EF4-FFF2-40B4-BE49-F238E27FC236}">
                <a16:creationId xmlns:a16="http://schemas.microsoft.com/office/drawing/2014/main" id="{63C7C2FB-7E6B-EF1E-4BEE-88A730B3E8EB}"/>
              </a:ext>
            </a:extLst>
          </p:cNvPr>
          <p:cNvSpPr/>
          <p:nvPr/>
        </p:nvSpPr>
        <p:spPr>
          <a:xfrm>
            <a:off x="11961938" y="4529066"/>
            <a:ext cx="297712" cy="1052623"/>
          </a:xfrm>
          <a:prstGeom prst="rightBrace">
            <a:avLst>
              <a:gd name="adj1" fmla="val 51190"/>
              <a:gd name="adj2"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extBox 4">
            <a:extLst>
              <a:ext uri="{FF2B5EF4-FFF2-40B4-BE49-F238E27FC236}">
                <a16:creationId xmlns:a16="http://schemas.microsoft.com/office/drawing/2014/main" id="{A9E0BA3A-1017-9FA8-97CB-BD0C3FBE3B0F}"/>
              </a:ext>
            </a:extLst>
          </p:cNvPr>
          <p:cNvSpPr txBox="1"/>
          <p:nvPr/>
        </p:nvSpPr>
        <p:spPr>
          <a:xfrm>
            <a:off x="12105266" y="4396212"/>
            <a:ext cx="1238905" cy="461665"/>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PB5-0</a:t>
            </a:r>
          </a:p>
        </p:txBody>
      </p:sp>
      <p:sp>
        <p:nvSpPr>
          <p:cNvPr id="6" name="Right Brace 5">
            <a:extLst>
              <a:ext uri="{FF2B5EF4-FFF2-40B4-BE49-F238E27FC236}">
                <a16:creationId xmlns:a16="http://schemas.microsoft.com/office/drawing/2014/main" id="{01F58D9B-AECF-78A5-4074-31BFCAA360DA}"/>
              </a:ext>
            </a:extLst>
          </p:cNvPr>
          <p:cNvSpPr/>
          <p:nvPr/>
        </p:nvSpPr>
        <p:spPr>
          <a:xfrm>
            <a:off x="11961938" y="5773592"/>
            <a:ext cx="297712" cy="1360450"/>
          </a:xfrm>
          <a:prstGeom prst="rightBrace">
            <a:avLst>
              <a:gd name="adj1" fmla="val 51190"/>
              <a:gd name="adj2"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TextBox 6">
            <a:extLst>
              <a:ext uri="{FF2B5EF4-FFF2-40B4-BE49-F238E27FC236}">
                <a16:creationId xmlns:a16="http://schemas.microsoft.com/office/drawing/2014/main" id="{5F89574E-8CE8-4D94-146D-1C2B8A252947}"/>
              </a:ext>
            </a:extLst>
          </p:cNvPr>
          <p:cNvSpPr txBox="1"/>
          <p:nvPr/>
        </p:nvSpPr>
        <p:spPr>
          <a:xfrm>
            <a:off x="12105266" y="6622815"/>
            <a:ext cx="1366495" cy="461665"/>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PD7-0</a:t>
            </a:r>
          </a:p>
        </p:txBody>
      </p:sp>
    </p:spTree>
    <p:extLst>
      <p:ext uri="{BB962C8B-B14F-4D97-AF65-F5344CB8AC3E}">
        <p14:creationId xmlns:p14="http://schemas.microsoft.com/office/powerpoint/2010/main" val="2510588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1+#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1+#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1+#ppt_w/2"/>
                                          </p:val>
                                        </p:tav>
                                        <p:tav tm="100000">
                                          <p:val>
                                            <p:strVal val="#ppt_x"/>
                                          </p:val>
                                        </p:tav>
                                      </p:tavLst>
                                    </p:anim>
                                    <p:anim calcmode="lin" valueType="num">
                                      <p:cBhvr additive="base">
                                        <p:cTn id="2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5075" y="304800"/>
            <a:ext cx="13989050" cy="823912"/>
          </a:xfrm>
        </p:spPr>
        <p:txBody>
          <a:bodyPr/>
          <a:lstStyle/>
          <a:p>
            <a:r>
              <a:rPr lang="en-CA" dirty="0"/>
              <a:t>Instruction Set Summary</a:t>
            </a:r>
          </a:p>
        </p:txBody>
      </p:sp>
      <p:graphicFrame>
        <p:nvGraphicFramePr>
          <p:cNvPr id="3" name="Table 2"/>
          <p:cNvGraphicFramePr>
            <a:graphicFrameLocks noGrp="1"/>
          </p:cNvGraphicFramePr>
          <p:nvPr>
            <p:extLst/>
          </p:nvPr>
        </p:nvGraphicFramePr>
        <p:xfrm>
          <a:off x="304800" y="1600200"/>
          <a:ext cx="15925799" cy="5987026"/>
        </p:xfrm>
        <a:graphic>
          <a:graphicData uri="http://schemas.openxmlformats.org/drawingml/2006/table">
            <a:tbl>
              <a:tblPr firstRow="1" bandRow="1">
                <a:tableStyleId>{5C22544A-7EE6-4342-B048-85BDC9FD1C3A}</a:tableStyleId>
              </a:tblPr>
              <a:tblGrid>
                <a:gridCol w="1990725">
                  <a:extLst>
                    <a:ext uri="{9D8B030D-6E8A-4147-A177-3AD203B41FA5}">
                      <a16:colId xmlns:a16="http://schemas.microsoft.com/office/drawing/2014/main" val="1707375788"/>
                    </a:ext>
                  </a:extLst>
                </a:gridCol>
                <a:gridCol w="1895475">
                  <a:extLst>
                    <a:ext uri="{9D8B030D-6E8A-4147-A177-3AD203B41FA5}">
                      <a16:colId xmlns:a16="http://schemas.microsoft.com/office/drawing/2014/main" val="2938357721"/>
                    </a:ext>
                  </a:extLst>
                </a:gridCol>
                <a:gridCol w="5105400">
                  <a:extLst>
                    <a:ext uri="{9D8B030D-6E8A-4147-A177-3AD203B41FA5}">
                      <a16:colId xmlns:a16="http://schemas.microsoft.com/office/drawing/2014/main" val="3180324687"/>
                    </a:ext>
                  </a:extLst>
                </a:gridCol>
                <a:gridCol w="3581400">
                  <a:extLst>
                    <a:ext uri="{9D8B030D-6E8A-4147-A177-3AD203B41FA5}">
                      <a16:colId xmlns:a16="http://schemas.microsoft.com/office/drawing/2014/main" val="3344509786"/>
                    </a:ext>
                  </a:extLst>
                </a:gridCol>
                <a:gridCol w="2057400">
                  <a:extLst>
                    <a:ext uri="{9D8B030D-6E8A-4147-A177-3AD203B41FA5}">
                      <a16:colId xmlns:a16="http://schemas.microsoft.com/office/drawing/2014/main" val="224585883"/>
                    </a:ext>
                  </a:extLst>
                </a:gridCol>
                <a:gridCol w="1295399">
                  <a:extLst>
                    <a:ext uri="{9D8B030D-6E8A-4147-A177-3AD203B41FA5}">
                      <a16:colId xmlns:a16="http://schemas.microsoft.com/office/drawing/2014/main" val="344122607"/>
                    </a:ext>
                  </a:extLst>
                </a:gridCol>
              </a:tblGrid>
              <a:tr h="503620">
                <a:tc>
                  <a:txBody>
                    <a:bodyPr/>
                    <a:lstStyle/>
                    <a:p>
                      <a:pPr algn="ctr"/>
                      <a:r>
                        <a:rPr lang="en-CA" sz="2600" dirty="0"/>
                        <a:t>Mnemonic</a:t>
                      </a:r>
                    </a:p>
                  </a:txBody>
                  <a:tcPr marL="109728" marR="109728" marT="54864" marB="54864" anchor="ctr"/>
                </a:tc>
                <a:tc>
                  <a:txBody>
                    <a:bodyPr/>
                    <a:lstStyle/>
                    <a:p>
                      <a:pPr algn="ctr"/>
                      <a:r>
                        <a:rPr lang="en-CA" sz="2600" dirty="0"/>
                        <a:t>Operand</a:t>
                      </a:r>
                    </a:p>
                  </a:txBody>
                  <a:tcPr marL="109728" marR="109728" marT="54864" marB="54864" anchor="ctr"/>
                </a:tc>
                <a:tc>
                  <a:txBody>
                    <a:bodyPr/>
                    <a:lstStyle/>
                    <a:p>
                      <a:pPr algn="ctr"/>
                      <a:r>
                        <a:rPr lang="en-CA" sz="2600" dirty="0"/>
                        <a:t>Description</a:t>
                      </a:r>
                    </a:p>
                  </a:txBody>
                  <a:tcPr marL="109728" marR="109728" marT="54864" marB="54864" anchor="ctr"/>
                </a:tc>
                <a:tc>
                  <a:txBody>
                    <a:bodyPr/>
                    <a:lstStyle/>
                    <a:p>
                      <a:pPr algn="ctr"/>
                      <a:r>
                        <a:rPr lang="en-CA" sz="2600" dirty="0"/>
                        <a:t>Operations</a:t>
                      </a:r>
                    </a:p>
                  </a:txBody>
                  <a:tcPr marL="109728" marR="109728" marT="54864" marB="54864" anchor="ctr"/>
                </a:tc>
                <a:tc>
                  <a:txBody>
                    <a:bodyPr/>
                    <a:lstStyle/>
                    <a:p>
                      <a:pPr algn="ctr"/>
                      <a:r>
                        <a:rPr lang="en-CA" sz="2600" dirty="0"/>
                        <a:t>Flag</a:t>
                      </a:r>
                    </a:p>
                  </a:txBody>
                  <a:tcPr marL="109728" marR="109728" marT="54864" marB="54864" anchor="ctr"/>
                </a:tc>
                <a:tc>
                  <a:txBody>
                    <a:bodyPr/>
                    <a:lstStyle/>
                    <a:p>
                      <a:pPr algn="ctr"/>
                      <a:r>
                        <a:rPr lang="en-CA" sz="2600" dirty="0"/>
                        <a:t>Clock</a:t>
                      </a:r>
                    </a:p>
                  </a:txBody>
                  <a:tcPr marL="109728" marR="109728" marT="54864" marB="54864" anchor="ctr"/>
                </a:tc>
                <a:extLst>
                  <a:ext uri="{0D108BD9-81ED-4DB2-BD59-A6C34878D82A}">
                    <a16:rowId xmlns:a16="http://schemas.microsoft.com/office/drawing/2014/main" val="3103268653"/>
                  </a:ext>
                </a:extLst>
              </a:tr>
              <a:tr h="498278">
                <a:tc>
                  <a:txBody>
                    <a:bodyPr/>
                    <a:lstStyle/>
                    <a:p>
                      <a:pPr algn="ctr"/>
                      <a:r>
                        <a:rPr lang="en-CA" sz="2400" dirty="0">
                          <a:latin typeface="+mn-lt"/>
                        </a:rPr>
                        <a:t>ADD</a:t>
                      </a:r>
                    </a:p>
                  </a:txBody>
                  <a:tcPr marL="109728" marR="109728" marT="54864" marB="54864" anchor="ctr"/>
                </a:tc>
                <a:tc>
                  <a:txBody>
                    <a:bodyPr/>
                    <a:lstStyle/>
                    <a:p>
                      <a:pPr algn="ctr"/>
                      <a:r>
                        <a:rPr lang="en-CA" sz="2400" dirty="0">
                          <a:latin typeface="+mn-lt"/>
                        </a:rPr>
                        <a:t>Rd, Rr</a:t>
                      </a:r>
                    </a:p>
                  </a:txBody>
                  <a:tcPr marL="109728" marR="109728" marT="54864" marB="54864" anchor="ctr"/>
                </a:tc>
                <a:tc>
                  <a:txBody>
                    <a:bodyPr/>
                    <a:lstStyle/>
                    <a:p>
                      <a:pPr algn="ctr"/>
                      <a:r>
                        <a:rPr lang="en-CA" sz="2400" b="0" i="0" dirty="0">
                          <a:solidFill>
                            <a:srgbClr val="000000"/>
                          </a:solidFill>
                          <a:effectLst/>
                          <a:latin typeface="+mn-lt"/>
                        </a:rPr>
                        <a:t>Add two Registers</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Rr</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Z,C,N,V,H</a:t>
                      </a:r>
                      <a:endParaRPr lang="en-CA" sz="2400" dirty="0">
                        <a:effectLst/>
                        <a:latin typeface="+mn-lt"/>
                      </a:endParaRP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2421797610"/>
                  </a:ext>
                </a:extLst>
              </a:tr>
              <a:tr h="498278">
                <a:tc>
                  <a:txBody>
                    <a:bodyPr/>
                    <a:lstStyle/>
                    <a:p>
                      <a:pPr algn="ctr"/>
                      <a:r>
                        <a:rPr lang="en-CA" sz="2400" dirty="0">
                          <a:latin typeface="+mn-lt"/>
                        </a:rPr>
                        <a:t>ADC</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latin typeface="+mn-lt"/>
                        </a:rPr>
                        <a:t>Rd, Rr</a:t>
                      </a:r>
                    </a:p>
                  </a:txBody>
                  <a:tcPr marL="109728" marR="109728" marT="54864" marB="54864" anchor="ctr"/>
                </a:tc>
                <a:tc>
                  <a:txBody>
                    <a:bodyPr/>
                    <a:lstStyle/>
                    <a:p>
                      <a:pPr algn="ctr"/>
                      <a:r>
                        <a:rPr lang="en-CA" sz="2400" b="0" i="0" dirty="0">
                          <a:solidFill>
                            <a:srgbClr val="000000"/>
                          </a:solidFill>
                          <a:effectLst/>
                          <a:latin typeface="+mn-lt"/>
                        </a:rPr>
                        <a:t>Add with Carry two Registers</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Rr + C</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Z,C,N,V,H</a:t>
                      </a:r>
                      <a:endParaRPr lang="en-CA" sz="2400" dirty="0">
                        <a:effectLst/>
                        <a:latin typeface="+mn-lt"/>
                      </a:endParaRP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2976972884"/>
                  </a:ext>
                </a:extLst>
              </a:tr>
              <a:tr h="498278">
                <a:tc>
                  <a:txBody>
                    <a:bodyPr/>
                    <a:lstStyle/>
                    <a:p>
                      <a:pPr algn="ctr"/>
                      <a:r>
                        <a:rPr lang="en-CA" sz="2400" dirty="0">
                          <a:latin typeface="+mn-lt"/>
                        </a:rPr>
                        <a:t>ADIW</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err="1">
                          <a:latin typeface="+mn-lt"/>
                        </a:rPr>
                        <a:t>Rdl</a:t>
                      </a:r>
                      <a:r>
                        <a:rPr lang="en-CA" sz="2400" dirty="0">
                          <a:latin typeface="+mn-lt"/>
                        </a:rPr>
                        <a:t>, K</a:t>
                      </a:r>
                    </a:p>
                  </a:txBody>
                  <a:tcPr marL="109728" marR="109728" marT="54864" marB="54864" anchor="ctr"/>
                </a:tc>
                <a:tc>
                  <a:txBody>
                    <a:bodyPr/>
                    <a:lstStyle/>
                    <a:p>
                      <a:pPr algn="ctr"/>
                      <a:r>
                        <a:rPr lang="en-CA" sz="2400" dirty="0">
                          <a:latin typeface="+mn-lt"/>
                        </a:rPr>
                        <a:t>Add Immediate to Word</a:t>
                      </a:r>
                      <a:endParaRPr lang="en-CA" sz="2400" dirty="0">
                        <a:effectLst/>
                        <a:latin typeface="+mn-lt"/>
                      </a:endParaRPr>
                    </a:p>
                  </a:txBody>
                  <a:tcPr marL="109728" marR="109728" marT="54864" marB="54864" anchor="ctr"/>
                </a:tc>
                <a:tc>
                  <a:txBody>
                    <a:bodyPr/>
                    <a:lstStyle/>
                    <a:p>
                      <a:pPr algn="ctr"/>
                      <a:r>
                        <a:rPr lang="en-CA" sz="2400" dirty="0" err="1">
                          <a:latin typeface="+mn-lt"/>
                        </a:rPr>
                        <a:t>Rdh:Rdl</a:t>
                      </a:r>
                      <a:r>
                        <a:rPr lang="en-CA" sz="2400" dirty="0">
                          <a:latin typeface="+mn-lt"/>
                        </a:rPr>
                        <a:t> ← </a:t>
                      </a:r>
                      <a:r>
                        <a:rPr lang="en-CA" sz="2400" dirty="0" err="1">
                          <a:latin typeface="+mn-lt"/>
                        </a:rPr>
                        <a:t>Rdh:Rdl</a:t>
                      </a:r>
                      <a:r>
                        <a:rPr lang="en-CA" sz="2400" dirty="0">
                          <a:latin typeface="+mn-lt"/>
                        </a:rPr>
                        <a:t> + K</a:t>
                      </a:r>
                      <a:endParaRPr lang="en-CA" sz="2400" dirty="0">
                        <a:effectLst/>
                        <a:latin typeface="+mn-lt"/>
                      </a:endParaRPr>
                    </a:p>
                  </a:txBody>
                  <a:tcPr marL="109728" marR="109728" marT="54864" marB="54864"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CA" sz="2400" dirty="0">
                          <a:latin typeface="+mn-lt"/>
                        </a:rPr>
                        <a:t>Z,C,N,V,S</a:t>
                      </a:r>
                    </a:p>
                  </a:txBody>
                  <a:tcPr marL="109728" marR="109728" marT="54864" marB="54864" anchor="ctr"/>
                </a:tc>
                <a:tc>
                  <a:txBody>
                    <a:bodyPr/>
                    <a:lstStyle/>
                    <a:p>
                      <a:pPr algn="ctr"/>
                      <a:r>
                        <a:rPr lang="en-CA" sz="2400" dirty="0">
                          <a:latin typeface="+mn-lt"/>
                        </a:rPr>
                        <a:t>2</a:t>
                      </a:r>
                    </a:p>
                  </a:txBody>
                  <a:tcPr marL="109728" marR="109728" marT="54864" marB="54864" anchor="ctr"/>
                </a:tc>
                <a:extLst>
                  <a:ext uri="{0D108BD9-81ED-4DB2-BD59-A6C34878D82A}">
                    <a16:rowId xmlns:a16="http://schemas.microsoft.com/office/drawing/2014/main" val="3250387476"/>
                  </a:ext>
                </a:extLst>
              </a:tr>
              <a:tr h="498278">
                <a:tc>
                  <a:txBody>
                    <a:bodyPr/>
                    <a:lstStyle/>
                    <a:p>
                      <a:pPr algn="ctr"/>
                      <a:r>
                        <a:rPr lang="en-CA" sz="2400" dirty="0">
                          <a:latin typeface="+mn-lt"/>
                        </a:rPr>
                        <a:t>SUB</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latin typeface="+mn-lt"/>
                        </a:rPr>
                        <a:t>Rd, Rr</a:t>
                      </a:r>
                    </a:p>
                  </a:txBody>
                  <a:tcPr marL="109728" marR="109728" marT="54864" marB="54864" anchor="ctr"/>
                </a:tc>
                <a:tc>
                  <a:txBody>
                    <a:bodyPr/>
                    <a:lstStyle/>
                    <a:p>
                      <a:pPr algn="ctr"/>
                      <a:r>
                        <a:rPr lang="en-CA" sz="2400" b="0" i="0" dirty="0">
                          <a:solidFill>
                            <a:srgbClr val="000000"/>
                          </a:solidFill>
                          <a:effectLst/>
                          <a:latin typeface="+mn-lt"/>
                        </a:rPr>
                        <a:t>Subtract two Registers</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Rr</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Z,C,N,V,H</a:t>
                      </a:r>
                      <a:endParaRPr lang="en-CA" sz="2400" dirty="0">
                        <a:effectLst/>
                        <a:latin typeface="+mn-lt"/>
                      </a:endParaRP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4204261125"/>
                  </a:ext>
                </a:extLst>
              </a:tr>
              <a:tr h="498278">
                <a:tc>
                  <a:txBody>
                    <a:bodyPr/>
                    <a:lstStyle/>
                    <a:p>
                      <a:pPr algn="ctr"/>
                      <a:r>
                        <a:rPr lang="en-US" sz="2400" dirty="0">
                          <a:effectLst/>
                          <a:latin typeface="+mn-lt"/>
                        </a:rPr>
                        <a:t>SBC</a:t>
                      </a:r>
                      <a:endParaRPr lang="en-CA" sz="2400" dirty="0">
                        <a:latin typeface="+mn-lt"/>
                      </a:endParaRP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effectLst/>
                          <a:latin typeface="+mn-lt"/>
                        </a:rPr>
                        <a:t>Rd, Rr</a:t>
                      </a:r>
                      <a:endParaRPr lang="en-CA" sz="2400" dirty="0">
                        <a:latin typeface="+mn-lt"/>
                      </a:endParaRPr>
                    </a:p>
                  </a:txBody>
                  <a:tcPr marL="109728" marR="109728" marT="54864" marB="54864" anchor="ctr"/>
                </a:tc>
                <a:tc>
                  <a:txBody>
                    <a:bodyPr/>
                    <a:lstStyle/>
                    <a:p>
                      <a:pPr algn="ctr"/>
                      <a:r>
                        <a:rPr lang="en-US" sz="2400" dirty="0">
                          <a:effectLst/>
                          <a:latin typeface="+mn-lt"/>
                        </a:rPr>
                        <a:t>Subtract two Registers with Carry</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Rr - C</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Z,C,N,V,H</a:t>
                      </a:r>
                      <a:endParaRPr lang="en-CA" sz="2400" dirty="0">
                        <a:effectLst/>
                        <a:latin typeface="+mn-lt"/>
                      </a:endParaRP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2590286508"/>
                  </a:ext>
                </a:extLst>
              </a:tr>
              <a:tr h="498278">
                <a:tc>
                  <a:txBody>
                    <a:bodyPr/>
                    <a:lstStyle/>
                    <a:p>
                      <a:pPr algn="ctr"/>
                      <a:r>
                        <a:rPr lang="en-CA" sz="2400" dirty="0">
                          <a:latin typeface="+mn-lt"/>
                        </a:rPr>
                        <a:t>SUBI</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latin typeface="+mn-lt"/>
                        </a:rPr>
                        <a:t>Rd, K</a:t>
                      </a:r>
                    </a:p>
                  </a:txBody>
                  <a:tcPr marL="109728" marR="109728" marT="54864" marB="54864" anchor="ctr"/>
                </a:tc>
                <a:tc>
                  <a:txBody>
                    <a:bodyPr/>
                    <a:lstStyle/>
                    <a:p>
                      <a:pPr algn="ctr"/>
                      <a:r>
                        <a:rPr lang="en-CA" sz="2400" b="0" i="0" dirty="0">
                          <a:solidFill>
                            <a:srgbClr val="000000"/>
                          </a:solidFill>
                          <a:effectLst/>
                          <a:latin typeface="+mn-lt"/>
                        </a:rPr>
                        <a:t>Subtract Constant from Register</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K</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Z,C,N,V,H</a:t>
                      </a:r>
                      <a:endParaRPr lang="en-CA" sz="2400" dirty="0">
                        <a:effectLst/>
                        <a:latin typeface="+mn-lt"/>
                      </a:endParaRP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3588263806"/>
                  </a:ext>
                </a:extLst>
              </a:tr>
              <a:tr h="498278">
                <a:tc>
                  <a:txBody>
                    <a:bodyPr/>
                    <a:lstStyle/>
                    <a:p>
                      <a:pPr algn="ctr"/>
                      <a:r>
                        <a:rPr lang="en-US" sz="2400" dirty="0">
                          <a:latin typeface="+mn-lt"/>
                        </a:rPr>
                        <a:t>SBIW</a:t>
                      </a:r>
                      <a:endParaRPr lang="en-CA" sz="2400" dirty="0">
                        <a:latin typeface="+mn-lt"/>
                      </a:endParaRP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err="1">
                          <a:latin typeface="+mn-lt"/>
                        </a:rPr>
                        <a:t>Rdl</a:t>
                      </a:r>
                      <a:r>
                        <a:rPr lang="en-US" sz="2400" dirty="0">
                          <a:latin typeface="+mn-lt"/>
                        </a:rPr>
                        <a:t>, K</a:t>
                      </a:r>
                      <a:endParaRPr lang="en-CA" sz="2400" dirty="0">
                        <a:latin typeface="+mn-lt"/>
                      </a:endParaRPr>
                    </a:p>
                  </a:txBody>
                  <a:tcPr marL="109728" marR="109728" marT="54864" marB="54864" anchor="ctr"/>
                </a:tc>
                <a:tc>
                  <a:txBody>
                    <a:bodyPr/>
                    <a:lstStyle/>
                    <a:p>
                      <a:pPr algn="ctr"/>
                      <a:r>
                        <a:rPr lang="en-US" sz="2400" dirty="0">
                          <a:latin typeface="+mn-lt"/>
                        </a:rPr>
                        <a:t>Subtract Immediate from Word</a:t>
                      </a:r>
                      <a:endParaRPr lang="en-CA" sz="2400" dirty="0">
                        <a:effectLst/>
                        <a:latin typeface="+mn-lt"/>
                      </a:endParaRPr>
                    </a:p>
                  </a:txBody>
                  <a:tcPr marL="109728" marR="109728" marT="54864" marB="54864" anchor="ctr"/>
                </a:tc>
                <a:tc>
                  <a:txBody>
                    <a:bodyPr/>
                    <a:lstStyle/>
                    <a:p>
                      <a:pPr algn="ctr"/>
                      <a:r>
                        <a:rPr lang="en-CA" sz="2400" dirty="0" err="1">
                          <a:latin typeface="+mn-lt"/>
                        </a:rPr>
                        <a:t>Rdh:Rdl</a:t>
                      </a:r>
                      <a:r>
                        <a:rPr lang="en-CA" sz="2400" dirty="0">
                          <a:latin typeface="+mn-lt"/>
                        </a:rPr>
                        <a:t> ← </a:t>
                      </a:r>
                      <a:r>
                        <a:rPr lang="en-CA" sz="2400" dirty="0" err="1">
                          <a:latin typeface="+mn-lt"/>
                        </a:rPr>
                        <a:t>Rdh:Rdl</a:t>
                      </a:r>
                      <a:r>
                        <a:rPr lang="en-CA" sz="2400" dirty="0">
                          <a:latin typeface="+mn-lt"/>
                        </a:rPr>
                        <a:t> - K</a:t>
                      </a:r>
                      <a:endParaRPr lang="en-CA" sz="2400" dirty="0">
                        <a:effectLst/>
                        <a:latin typeface="+mn-lt"/>
                      </a:endParaRPr>
                    </a:p>
                  </a:txBody>
                  <a:tcPr marL="109728" marR="109728" marT="54864" marB="54864"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CA" sz="2400" dirty="0">
                          <a:latin typeface="+mn-lt"/>
                        </a:rPr>
                        <a:t>Z,C,N,V,S</a:t>
                      </a:r>
                    </a:p>
                  </a:txBody>
                  <a:tcPr marL="109728" marR="109728" marT="54864" marB="54864" anchor="ctr"/>
                </a:tc>
                <a:tc>
                  <a:txBody>
                    <a:bodyPr/>
                    <a:lstStyle/>
                    <a:p>
                      <a:pPr algn="ctr"/>
                      <a:r>
                        <a:rPr lang="en-CA" sz="2400" dirty="0">
                          <a:latin typeface="+mn-lt"/>
                        </a:rPr>
                        <a:t>2</a:t>
                      </a:r>
                    </a:p>
                  </a:txBody>
                  <a:tcPr marL="109728" marR="109728" marT="54864" marB="54864" anchor="ctr"/>
                </a:tc>
                <a:extLst>
                  <a:ext uri="{0D108BD9-81ED-4DB2-BD59-A6C34878D82A}">
                    <a16:rowId xmlns:a16="http://schemas.microsoft.com/office/drawing/2014/main" val="191103944"/>
                  </a:ext>
                </a:extLst>
              </a:tr>
              <a:tr h="498278">
                <a:tc>
                  <a:txBody>
                    <a:bodyPr/>
                    <a:lstStyle/>
                    <a:p>
                      <a:pPr algn="ctr"/>
                      <a:r>
                        <a:rPr lang="en-CA" sz="2400" dirty="0">
                          <a:latin typeface="+mn-lt"/>
                        </a:rPr>
                        <a:t>MUL</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latin typeface="+mn-lt"/>
                        </a:rPr>
                        <a:t>Rd, Rr</a:t>
                      </a:r>
                    </a:p>
                  </a:txBody>
                  <a:tcPr marL="109728" marR="109728" marT="54864" marB="54864" anchor="ctr"/>
                </a:tc>
                <a:tc>
                  <a:txBody>
                    <a:bodyPr/>
                    <a:lstStyle/>
                    <a:p>
                      <a:pPr algn="ctr"/>
                      <a:r>
                        <a:rPr lang="en-CA" sz="2400" b="0" i="0" dirty="0">
                          <a:solidFill>
                            <a:srgbClr val="000000"/>
                          </a:solidFill>
                          <a:effectLst/>
                          <a:latin typeface="+mn-lt"/>
                        </a:rPr>
                        <a:t>Multiply Unsigned</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R1:R0 ← Rd x Rr</a:t>
                      </a:r>
                      <a:endParaRPr lang="en-CA" sz="2400" dirty="0">
                        <a:effectLst/>
                        <a:latin typeface="+mn-lt"/>
                      </a:endParaRPr>
                    </a:p>
                  </a:txBody>
                  <a:tcPr marL="109728" marR="109728" marT="54864" marB="54864" anchor="ctr"/>
                </a:tc>
                <a:tc>
                  <a:txBody>
                    <a:bodyPr/>
                    <a:lstStyle/>
                    <a:p>
                      <a:pPr algn="ctr"/>
                      <a:r>
                        <a:rPr lang="en-CA" sz="2400" dirty="0">
                          <a:latin typeface="+mn-lt"/>
                        </a:rPr>
                        <a:t>Z,C</a:t>
                      </a:r>
                    </a:p>
                  </a:txBody>
                  <a:tcPr marL="109728" marR="109728" marT="54864" marB="54864" anchor="ctr"/>
                </a:tc>
                <a:tc>
                  <a:txBody>
                    <a:bodyPr/>
                    <a:lstStyle/>
                    <a:p>
                      <a:pPr algn="ctr"/>
                      <a:r>
                        <a:rPr lang="en-CA" sz="2400" dirty="0">
                          <a:latin typeface="+mn-lt"/>
                        </a:rPr>
                        <a:t>2</a:t>
                      </a:r>
                    </a:p>
                  </a:txBody>
                  <a:tcPr marL="109728" marR="109728" marT="54864" marB="54864" anchor="ctr"/>
                </a:tc>
                <a:extLst>
                  <a:ext uri="{0D108BD9-81ED-4DB2-BD59-A6C34878D82A}">
                    <a16:rowId xmlns:a16="http://schemas.microsoft.com/office/drawing/2014/main" val="4249253573"/>
                  </a:ext>
                </a:extLst>
              </a:tr>
              <a:tr h="498278">
                <a:tc>
                  <a:txBody>
                    <a:bodyPr/>
                    <a:lstStyle/>
                    <a:p>
                      <a:pPr algn="ctr"/>
                      <a:r>
                        <a:rPr lang="en-CA" sz="2400" dirty="0">
                          <a:latin typeface="+mn-lt"/>
                        </a:rPr>
                        <a:t>MULS</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latin typeface="+mn-lt"/>
                        </a:rPr>
                        <a:t>Rd, Rr</a:t>
                      </a:r>
                    </a:p>
                  </a:txBody>
                  <a:tcPr marL="109728" marR="109728" marT="54864" marB="54864" anchor="ctr"/>
                </a:tc>
                <a:tc>
                  <a:txBody>
                    <a:bodyPr/>
                    <a:lstStyle/>
                    <a:p>
                      <a:pPr algn="ctr"/>
                      <a:r>
                        <a:rPr lang="en-CA" sz="2400" b="0" i="0" dirty="0">
                          <a:solidFill>
                            <a:srgbClr val="000000"/>
                          </a:solidFill>
                          <a:effectLst/>
                          <a:latin typeface="+mn-lt"/>
                        </a:rPr>
                        <a:t>Multiply Signed</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R1:R0 ← Rd x Rr</a:t>
                      </a:r>
                      <a:endParaRPr lang="en-CA" sz="2400" dirty="0">
                        <a:effectLst/>
                        <a:latin typeface="+mn-lt"/>
                      </a:endParaRPr>
                    </a:p>
                  </a:txBody>
                  <a:tcPr marL="109728" marR="109728" marT="54864" marB="54864" anchor="ctr"/>
                </a:tc>
                <a:tc>
                  <a:txBody>
                    <a:bodyPr/>
                    <a:lstStyle/>
                    <a:p>
                      <a:pPr algn="ctr"/>
                      <a:r>
                        <a:rPr lang="en-CA" sz="2400" dirty="0">
                          <a:latin typeface="+mn-lt"/>
                        </a:rPr>
                        <a:t>Z,C</a:t>
                      </a:r>
                    </a:p>
                  </a:txBody>
                  <a:tcPr marL="109728" marR="109728" marT="54864" marB="54864" anchor="ctr"/>
                </a:tc>
                <a:tc>
                  <a:txBody>
                    <a:bodyPr/>
                    <a:lstStyle/>
                    <a:p>
                      <a:pPr algn="ctr"/>
                      <a:r>
                        <a:rPr lang="en-CA" sz="2400" dirty="0">
                          <a:latin typeface="+mn-lt"/>
                        </a:rPr>
                        <a:t>2</a:t>
                      </a:r>
                    </a:p>
                  </a:txBody>
                  <a:tcPr marL="109728" marR="109728" marT="54864" marB="54864" anchor="ctr"/>
                </a:tc>
                <a:extLst>
                  <a:ext uri="{0D108BD9-81ED-4DB2-BD59-A6C34878D82A}">
                    <a16:rowId xmlns:a16="http://schemas.microsoft.com/office/drawing/2014/main" val="1638963104"/>
                  </a:ext>
                </a:extLst>
              </a:tr>
              <a:tr h="498278">
                <a:tc>
                  <a:txBody>
                    <a:bodyPr/>
                    <a:lstStyle/>
                    <a:p>
                      <a:pPr algn="ctr"/>
                      <a:r>
                        <a:rPr lang="en-CA" sz="2400" dirty="0">
                          <a:latin typeface="+mn-lt"/>
                        </a:rPr>
                        <a:t>INC</a:t>
                      </a:r>
                    </a:p>
                  </a:txBody>
                  <a:tcPr marL="109728" marR="109728" marT="54864" marB="54864" anchor="ctr"/>
                </a:tc>
                <a:tc>
                  <a:txBody>
                    <a:bodyPr/>
                    <a:lstStyle/>
                    <a:p>
                      <a:pPr algn="ctr"/>
                      <a:r>
                        <a:rPr lang="en-CA" sz="2400" dirty="0">
                          <a:latin typeface="+mn-lt"/>
                        </a:rPr>
                        <a:t>Rd</a:t>
                      </a:r>
                    </a:p>
                  </a:txBody>
                  <a:tcPr marL="109728" marR="109728" marT="54864" marB="54864" anchor="ctr"/>
                </a:tc>
                <a:tc>
                  <a:txBody>
                    <a:bodyPr/>
                    <a:lstStyle/>
                    <a:p>
                      <a:pPr algn="ctr"/>
                      <a:r>
                        <a:rPr lang="en-CA" sz="2400" b="0" i="0" dirty="0">
                          <a:solidFill>
                            <a:srgbClr val="000000"/>
                          </a:solidFill>
                          <a:effectLst/>
                          <a:latin typeface="+mn-lt"/>
                        </a:rPr>
                        <a:t>Increment</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+ 1</a:t>
                      </a:r>
                      <a:endParaRPr lang="en-CA" sz="2400" dirty="0">
                        <a:effectLst/>
                        <a:latin typeface="+mn-lt"/>
                      </a:endParaRPr>
                    </a:p>
                  </a:txBody>
                  <a:tcPr marL="109728" marR="109728" marT="54864" marB="54864" anchor="ctr"/>
                </a:tc>
                <a:tc>
                  <a:txBody>
                    <a:bodyPr/>
                    <a:lstStyle/>
                    <a:p>
                      <a:pPr algn="ctr"/>
                      <a:r>
                        <a:rPr lang="en-CA" sz="2400" dirty="0">
                          <a:latin typeface="+mn-lt"/>
                        </a:rPr>
                        <a:t>Z,N,V</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2437030486"/>
                  </a:ext>
                </a:extLst>
              </a:tr>
              <a:tr h="498278">
                <a:tc>
                  <a:txBody>
                    <a:bodyPr/>
                    <a:lstStyle/>
                    <a:p>
                      <a:pPr algn="ctr"/>
                      <a:r>
                        <a:rPr lang="en-CA" sz="2400" dirty="0">
                          <a:latin typeface="+mn-lt"/>
                        </a:rPr>
                        <a:t>DEC</a:t>
                      </a:r>
                    </a:p>
                  </a:txBody>
                  <a:tcPr marL="109728" marR="109728" marT="54864" marB="54864" anchor="ctr"/>
                </a:tc>
                <a:tc>
                  <a:txBody>
                    <a:bodyPr/>
                    <a:lstStyle/>
                    <a:p>
                      <a:pPr algn="ctr"/>
                      <a:r>
                        <a:rPr lang="en-CA" sz="2400" dirty="0">
                          <a:latin typeface="+mn-lt"/>
                        </a:rPr>
                        <a:t>Rd</a:t>
                      </a:r>
                    </a:p>
                  </a:txBody>
                  <a:tcPr marL="109728" marR="109728" marT="54864" marB="54864" anchor="ctr"/>
                </a:tc>
                <a:tc>
                  <a:txBody>
                    <a:bodyPr/>
                    <a:lstStyle/>
                    <a:p>
                      <a:pPr algn="ctr"/>
                      <a:r>
                        <a:rPr lang="en-CA" sz="2400" b="0" i="0" dirty="0">
                          <a:solidFill>
                            <a:srgbClr val="000000"/>
                          </a:solidFill>
                          <a:effectLst/>
                          <a:latin typeface="+mn-lt"/>
                        </a:rPr>
                        <a:t>Decrement</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- 1</a:t>
                      </a:r>
                      <a:endParaRPr lang="en-CA" sz="2400" dirty="0">
                        <a:effectLst/>
                        <a:latin typeface="+mn-lt"/>
                      </a:endParaRPr>
                    </a:p>
                  </a:txBody>
                  <a:tcPr marL="109728" marR="109728" marT="54864" marB="54864" anchor="ctr"/>
                </a:tc>
                <a:tc>
                  <a:txBody>
                    <a:bodyPr/>
                    <a:lstStyle/>
                    <a:p>
                      <a:pPr algn="ctr"/>
                      <a:r>
                        <a:rPr lang="en-CA" sz="2400" dirty="0">
                          <a:latin typeface="+mn-lt"/>
                        </a:rPr>
                        <a:t>Z,N,V</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2779742173"/>
                  </a:ext>
                </a:extLst>
              </a:tr>
            </a:tbl>
          </a:graphicData>
        </a:graphic>
      </p:graphicFrame>
      <p:sp>
        <p:nvSpPr>
          <p:cNvPr id="4" name="TextBox 3">
            <a:extLst>
              <a:ext uri="{FF2B5EF4-FFF2-40B4-BE49-F238E27FC236}">
                <a16:creationId xmlns:a16="http://schemas.microsoft.com/office/drawing/2014/main" id="{C65F7A71-2B38-8B4E-0852-2CDE590CE07C}"/>
              </a:ext>
            </a:extLst>
          </p:cNvPr>
          <p:cNvSpPr txBox="1"/>
          <p:nvPr/>
        </p:nvSpPr>
        <p:spPr>
          <a:xfrm>
            <a:off x="276725" y="986135"/>
            <a:ext cx="15953873" cy="523220"/>
          </a:xfrm>
          <a:prstGeom prst="rect">
            <a:avLst/>
          </a:prstGeom>
          <a:noFill/>
        </p:spPr>
        <p:txBody>
          <a:bodyPr wrap="square" rtlCol="0">
            <a:spAutoFit/>
          </a:bodyPr>
          <a:lstStyle/>
          <a:p>
            <a:pPr algn="ctr"/>
            <a:r>
              <a:rPr lang="en-US" sz="2800" dirty="0">
                <a:solidFill>
                  <a:srgbClr val="00B050"/>
                </a:solidFill>
              </a:rPr>
              <a:t>Arithmetic Instruction Set</a:t>
            </a:r>
          </a:p>
        </p:txBody>
      </p:sp>
    </p:spTree>
    <p:extLst>
      <p:ext uri="{BB962C8B-B14F-4D97-AF65-F5344CB8AC3E}">
        <p14:creationId xmlns:p14="http://schemas.microsoft.com/office/powerpoint/2010/main" val="1720940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42314-586B-3BD6-3375-8CDD776134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94C9F-0A28-D669-4C07-116C9A39D5E8}"/>
              </a:ext>
            </a:extLst>
          </p:cNvPr>
          <p:cNvSpPr>
            <a:spLocks noGrp="1"/>
          </p:cNvSpPr>
          <p:nvPr>
            <p:ph type="title"/>
          </p:nvPr>
        </p:nvSpPr>
        <p:spPr>
          <a:xfrm>
            <a:off x="1235075" y="457200"/>
            <a:ext cx="13989050" cy="823912"/>
          </a:xfrm>
        </p:spPr>
        <p:txBody>
          <a:bodyPr/>
          <a:lstStyle/>
          <a:p>
            <a:r>
              <a:rPr lang="en-CA" dirty="0"/>
              <a:t>Instruction Set Summary</a:t>
            </a:r>
          </a:p>
        </p:txBody>
      </p:sp>
      <p:graphicFrame>
        <p:nvGraphicFramePr>
          <p:cNvPr id="3" name="Table 2">
            <a:extLst>
              <a:ext uri="{FF2B5EF4-FFF2-40B4-BE49-F238E27FC236}">
                <a16:creationId xmlns:a16="http://schemas.microsoft.com/office/drawing/2014/main" id="{5802E8CB-C48B-A46F-692B-7FFBBEFEF862}"/>
              </a:ext>
            </a:extLst>
          </p:cNvPr>
          <p:cNvGraphicFramePr>
            <a:graphicFrameLocks noGrp="1"/>
          </p:cNvGraphicFramePr>
          <p:nvPr>
            <p:extLst/>
          </p:nvPr>
        </p:nvGraphicFramePr>
        <p:xfrm>
          <a:off x="304800" y="2286000"/>
          <a:ext cx="15925799" cy="4990470"/>
        </p:xfrm>
        <a:graphic>
          <a:graphicData uri="http://schemas.openxmlformats.org/drawingml/2006/table">
            <a:tbl>
              <a:tblPr firstRow="1" bandRow="1">
                <a:tableStyleId>{5C22544A-7EE6-4342-B048-85BDC9FD1C3A}</a:tableStyleId>
              </a:tblPr>
              <a:tblGrid>
                <a:gridCol w="1990725">
                  <a:extLst>
                    <a:ext uri="{9D8B030D-6E8A-4147-A177-3AD203B41FA5}">
                      <a16:colId xmlns:a16="http://schemas.microsoft.com/office/drawing/2014/main" val="1707375788"/>
                    </a:ext>
                  </a:extLst>
                </a:gridCol>
                <a:gridCol w="2220424">
                  <a:extLst>
                    <a:ext uri="{9D8B030D-6E8A-4147-A177-3AD203B41FA5}">
                      <a16:colId xmlns:a16="http://schemas.microsoft.com/office/drawing/2014/main" val="2938357721"/>
                    </a:ext>
                  </a:extLst>
                </a:gridCol>
                <a:gridCol w="5024293">
                  <a:extLst>
                    <a:ext uri="{9D8B030D-6E8A-4147-A177-3AD203B41FA5}">
                      <a16:colId xmlns:a16="http://schemas.microsoft.com/office/drawing/2014/main" val="3180324687"/>
                    </a:ext>
                  </a:extLst>
                </a:gridCol>
                <a:gridCol w="3108958">
                  <a:extLst>
                    <a:ext uri="{9D8B030D-6E8A-4147-A177-3AD203B41FA5}">
                      <a16:colId xmlns:a16="http://schemas.microsoft.com/office/drawing/2014/main" val="3344509786"/>
                    </a:ext>
                  </a:extLst>
                </a:gridCol>
                <a:gridCol w="1981200">
                  <a:extLst>
                    <a:ext uri="{9D8B030D-6E8A-4147-A177-3AD203B41FA5}">
                      <a16:colId xmlns:a16="http://schemas.microsoft.com/office/drawing/2014/main" val="224585883"/>
                    </a:ext>
                  </a:extLst>
                </a:gridCol>
                <a:gridCol w="1600199">
                  <a:extLst>
                    <a:ext uri="{9D8B030D-6E8A-4147-A177-3AD203B41FA5}">
                      <a16:colId xmlns:a16="http://schemas.microsoft.com/office/drawing/2014/main" val="344122607"/>
                    </a:ext>
                  </a:extLst>
                </a:gridCol>
              </a:tblGrid>
              <a:tr h="503620">
                <a:tc>
                  <a:txBody>
                    <a:bodyPr/>
                    <a:lstStyle/>
                    <a:p>
                      <a:pPr algn="ctr"/>
                      <a:r>
                        <a:rPr lang="en-CA" sz="2600" dirty="0"/>
                        <a:t>Mnemonic</a:t>
                      </a:r>
                    </a:p>
                  </a:txBody>
                  <a:tcPr marL="109728" marR="109728" marT="54864" marB="54864" anchor="ctr"/>
                </a:tc>
                <a:tc>
                  <a:txBody>
                    <a:bodyPr/>
                    <a:lstStyle/>
                    <a:p>
                      <a:pPr algn="ctr"/>
                      <a:r>
                        <a:rPr lang="en-CA" sz="2600" dirty="0"/>
                        <a:t>Operand</a:t>
                      </a:r>
                    </a:p>
                  </a:txBody>
                  <a:tcPr marL="109728" marR="109728" marT="54864" marB="54864" anchor="ctr"/>
                </a:tc>
                <a:tc>
                  <a:txBody>
                    <a:bodyPr/>
                    <a:lstStyle/>
                    <a:p>
                      <a:pPr algn="ctr"/>
                      <a:r>
                        <a:rPr lang="en-CA" sz="2600" dirty="0"/>
                        <a:t>Description</a:t>
                      </a:r>
                    </a:p>
                  </a:txBody>
                  <a:tcPr marL="109728" marR="109728" marT="54864" marB="54864" anchor="ctr"/>
                </a:tc>
                <a:tc>
                  <a:txBody>
                    <a:bodyPr/>
                    <a:lstStyle/>
                    <a:p>
                      <a:pPr algn="ctr"/>
                      <a:r>
                        <a:rPr lang="en-CA" sz="2600" dirty="0"/>
                        <a:t>Operations</a:t>
                      </a:r>
                    </a:p>
                  </a:txBody>
                  <a:tcPr marL="109728" marR="109728" marT="54864" marB="54864" anchor="ctr"/>
                </a:tc>
                <a:tc>
                  <a:txBody>
                    <a:bodyPr/>
                    <a:lstStyle/>
                    <a:p>
                      <a:pPr algn="ctr"/>
                      <a:r>
                        <a:rPr lang="en-CA" sz="2600" dirty="0"/>
                        <a:t>Flag</a:t>
                      </a:r>
                    </a:p>
                  </a:txBody>
                  <a:tcPr marL="109728" marR="109728" marT="54864" marB="54864" anchor="ctr"/>
                </a:tc>
                <a:tc>
                  <a:txBody>
                    <a:bodyPr/>
                    <a:lstStyle/>
                    <a:p>
                      <a:pPr algn="ctr"/>
                      <a:r>
                        <a:rPr lang="en-CA" sz="2600" dirty="0"/>
                        <a:t>Clock</a:t>
                      </a:r>
                    </a:p>
                  </a:txBody>
                  <a:tcPr marL="109728" marR="109728" marT="54864" marB="54864" anchor="ctr"/>
                </a:tc>
                <a:extLst>
                  <a:ext uri="{0D108BD9-81ED-4DB2-BD59-A6C34878D82A}">
                    <a16:rowId xmlns:a16="http://schemas.microsoft.com/office/drawing/2014/main" val="3103268653"/>
                  </a:ext>
                </a:extLst>
              </a:tr>
              <a:tr h="498278">
                <a:tc>
                  <a:txBody>
                    <a:bodyPr/>
                    <a:lstStyle/>
                    <a:p>
                      <a:pPr algn="ctr"/>
                      <a:r>
                        <a:rPr lang="en-CA" sz="2400" dirty="0">
                          <a:latin typeface="+mn-lt"/>
                        </a:rPr>
                        <a:t>AND</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latin typeface="+mn-lt"/>
                        </a:rPr>
                        <a:t>Rd, Rr</a:t>
                      </a:r>
                    </a:p>
                  </a:txBody>
                  <a:tcPr marL="109728" marR="109728" marT="54864" marB="54864" anchor="ctr"/>
                </a:tc>
                <a:tc>
                  <a:txBody>
                    <a:bodyPr/>
                    <a:lstStyle/>
                    <a:p>
                      <a:pPr algn="ctr"/>
                      <a:r>
                        <a:rPr lang="en-CA" sz="2400" b="0" i="0" dirty="0">
                          <a:solidFill>
                            <a:srgbClr val="000000"/>
                          </a:solidFill>
                          <a:effectLst/>
                          <a:latin typeface="+mn-lt"/>
                        </a:rPr>
                        <a:t>Logical AND Registers</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Rr</a:t>
                      </a:r>
                      <a:endParaRPr lang="en-CA" sz="2400" dirty="0">
                        <a:effectLst/>
                        <a:latin typeface="+mn-lt"/>
                      </a:endParaRPr>
                    </a:p>
                  </a:txBody>
                  <a:tcPr marL="109728" marR="109728" marT="54864" marB="54864" anchor="ctr"/>
                </a:tc>
                <a:tc>
                  <a:txBody>
                    <a:bodyPr/>
                    <a:lstStyle/>
                    <a:p>
                      <a:pPr algn="ctr"/>
                      <a:r>
                        <a:rPr lang="en-CA" sz="2400" dirty="0">
                          <a:latin typeface="+mn-lt"/>
                        </a:rPr>
                        <a:t>Z,N,V</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2421797610"/>
                  </a:ext>
                </a:extLst>
              </a:tr>
              <a:tr h="498278">
                <a:tc>
                  <a:txBody>
                    <a:bodyPr/>
                    <a:lstStyle/>
                    <a:p>
                      <a:pPr algn="ctr"/>
                      <a:r>
                        <a:rPr lang="en-CA" sz="2400" dirty="0">
                          <a:latin typeface="+mn-lt"/>
                        </a:rPr>
                        <a:t>ANDI</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latin typeface="+mn-lt"/>
                        </a:rPr>
                        <a:t>Rd, K</a:t>
                      </a:r>
                    </a:p>
                  </a:txBody>
                  <a:tcPr marL="109728" marR="109728" marT="54864" marB="54864" anchor="ctr"/>
                </a:tc>
                <a:tc>
                  <a:txBody>
                    <a:bodyPr/>
                    <a:lstStyle/>
                    <a:p>
                      <a:pPr algn="ctr"/>
                      <a:r>
                        <a:rPr lang="en-CA" sz="2400" b="0" i="0" dirty="0">
                          <a:solidFill>
                            <a:srgbClr val="000000"/>
                          </a:solidFill>
                          <a:effectLst/>
                          <a:latin typeface="+mn-lt"/>
                        </a:rPr>
                        <a:t>Logical AND Register and Constant</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K</a:t>
                      </a:r>
                      <a:endParaRPr lang="en-CA" sz="2400" dirty="0">
                        <a:effectLst/>
                        <a:latin typeface="+mn-lt"/>
                      </a:endParaRPr>
                    </a:p>
                  </a:txBody>
                  <a:tcPr marL="109728" marR="109728" marT="54864" marB="54864" anchor="ctr"/>
                </a:tc>
                <a:tc>
                  <a:txBody>
                    <a:bodyPr/>
                    <a:lstStyle/>
                    <a:p>
                      <a:pPr algn="ctr"/>
                      <a:r>
                        <a:rPr lang="en-CA" sz="2400" dirty="0">
                          <a:latin typeface="+mn-lt"/>
                        </a:rPr>
                        <a:t>Z,N,V</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2976972884"/>
                  </a:ext>
                </a:extLst>
              </a:tr>
              <a:tr h="498278">
                <a:tc>
                  <a:txBody>
                    <a:bodyPr/>
                    <a:lstStyle/>
                    <a:p>
                      <a:pPr algn="ctr"/>
                      <a:r>
                        <a:rPr lang="en-CA" sz="2400" dirty="0">
                          <a:latin typeface="+mn-lt"/>
                        </a:rPr>
                        <a:t>OR</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latin typeface="+mn-lt"/>
                        </a:rPr>
                        <a:t>Rd, Rr</a:t>
                      </a:r>
                    </a:p>
                  </a:txBody>
                  <a:tcPr marL="109728" marR="109728" marT="54864" marB="54864" anchor="ctr"/>
                </a:tc>
                <a:tc>
                  <a:txBody>
                    <a:bodyPr/>
                    <a:lstStyle/>
                    <a:p>
                      <a:pPr algn="ctr"/>
                      <a:r>
                        <a:rPr lang="en-CA" sz="2400" b="0" i="0" dirty="0">
                          <a:solidFill>
                            <a:srgbClr val="000000"/>
                          </a:solidFill>
                          <a:effectLst/>
                          <a:latin typeface="+mn-lt"/>
                        </a:rPr>
                        <a:t>Logical OR Registers</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V Rr</a:t>
                      </a:r>
                      <a:endParaRPr lang="en-CA" sz="2400" dirty="0">
                        <a:effectLst/>
                        <a:latin typeface="+mn-lt"/>
                      </a:endParaRPr>
                    </a:p>
                  </a:txBody>
                  <a:tcPr marL="109728" marR="109728" marT="54864" marB="54864" anchor="ctr"/>
                </a:tc>
                <a:tc>
                  <a:txBody>
                    <a:bodyPr/>
                    <a:lstStyle/>
                    <a:p>
                      <a:pPr algn="ctr"/>
                      <a:r>
                        <a:rPr lang="en-CA" sz="2400" dirty="0">
                          <a:latin typeface="+mn-lt"/>
                        </a:rPr>
                        <a:t>Z,N,V</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4204261125"/>
                  </a:ext>
                </a:extLst>
              </a:tr>
              <a:tr h="498278">
                <a:tc>
                  <a:txBody>
                    <a:bodyPr/>
                    <a:lstStyle/>
                    <a:p>
                      <a:pPr algn="ctr"/>
                      <a:r>
                        <a:rPr lang="en-CA" sz="2400" dirty="0">
                          <a:latin typeface="+mn-lt"/>
                        </a:rPr>
                        <a:t>ORI</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latin typeface="+mn-lt"/>
                        </a:rPr>
                        <a:t>Rd, K</a:t>
                      </a:r>
                    </a:p>
                  </a:txBody>
                  <a:tcPr marL="109728" marR="109728" marT="54864" marB="54864" anchor="ctr"/>
                </a:tc>
                <a:tc>
                  <a:txBody>
                    <a:bodyPr/>
                    <a:lstStyle/>
                    <a:p>
                      <a:pPr algn="ctr"/>
                      <a:r>
                        <a:rPr lang="en-CA" sz="2400" b="0" i="0" dirty="0">
                          <a:solidFill>
                            <a:srgbClr val="000000"/>
                          </a:solidFill>
                          <a:effectLst/>
                          <a:latin typeface="+mn-lt"/>
                        </a:rPr>
                        <a:t>Logical OR Register and Constant</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V K</a:t>
                      </a:r>
                      <a:endParaRPr lang="en-CA" sz="2400" dirty="0">
                        <a:effectLst/>
                        <a:latin typeface="+mn-lt"/>
                      </a:endParaRPr>
                    </a:p>
                  </a:txBody>
                  <a:tcPr marL="109728" marR="109728" marT="54864" marB="54864" anchor="ctr"/>
                </a:tc>
                <a:tc>
                  <a:txBody>
                    <a:bodyPr/>
                    <a:lstStyle/>
                    <a:p>
                      <a:pPr algn="ctr"/>
                      <a:r>
                        <a:rPr lang="en-CA" sz="2400" dirty="0">
                          <a:latin typeface="+mn-lt"/>
                        </a:rPr>
                        <a:t>Z,N,V</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3588263806"/>
                  </a:ext>
                </a:extLst>
              </a:tr>
              <a:tr h="498278">
                <a:tc>
                  <a:txBody>
                    <a:bodyPr/>
                    <a:lstStyle/>
                    <a:p>
                      <a:pPr algn="ctr"/>
                      <a:r>
                        <a:rPr lang="en-CA" sz="2400" dirty="0">
                          <a:latin typeface="+mn-lt"/>
                        </a:rPr>
                        <a:t>EOR</a:t>
                      </a:r>
                    </a:p>
                  </a:txBody>
                  <a:tcPr marL="109728" marR="109728" marT="54864" marB="5486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2400" dirty="0">
                          <a:latin typeface="+mn-lt"/>
                        </a:rPr>
                        <a:t>Rd, Rr</a:t>
                      </a:r>
                    </a:p>
                  </a:txBody>
                  <a:tcPr marL="109728" marR="109728" marT="54864" marB="54864" anchor="ctr"/>
                </a:tc>
                <a:tc>
                  <a:txBody>
                    <a:bodyPr/>
                    <a:lstStyle/>
                    <a:p>
                      <a:pPr algn="ctr"/>
                      <a:r>
                        <a:rPr lang="en-CA" sz="2400" b="0" i="0" dirty="0">
                          <a:solidFill>
                            <a:srgbClr val="000000"/>
                          </a:solidFill>
                          <a:effectLst/>
                          <a:latin typeface="+mn-lt"/>
                        </a:rPr>
                        <a:t>Logical Exclusive OR Registers</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Rr</a:t>
                      </a:r>
                      <a:endParaRPr lang="en-CA" sz="2400" dirty="0">
                        <a:effectLst/>
                        <a:latin typeface="+mn-lt"/>
                      </a:endParaRPr>
                    </a:p>
                  </a:txBody>
                  <a:tcPr marL="109728" marR="109728" marT="54864" marB="54864" anchor="ctr"/>
                </a:tc>
                <a:tc>
                  <a:txBody>
                    <a:bodyPr/>
                    <a:lstStyle/>
                    <a:p>
                      <a:pPr algn="ctr"/>
                      <a:r>
                        <a:rPr lang="en-CA" sz="2400" dirty="0">
                          <a:latin typeface="+mn-lt"/>
                        </a:rPr>
                        <a:t>Z,N,V</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4249253573"/>
                  </a:ext>
                </a:extLst>
              </a:tr>
              <a:tr h="498278">
                <a:tc>
                  <a:txBody>
                    <a:bodyPr/>
                    <a:lstStyle/>
                    <a:p>
                      <a:pPr algn="ctr"/>
                      <a:r>
                        <a:rPr lang="en-CA" sz="2400" dirty="0">
                          <a:latin typeface="+mn-lt"/>
                        </a:rPr>
                        <a:t>COM</a:t>
                      </a:r>
                    </a:p>
                  </a:txBody>
                  <a:tcPr marL="109728" marR="109728" marT="54864" marB="54864" anchor="ctr"/>
                </a:tc>
                <a:tc>
                  <a:txBody>
                    <a:bodyPr/>
                    <a:lstStyle/>
                    <a:p>
                      <a:pPr algn="ctr"/>
                      <a:r>
                        <a:rPr lang="en-CA" sz="2400" dirty="0">
                          <a:latin typeface="+mn-lt"/>
                        </a:rPr>
                        <a:t>Rd</a:t>
                      </a:r>
                    </a:p>
                  </a:txBody>
                  <a:tcPr marL="109728" marR="109728" marT="54864" marB="54864" anchor="ctr"/>
                </a:tc>
                <a:tc>
                  <a:txBody>
                    <a:bodyPr/>
                    <a:lstStyle/>
                    <a:p>
                      <a:pPr algn="ctr"/>
                      <a:r>
                        <a:rPr lang="en-CA" sz="2400" b="0" i="0" dirty="0">
                          <a:solidFill>
                            <a:srgbClr val="000000"/>
                          </a:solidFill>
                          <a:effectLst/>
                          <a:latin typeface="+mn-lt"/>
                        </a:rPr>
                        <a:t>One’s Complement</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0xFF - Rd</a:t>
                      </a:r>
                      <a:endParaRPr lang="en-CA" sz="2400" dirty="0">
                        <a:effectLst/>
                        <a:latin typeface="+mn-lt"/>
                      </a:endParaRPr>
                    </a:p>
                  </a:txBody>
                  <a:tcPr marL="109728" marR="109728" marT="54864" marB="54864" anchor="ctr"/>
                </a:tc>
                <a:tc>
                  <a:txBody>
                    <a:bodyPr/>
                    <a:lstStyle/>
                    <a:p>
                      <a:pPr algn="ctr"/>
                      <a:r>
                        <a:rPr lang="en-CA" sz="2400" dirty="0">
                          <a:latin typeface="+mn-lt"/>
                        </a:rPr>
                        <a:t>Z,C,N,V</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1973465308"/>
                  </a:ext>
                </a:extLst>
              </a:tr>
              <a:tr h="498278">
                <a:tc>
                  <a:txBody>
                    <a:bodyPr/>
                    <a:lstStyle/>
                    <a:p>
                      <a:pPr algn="ctr"/>
                      <a:r>
                        <a:rPr lang="en-CA" sz="2400" dirty="0">
                          <a:latin typeface="+mn-lt"/>
                        </a:rPr>
                        <a:t>NEG</a:t>
                      </a:r>
                    </a:p>
                  </a:txBody>
                  <a:tcPr marL="109728" marR="109728" marT="54864" marB="54864" anchor="ctr"/>
                </a:tc>
                <a:tc>
                  <a:txBody>
                    <a:bodyPr/>
                    <a:lstStyle/>
                    <a:p>
                      <a:pPr algn="ctr"/>
                      <a:r>
                        <a:rPr lang="en-CA" sz="2400" dirty="0">
                          <a:latin typeface="+mn-lt"/>
                        </a:rPr>
                        <a:t>Rd</a:t>
                      </a:r>
                    </a:p>
                  </a:txBody>
                  <a:tcPr marL="109728" marR="109728" marT="54864" marB="54864" anchor="ctr"/>
                </a:tc>
                <a:tc>
                  <a:txBody>
                    <a:bodyPr/>
                    <a:lstStyle/>
                    <a:p>
                      <a:pPr algn="ctr"/>
                      <a:r>
                        <a:rPr lang="en-CA" sz="2400" b="0" i="0" dirty="0">
                          <a:solidFill>
                            <a:srgbClr val="000000"/>
                          </a:solidFill>
                          <a:effectLst/>
                          <a:latin typeface="+mn-lt"/>
                        </a:rPr>
                        <a:t>Two’s Complement</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0x00 - Rd</a:t>
                      </a:r>
                      <a:endParaRPr lang="en-CA" sz="2400" dirty="0">
                        <a:effectLst/>
                        <a:latin typeface="+mn-lt"/>
                      </a:endParaRPr>
                    </a:p>
                  </a:txBody>
                  <a:tcPr marL="109728" marR="109728" marT="54864" marB="54864" anchor="ctr"/>
                </a:tc>
                <a:tc>
                  <a:txBody>
                    <a:bodyPr/>
                    <a:lstStyle/>
                    <a:p>
                      <a:pPr algn="ctr"/>
                      <a:r>
                        <a:rPr lang="en-CA" sz="2400" dirty="0">
                          <a:latin typeface="+mn-lt"/>
                        </a:rPr>
                        <a:t>Z,C,N,V,H</a:t>
                      </a: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1638963104"/>
                  </a:ext>
                </a:extLst>
              </a:tr>
              <a:tr h="498278">
                <a:tc>
                  <a:txBody>
                    <a:bodyPr/>
                    <a:lstStyle/>
                    <a:p>
                      <a:pPr algn="ctr"/>
                      <a:r>
                        <a:rPr lang="en-CA" sz="2400" b="0" i="0" dirty="0">
                          <a:solidFill>
                            <a:srgbClr val="000000"/>
                          </a:solidFill>
                          <a:effectLst/>
                          <a:latin typeface="+mn-lt"/>
                        </a:rPr>
                        <a:t>TST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Test for Zero or Minus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Rd </a:t>
                      </a:r>
                      <a:endParaRPr lang="en-CA" sz="2400" dirty="0">
                        <a:effectLst/>
                        <a:latin typeface="+mn-lt"/>
                      </a:endParaRPr>
                    </a:p>
                  </a:txBody>
                  <a:tcPr marL="109728" marR="109728" marT="54864" marB="54864" anchor="ctr"/>
                </a:tc>
                <a:tc>
                  <a:txBody>
                    <a:bodyPr/>
                    <a:lstStyle/>
                    <a:p>
                      <a:pPr algn="ctr"/>
                      <a:r>
                        <a:rPr lang="en-CA" sz="2400" b="0" i="0">
                          <a:solidFill>
                            <a:srgbClr val="000000"/>
                          </a:solidFill>
                          <a:effectLst/>
                          <a:latin typeface="+mn-lt"/>
                        </a:rPr>
                        <a:t>Z,N,V </a:t>
                      </a:r>
                      <a:endParaRPr lang="en-CA" sz="2400">
                        <a:effectLst/>
                        <a:latin typeface="+mn-lt"/>
                      </a:endParaRPr>
                    </a:p>
                  </a:txBody>
                  <a:tcPr marL="109728" marR="109728" marT="54864" marB="54864" anchor="ctr"/>
                </a:tc>
                <a:tc>
                  <a:txBody>
                    <a:bodyPr/>
                    <a:lstStyle/>
                    <a:p>
                      <a:pPr algn="ctr"/>
                      <a:r>
                        <a:rPr lang="en-CA" sz="2400" b="0" i="0">
                          <a:solidFill>
                            <a:srgbClr val="000000"/>
                          </a:solidFill>
                          <a:effectLst/>
                          <a:latin typeface="+mn-lt"/>
                        </a:rPr>
                        <a:t>1</a:t>
                      </a:r>
                      <a:endParaRPr lang="en-CA" sz="2400">
                        <a:effectLst/>
                        <a:latin typeface="+mn-lt"/>
                      </a:endParaRPr>
                    </a:p>
                  </a:txBody>
                  <a:tcPr marL="109728" marR="109728" marT="54864" marB="54864" anchor="ctr"/>
                </a:tc>
                <a:extLst>
                  <a:ext uri="{0D108BD9-81ED-4DB2-BD59-A6C34878D82A}">
                    <a16:rowId xmlns:a16="http://schemas.microsoft.com/office/drawing/2014/main" val="1514836496"/>
                  </a:ext>
                </a:extLst>
              </a:tr>
              <a:tr h="498278">
                <a:tc>
                  <a:txBody>
                    <a:bodyPr/>
                    <a:lstStyle/>
                    <a:p>
                      <a:pPr algn="ctr"/>
                      <a:r>
                        <a:rPr lang="en-CA" sz="2400" b="0" i="0">
                          <a:solidFill>
                            <a:srgbClr val="000000"/>
                          </a:solidFill>
                          <a:effectLst/>
                          <a:latin typeface="+mn-lt"/>
                        </a:rPr>
                        <a:t>CLR </a:t>
                      </a:r>
                      <a:endParaRPr lang="en-CA" sz="240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Clear Register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Rd ⊕ Rd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Z,N,V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1862294115"/>
                  </a:ext>
                </a:extLst>
              </a:tr>
            </a:tbl>
          </a:graphicData>
        </a:graphic>
      </p:graphicFrame>
      <p:sp>
        <p:nvSpPr>
          <p:cNvPr id="4" name="TextBox 3">
            <a:extLst>
              <a:ext uri="{FF2B5EF4-FFF2-40B4-BE49-F238E27FC236}">
                <a16:creationId xmlns:a16="http://schemas.microsoft.com/office/drawing/2014/main" id="{3C05323C-B4F7-D211-0347-A0EE46FF0307}"/>
              </a:ext>
            </a:extLst>
          </p:cNvPr>
          <p:cNvSpPr txBox="1"/>
          <p:nvPr/>
        </p:nvSpPr>
        <p:spPr>
          <a:xfrm>
            <a:off x="304800" y="1524000"/>
            <a:ext cx="9144000" cy="661720"/>
          </a:xfrm>
          <a:prstGeom prst="rect">
            <a:avLst/>
          </a:prstGeom>
          <a:noFill/>
        </p:spPr>
        <p:txBody>
          <a:bodyPr wrap="square" rtlCol="0">
            <a:spAutoFit/>
          </a:bodyPr>
          <a:lstStyle/>
          <a:p>
            <a:r>
              <a:rPr lang="en-US" sz="3600" dirty="0">
                <a:solidFill>
                  <a:srgbClr val="00B050"/>
                </a:solidFill>
              </a:rPr>
              <a:t>Logical Instruction Set</a:t>
            </a:r>
          </a:p>
        </p:txBody>
      </p:sp>
    </p:spTree>
    <p:extLst>
      <p:ext uri="{BB962C8B-B14F-4D97-AF65-F5344CB8AC3E}">
        <p14:creationId xmlns:p14="http://schemas.microsoft.com/office/powerpoint/2010/main" val="2123055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1136" y="381000"/>
            <a:ext cx="12070080" cy="838200"/>
          </a:xfrm>
        </p:spPr>
        <p:txBody>
          <a:bodyPr/>
          <a:lstStyle/>
          <a:p>
            <a:r>
              <a:rPr lang="en-CA" dirty="0"/>
              <a:t>Instruction Set Summary</a:t>
            </a:r>
          </a:p>
        </p:txBody>
      </p:sp>
      <p:graphicFrame>
        <p:nvGraphicFramePr>
          <p:cNvPr id="3" name="Table 2"/>
          <p:cNvGraphicFramePr>
            <a:graphicFrameLocks noGrp="1"/>
          </p:cNvGraphicFramePr>
          <p:nvPr>
            <p:extLst/>
          </p:nvPr>
        </p:nvGraphicFramePr>
        <p:xfrm>
          <a:off x="381001" y="2243702"/>
          <a:ext cx="15773399" cy="4461898"/>
        </p:xfrm>
        <a:graphic>
          <a:graphicData uri="http://schemas.openxmlformats.org/drawingml/2006/table">
            <a:tbl>
              <a:tblPr firstRow="1" bandRow="1">
                <a:tableStyleId>{5C22544A-7EE6-4342-B048-85BDC9FD1C3A}</a:tableStyleId>
              </a:tblPr>
              <a:tblGrid>
                <a:gridCol w="2154416">
                  <a:extLst>
                    <a:ext uri="{9D8B030D-6E8A-4147-A177-3AD203B41FA5}">
                      <a16:colId xmlns:a16="http://schemas.microsoft.com/office/drawing/2014/main" val="1707375788"/>
                    </a:ext>
                  </a:extLst>
                </a:gridCol>
                <a:gridCol w="1769699">
                  <a:extLst>
                    <a:ext uri="{9D8B030D-6E8A-4147-A177-3AD203B41FA5}">
                      <a16:colId xmlns:a16="http://schemas.microsoft.com/office/drawing/2014/main" val="2938357721"/>
                    </a:ext>
                  </a:extLst>
                </a:gridCol>
                <a:gridCol w="5616869">
                  <a:extLst>
                    <a:ext uri="{9D8B030D-6E8A-4147-A177-3AD203B41FA5}">
                      <a16:colId xmlns:a16="http://schemas.microsoft.com/office/drawing/2014/main" val="3180324687"/>
                    </a:ext>
                  </a:extLst>
                </a:gridCol>
                <a:gridCol w="3539397">
                  <a:extLst>
                    <a:ext uri="{9D8B030D-6E8A-4147-A177-3AD203B41FA5}">
                      <a16:colId xmlns:a16="http://schemas.microsoft.com/office/drawing/2014/main" val="3344509786"/>
                    </a:ext>
                  </a:extLst>
                </a:gridCol>
                <a:gridCol w="1308038">
                  <a:extLst>
                    <a:ext uri="{9D8B030D-6E8A-4147-A177-3AD203B41FA5}">
                      <a16:colId xmlns:a16="http://schemas.microsoft.com/office/drawing/2014/main" val="224585883"/>
                    </a:ext>
                  </a:extLst>
                </a:gridCol>
                <a:gridCol w="1384980">
                  <a:extLst>
                    <a:ext uri="{9D8B030D-6E8A-4147-A177-3AD203B41FA5}">
                      <a16:colId xmlns:a16="http://schemas.microsoft.com/office/drawing/2014/main" val="344122607"/>
                    </a:ext>
                  </a:extLst>
                </a:gridCol>
              </a:tblGrid>
              <a:tr h="510682">
                <a:tc>
                  <a:txBody>
                    <a:bodyPr/>
                    <a:lstStyle/>
                    <a:p>
                      <a:pPr algn="ctr"/>
                      <a:r>
                        <a:rPr lang="en-CA" sz="2600" dirty="0"/>
                        <a:t>Mnemonic</a:t>
                      </a:r>
                    </a:p>
                  </a:txBody>
                  <a:tcPr marL="109728" marR="109728" marT="54864" marB="54864" anchor="ctr"/>
                </a:tc>
                <a:tc>
                  <a:txBody>
                    <a:bodyPr/>
                    <a:lstStyle/>
                    <a:p>
                      <a:pPr algn="ctr"/>
                      <a:r>
                        <a:rPr lang="en-CA" sz="2600" dirty="0"/>
                        <a:t>Operand</a:t>
                      </a:r>
                    </a:p>
                  </a:txBody>
                  <a:tcPr marL="109728" marR="109728" marT="54864" marB="54864" anchor="ctr"/>
                </a:tc>
                <a:tc>
                  <a:txBody>
                    <a:bodyPr/>
                    <a:lstStyle/>
                    <a:p>
                      <a:pPr algn="ctr"/>
                      <a:r>
                        <a:rPr lang="en-CA" sz="2600" dirty="0"/>
                        <a:t>Description</a:t>
                      </a:r>
                    </a:p>
                  </a:txBody>
                  <a:tcPr marL="109728" marR="109728" marT="54864" marB="54864" anchor="ctr"/>
                </a:tc>
                <a:tc>
                  <a:txBody>
                    <a:bodyPr/>
                    <a:lstStyle/>
                    <a:p>
                      <a:pPr algn="ctr"/>
                      <a:r>
                        <a:rPr lang="en-CA" sz="2600" dirty="0"/>
                        <a:t>Operations</a:t>
                      </a:r>
                    </a:p>
                  </a:txBody>
                  <a:tcPr marL="109728" marR="109728" marT="54864" marB="54864" anchor="ctr"/>
                </a:tc>
                <a:tc>
                  <a:txBody>
                    <a:bodyPr/>
                    <a:lstStyle/>
                    <a:p>
                      <a:pPr algn="ctr"/>
                      <a:r>
                        <a:rPr lang="en-CA" sz="2600" dirty="0"/>
                        <a:t>Flag</a:t>
                      </a:r>
                    </a:p>
                  </a:txBody>
                  <a:tcPr marL="109728" marR="109728" marT="54864" marB="54864" anchor="ctr"/>
                </a:tc>
                <a:tc>
                  <a:txBody>
                    <a:bodyPr/>
                    <a:lstStyle/>
                    <a:p>
                      <a:pPr algn="ctr"/>
                      <a:r>
                        <a:rPr lang="en-CA" sz="2600" dirty="0"/>
                        <a:t>Clock</a:t>
                      </a:r>
                    </a:p>
                  </a:txBody>
                  <a:tcPr marL="109728" marR="109728" marT="54864" marB="54864" anchor="ctr"/>
                </a:tc>
                <a:extLst>
                  <a:ext uri="{0D108BD9-81ED-4DB2-BD59-A6C34878D82A}">
                    <a16:rowId xmlns:a16="http://schemas.microsoft.com/office/drawing/2014/main" val="3103268653"/>
                  </a:ext>
                </a:extLst>
              </a:tr>
              <a:tr h="493902">
                <a:tc>
                  <a:txBody>
                    <a:bodyPr/>
                    <a:lstStyle/>
                    <a:p>
                      <a:pPr algn="ctr"/>
                      <a:r>
                        <a:rPr lang="en-CA" sz="2400" dirty="0"/>
                        <a:t>MOV</a:t>
                      </a:r>
                    </a:p>
                  </a:txBody>
                  <a:tcPr marL="109728" marR="109728" marT="54864" marB="54864" anchor="ctr"/>
                </a:tc>
                <a:tc>
                  <a:txBody>
                    <a:bodyPr/>
                    <a:lstStyle/>
                    <a:p>
                      <a:pPr algn="ctr"/>
                      <a:r>
                        <a:rPr lang="en-CA" sz="2400" b="0" i="0" dirty="0">
                          <a:solidFill>
                            <a:srgbClr val="000000"/>
                          </a:solidFill>
                          <a:effectLst/>
                          <a:latin typeface="+mn-lt"/>
                        </a:rPr>
                        <a:t>Rd, Rr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Move Between Registers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Rr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2976972884"/>
                  </a:ext>
                </a:extLst>
              </a:tr>
              <a:tr h="493902">
                <a:tc>
                  <a:txBody>
                    <a:bodyPr/>
                    <a:lstStyle/>
                    <a:p>
                      <a:pPr algn="ctr"/>
                      <a:r>
                        <a:rPr lang="en-CA" sz="2400" dirty="0"/>
                        <a:t>LDI</a:t>
                      </a:r>
                    </a:p>
                  </a:txBody>
                  <a:tcPr marL="109728" marR="109728" marT="54864" marB="54864" anchor="ctr"/>
                </a:tc>
                <a:tc>
                  <a:txBody>
                    <a:bodyPr/>
                    <a:lstStyle/>
                    <a:p>
                      <a:pPr algn="ctr"/>
                      <a:r>
                        <a:rPr lang="en-CA" sz="2400" b="0" i="0" dirty="0">
                          <a:solidFill>
                            <a:srgbClr val="000000"/>
                          </a:solidFill>
                          <a:effectLst/>
                          <a:latin typeface="+mn-lt"/>
                        </a:rPr>
                        <a:t>Rd, K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Load Immediate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K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4204261125"/>
                  </a:ext>
                </a:extLst>
              </a:tr>
              <a:tr h="493902">
                <a:tc>
                  <a:txBody>
                    <a:bodyPr/>
                    <a:lstStyle/>
                    <a:p>
                      <a:pPr algn="ctr"/>
                      <a:r>
                        <a:rPr lang="en-CA" sz="2400" dirty="0"/>
                        <a:t>LDS</a:t>
                      </a:r>
                    </a:p>
                  </a:txBody>
                  <a:tcPr marL="109728" marR="109728" marT="54864" marB="54864" anchor="ctr"/>
                </a:tc>
                <a:tc>
                  <a:txBody>
                    <a:bodyPr/>
                    <a:lstStyle/>
                    <a:p>
                      <a:pPr algn="ctr"/>
                      <a:r>
                        <a:rPr lang="en-CA" sz="2400" dirty="0">
                          <a:effectLst/>
                          <a:latin typeface="+mn-lt"/>
                        </a:rPr>
                        <a:t>Rd, K</a:t>
                      </a:r>
                    </a:p>
                  </a:txBody>
                  <a:tcPr marL="109728" marR="109728" marT="54864" marB="54864" anchor="ctr"/>
                </a:tc>
                <a:tc>
                  <a:txBody>
                    <a:bodyPr/>
                    <a:lstStyle/>
                    <a:p>
                      <a:pPr algn="ctr"/>
                      <a:r>
                        <a:rPr lang="en-CA" sz="2400" dirty="0">
                          <a:effectLst/>
                          <a:latin typeface="+mn-lt"/>
                        </a:rPr>
                        <a:t>Load Direct from data space location K </a:t>
                      </a:r>
                    </a:p>
                  </a:txBody>
                  <a:tcPr marL="109728" marR="109728" marT="54864" marB="54864" anchor="ctr"/>
                </a:tc>
                <a:tc>
                  <a:txBody>
                    <a:bodyPr/>
                    <a:lstStyle/>
                    <a:p>
                      <a:pPr algn="ctr"/>
                      <a:r>
                        <a:rPr lang="en-CA" sz="2400" b="0" i="0" dirty="0">
                          <a:solidFill>
                            <a:srgbClr val="000000"/>
                          </a:solidFill>
                          <a:effectLst/>
                          <a:latin typeface="+mn-lt"/>
                        </a:rPr>
                        <a:t>Rd← [K]</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p>
                  </a:txBody>
                  <a:tcPr marL="109728" marR="109728" marT="54864" marB="54864" anchor="ctr"/>
                </a:tc>
                <a:extLst>
                  <a:ext uri="{0D108BD9-81ED-4DB2-BD59-A6C34878D82A}">
                    <a16:rowId xmlns:a16="http://schemas.microsoft.com/office/drawing/2014/main" val="4141633497"/>
                  </a:ext>
                </a:extLst>
              </a:tr>
              <a:tr h="493902">
                <a:tc>
                  <a:txBody>
                    <a:bodyPr/>
                    <a:lstStyle/>
                    <a:p>
                      <a:pPr algn="ctr"/>
                      <a:r>
                        <a:rPr lang="en-CA" sz="2400" b="0" i="0" dirty="0">
                          <a:solidFill>
                            <a:srgbClr val="000000"/>
                          </a:solidFill>
                          <a:effectLst/>
                          <a:latin typeface="+mn-lt"/>
                        </a:rPr>
                        <a:t>STS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K, Rr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Store Rr to data space location K.</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[K] ← Rr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3948470343"/>
                  </a:ext>
                </a:extLst>
              </a:tr>
              <a:tr h="493902">
                <a:tc>
                  <a:txBody>
                    <a:bodyPr/>
                    <a:lstStyle/>
                    <a:p>
                      <a:pPr algn="ctr"/>
                      <a:r>
                        <a:rPr lang="en-CA" sz="2400" dirty="0"/>
                        <a:t>IN</a:t>
                      </a:r>
                    </a:p>
                  </a:txBody>
                  <a:tcPr marL="109728" marR="109728" marT="54864" marB="54864" anchor="ctr"/>
                </a:tc>
                <a:tc>
                  <a:txBody>
                    <a:bodyPr/>
                    <a:lstStyle/>
                    <a:p>
                      <a:pPr algn="ctr"/>
                      <a:r>
                        <a:rPr lang="en-CA" sz="2400" b="0" i="0" dirty="0">
                          <a:solidFill>
                            <a:srgbClr val="000000"/>
                          </a:solidFill>
                          <a:effectLst/>
                          <a:latin typeface="+mn-lt"/>
                        </a:rPr>
                        <a:t>Rd, P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From In Port P/ address to Rd register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Rd ← P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a:t>
                      </a:r>
                      <a:endParaRPr lang="en-CA" sz="2400" dirty="0">
                        <a:effectLst/>
                        <a:latin typeface="+mn-lt"/>
                      </a:endParaRPr>
                    </a:p>
                  </a:txBody>
                  <a:tcPr marL="109728" marR="109728" marT="54864" marB="54864" anchor="ctr"/>
                </a:tc>
                <a:tc>
                  <a:txBody>
                    <a:bodyPr/>
                    <a:lstStyle/>
                    <a:p>
                      <a:pPr algn="ctr"/>
                      <a:r>
                        <a:rPr lang="en-CA" sz="2400" dirty="0">
                          <a:latin typeface="+mn-lt"/>
                        </a:rPr>
                        <a:t>1</a:t>
                      </a:r>
                    </a:p>
                  </a:txBody>
                  <a:tcPr marL="109728" marR="109728" marT="54864" marB="54864" anchor="ctr"/>
                </a:tc>
                <a:extLst>
                  <a:ext uri="{0D108BD9-81ED-4DB2-BD59-A6C34878D82A}">
                    <a16:rowId xmlns:a16="http://schemas.microsoft.com/office/drawing/2014/main" val="3588263806"/>
                  </a:ext>
                </a:extLst>
              </a:tr>
              <a:tr h="493902">
                <a:tc>
                  <a:txBody>
                    <a:bodyPr/>
                    <a:lstStyle/>
                    <a:p>
                      <a:pPr algn="ctr"/>
                      <a:r>
                        <a:rPr lang="en-CA" sz="2400" dirty="0"/>
                        <a:t>OUT</a:t>
                      </a:r>
                    </a:p>
                  </a:txBody>
                  <a:tcPr marL="109728" marR="109728" marT="54864" marB="54864" anchor="ctr"/>
                </a:tc>
                <a:tc>
                  <a:txBody>
                    <a:bodyPr/>
                    <a:lstStyle/>
                    <a:p>
                      <a:pPr algn="ctr"/>
                      <a:r>
                        <a:rPr lang="en-CA" sz="2400" b="0" i="0" dirty="0">
                          <a:solidFill>
                            <a:srgbClr val="000000"/>
                          </a:solidFill>
                          <a:effectLst/>
                          <a:latin typeface="+mn-lt"/>
                        </a:rPr>
                        <a:t> P, Rr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From Rr register to Out Port P/ address</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P ← Rr </a:t>
                      </a:r>
                      <a:endParaRPr lang="en-CA" sz="2400" dirty="0">
                        <a:effectLst/>
                        <a:latin typeface="+mn-lt"/>
                      </a:endParaRPr>
                    </a:p>
                  </a:txBody>
                  <a:tcPr marL="109728" marR="109728" marT="54864" marB="54864" anchor="ctr"/>
                </a:tc>
                <a:tc>
                  <a:txBody>
                    <a:bodyPr/>
                    <a:lstStyle/>
                    <a:p>
                      <a:pPr algn="ctr"/>
                      <a:r>
                        <a:rPr lang="en-CA" sz="2400" b="0" i="0">
                          <a:solidFill>
                            <a:srgbClr val="000000"/>
                          </a:solidFill>
                          <a:effectLst/>
                          <a:latin typeface="+mn-lt"/>
                        </a:rPr>
                        <a:t>None </a:t>
                      </a:r>
                      <a:endParaRPr lang="en-CA" sz="240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191103944"/>
                  </a:ext>
                </a:extLst>
              </a:tr>
              <a:tr h="493902">
                <a:tc>
                  <a:txBody>
                    <a:bodyPr/>
                    <a:lstStyle/>
                    <a:p>
                      <a:pPr algn="ctr"/>
                      <a:r>
                        <a:rPr lang="en-CA" sz="2400" dirty="0"/>
                        <a:t>PUSH</a:t>
                      </a:r>
                    </a:p>
                  </a:txBody>
                  <a:tcPr marL="109728" marR="109728" marT="54864" marB="54864" anchor="ctr"/>
                </a:tc>
                <a:tc>
                  <a:txBody>
                    <a:bodyPr/>
                    <a:lstStyle/>
                    <a:p>
                      <a:pPr algn="ctr"/>
                      <a:r>
                        <a:rPr lang="en-CA" sz="2400" b="0" i="0" dirty="0">
                          <a:solidFill>
                            <a:srgbClr val="000000"/>
                          </a:solidFill>
                          <a:effectLst/>
                          <a:latin typeface="+mn-lt"/>
                        </a:rPr>
                        <a:t>Rr</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Push Register on Stack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STACK ← Rr </a:t>
                      </a:r>
                      <a:endParaRPr lang="en-CA" sz="2400" dirty="0">
                        <a:effectLst/>
                        <a:latin typeface="+mn-lt"/>
                      </a:endParaRPr>
                    </a:p>
                  </a:txBody>
                  <a:tcPr marL="109728" marR="109728" marT="54864" marB="54864" anchor="ctr"/>
                </a:tc>
                <a:tc>
                  <a:txBody>
                    <a:bodyPr/>
                    <a:lstStyle/>
                    <a:p>
                      <a:pPr algn="ctr"/>
                      <a:r>
                        <a:rPr lang="en-CA" sz="2400" b="0" i="0">
                          <a:solidFill>
                            <a:srgbClr val="000000"/>
                          </a:solidFill>
                          <a:effectLst/>
                          <a:latin typeface="+mn-lt"/>
                        </a:rPr>
                        <a:t>None </a:t>
                      </a:r>
                      <a:endParaRPr lang="en-CA" sz="240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2</a:t>
                      </a:r>
                      <a:endParaRPr lang="en-CA" sz="2400" dirty="0">
                        <a:effectLst/>
                        <a:latin typeface="+mn-lt"/>
                      </a:endParaRPr>
                    </a:p>
                  </a:txBody>
                  <a:tcPr marL="109728" marR="109728" marT="54864" marB="54864" anchor="ctr"/>
                </a:tc>
                <a:extLst>
                  <a:ext uri="{0D108BD9-81ED-4DB2-BD59-A6C34878D82A}">
                    <a16:rowId xmlns:a16="http://schemas.microsoft.com/office/drawing/2014/main" val="4174736348"/>
                  </a:ext>
                </a:extLst>
              </a:tr>
              <a:tr h="493902">
                <a:tc>
                  <a:txBody>
                    <a:bodyPr/>
                    <a:lstStyle/>
                    <a:p>
                      <a:pPr algn="ctr"/>
                      <a:r>
                        <a:rPr lang="en-CA" sz="2400" dirty="0"/>
                        <a:t>POP</a:t>
                      </a:r>
                    </a:p>
                  </a:txBody>
                  <a:tcPr marL="109728" marR="109728" marT="54864" marB="54864" anchor="ctr"/>
                </a:tc>
                <a:tc>
                  <a:txBody>
                    <a:bodyPr/>
                    <a:lstStyle/>
                    <a:p>
                      <a:pPr algn="ctr"/>
                      <a:r>
                        <a:rPr lang="en-CA" sz="2400" b="0" i="0" dirty="0">
                          <a:solidFill>
                            <a:srgbClr val="000000"/>
                          </a:solidFill>
                          <a:effectLst/>
                          <a:latin typeface="+mn-lt"/>
                        </a:rPr>
                        <a:t>Rd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 Pop Register from Stack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 Rd ← STACK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a:t>
                      </a:r>
                      <a:endParaRPr lang="en-CA" sz="2400" dirty="0">
                        <a:effectLst/>
                        <a:latin typeface="+mn-lt"/>
                      </a:endParaRPr>
                    </a:p>
                  </a:txBody>
                  <a:tcPr marL="109728" marR="109728" marT="54864" marB="54864" anchor="ctr"/>
                </a:tc>
                <a:tc>
                  <a:txBody>
                    <a:bodyPr/>
                    <a:lstStyle/>
                    <a:p>
                      <a:pPr algn="ctr"/>
                      <a:r>
                        <a:rPr lang="en-CA" sz="2400" dirty="0">
                          <a:latin typeface="+mn-lt"/>
                        </a:rPr>
                        <a:t>2</a:t>
                      </a:r>
                    </a:p>
                  </a:txBody>
                  <a:tcPr marL="109728" marR="109728" marT="54864" marB="54864" anchor="ctr"/>
                </a:tc>
                <a:extLst>
                  <a:ext uri="{0D108BD9-81ED-4DB2-BD59-A6C34878D82A}">
                    <a16:rowId xmlns:a16="http://schemas.microsoft.com/office/drawing/2014/main" val="1752467480"/>
                  </a:ext>
                </a:extLst>
              </a:tr>
            </a:tbl>
          </a:graphicData>
        </a:graphic>
      </p:graphicFrame>
      <p:sp>
        <p:nvSpPr>
          <p:cNvPr id="4" name="TextBox 3">
            <a:extLst>
              <a:ext uri="{FF2B5EF4-FFF2-40B4-BE49-F238E27FC236}">
                <a16:creationId xmlns:a16="http://schemas.microsoft.com/office/drawing/2014/main" id="{8A9B8D5A-120A-FFB3-19CC-0EEDD008D29A}"/>
              </a:ext>
            </a:extLst>
          </p:cNvPr>
          <p:cNvSpPr txBox="1"/>
          <p:nvPr/>
        </p:nvSpPr>
        <p:spPr>
          <a:xfrm>
            <a:off x="304800" y="1548080"/>
            <a:ext cx="9144000" cy="661720"/>
          </a:xfrm>
          <a:prstGeom prst="rect">
            <a:avLst/>
          </a:prstGeom>
          <a:noFill/>
        </p:spPr>
        <p:txBody>
          <a:bodyPr wrap="square" rtlCol="0">
            <a:spAutoFit/>
          </a:bodyPr>
          <a:lstStyle/>
          <a:p>
            <a:r>
              <a:rPr lang="en-US" sz="3600" dirty="0">
                <a:solidFill>
                  <a:srgbClr val="00B050"/>
                </a:solidFill>
              </a:rPr>
              <a:t>Data Moving Instruction Set</a:t>
            </a:r>
          </a:p>
        </p:txBody>
      </p:sp>
    </p:spTree>
    <p:extLst>
      <p:ext uri="{BB962C8B-B14F-4D97-AF65-F5344CB8AC3E}">
        <p14:creationId xmlns:p14="http://schemas.microsoft.com/office/powerpoint/2010/main" val="1341699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0759" y="381000"/>
            <a:ext cx="12070080" cy="920496"/>
          </a:xfrm>
        </p:spPr>
        <p:txBody>
          <a:bodyPr/>
          <a:lstStyle/>
          <a:p>
            <a:r>
              <a:rPr lang="en-CA" dirty="0"/>
              <a:t>Instruction Set Summary</a:t>
            </a:r>
          </a:p>
        </p:txBody>
      </p:sp>
      <p:graphicFrame>
        <p:nvGraphicFramePr>
          <p:cNvPr id="3" name="Table 2"/>
          <p:cNvGraphicFramePr>
            <a:graphicFrameLocks noGrp="1"/>
          </p:cNvGraphicFramePr>
          <p:nvPr>
            <p:extLst/>
          </p:nvPr>
        </p:nvGraphicFramePr>
        <p:xfrm>
          <a:off x="152401" y="2183112"/>
          <a:ext cx="16154398" cy="5284488"/>
        </p:xfrm>
        <a:graphic>
          <a:graphicData uri="http://schemas.openxmlformats.org/drawingml/2006/table">
            <a:tbl>
              <a:tblPr firstRow="1" bandRow="1">
                <a:tableStyleId>{5C22544A-7EE6-4342-B048-85BDC9FD1C3A}</a:tableStyleId>
              </a:tblPr>
              <a:tblGrid>
                <a:gridCol w="1752599">
                  <a:extLst>
                    <a:ext uri="{9D8B030D-6E8A-4147-A177-3AD203B41FA5}">
                      <a16:colId xmlns:a16="http://schemas.microsoft.com/office/drawing/2014/main" val="1707375788"/>
                    </a:ext>
                  </a:extLst>
                </a:gridCol>
                <a:gridCol w="1524000">
                  <a:extLst>
                    <a:ext uri="{9D8B030D-6E8A-4147-A177-3AD203B41FA5}">
                      <a16:colId xmlns:a16="http://schemas.microsoft.com/office/drawing/2014/main" val="2938357721"/>
                    </a:ext>
                  </a:extLst>
                </a:gridCol>
                <a:gridCol w="5867400">
                  <a:extLst>
                    <a:ext uri="{9D8B030D-6E8A-4147-A177-3AD203B41FA5}">
                      <a16:colId xmlns:a16="http://schemas.microsoft.com/office/drawing/2014/main" val="3180324687"/>
                    </a:ext>
                  </a:extLst>
                </a:gridCol>
                <a:gridCol w="4876800">
                  <a:extLst>
                    <a:ext uri="{9D8B030D-6E8A-4147-A177-3AD203B41FA5}">
                      <a16:colId xmlns:a16="http://schemas.microsoft.com/office/drawing/2014/main" val="3344509786"/>
                    </a:ext>
                  </a:extLst>
                </a:gridCol>
                <a:gridCol w="1066800">
                  <a:extLst>
                    <a:ext uri="{9D8B030D-6E8A-4147-A177-3AD203B41FA5}">
                      <a16:colId xmlns:a16="http://schemas.microsoft.com/office/drawing/2014/main" val="224585883"/>
                    </a:ext>
                  </a:extLst>
                </a:gridCol>
                <a:gridCol w="1066799">
                  <a:extLst>
                    <a:ext uri="{9D8B030D-6E8A-4147-A177-3AD203B41FA5}">
                      <a16:colId xmlns:a16="http://schemas.microsoft.com/office/drawing/2014/main" val="344122607"/>
                    </a:ext>
                  </a:extLst>
                </a:gridCol>
              </a:tblGrid>
              <a:tr h="566406">
                <a:tc>
                  <a:txBody>
                    <a:bodyPr/>
                    <a:lstStyle/>
                    <a:p>
                      <a:pPr algn="ctr"/>
                      <a:r>
                        <a:rPr lang="en-CA" sz="2400" dirty="0"/>
                        <a:t>Mnemonic</a:t>
                      </a:r>
                    </a:p>
                  </a:txBody>
                  <a:tcPr marL="109728" marR="109728" marT="54864" marB="54864" anchor="ctr"/>
                </a:tc>
                <a:tc>
                  <a:txBody>
                    <a:bodyPr/>
                    <a:lstStyle/>
                    <a:p>
                      <a:pPr algn="ctr"/>
                      <a:r>
                        <a:rPr lang="en-CA" sz="2400" dirty="0"/>
                        <a:t>Operand</a:t>
                      </a:r>
                    </a:p>
                  </a:txBody>
                  <a:tcPr marL="109728" marR="109728" marT="54864" marB="54864" anchor="ctr"/>
                </a:tc>
                <a:tc>
                  <a:txBody>
                    <a:bodyPr/>
                    <a:lstStyle/>
                    <a:p>
                      <a:pPr algn="ctr"/>
                      <a:r>
                        <a:rPr lang="en-CA" sz="2400" dirty="0"/>
                        <a:t>Description</a:t>
                      </a:r>
                    </a:p>
                  </a:txBody>
                  <a:tcPr marL="109728" marR="109728" marT="54864" marB="54864" anchor="ctr"/>
                </a:tc>
                <a:tc>
                  <a:txBody>
                    <a:bodyPr/>
                    <a:lstStyle/>
                    <a:p>
                      <a:pPr algn="ctr"/>
                      <a:r>
                        <a:rPr lang="en-CA" sz="2400" dirty="0"/>
                        <a:t>Operations</a:t>
                      </a:r>
                    </a:p>
                  </a:txBody>
                  <a:tcPr marL="109728" marR="109728" marT="54864" marB="54864" anchor="ctr"/>
                </a:tc>
                <a:tc>
                  <a:txBody>
                    <a:bodyPr/>
                    <a:lstStyle/>
                    <a:p>
                      <a:pPr algn="ctr"/>
                      <a:r>
                        <a:rPr lang="en-CA" sz="2400" dirty="0"/>
                        <a:t>Flag</a:t>
                      </a:r>
                    </a:p>
                  </a:txBody>
                  <a:tcPr marL="109728" marR="109728" marT="54864" marB="54864" anchor="ctr"/>
                </a:tc>
                <a:tc>
                  <a:txBody>
                    <a:bodyPr/>
                    <a:lstStyle/>
                    <a:p>
                      <a:pPr algn="ctr"/>
                      <a:r>
                        <a:rPr lang="en-CA" sz="2400" dirty="0"/>
                        <a:t>Clock</a:t>
                      </a:r>
                    </a:p>
                  </a:txBody>
                  <a:tcPr marL="109728" marR="109728" marT="54864" marB="54864" anchor="ctr"/>
                </a:tc>
                <a:extLst>
                  <a:ext uri="{0D108BD9-81ED-4DB2-BD59-A6C34878D82A}">
                    <a16:rowId xmlns:a16="http://schemas.microsoft.com/office/drawing/2014/main" val="3103268653"/>
                  </a:ext>
                </a:extLst>
              </a:tr>
              <a:tr h="525106">
                <a:tc>
                  <a:txBody>
                    <a:bodyPr/>
                    <a:lstStyle/>
                    <a:p>
                      <a:pPr algn="ctr"/>
                      <a:r>
                        <a:rPr lang="en-CA" sz="2400" b="0" i="0" dirty="0">
                          <a:solidFill>
                            <a:srgbClr val="000000"/>
                          </a:solidFill>
                          <a:effectLst/>
                          <a:latin typeface="+mn-lt"/>
                        </a:rPr>
                        <a:t>SBI</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A, b </a:t>
                      </a:r>
                      <a:endParaRPr lang="en-CA" sz="2400" dirty="0">
                        <a:effectLst/>
                        <a:latin typeface="+mn-lt"/>
                      </a:endParaRPr>
                    </a:p>
                  </a:txBody>
                  <a:tcPr marL="109728" marR="109728" marT="54864" marB="54864" anchor="ctr"/>
                </a:tc>
                <a:tc>
                  <a:txBody>
                    <a:bodyPr/>
                    <a:lstStyle/>
                    <a:p>
                      <a:pPr algn="ctr"/>
                      <a:r>
                        <a:rPr lang="en-US" sz="2400" b="0" i="0" kern="1200" dirty="0">
                          <a:solidFill>
                            <a:schemeClr val="dk1"/>
                          </a:solidFill>
                          <a:effectLst/>
                          <a:latin typeface="+mn-lt"/>
                          <a:ea typeface="+mn-ea"/>
                          <a:cs typeface="+mn-cs"/>
                        </a:rPr>
                        <a:t>Sets a specified bit in an I/O Register</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Sets the b no. bits of the A register</a:t>
                      </a:r>
                      <a:endParaRPr lang="en-CA" sz="2400" dirty="0">
                        <a:effectLst/>
                        <a:latin typeface="+mn-lt"/>
                      </a:endParaRPr>
                    </a:p>
                  </a:txBody>
                  <a:tcPr marL="109728" marR="109728" marT="54864" marB="54864" anchor="ctr"/>
                </a:tc>
                <a:tc>
                  <a:txBody>
                    <a:bodyPr/>
                    <a:lstStyle/>
                    <a:p>
                      <a:pPr algn="ctr"/>
                      <a:r>
                        <a:rPr lang="en-CA" sz="2400" dirty="0">
                          <a:effectLst/>
                          <a:latin typeface="+mn-lt"/>
                        </a:rPr>
                        <a:t>None</a:t>
                      </a: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2421797610"/>
                  </a:ext>
                </a:extLst>
              </a:tr>
              <a:tr h="743409">
                <a:tc>
                  <a:txBody>
                    <a:bodyPr/>
                    <a:lstStyle/>
                    <a:p>
                      <a:pPr algn="ctr"/>
                      <a:r>
                        <a:rPr lang="en-CA" sz="2400" dirty="0">
                          <a:effectLst/>
                          <a:latin typeface="+mn-lt"/>
                        </a:rPr>
                        <a:t>CBI</a:t>
                      </a:r>
                    </a:p>
                  </a:txBody>
                  <a:tcPr marL="109728" marR="109728" marT="54864" marB="54864" anchor="ctr"/>
                </a:tc>
                <a:tc>
                  <a:txBody>
                    <a:bodyPr/>
                    <a:lstStyle/>
                    <a:p>
                      <a:pPr algn="ctr"/>
                      <a:r>
                        <a:rPr lang="en-CA" sz="2400" dirty="0">
                          <a:effectLst/>
                          <a:latin typeface="+mn-lt"/>
                        </a:rPr>
                        <a:t>A, b</a:t>
                      </a:r>
                    </a:p>
                  </a:txBody>
                  <a:tcPr marL="109728" marR="109728" marT="54864" marB="54864" anchor="ctr"/>
                </a:tc>
                <a:tc>
                  <a:txBody>
                    <a:bodyPr/>
                    <a:lstStyle/>
                    <a:p>
                      <a:pPr algn="ctr"/>
                      <a:r>
                        <a:rPr lang="en-CA" sz="2400" dirty="0">
                          <a:effectLst/>
                          <a:latin typeface="+mn-lt"/>
                        </a:rPr>
                        <a:t>Resets </a:t>
                      </a:r>
                      <a:r>
                        <a:rPr lang="en-US" sz="2400" b="0" i="0" kern="1200" dirty="0">
                          <a:solidFill>
                            <a:schemeClr val="dk1"/>
                          </a:solidFill>
                          <a:effectLst/>
                          <a:latin typeface="+mn-lt"/>
                          <a:ea typeface="+mn-ea"/>
                          <a:cs typeface="+mn-cs"/>
                        </a:rPr>
                        <a:t>a specified bit in an I/O Register</a:t>
                      </a:r>
                      <a:endParaRPr lang="en-CA" sz="2400" dirty="0">
                        <a:effectLst/>
                        <a:latin typeface="+mn-lt"/>
                      </a:endParaRPr>
                    </a:p>
                  </a:txBody>
                  <a:tcPr marL="109728" marR="109728" marT="54864" marB="5486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2200" b="0" i="0" dirty="0">
                          <a:solidFill>
                            <a:srgbClr val="000000"/>
                          </a:solidFill>
                          <a:effectLst/>
                          <a:latin typeface="+mn-lt"/>
                        </a:rPr>
                        <a:t>Resets the b no bits of the A register</a:t>
                      </a:r>
                      <a:endParaRPr lang="en-CA" sz="2200" dirty="0">
                        <a:effectLst/>
                        <a:latin typeface="+mn-lt"/>
                      </a:endParaRPr>
                    </a:p>
                  </a:txBody>
                  <a:tcPr marL="109728" marR="109728" marT="54864" marB="54864" anchor="ctr"/>
                </a:tc>
                <a:tc>
                  <a:txBody>
                    <a:bodyPr/>
                    <a:lstStyle/>
                    <a:p>
                      <a:pPr algn="ctr"/>
                      <a:r>
                        <a:rPr lang="en-CA" sz="2400" dirty="0">
                          <a:effectLst/>
                          <a:latin typeface="+mn-lt"/>
                        </a:rPr>
                        <a:t>None</a:t>
                      </a: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3483146704"/>
                  </a:ext>
                </a:extLst>
              </a:tr>
              <a:tr h="814209">
                <a:tc>
                  <a:txBody>
                    <a:bodyPr/>
                    <a:lstStyle/>
                    <a:p>
                      <a:pPr algn="ctr"/>
                      <a:r>
                        <a:rPr lang="en-CA" sz="2400" dirty="0"/>
                        <a:t>SBIC</a:t>
                      </a:r>
                    </a:p>
                  </a:txBody>
                  <a:tcPr marL="109728" marR="109728" marT="54864" marB="54864" anchor="ctr"/>
                </a:tc>
                <a:tc>
                  <a:txBody>
                    <a:bodyPr/>
                    <a:lstStyle/>
                    <a:p>
                      <a:pPr algn="ctr"/>
                      <a:r>
                        <a:rPr lang="en-CA" sz="2400" b="0" i="0" dirty="0">
                          <a:solidFill>
                            <a:srgbClr val="000000"/>
                          </a:solidFill>
                          <a:effectLst/>
                          <a:latin typeface="+mn-lt"/>
                        </a:rPr>
                        <a:t>A, b </a:t>
                      </a:r>
                      <a:endParaRPr lang="en-CA" sz="2400" dirty="0">
                        <a:effectLst/>
                        <a:latin typeface="+mn-lt"/>
                      </a:endParaRPr>
                    </a:p>
                  </a:txBody>
                  <a:tcPr marL="109728" marR="109728" marT="54864" marB="54864" anchor="ctr"/>
                </a:tc>
                <a:tc>
                  <a:txBody>
                    <a:bodyPr/>
                    <a:lstStyle/>
                    <a:p>
                      <a:pPr algn="ctr"/>
                      <a:r>
                        <a:rPr lang="en-US" sz="2400" b="0" i="0" dirty="0">
                          <a:solidFill>
                            <a:srgbClr val="000000"/>
                          </a:solidFill>
                          <a:effectLst/>
                          <a:latin typeface="+mn-lt"/>
                        </a:rPr>
                        <a:t>Skip if Bit in I/O Register is Cleared/ Reset</a:t>
                      </a:r>
                      <a:endParaRPr lang="en-CA" sz="2400" dirty="0">
                        <a:effectLst/>
                        <a:latin typeface="+mn-lt"/>
                      </a:endParaRPr>
                    </a:p>
                  </a:txBody>
                  <a:tcPr marL="109728" marR="109728" marT="54864" marB="54864" anchor="ctr"/>
                </a:tc>
                <a:tc>
                  <a:txBody>
                    <a:bodyPr/>
                    <a:lstStyle/>
                    <a:p>
                      <a:pPr algn="ctr"/>
                      <a:r>
                        <a:rPr lang="en-CA" sz="2400" dirty="0">
                          <a:effectLst/>
                          <a:latin typeface="+mn-lt"/>
                        </a:rPr>
                        <a:t>If b no bit of A register is 0, then skip PC by 2 or 3.</a:t>
                      </a: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p>
                  </a:txBody>
                  <a:tcPr marL="109728" marR="109728" marT="54864" marB="54864" anchor="ctr"/>
                </a:tc>
                <a:extLst>
                  <a:ext uri="{0D108BD9-81ED-4DB2-BD59-A6C34878D82A}">
                    <a16:rowId xmlns:a16="http://schemas.microsoft.com/office/drawing/2014/main" val="2976972884"/>
                  </a:ext>
                </a:extLst>
              </a:tr>
              <a:tr h="814209">
                <a:tc>
                  <a:txBody>
                    <a:bodyPr/>
                    <a:lstStyle/>
                    <a:p>
                      <a:pPr algn="ctr"/>
                      <a:r>
                        <a:rPr lang="en-CA" sz="2400" dirty="0"/>
                        <a:t>SBIS</a:t>
                      </a:r>
                    </a:p>
                  </a:txBody>
                  <a:tcPr marL="109728" marR="109728" marT="54864" marB="54864" anchor="ctr"/>
                </a:tc>
                <a:tc>
                  <a:txBody>
                    <a:bodyPr/>
                    <a:lstStyle/>
                    <a:p>
                      <a:pPr algn="ctr"/>
                      <a:r>
                        <a:rPr lang="en-CA" sz="2400" b="0" i="0" dirty="0">
                          <a:solidFill>
                            <a:srgbClr val="000000"/>
                          </a:solidFill>
                          <a:effectLst/>
                          <a:latin typeface="+mn-lt"/>
                        </a:rPr>
                        <a:t>A, b </a:t>
                      </a:r>
                      <a:endParaRPr lang="en-CA" sz="2400" dirty="0">
                        <a:effectLst/>
                        <a:latin typeface="+mn-lt"/>
                      </a:endParaRPr>
                    </a:p>
                  </a:txBody>
                  <a:tcPr marL="109728" marR="109728" marT="54864" marB="54864" anchor="ctr"/>
                </a:tc>
                <a:tc>
                  <a:txBody>
                    <a:bodyPr/>
                    <a:lstStyle/>
                    <a:p>
                      <a:pPr algn="ctr"/>
                      <a:r>
                        <a:rPr lang="en-US" sz="2400" b="0" i="0" dirty="0">
                          <a:solidFill>
                            <a:srgbClr val="000000"/>
                          </a:solidFill>
                          <a:effectLst/>
                          <a:latin typeface="+mn-lt"/>
                        </a:rPr>
                        <a:t>Skip if Bit in I/O Register is set</a:t>
                      </a:r>
                      <a:endParaRPr lang="en-CA" sz="2400" dirty="0">
                        <a:effectLst/>
                        <a:latin typeface="+mn-lt"/>
                      </a:endParaRPr>
                    </a:p>
                  </a:txBody>
                  <a:tcPr marL="109728" marR="109728" marT="54864" marB="54864" anchor="ctr"/>
                </a:tc>
                <a:tc>
                  <a:txBody>
                    <a:bodyPr/>
                    <a:lstStyle/>
                    <a:p>
                      <a:pPr algn="ctr"/>
                      <a:r>
                        <a:rPr lang="en-CA" sz="2400" dirty="0">
                          <a:effectLst/>
                          <a:latin typeface="+mn-lt"/>
                        </a:rPr>
                        <a:t>If b no bit of A register is 1, then skip PC by 2 or 3.</a:t>
                      </a: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p>
                  </a:txBody>
                  <a:tcPr marL="109728" marR="109728" marT="54864" marB="54864" anchor="ctr"/>
                </a:tc>
                <a:extLst>
                  <a:ext uri="{0D108BD9-81ED-4DB2-BD59-A6C34878D82A}">
                    <a16:rowId xmlns:a16="http://schemas.microsoft.com/office/drawing/2014/main" val="3244922213"/>
                  </a:ext>
                </a:extLst>
              </a:tr>
              <a:tr h="625407">
                <a:tc>
                  <a:txBody>
                    <a:bodyPr/>
                    <a:lstStyle/>
                    <a:p>
                      <a:pPr algn="ctr"/>
                      <a:r>
                        <a:rPr lang="en-CA" sz="2400" dirty="0"/>
                        <a:t>RJUMP</a:t>
                      </a:r>
                    </a:p>
                  </a:txBody>
                  <a:tcPr marL="109728" marR="109728" marT="54864" marB="54864" anchor="ctr"/>
                </a:tc>
                <a:tc>
                  <a:txBody>
                    <a:bodyPr/>
                    <a:lstStyle/>
                    <a:p>
                      <a:pPr algn="ctr"/>
                      <a:r>
                        <a:rPr lang="en-CA" sz="2400" b="0" i="0" dirty="0">
                          <a:solidFill>
                            <a:srgbClr val="000000"/>
                          </a:solidFill>
                          <a:effectLst/>
                          <a:latin typeface="+mn-lt"/>
                        </a:rPr>
                        <a:t>K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Relative jump</a:t>
                      </a:r>
                      <a:endParaRPr lang="en-CA" sz="2400" dirty="0">
                        <a:effectLst/>
                        <a:latin typeface="+mn-lt"/>
                      </a:endParaRPr>
                    </a:p>
                  </a:txBody>
                  <a:tcPr marL="109728" marR="109728" marT="54864" marB="54864" anchor="ctr"/>
                </a:tc>
                <a:tc>
                  <a:txBody>
                    <a:bodyPr/>
                    <a:lstStyle/>
                    <a:p>
                      <a:pPr algn="ctr"/>
                      <a:r>
                        <a:rPr lang="en-US" sz="2400" b="0" i="0" kern="1200" dirty="0">
                          <a:solidFill>
                            <a:schemeClr val="dk1"/>
                          </a:solidFill>
                          <a:effectLst/>
                          <a:latin typeface="+mn-lt"/>
                          <a:ea typeface="+mn-ea"/>
                          <a:cs typeface="+mn-cs"/>
                        </a:rPr>
                        <a:t>PC</a:t>
                      </a:r>
                      <a:r>
                        <a:rPr lang="en-CA" sz="2400" b="0" i="0" dirty="0">
                          <a:solidFill>
                            <a:srgbClr val="000000"/>
                          </a:solidFill>
                          <a:effectLst/>
                          <a:latin typeface="+mn-lt"/>
                        </a:rPr>
                        <a:t>← PC+K+1</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extLst>
                  <a:ext uri="{0D108BD9-81ED-4DB2-BD59-A6C34878D82A}">
                    <a16:rowId xmlns:a16="http://schemas.microsoft.com/office/drawing/2014/main" val="2554901294"/>
                  </a:ext>
                </a:extLst>
              </a:tr>
              <a:tr h="477906">
                <a:tc>
                  <a:txBody>
                    <a:bodyPr/>
                    <a:lstStyle/>
                    <a:p>
                      <a:pPr algn="ctr"/>
                      <a:r>
                        <a:rPr lang="en-CA" sz="2400" dirty="0"/>
                        <a:t>NOP</a:t>
                      </a:r>
                    </a:p>
                  </a:txBody>
                  <a:tcPr marL="109728" marR="109728" marT="54864" marB="54864" anchor="ctr"/>
                </a:tc>
                <a:tc>
                  <a:txBody>
                    <a:bodyPr/>
                    <a:lstStyle/>
                    <a:p>
                      <a:pPr algn="ctr"/>
                      <a:endParaRPr lang="en-CA" sz="2400" dirty="0">
                        <a:latin typeface="+mn-lt"/>
                      </a:endParaRPr>
                    </a:p>
                  </a:txBody>
                  <a:tcPr marL="109728" marR="109728" marT="54864" marB="54864" anchor="ctr"/>
                </a:tc>
                <a:tc>
                  <a:txBody>
                    <a:bodyPr/>
                    <a:lstStyle/>
                    <a:p>
                      <a:pPr algn="ctr"/>
                      <a:r>
                        <a:rPr lang="en-CA" sz="2400" b="0" i="0" dirty="0">
                          <a:solidFill>
                            <a:srgbClr val="000000"/>
                          </a:solidFill>
                          <a:effectLst/>
                          <a:latin typeface="+mn-lt"/>
                        </a:rPr>
                        <a:t>No Operation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1</a:t>
                      </a:r>
                      <a:endParaRPr lang="en-CA" sz="2400" dirty="0">
                        <a:effectLst/>
                        <a:latin typeface="+mn-lt"/>
                      </a:endParaRPr>
                    </a:p>
                  </a:txBody>
                  <a:tcPr marL="109728" marR="109728" marT="54864" marB="54864" anchor="ctr"/>
                </a:tc>
                <a:tc>
                  <a:txBody>
                    <a:bodyPr/>
                    <a:lstStyle/>
                    <a:p>
                      <a:pPr algn="ctr"/>
                      <a:endParaRPr lang="en-CA" sz="2400" dirty="0">
                        <a:latin typeface="+mn-lt"/>
                      </a:endParaRPr>
                    </a:p>
                  </a:txBody>
                  <a:tcPr marL="109728" marR="109728" marT="54864" marB="54864" anchor="ctr"/>
                </a:tc>
                <a:extLst>
                  <a:ext uri="{0D108BD9-81ED-4DB2-BD59-A6C34878D82A}">
                    <a16:rowId xmlns:a16="http://schemas.microsoft.com/office/drawing/2014/main" val="1984706426"/>
                  </a:ext>
                </a:extLst>
              </a:tr>
              <a:tr h="663758">
                <a:tc>
                  <a:txBody>
                    <a:bodyPr/>
                    <a:lstStyle/>
                    <a:p>
                      <a:pPr algn="ctr"/>
                      <a:r>
                        <a:rPr lang="en-CA" sz="2400" dirty="0"/>
                        <a:t>BREAK</a:t>
                      </a:r>
                    </a:p>
                  </a:txBody>
                  <a:tcPr marL="109728" marR="109728" marT="54864" marB="54864" anchor="ctr"/>
                </a:tc>
                <a:tc>
                  <a:txBody>
                    <a:bodyPr/>
                    <a:lstStyle/>
                    <a:p>
                      <a:pPr algn="ctr"/>
                      <a:endParaRPr lang="en-CA" sz="2400" dirty="0">
                        <a:latin typeface="+mn-lt"/>
                      </a:endParaRPr>
                    </a:p>
                  </a:txBody>
                  <a:tcPr marL="109728" marR="109728" marT="54864" marB="54864" anchor="ctr"/>
                </a:tc>
                <a:tc>
                  <a:txBody>
                    <a:bodyPr/>
                    <a:lstStyle/>
                    <a:p>
                      <a:pPr algn="ctr"/>
                      <a:r>
                        <a:rPr lang="en-CA" sz="2400" b="0" i="0" dirty="0">
                          <a:solidFill>
                            <a:srgbClr val="000000"/>
                          </a:solidFill>
                          <a:effectLst/>
                          <a:latin typeface="+mn-lt"/>
                        </a:rPr>
                        <a:t>Break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For On-chip Debug Only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None </a:t>
                      </a:r>
                      <a:endParaRPr lang="en-CA" sz="2400" dirty="0">
                        <a:effectLst/>
                        <a:latin typeface="+mn-lt"/>
                      </a:endParaRPr>
                    </a:p>
                  </a:txBody>
                  <a:tcPr marL="109728" marR="109728" marT="54864" marB="54864" anchor="ctr"/>
                </a:tc>
                <a:tc>
                  <a:txBody>
                    <a:bodyPr/>
                    <a:lstStyle/>
                    <a:p>
                      <a:pPr algn="ctr"/>
                      <a:r>
                        <a:rPr lang="en-CA" sz="2400" b="0" i="0" dirty="0">
                          <a:solidFill>
                            <a:srgbClr val="000000"/>
                          </a:solidFill>
                          <a:effectLst/>
                          <a:latin typeface="+mn-lt"/>
                        </a:rPr>
                        <a:t>N/A</a:t>
                      </a:r>
                      <a:endParaRPr lang="en-CA" sz="2400" dirty="0">
                        <a:effectLst/>
                        <a:latin typeface="+mn-lt"/>
                      </a:endParaRPr>
                    </a:p>
                  </a:txBody>
                  <a:tcPr marL="109728" marR="109728" marT="54864" marB="54864" anchor="ctr"/>
                </a:tc>
                <a:extLst>
                  <a:ext uri="{0D108BD9-81ED-4DB2-BD59-A6C34878D82A}">
                    <a16:rowId xmlns:a16="http://schemas.microsoft.com/office/drawing/2014/main" val="3801734385"/>
                  </a:ext>
                </a:extLst>
              </a:tr>
            </a:tbl>
          </a:graphicData>
        </a:graphic>
      </p:graphicFrame>
      <p:sp>
        <p:nvSpPr>
          <p:cNvPr id="4" name="TextBox 3">
            <a:extLst>
              <a:ext uri="{FF2B5EF4-FFF2-40B4-BE49-F238E27FC236}">
                <a16:creationId xmlns:a16="http://schemas.microsoft.com/office/drawing/2014/main" id="{241ED9F7-F3AD-CDF4-AF73-B0B92CB9D48F}"/>
              </a:ext>
            </a:extLst>
          </p:cNvPr>
          <p:cNvSpPr txBox="1"/>
          <p:nvPr/>
        </p:nvSpPr>
        <p:spPr>
          <a:xfrm>
            <a:off x="152401" y="1524000"/>
            <a:ext cx="9296399" cy="661720"/>
          </a:xfrm>
          <a:prstGeom prst="rect">
            <a:avLst/>
          </a:prstGeom>
          <a:noFill/>
        </p:spPr>
        <p:txBody>
          <a:bodyPr wrap="square" rtlCol="0">
            <a:spAutoFit/>
          </a:bodyPr>
          <a:lstStyle/>
          <a:p>
            <a:r>
              <a:rPr lang="en-US" sz="3600" dirty="0">
                <a:solidFill>
                  <a:srgbClr val="00B050"/>
                </a:solidFill>
              </a:rPr>
              <a:t>Data Set Instruction Set</a:t>
            </a:r>
          </a:p>
        </p:txBody>
      </p:sp>
    </p:spTree>
    <p:extLst>
      <p:ext uri="{BB962C8B-B14F-4D97-AF65-F5344CB8AC3E}">
        <p14:creationId xmlns:p14="http://schemas.microsoft.com/office/powerpoint/2010/main" val="249985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0759" y="381000"/>
            <a:ext cx="12070080" cy="920496"/>
          </a:xfrm>
        </p:spPr>
        <p:txBody>
          <a:bodyPr/>
          <a:lstStyle/>
          <a:p>
            <a:r>
              <a:rPr lang="en-CA" dirty="0"/>
              <a:t>Memory Locations</a:t>
            </a:r>
          </a:p>
        </p:txBody>
      </p:sp>
      <p:pic>
        <p:nvPicPr>
          <p:cNvPr id="4" name="Picture 3" descr="Diagram&#10;&#10;Description automatically generated">
            <a:extLst>
              <a:ext uri="{FF2B5EF4-FFF2-40B4-BE49-F238E27FC236}">
                <a16:creationId xmlns:a16="http://schemas.microsoft.com/office/drawing/2014/main" id="{03BA349C-415A-7BE7-9BB5-2BBA162DC4E1}"/>
              </a:ext>
            </a:extLst>
          </p:cNvPr>
          <p:cNvPicPr>
            <a:picLocks noChangeAspect="1"/>
          </p:cNvPicPr>
          <p:nvPr/>
        </p:nvPicPr>
        <p:blipFill rotWithShape="1">
          <a:blip r:embed="rId3">
            <a:extLst>
              <a:ext uri="{28A0092B-C50C-407E-A947-70E740481C1C}">
                <a14:useLocalDpi xmlns:a14="http://schemas.microsoft.com/office/drawing/2010/main" val="0"/>
              </a:ext>
            </a:extLst>
          </a:blip>
          <a:srcRect l="6702" t="1845" r="3242" b="3259"/>
          <a:stretch/>
        </p:blipFill>
        <p:spPr>
          <a:xfrm>
            <a:off x="609600" y="1219200"/>
            <a:ext cx="7467600" cy="6629400"/>
          </a:xfrm>
          <a:prstGeom prst="rect">
            <a:avLst/>
          </a:prstGeom>
        </p:spPr>
      </p:pic>
      <p:sp>
        <p:nvSpPr>
          <p:cNvPr id="5" name="TextBox 4">
            <a:extLst>
              <a:ext uri="{FF2B5EF4-FFF2-40B4-BE49-F238E27FC236}">
                <a16:creationId xmlns:a16="http://schemas.microsoft.com/office/drawing/2014/main" id="{95053E3A-5CA2-812F-1C78-A97A9AF94F73}"/>
              </a:ext>
            </a:extLst>
          </p:cNvPr>
          <p:cNvSpPr txBox="1"/>
          <p:nvPr/>
        </p:nvSpPr>
        <p:spPr>
          <a:xfrm>
            <a:off x="10345783" y="2638697"/>
            <a:ext cx="4428308" cy="714103"/>
          </a:xfrm>
          <a:prstGeom prst="rect">
            <a:avLst/>
          </a:prstGeom>
        </p:spPr>
        <p:txBody>
          <a:bodyPr vert="horz" lIns="0" tIns="54864" rIns="0" bIns="54864" rtlCol="0">
            <a:normAutofit/>
          </a:bodyPr>
          <a:lstStyle/>
          <a:p>
            <a:pPr>
              <a:lnSpc>
                <a:spcPct val="90000"/>
              </a:lnSpc>
              <a:spcAft>
                <a:spcPts val="720"/>
              </a:spcAft>
              <a:buClr>
                <a:schemeClr val="accent1"/>
              </a:buClr>
              <a:buFont typeface="Calibri" panose="020F0502020204030204" pitchFamily="34" charset="0"/>
            </a:pPr>
            <a:r>
              <a:rPr lang="en-US" sz="4400" b="1" dirty="0">
                <a:solidFill>
                  <a:schemeClr val="accent1">
                    <a:lumMod val="75000"/>
                  </a:schemeClr>
                </a:solidFill>
              </a:rPr>
              <a:t>STS 0x0060, R0</a:t>
            </a:r>
          </a:p>
        </p:txBody>
      </p:sp>
      <p:sp>
        <p:nvSpPr>
          <p:cNvPr id="6" name="Arrow: Curved Right 11">
            <a:extLst>
              <a:ext uri="{FF2B5EF4-FFF2-40B4-BE49-F238E27FC236}">
                <a16:creationId xmlns:a16="http://schemas.microsoft.com/office/drawing/2014/main" id="{44C33F20-96A2-4FF4-5653-AB4517DFFE68}"/>
              </a:ext>
            </a:extLst>
          </p:cNvPr>
          <p:cNvSpPr/>
          <p:nvPr/>
        </p:nvSpPr>
        <p:spPr>
          <a:xfrm>
            <a:off x="5199708" y="1770695"/>
            <a:ext cx="678181" cy="2146663"/>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40">
              <a:solidFill>
                <a:schemeClr val="tx1"/>
              </a:solidFill>
            </a:endParaRPr>
          </a:p>
        </p:txBody>
      </p:sp>
      <p:sp>
        <p:nvSpPr>
          <p:cNvPr id="7" name="TextBox 6">
            <a:extLst>
              <a:ext uri="{FF2B5EF4-FFF2-40B4-BE49-F238E27FC236}">
                <a16:creationId xmlns:a16="http://schemas.microsoft.com/office/drawing/2014/main" id="{CA208E15-53F3-5C0C-66CF-981E5E66C1F9}"/>
              </a:ext>
            </a:extLst>
          </p:cNvPr>
          <p:cNvSpPr txBox="1"/>
          <p:nvPr/>
        </p:nvSpPr>
        <p:spPr>
          <a:xfrm>
            <a:off x="10277857" y="3925825"/>
            <a:ext cx="4657343" cy="769441"/>
          </a:xfrm>
          <a:prstGeom prst="rect">
            <a:avLst/>
          </a:prstGeom>
          <a:noFill/>
        </p:spPr>
        <p:txBody>
          <a:bodyPr wrap="square" rtlCol="0">
            <a:spAutoFit/>
          </a:bodyPr>
          <a:lstStyle/>
          <a:p>
            <a:r>
              <a:rPr lang="en-US" sz="4400" dirty="0">
                <a:solidFill>
                  <a:srgbClr val="FF0000"/>
                </a:solidFill>
              </a:rPr>
              <a:t>LDS R31, 0x01FF</a:t>
            </a:r>
          </a:p>
        </p:txBody>
      </p:sp>
      <p:sp>
        <p:nvSpPr>
          <p:cNvPr id="8" name="Arrow: Curved Right 19">
            <a:extLst>
              <a:ext uri="{FF2B5EF4-FFF2-40B4-BE49-F238E27FC236}">
                <a16:creationId xmlns:a16="http://schemas.microsoft.com/office/drawing/2014/main" id="{ED9A010B-B9F6-BE25-E537-9479F6CCF012}"/>
              </a:ext>
            </a:extLst>
          </p:cNvPr>
          <p:cNvSpPr/>
          <p:nvPr/>
        </p:nvSpPr>
        <p:spPr>
          <a:xfrm flipV="1">
            <a:off x="5382589" y="2355522"/>
            <a:ext cx="495300" cy="2219525"/>
          </a:xfrm>
          <a:prstGeom prst="curvedRightArrow">
            <a:avLst>
              <a:gd name="adj1" fmla="val 25000"/>
              <a:gd name="adj2" fmla="val 50000"/>
              <a:gd name="adj3" fmla="val 59188"/>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4440" dirty="0">
              <a:solidFill>
                <a:schemeClr val="tx1"/>
              </a:solidFill>
            </a:endParaRPr>
          </a:p>
        </p:txBody>
      </p:sp>
      <p:sp>
        <p:nvSpPr>
          <p:cNvPr id="3" name="Right Brace 2">
            <a:extLst>
              <a:ext uri="{FF2B5EF4-FFF2-40B4-BE49-F238E27FC236}">
                <a16:creationId xmlns:a16="http://schemas.microsoft.com/office/drawing/2014/main" id="{B1C93879-337B-8443-4B19-A1BED04C37CC}"/>
              </a:ext>
            </a:extLst>
          </p:cNvPr>
          <p:cNvSpPr/>
          <p:nvPr/>
        </p:nvSpPr>
        <p:spPr>
          <a:xfrm>
            <a:off x="2743200" y="6781800"/>
            <a:ext cx="152400" cy="685800"/>
          </a:xfrm>
          <a:prstGeom prst="rightBrace">
            <a:avLst>
              <a:gd name="adj1" fmla="val 49286"/>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Right Brace 8">
            <a:extLst>
              <a:ext uri="{FF2B5EF4-FFF2-40B4-BE49-F238E27FC236}">
                <a16:creationId xmlns:a16="http://schemas.microsoft.com/office/drawing/2014/main" id="{793FBC05-1694-58FE-2629-ADCA50DA62B3}"/>
              </a:ext>
            </a:extLst>
          </p:cNvPr>
          <p:cNvSpPr/>
          <p:nvPr/>
        </p:nvSpPr>
        <p:spPr>
          <a:xfrm>
            <a:off x="7924800" y="6667500"/>
            <a:ext cx="152400" cy="1028700"/>
          </a:xfrm>
          <a:prstGeom prst="rightBrace">
            <a:avLst>
              <a:gd name="adj1" fmla="val 49286"/>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ight Brace 9">
            <a:extLst>
              <a:ext uri="{FF2B5EF4-FFF2-40B4-BE49-F238E27FC236}">
                <a16:creationId xmlns:a16="http://schemas.microsoft.com/office/drawing/2014/main" id="{1C375407-3D38-3C7A-EA7C-1DBFEC10B340}"/>
              </a:ext>
            </a:extLst>
          </p:cNvPr>
          <p:cNvSpPr/>
          <p:nvPr/>
        </p:nvSpPr>
        <p:spPr>
          <a:xfrm>
            <a:off x="7924800" y="3600450"/>
            <a:ext cx="152400" cy="1028700"/>
          </a:xfrm>
          <a:prstGeom prst="rightBrace">
            <a:avLst>
              <a:gd name="adj1" fmla="val 49286"/>
              <a:gd name="adj2" fmla="val 50000"/>
            </a:avLst>
          </a:prstGeom>
          <a:ln w="381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Right Brace 10">
            <a:extLst>
              <a:ext uri="{FF2B5EF4-FFF2-40B4-BE49-F238E27FC236}">
                <a16:creationId xmlns:a16="http://schemas.microsoft.com/office/drawing/2014/main" id="{37244240-A429-E512-551C-581023DF8950}"/>
              </a:ext>
            </a:extLst>
          </p:cNvPr>
          <p:cNvSpPr/>
          <p:nvPr/>
        </p:nvSpPr>
        <p:spPr>
          <a:xfrm>
            <a:off x="2854925" y="3634345"/>
            <a:ext cx="152400" cy="1028700"/>
          </a:xfrm>
          <a:prstGeom prst="rightBrace">
            <a:avLst>
              <a:gd name="adj1" fmla="val 49286"/>
              <a:gd name="adj2" fmla="val 50000"/>
            </a:avLst>
          </a:prstGeom>
          <a:ln w="381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e 11">
            <a:extLst>
              <a:ext uri="{FF2B5EF4-FFF2-40B4-BE49-F238E27FC236}">
                <a16:creationId xmlns:a16="http://schemas.microsoft.com/office/drawing/2014/main" id="{EEA4F2A6-B2BC-D64F-85A1-222C40B933D1}"/>
              </a:ext>
            </a:extLst>
          </p:cNvPr>
          <p:cNvSpPr/>
          <p:nvPr/>
        </p:nvSpPr>
        <p:spPr>
          <a:xfrm>
            <a:off x="7924800" y="4705350"/>
            <a:ext cx="152400" cy="1028700"/>
          </a:xfrm>
          <a:prstGeom prst="rightBrace">
            <a:avLst>
              <a:gd name="adj1" fmla="val 49286"/>
              <a:gd name="adj2" fmla="val 50000"/>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a:extLst>
              <a:ext uri="{FF2B5EF4-FFF2-40B4-BE49-F238E27FC236}">
                <a16:creationId xmlns:a16="http://schemas.microsoft.com/office/drawing/2014/main" id="{818F3233-0AD7-8366-4311-C7AC8B6771FD}"/>
              </a:ext>
            </a:extLst>
          </p:cNvPr>
          <p:cNvSpPr/>
          <p:nvPr/>
        </p:nvSpPr>
        <p:spPr>
          <a:xfrm>
            <a:off x="2891935" y="4712772"/>
            <a:ext cx="152400" cy="1028700"/>
          </a:xfrm>
          <a:prstGeom prst="rightBrace">
            <a:avLst>
              <a:gd name="adj1" fmla="val 49286"/>
              <a:gd name="adj2" fmla="val 50000"/>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a:extLst>
              <a:ext uri="{FF2B5EF4-FFF2-40B4-BE49-F238E27FC236}">
                <a16:creationId xmlns:a16="http://schemas.microsoft.com/office/drawing/2014/main" id="{90039742-EB77-4E73-AA37-5FC689AF30D4}"/>
              </a:ext>
            </a:extLst>
          </p:cNvPr>
          <p:cNvSpPr/>
          <p:nvPr/>
        </p:nvSpPr>
        <p:spPr>
          <a:xfrm>
            <a:off x="2854925" y="5822768"/>
            <a:ext cx="152400" cy="756904"/>
          </a:xfrm>
          <a:prstGeom prst="rightBrace">
            <a:avLst>
              <a:gd name="adj1" fmla="val 49286"/>
              <a:gd name="adj2" fmla="val 50000"/>
            </a:avLst>
          </a:prstGeom>
          <a:ln w="381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Right Brace 15">
            <a:extLst>
              <a:ext uri="{FF2B5EF4-FFF2-40B4-BE49-F238E27FC236}">
                <a16:creationId xmlns:a16="http://schemas.microsoft.com/office/drawing/2014/main" id="{92D5A59E-C4A4-4C92-B37D-E4C6D4F04F0F}"/>
              </a:ext>
            </a:extLst>
          </p:cNvPr>
          <p:cNvSpPr/>
          <p:nvPr/>
        </p:nvSpPr>
        <p:spPr>
          <a:xfrm>
            <a:off x="7924800" y="5764727"/>
            <a:ext cx="152400" cy="756904"/>
          </a:xfrm>
          <a:prstGeom prst="rightBrace">
            <a:avLst>
              <a:gd name="adj1" fmla="val 49286"/>
              <a:gd name="adj2" fmla="val 50000"/>
            </a:avLst>
          </a:prstGeom>
          <a:ln w="381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ight Brace 17">
            <a:extLst>
              <a:ext uri="{FF2B5EF4-FFF2-40B4-BE49-F238E27FC236}">
                <a16:creationId xmlns:a16="http://schemas.microsoft.com/office/drawing/2014/main" id="{8D03ACF7-B723-2761-A5A3-9C8DE38E96AE}"/>
              </a:ext>
            </a:extLst>
          </p:cNvPr>
          <p:cNvSpPr/>
          <p:nvPr/>
        </p:nvSpPr>
        <p:spPr>
          <a:xfrm>
            <a:off x="7905498" y="1700498"/>
            <a:ext cx="203964" cy="966502"/>
          </a:xfrm>
          <a:prstGeom prst="rightBrace">
            <a:avLst>
              <a:gd name="adj1" fmla="val 49286"/>
              <a:gd name="adj2" fmla="val 50000"/>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Right Brace 18">
            <a:extLst>
              <a:ext uri="{FF2B5EF4-FFF2-40B4-BE49-F238E27FC236}">
                <a16:creationId xmlns:a16="http://schemas.microsoft.com/office/drawing/2014/main" id="{71FD52A6-521E-EAA8-341F-31E24FD14CE8}"/>
              </a:ext>
            </a:extLst>
          </p:cNvPr>
          <p:cNvSpPr/>
          <p:nvPr/>
        </p:nvSpPr>
        <p:spPr>
          <a:xfrm>
            <a:off x="2819400" y="1700498"/>
            <a:ext cx="203964" cy="966502"/>
          </a:xfrm>
          <a:prstGeom prst="rightBrace">
            <a:avLst>
              <a:gd name="adj1" fmla="val 49286"/>
              <a:gd name="adj2" fmla="val 50000"/>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ight Brace 19">
            <a:extLst>
              <a:ext uri="{FF2B5EF4-FFF2-40B4-BE49-F238E27FC236}">
                <a16:creationId xmlns:a16="http://schemas.microsoft.com/office/drawing/2014/main" id="{50CDEC54-AEA9-9961-39AC-CA3F2175536D}"/>
              </a:ext>
            </a:extLst>
          </p:cNvPr>
          <p:cNvSpPr/>
          <p:nvPr/>
        </p:nvSpPr>
        <p:spPr>
          <a:xfrm>
            <a:off x="7903030" y="2716610"/>
            <a:ext cx="151203" cy="807640"/>
          </a:xfrm>
          <a:prstGeom prst="rightBrace">
            <a:avLst>
              <a:gd name="adj1" fmla="val 49286"/>
              <a:gd name="adj2" fmla="val 50000"/>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Right Brace 20">
            <a:extLst>
              <a:ext uri="{FF2B5EF4-FFF2-40B4-BE49-F238E27FC236}">
                <a16:creationId xmlns:a16="http://schemas.microsoft.com/office/drawing/2014/main" id="{797A9760-AA29-C3CD-BB76-6079336FA034}"/>
              </a:ext>
            </a:extLst>
          </p:cNvPr>
          <p:cNvSpPr/>
          <p:nvPr/>
        </p:nvSpPr>
        <p:spPr>
          <a:xfrm>
            <a:off x="2872161" y="2752029"/>
            <a:ext cx="151203" cy="807640"/>
          </a:xfrm>
          <a:prstGeom prst="rightBrace">
            <a:avLst>
              <a:gd name="adj1" fmla="val 49286"/>
              <a:gd name="adj2" fmla="val 50000"/>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463770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CAB95-2D3F-F6DF-FE7A-6024C00EA6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DC9D82-4F58-5186-360F-E4BCEDE9A72B}"/>
              </a:ext>
            </a:extLst>
          </p:cNvPr>
          <p:cNvSpPr>
            <a:spLocks noGrp="1"/>
          </p:cNvSpPr>
          <p:nvPr>
            <p:ph type="title"/>
          </p:nvPr>
        </p:nvSpPr>
        <p:spPr>
          <a:xfrm>
            <a:off x="2270759" y="381000"/>
            <a:ext cx="12070080" cy="920496"/>
          </a:xfrm>
        </p:spPr>
        <p:txBody>
          <a:bodyPr/>
          <a:lstStyle/>
          <a:p>
            <a:r>
              <a:rPr lang="en-CA" dirty="0"/>
              <a:t>Register Contents</a:t>
            </a:r>
          </a:p>
        </p:txBody>
      </p:sp>
      <p:sp>
        <p:nvSpPr>
          <p:cNvPr id="31" name="TextBox 30">
            <a:extLst>
              <a:ext uri="{FF2B5EF4-FFF2-40B4-BE49-F238E27FC236}">
                <a16:creationId xmlns:a16="http://schemas.microsoft.com/office/drawing/2014/main" id="{69A94A40-02B3-03DF-4AFE-9B2E22601BCD}"/>
              </a:ext>
            </a:extLst>
          </p:cNvPr>
          <p:cNvSpPr txBox="1"/>
          <p:nvPr/>
        </p:nvSpPr>
        <p:spPr>
          <a:xfrm>
            <a:off x="1453662" y="2229611"/>
            <a:ext cx="4673600" cy="661720"/>
          </a:xfrm>
          <a:prstGeom prst="rect">
            <a:avLst/>
          </a:prstGeom>
          <a:noFill/>
        </p:spPr>
        <p:txBody>
          <a:bodyPr wrap="square" rtlCol="0">
            <a:spAutoFit/>
          </a:bodyPr>
          <a:lstStyle/>
          <a:p>
            <a:pPr algn="ctr"/>
            <a:r>
              <a:rPr lang="en-US" sz="3600" b="1" dirty="0"/>
              <a:t>R7 Register</a:t>
            </a:r>
          </a:p>
        </p:txBody>
      </p:sp>
      <p:sp>
        <p:nvSpPr>
          <p:cNvPr id="32" name="TextBox 31">
            <a:extLst>
              <a:ext uri="{FF2B5EF4-FFF2-40B4-BE49-F238E27FC236}">
                <a16:creationId xmlns:a16="http://schemas.microsoft.com/office/drawing/2014/main" id="{B6D4CCBC-385F-E155-FC38-6CF89F636D39}"/>
              </a:ext>
            </a:extLst>
          </p:cNvPr>
          <p:cNvSpPr txBox="1"/>
          <p:nvPr/>
        </p:nvSpPr>
        <p:spPr>
          <a:xfrm>
            <a:off x="1447799" y="4820411"/>
            <a:ext cx="4592257" cy="661720"/>
          </a:xfrm>
          <a:prstGeom prst="rect">
            <a:avLst/>
          </a:prstGeom>
          <a:noFill/>
        </p:spPr>
        <p:txBody>
          <a:bodyPr wrap="square" rtlCol="0">
            <a:spAutoFit/>
          </a:bodyPr>
          <a:lstStyle/>
          <a:p>
            <a:r>
              <a:rPr lang="en-US" dirty="0"/>
              <a:t>SBIS R8, 5;</a:t>
            </a:r>
          </a:p>
        </p:txBody>
      </p:sp>
      <p:sp>
        <p:nvSpPr>
          <p:cNvPr id="34" name="TextBox 33">
            <a:extLst>
              <a:ext uri="{FF2B5EF4-FFF2-40B4-BE49-F238E27FC236}">
                <a16:creationId xmlns:a16="http://schemas.microsoft.com/office/drawing/2014/main" id="{93FEEFAF-9FE6-BCEB-AE21-CDF23C463459}"/>
              </a:ext>
            </a:extLst>
          </p:cNvPr>
          <p:cNvSpPr txBox="1"/>
          <p:nvPr/>
        </p:nvSpPr>
        <p:spPr>
          <a:xfrm>
            <a:off x="1447800" y="5430011"/>
            <a:ext cx="4673600" cy="661720"/>
          </a:xfrm>
          <a:prstGeom prst="rect">
            <a:avLst/>
          </a:prstGeom>
          <a:noFill/>
        </p:spPr>
        <p:txBody>
          <a:bodyPr wrap="square" lIns="91440" tIns="45720" rIns="91440" bIns="45720" rtlCol="0" anchor="t">
            <a:spAutoFit/>
          </a:bodyPr>
          <a:lstStyle/>
          <a:p>
            <a:pPr algn="ctr"/>
            <a:r>
              <a:rPr lang="en-US" sz="3600" b="1" dirty="0"/>
              <a:t>R8 Register</a:t>
            </a:r>
          </a:p>
        </p:txBody>
      </p:sp>
      <p:sp>
        <p:nvSpPr>
          <p:cNvPr id="36" name="TextBox 35">
            <a:extLst>
              <a:ext uri="{FF2B5EF4-FFF2-40B4-BE49-F238E27FC236}">
                <a16:creationId xmlns:a16="http://schemas.microsoft.com/office/drawing/2014/main" id="{F0606B26-8DAC-6DAD-E9D1-016C44E4D76F}"/>
              </a:ext>
            </a:extLst>
          </p:cNvPr>
          <p:cNvSpPr txBox="1"/>
          <p:nvPr/>
        </p:nvSpPr>
        <p:spPr>
          <a:xfrm>
            <a:off x="1513776" y="6971251"/>
            <a:ext cx="4602480" cy="661720"/>
          </a:xfrm>
          <a:prstGeom prst="rect">
            <a:avLst/>
          </a:prstGeom>
          <a:noFill/>
        </p:spPr>
        <p:txBody>
          <a:bodyPr wrap="square" rtlCol="0">
            <a:spAutoFit/>
          </a:bodyPr>
          <a:lstStyle/>
          <a:p>
            <a:r>
              <a:rPr lang="en-US" dirty="0"/>
              <a:t>PC = PC+2 or 3</a:t>
            </a:r>
          </a:p>
        </p:txBody>
      </p:sp>
      <p:sp>
        <p:nvSpPr>
          <p:cNvPr id="40" name="TextBox 39">
            <a:extLst>
              <a:ext uri="{FF2B5EF4-FFF2-40B4-BE49-F238E27FC236}">
                <a16:creationId xmlns:a16="http://schemas.microsoft.com/office/drawing/2014/main" id="{736F080C-1746-42F6-31D2-3C152262A4BD}"/>
              </a:ext>
            </a:extLst>
          </p:cNvPr>
          <p:cNvSpPr txBox="1"/>
          <p:nvPr/>
        </p:nvSpPr>
        <p:spPr>
          <a:xfrm>
            <a:off x="1447800" y="1676400"/>
            <a:ext cx="4673600" cy="661720"/>
          </a:xfrm>
          <a:prstGeom prst="rect">
            <a:avLst/>
          </a:prstGeom>
          <a:noFill/>
        </p:spPr>
        <p:txBody>
          <a:bodyPr wrap="square" rtlCol="0">
            <a:spAutoFit/>
          </a:bodyPr>
          <a:lstStyle/>
          <a:p>
            <a:r>
              <a:rPr lang="en-US" sz="3600" dirty="0"/>
              <a:t>SBIC R7, 5;</a:t>
            </a:r>
          </a:p>
        </p:txBody>
      </p:sp>
      <p:graphicFrame>
        <p:nvGraphicFramePr>
          <p:cNvPr id="41" name="Table 40">
            <a:extLst>
              <a:ext uri="{FF2B5EF4-FFF2-40B4-BE49-F238E27FC236}">
                <a16:creationId xmlns:a16="http://schemas.microsoft.com/office/drawing/2014/main" id="{59FB7547-A6AE-F338-148B-BDECB4D4BE1E}"/>
              </a:ext>
            </a:extLst>
          </p:cNvPr>
          <p:cNvGraphicFramePr>
            <a:graphicFrameLocks noGrp="1"/>
          </p:cNvGraphicFramePr>
          <p:nvPr>
            <p:extLst>
              <p:ext uri="{D42A27DB-BD31-4B8C-83A1-F6EECF244321}">
                <p14:modId xmlns:p14="http://schemas.microsoft.com/office/powerpoint/2010/main" val="3228555521"/>
              </p:ext>
            </p:extLst>
          </p:nvPr>
        </p:nvGraphicFramePr>
        <p:xfrm>
          <a:off x="1453661" y="2941509"/>
          <a:ext cx="4673600" cy="914400"/>
        </p:xfrm>
        <a:graphic>
          <a:graphicData uri="http://schemas.openxmlformats.org/drawingml/2006/table">
            <a:tbl>
              <a:tblPr firstRow="1" bandRow="1">
                <a:tableStyleId>{D7AC3CCA-C797-4891-BE02-D94E43425B78}</a:tableStyleId>
              </a:tblPr>
              <a:tblGrid>
                <a:gridCol w="581660">
                  <a:extLst>
                    <a:ext uri="{9D8B030D-6E8A-4147-A177-3AD203B41FA5}">
                      <a16:colId xmlns:a16="http://schemas.microsoft.com/office/drawing/2014/main" val="1787849861"/>
                    </a:ext>
                  </a:extLst>
                </a:gridCol>
                <a:gridCol w="581660">
                  <a:extLst>
                    <a:ext uri="{9D8B030D-6E8A-4147-A177-3AD203B41FA5}">
                      <a16:colId xmlns:a16="http://schemas.microsoft.com/office/drawing/2014/main" val="917799899"/>
                    </a:ext>
                  </a:extLst>
                </a:gridCol>
                <a:gridCol w="581660">
                  <a:extLst>
                    <a:ext uri="{9D8B030D-6E8A-4147-A177-3AD203B41FA5}">
                      <a16:colId xmlns:a16="http://schemas.microsoft.com/office/drawing/2014/main" val="1419689249"/>
                    </a:ext>
                  </a:extLst>
                </a:gridCol>
                <a:gridCol w="581660">
                  <a:extLst>
                    <a:ext uri="{9D8B030D-6E8A-4147-A177-3AD203B41FA5}">
                      <a16:colId xmlns:a16="http://schemas.microsoft.com/office/drawing/2014/main" val="1988398595"/>
                    </a:ext>
                  </a:extLst>
                </a:gridCol>
                <a:gridCol w="581660">
                  <a:extLst>
                    <a:ext uri="{9D8B030D-6E8A-4147-A177-3AD203B41FA5}">
                      <a16:colId xmlns:a16="http://schemas.microsoft.com/office/drawing/2014/main" val="535832957"/>
                    </a:ext>
                  </a:extLst>
                </a:gridCol>
                <a:gridCol w="581660">
                  <a:extLst>
                    <a:ext uri="{9D8B030D-6E8A-4147-A177-3AD203B41FA5}">
                      <a16:colId xmlns:a16="http://schemas.microsoft.com/office/drawing/2014/main" val="1675849524"/>
                    </a:ext>
                  </a:extLst>
                </a:gridCol>
                <a:gridCol w="581660">
                  <a:extLst>
                    <a:ext uri="{9D8B030D-6E8A-4147-A177-3AD203B41FA5}">
                      <a16:colId xmlns:a16="http://schemas.microsoft.com/office/drawing/2014/main" val="3294324509"/>
                    </a:ext>
                  </a:extLst>
                </a:gridCol>
                <a:gridCol w="601980">
                  <a:extLst>
                    <a:ext uri="{9D8B030D-6E8A-4147-A177-3AD203B41FA5}">
                      <a16:colId xmlns:a16="http://schemas.microsoft.com/office/drawing/2014/main" val="416964194"/>
                    </a:ext>
                  </a:extLst>
                </a:gridCol>
              </a:tblGrid>
              <a:tr h="340360">
                <a:tc>
                  <a:txBody>
                    <a:bodyPr/>
                    <a:lstStyle/>
                    <a:p>
                      <a:pPr algn="ctr"/>
                      <a:r>
                        <a:rPr lang="en-US" sz="2400" dirty="0"/>
                        <a:t>8</a:t>
                      </a:r>
                    </a:p>
                  </a:txBody>
                  <a:tcPr/>
                </a:tc>
                <a:tc>
                  <a:txBody>
                    <a:bodyPr/>
                    <a:lstStyle/>
                    <a:p>
                      <a:pPr algn="ctr"/>
                      <a:r>
                        <a:rPr lang="en-US" sz="2400" dirty="0"/>
                        <a:t>7</a:t>
                      </a:r>
                    </a:p>
                  </a:txBody>
                  <a:tcPr/>
                </a:tc>
                <a:tc>
                  <a:txBody>
                    <a:bodyPr/>
                    <a:lstStyle/>
                    <a:p>
                      <a:pPr algn="ctr"/>
                      <a:r>
                        <a:rPr lang="en-US" sz="2400" dirty="0"/>
                        <a:t>6</a:t>
                      </a:r>
                    </a:p>
                  </a:txBody>
                  <a:tcPr/>
                </a:tc>
                <a:tc>
                  <a:txBody>
                    <a:bodyPr/>
                    <a:lstStyle/>
                    <a:p>
                      <a:pPr algn="ctr"/>
                      <a:r>
                        <a:rPr lang="en-US" sz="2400" dirty="0"/>
                        <a:t>5</a:t>
                      </a:r>
                    </a:p>
                  </a:txBody>
                  <a:tcPr/>
                </a:tc>
                <a:tc>
                  <a:txBody>
                    <a:bodyPr/>
                    <a:lstStyle/>
                    <a:p>
                      <a:pPr algn="ctr"/>
                      <a:r>
                        <a:rPr lang="en-US" sz="2400" dirty="0"/>
                        <a:t>4</a:t>
                      </a:r>
                    </a:p>
                  </a:txBody>
                  <a:tcPr/>
                </a:tc>
                <a:tc>
                  <a:txBody>
                    <a:bodyPr/>
                    <a:lstStyle/>
                    <a:p>
                      <a:pPr algn="ctr"/>
                      <a:r>
                        <a:rPr lang="en-US" sz="2400" dirty="0"/>
                        <a:t>3</a:t>
                      </a:r>
                    </a:p>
                  </a:txBody>
                  <a:tcPr/>
                </a:tc>
                <a:tc>
                  <a:txBody>
                    <a:bodyPr/>
                    <a:lstStyle/>
                    <a:p>
                      <a:pPr algn="ctr"/>
                      <a:r>
                        <a:rPr lang="en-US" sz="2400" dirty="0"/>
                        <a:t>2</a:t>
                      </a:r>
                    </a:p>
                  </a:txBody>
                  <a:tcPr/>
                </a:tc>
                <a:tc>
                  <a:txBody>
                    <a:bodyPr/>
                    <a:lstStyle/>
                    <a:p>
                      <a:pPr algn="ctr"/>
                      <a:r>
                        <a:rPr lang="en-US" sz="2400" dirty="0"/>
                        <a:t>1</a:t>
                      </a:r>
                    </a:p>
                  </a:txBody>
                  <a:tcPr/>
                </a:tc>
                <a:extLst>
                  <a:ext uri="{0D108BD9-81ED-4DB2-BD59-A6C34878D82A}">
                    <a16:rowId xmlns:a16="http://schemas.microsoft.com/office/drawing/2014/main" val="2388973828"/>
                  </a:ext>
                </a:extLst>
              </a:tr>
              <a:tr h="340360">
                <a:tc>
                  <a:txBody>
                    <a:bodyPr/>
                    <a:lstStyle/>
                    <a:p>
                      <a:pPr algn="ctr"/>
                      <a:r>
                        <a:rPr lang="en-US" sz="2400" dirty="0"/>
                        <a:t>1</a:t>
                      </a:r>
                    </a:p>
                  </a:txBody>
                  <a:tcPr/>
                </a:tc>
                <a:tc>
                  <a:txBody>
                    <a:bodyPr/>
                    <a:lstStyle/>
                    <a:p>
                      <a:pPr algn="ctr"/>
                      <a:r>
                        <a:rPr lang="en-US" sz="2400" dirty="0"/>
                        <a:t>1</a:t>
                      </a:r>
                    </a:p>
                  </a:txBody>
                  <a:tcPr/>
                </a:tc>
                <a:tc>
                  <a:txBody>
                    <a:bodyPr/>
                    <a:lstStyle/>
                    <a:p>
                      <a:pPr algn="ctr"/>
                      <a:r>
                        <a:rPr lang="en-US" sz="2400" dirty="0"/>
                        <a:t>1</a:t>
                      </a:r>
                    </a:p>
                  </a:txBody>
                  <a:tcPr/>
                </a:tc>
                <a:tc>
                  <a:txBody>
                    <a:bodyPr/>
                    <a:lstStyle/>
                    <a:p>
                      <a:pPr algn="ctr"/>
                      <a:r>
                        <a:rPr lang="en-US" sz="2400" b="1" dirty="0">
                          <a:solidFill>
                            <a:srgbClr val="0000FF"/>
                          </a:solidFill>
                        </a:rPr>
                        <a:t>0</a:t>
                      </a:r>
                    </a:p>
                  </a:txBody>
                  <a:tcPr/>
                </a:tc>
                <a:tc>
                  <a:txBody>
                    <a:bodyPr/>
                    <a:lstStyle/>
                    <a:p>
                      <a:pPr algn="ctr"/>
                      <a:r>
                        <a:rPr lang="en-US" sz="2400" dirty="0"/>
                        <a:t>1</a:t>
                      </a:r>
                    </a:p>
                  </a:txBody>
                  <a:tcPr/>
                </a:tc>
                <a:tc>
                  <a:txBody>
                    <a:bodyPr/>
                    <a:lstStyle/>
                    <a:p>
                      <a:pPr algn="ctr"/>
                      <a:r>
                        <a:rPr lang="en-US" sz="2400" b="0" dirty="0">
                          <a:solidFill>
                            <a:schemeClr val="tx1"/>
                          </a:solidFill>
                        </a:rPr>
                        <a:t>1</a:t>
                      </a:r>
                    </a:p>
                  </a:txBody>
                  <a:tcPr/>
                </a:tc>
                <a:tc>
                  <a:txBody>
                    <a:bodyPr/>
                    <a:lstStyle/>
                    <a:p>
                      <a:pPr algn="ctr"/>
                      <a:r>
                        <a:rPr lang="en-US" sz="2400" dirty="0"/>
                        <a:t>1</a:t>
                      </a:r>
                    </a:p>
                  </a:txBody>
                  <a:tcPr/>
                </a:tc>
                <a:tc>
                  <a:txBody>
                    <a:bodyPr/>
                    <a:lstStyle/>
                    <a:p>
                      <a:pPr algn="ctr"/>
                      <a:r>
                        <a:rPr lang="en-US" sz="2400" dirty="0"/>
                        <a:t>1</a:t>
                      </a:r>
                    </a:p>
                  </a:txBody>
                  <a:tcPr/>
                </a:tc>
                <a:extLst>
                  <a:ext uri="{0D108BD9-81ED-4DB2-BD59-A6C34878D82A}">
                    <a16:rowId xmlns:a16="http://schemas.microsoft.com/office/drawing/2014/main" val="3965709337"/>
                  </a:ext>
                </a:extLst>
              </a:tr>
            </a:tbl>
          </a:graphicData>
        </a:graphic>
      </p:graphicFrame>
      <p:sp>
        <p:nvSpPr>
          <p:cNvPr id="42" name="TextBox 41">
            <a:extLst>
              <a:ext uri="{FF2B5EF4-FFF2-40B4-BE49-F238E27FC236}">
                <a16:creationId xmlns:a16="http://schemas.microsoft.com/office/drawing/2014/main" id="{070A5EAC-3A32-F6F5-8116-24132A4C59D6}"/>
              </a:ext>
            </a:extLst>
          </p:cNvPr>
          <p:cNvSpPr txBox="1"/>
          <p:nvPr/>
        </p:nvSpPr>
        <p:spPr>
          <a:xfrm>
            <a:off x="1585741" y="3906011"/>
            <a:ext cx="4460240" cy="661720"/>
          </a:xfrm>
          <a:prstGeom prst="rect">
            <a:avLst/>
          </a:prstGeom>
          <a:noFill/>
        </p:spPr>
        <p:txBody>
          <a:bodyPr wrap="square" rtlCol="0">
            <a:spAutoFit/>
          </a:bodyPr>
          <a:lstStyle/>
          <a:p>
            <a:r>
              <a:rPr lang="en-US" sz="3600" dirty="0"/>
              <a:t>PC = PC+2 or 3</a:t>
            </a:r>
          </a:p>
        </p:txBody>
      </p:sp>
      <p:graphicFrame>
        <p:nvGraphicFramePr>
          <p:cNvPr id="43" name="Table 42">
            <a:extLst>
              <a:ext uri="{FF2B5EF4-FFF2-40B4-BE49-F238E27FC236}">
                <a16:creationId xmlns:a16="http://schemas.microsoft.com/office/drawing/2014/main" id="{88775942-554D-1CBA-7E09-AE9F6B48F57C}"/>
              </a:ext>
            </a:extLst>
          </p:cNvPr>
          <p:cNvGraphicFramePr>
            <a:graphicFrameLocks noGrp="1"/>
          </p:cNvGraphicFramePr>
          <p:nvPr>
            <p:extLst>
              <p:ext uri="{D42A27DB-BD31-4B8C-83A1-F6EECF244321}">
                <p14:modId xmlns:p14="http://schemas.microsoft.com/office/powerpoint/2010/main" val="176766163"/>
              </p:ext>
            </p:extLst>
          </p:nvPr>
        </p:nvGraphicFramePr>
        <p:xfrm>
          <a:off x="1447799" y="6115811"/>
          <a:ext cx="4673600" cy="914400"/>
        </p:xfrm>
        <a:graphic>
          <a:graphicData uri="http://schemas.openxmlformats.org/drawingml/2006/table">
            <a:tbl>
              <a:tblPr firstRow="1" bandRow="1">
                <a:tableStyleId>{D7AC3CCA-C797-4891-BE02-D94E43425B78}</a:tableStyleId>
              </a:tblPr>
              <a:tblGrid>
                <a:gridCol w="581660">
                  <a:extLst>
                    <a:ext uri="{9D8B030D-6E8A-4147-A177-3AD203B41FA5}">
                      <a16:colId xmlns:a16="http://schemas.microsoft.com/office/drawing/2014/main" val="1787849861"/>
                    </a:ext>
                  </a:extLst>
                </a:gridCol>
                <a:gridCol w="581660">
                  <a:extLst>
                    <a:ext uri="{9D8B030D-6E8A-4147-A177-3AD203B41FA5}">
                      <a16:colId xmlns:a16="http://schemas.microsoft.com/office/drawing/2014/main" val="917799899"/>
                    </a:ext>
                  </a:extLst>
                </a:gridCol>
                <a:gridCol w="581660">
                  <a:extLst>
                    <a:ext uri="{9D8B030D-6E8A-4147-A177-3AD203B41FA5}">
                      <a16:colId xmlns:a16="http://schemas.microsoft.com/office/drawing/2014/main" val="1419689249"/>
                    </a:ext>
                  </a:extLst>
                </a:gridCol>
                <a:gridCol w="581660">
                  <a:extLst>
                    <a:ext uri="{9D8B030D-6E8A-4147-A177-3AD203B41FA5}">
                      <a16:colId xmlns:a16="http://schemas.microsoft.com/office/drawing/2014/main" val="1988398595"/>
                    </a:ext>
                  </a:extLst>
                </a:gridCol>
                <a:gridCol w="581660">
                  <a:extLst>
                    <a:ext uri="{9D8B030D-6E8A-4147-A177-3AD203B41FA5}">
                      <a16:colId xmlns:a16="http://schemas.microsoft.com/office/drawing/2014/main" val="535832957"/>
                    </a:ext>
                  </a:extLst>
                </a:gridCol>
                <a:gridCol w="581660">
                  <a:extLst>
                    <a:ext uri="{9D8B030D-6E8A-4147-A177-3AD203B41FA5}">
                      <a16:colId xmlns:a16="http://schemas.microsoft.com/office/drawing/2014/main" val="1675849524"/>
                    </a:ext>
                  </a:extLst>
                </a:gridCol>
                <a:gridCol w="581660">
                  <a:extLst>
                    <a:ext uri="{9D8B030D-6E8A-4147-A177-3AD203B41FA5}">
                      <a16:colId xmlns:a16="http://schemas.microsoft.com/office/drawing/2014/main" val="3294324509"/>
                    </a:ext>
                  </a:extLst>
                </a:gridCol>
                <a:gridCol w="601980">
                  <a:extLst>
                    <a:ext uri="{9D8B030D-6E8A-4147-A177-3AD203B41FA5}">
                      <a16:colId xmlns:a16="http://schemas.microsoft.com/office/drawing/2014/main" val="416964194"/>
                    </a:ext>
                  </a:extLst>
                </a:gridCol>
              </a:tblGrid>
              <a:tr h="340360">
                <a:tc>
                  <a:txBody>
                    <a:bodyPr/>
                    <a:lstStyle/>
                    <a:p>
                      <a:pPr algn="ctr"/>
                      <a:r>
                        <a:rPr lang="en-US" sz="2400" dirty="0"/>
                        <a:t>8</a:t>
                      </a:r>
                    </a:p>
                  </a:txBody>
                  <a:tcPr/>
                </a:tc>
                <a:tc>
                  <a:txBody>
                    <a:bodyPr/>
                    <a:lstStyle/>
                    <a:p>
                      <a:pPr algn="ctr"/>
                      <a:r>
                        <a:rPr lang="en-US" sz="2400" dirty="0"/>
                        <a:t>7</a:t>
                      </a:r>
                    </a:p>
                  </a:txBody>
                  <a:tcPr/>
                </a:tc>
                <a:tc>
                  <a:txBody>
                    <a:bodyPr/>
                    <a:lstStyle/>
                    <a:p>
                      <a:pPr algn="ctr"/>
                      <a:r>
                        <a:rPr lang="en-US" sz="2400" dirty="0"/>
                        <a:t>6</a:t>
                      </a:r>
                    </a:p>
                  </a:txBody>
                  <a:tcPr/>
                </a:tc>
                <a:tc>
                  <a:txBody>
                    <a:bodyPr/>
                    <a:lstStyle/>
                    <a:p>
                      <a:pPr algn="ctr"/>
                      <a:r>
                        <a:rPr lang="en-US" sz="2400" dirty="0"/>
                        <a:t>5</a:t>
                      </a:r>
                    </a:p>
                  </a:txBody>
                  <a:tcPr/>
                </a:tc>
                <a:tc>
                  <a:txBody>
                    <a:bodyPr/>
                    <a:lstStyle/>
                    <a:p>
                      <a:pPr algn="ctr"/>
                      <a:r>
                        <a:rPr lang="en-US" sz="2400" dirty="0"/>
                        <a:t>4</a:t>
                      </a:r>
                    </a:p>
                  </a:txBody>
                  <a:tcPr/>
                </a:tc>
                <a:tc>
                  <a:txBody>
                    <a:bodyPr/>
                    <a:lstStyle/>
                    <a:p>
                      <a:pPr algn="ctr"/>
                      <a:r>
                        <a:rPr lang="en-US" sz="2400" dirty="0"/>
                        <a:t>3</a:t>
                      </a:r>
                    </a:p>
                  </a:txBody>
                  <a:tcPr/>
                </a:tc>
                <a:tc>
                  <a:txBody>
                    <a:bodyPr/>
                    <a:lstStyle/>
                    <a:p>
                      <a:pPr algn="ctr"/>
                      <a:r>
                        <a:rPr lang="en-US" sz="2400" dirty="0"/>
                        <a:t>2</a:t>
                      </a:r>
                    </a:p>
                  </a:txBody>
                  <a:tcPr/>
                </a:tc>
                <a:tc>
                  <a:txBody>
                    <a:bodyPr/>
                    <a:lstStyle/>
                    <a:p>
                      <a:pPr algn="ctr"/>
                      <a:r>
                        <a:rPr lang="en-US" sz="2400" dirty="0"/>
                        <a:t>1</a:t>
                      </a:r>
                    </a:p>
                  </a:txBody>
                  <a:tcPr/>
                </a:tc>
                <a:extLst>
                  <a:ext uri="{0D108BD9-81ED-4DB2-BD59-A6C34878D82A}">
                    <a16:rowId xmlns:a16="http://schemas.microsoft.com/office/drawing/2014/main" val="2388973828"/>
                  </a:ext>
                </a:extLst>
              </a:tr>
              <a:tr h="340360">
                <a:tc>
                  <a:txBody>
                    <a:bodyPr/>
                    <a:lstStyle/>
                    <a:p>
                      <a:pPr algn="ctr"/>
                      <a:r>
                        <a:rPr lang="en-US" sz="2400" dirty="0"/>
                        <a:t>1</a:t>
                      </a:r>
                    </a:p>
                  </a:txBody>
                  <a:tcPr/>
                </a:tc>
                <a:tc>
                  <a:txBody>
                    <a:bodyPr/>
                    <a:lstStyle/>
                    <a:p>
                      <a:pPr algn="ctr"/>
                      <a:r>
                        <a:rPr lang="en-US" sz="2400" dirty="0"/>
                        <a:t>1</a:t>
                      </a:r>
                    </a:p>
                  </a:txBody>
                  <a:tcPr/>
                </a:tc>
                <a:tc>
                  <a:txBody>
                    <a:bodyPr/>
                    <a:lstStyle/>
                    <a:p>
                      <a:pPr algn="ctr"/>
                      <a:r>
                        <a:rPr lang="en-US" sz="2400" dirty="0"/>
                        <a:t>1</a:t>
                      </a:r>
                    </a:p>
                  </a:txBody>
                  <a:tcPr/>
                </a:tc>
                <a:tc>
                  <a:txBody>
                    <a:bodyPr/>
                    <a:lstStyle/>
                    <a:p>
                      <a:pPr algn="ctr"/>
                      <a:r>
                        <a:rPr lang="en-US" sz="2400" b="1" dirty="0">
                          <a:solidFill>
                            <a:srgbClr val="FF0000"/>
                          </a:solidFill>
                        </a:rPr>
                        <a:t>1</a:t>
                      </a:r>
                    </a:p>
                  </a:txBody>
                  <a:tcPr/>
                </a:tc>
                <a:tc>
                  <a:txBody>
                    <a:bodyPr/>
                    <a:lstStyle/>
                    <a:p>
                      <a:pPr algn="ctr"/>
                      <a:r>
                        <a:rPr lang="en-US" sz="2400" dirty="0"/>
                        <a:t>1</a:t>
                      </a:r>
                    </a:p>
                  </a:txBody>
                  <a:tcPr/>
                </a:tc>
                <a:tc>
                  <a:txBody>
                    <a:bodyPr/>
                    <a:lstStyle/>
                    <a:p>
                      <a:pPr algn="ctr"/>
                      <a:r>
                        <a:rPr lang="en-US" sz="2400" b="0" dirty="0">
                          <a:solidFill>
                            <a:schemeClr val="tx1"/>
                          </a:solidFill>
                        </a:rPr>
                        <a:t>1</a:t>
                      </a:r>
                    </a:p>
                  </a:txBody>
                  <a:tcPr/>
                </a:tc>
                <a:tc>
                  <a:txBody>
                    <a:bodyPr/>
                    <a:lstStyle/>
                    <a:p>
                      <a:pPr algn="ctr"/>
                      <a:r>
                        <a:rPr lang="en-US" sz="2400" dirty="0"/>
                        <a:t>1</a:t>
                      </a:r>
                    </a:p>
                  </a:txBody>
                  <a:tcPr/>
                </a:tc>
                <a:tc>
                  <a:txBody>
                    <a:bodyPr/>
                    <a:lstStyle/>
                    <a:p>
                      <a:pPr algn="ctr"/>
                      <a:r>
                        <a:rPr lang="en-US" sz="2400" dirty="0"/>
                        <a:t>1</a:t>
                      </a:r>
                    </a:p>
                  </a:txBody>
                  <a:tcPr/>
                </a:tc>
                <a:extLst>
                  <a:ext uri="{0D108BD9-81ED-4DB2-BD59-A6C34878D82A}">
                    <a16:rowId xmlns:a16="http://schemas.microsoft.com/office/drawing/2014/main" val="3965709337"/>
                  </a:ext>
                </a:extLst>
              </a:tr>
            </a:tbl>
          </a:graphicData>
        </a:graphic>
      </p:graphicFrame>
      <p:pic>
        <p:nvPicPr>
          <p:cNvPr id="3" name="object 3">
            <a:extLst>
              <a:ext uri="{FF2B5EF4-FFF2-40B4-BE49-F238E27FC236}">
                <a16:creationId xmlns:a16="http://schemas.microsoft.com/office/drawing/2014/main" id="{C9E11678-B8D5-5DD7-F3EF-861A8BB4A361}"/>
              </a:ext>
            </a:extLst>
          </p:cNvPr>
          <p:cNvPicPr/>
          <p:nvPr/>
        </p:nvPicPr>
        <p:blipFill>
          <a:blip r:embed="rId2" cstate="print">
            <a:duotone>
              <a:schemeClr val="accent2">
                <a:shade val="45000"/>
                <a:satMod val="135000"/>
              </a:schemeClr>
              <a:prstClr val="white"/>
            </a:duotone>
          </a:blip>
          <a:stretch>
            <a:fillRect/>
          </a:stretch>
        </p:blipFill>
        <p:spPr>
          <a:xfrm>
            <a:off x="9448800" y="1752600"/>
            <a:ext cx="5556738" cy="5715000"/>
          </a:xfrm>
          <a:prstGeom prst="rect">
            <a:avLst/>
          </a:prstGeom>
        </p:spPr>
      </p:pic>
      <p:sp>
        <p:nvSpPr>
          <p:cNvPr id="4" name="Rectangle 3">
            <a:extLst>
              <a:ext uri="{FF2B5EF4-FFF2-40B4-BE49-F238E27FC236}">
                <a16:creationId xmlns:a16="http://schemas.microsoft.com/office/drawing/2014/main" id="{6E1588D2-A4DF-C6C6-F3D8-297F53E25975}"/>
              </a:ext>
            </a:extLst>
          </p:cNvPr>
          <p:cNvSpPr/>
          <p:nvPr/>
        </p:nvSpPr>
        <p:spPr>
          <a:xfrm>
            <a:off x="10972800" y="2229611"/>
            <a:ext cx="962548" cy="361189"/>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7376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0759" y="381000"/>
            <a:ext cx="12070080" cy="920496"/>
          </a:xfrm>
        </p:spPr>
        <p:txBody>
          <a:bodyPr/>
          <a:lstStyle/>
          <a:p>
            <a:r>
              <a:rPr lang="en-CA" dirty="0"/>
              <a:t>Programming Examples</a:t>
            </a:r>
          </a:p>
        </p:txBody>
      </p:sp>
      <p:sp>
        <p:nvSpPr>
          <p:cNvPr id="23" name="TextBox 22">
            <a:extLst>
              <a:ext uri="{FF2B5EF4-FFF2-40B4-BE49-F238E27FC236}">
                <a16:creationId xmlns:a16="http://schemas.microsoft.com/office/drawing/2014/main" id="{485B723D-5730-C822-D0C9-83C95CAF56AD}"/>
              </a:ext>
            </a:extLst>
          </p:cNvPr>
          <p:cNvSpPr txBox="1"/>
          <p:nvPr/>
        </p:nvSpPr>
        <p:spPr>
          <a:xfrm>
            <a:off x="3752088" y="2548347"/>
            <a:ext cx="5849112" cy="4801314"/>
          </a:xfrm>
          <a:prstGeom prst="rect">
            <a:avLst/>
          </a:prstGeom>
          <a:noFill/>
          <a:ln>
            <a:solidFill>
              <a:srgbClr val="00B0F0"/>
            </a:solidFill>
          </a:ln>
        </p:spPr>
        <p:txBody>
          <a:bodyPr wrap="square" rtlCol="0">
            <a:spAutoFit/>
          </a:bodyPr>
          <a:lstStyle/>
          <a:p>
            <a:r>
              <a:rPr lang="en-US" sz="3200" b="1" dirty="0">
                <a:solidFill>
                  <a:srgbClr val="FF0000"/>
                </a:solidFill>
              </a:rPr>
              <a:t>Solution:</a:t>
            </a:r>
          </a:p>
          <a:p>
            <a:r>
              <a:rPr lang="en-US" sz="3200" dirty="0"/>
              <a:t>LDI R20, 5;            </a:t>
            </a:r>
            <a:r>
              <a:rPr lang="en-US" sz="3200" dirty="0">
                <a:solidFill>
                  <a:srgbClr val="FF0000"/>
                </a:solidFill>
              </a:rPr>
              <a:t>R20=5</a:t>
            </a:r>
          </a:p>
          <a:p>
            <a:r>
              <a:rPr lang="en-US" sz="3200" dirty="0"/>
              <a:t>LDI R21, 2;            </a:t>
            </a:r>
            <a:r>
              <a:rPr lang="en-US" sz="3200" dirty="0">
                <a:solidFill>
                  <a:srgbClr val="FF0000"/>
                </a:solidFill>
              </a:rPr>
              <a:t>R21=2</a:t>
            </a:r>
          </a:p>
          <a:p>
            <a:r>
              <a:rPr lang="en-US" sz="3200" dirty="0"/>
              <a:t>ADD R20, R21;      </a:t>
            </a:r>
            <a:r>
              <a:rPr lang="en-US" sz="3200" dirty="0">
                <a:solidFill>
                  <a:srgbClr val="FF0000"/>
                </a:solidFill>
              </a:rPr>
              <a:t>R20=5+2=7</a:t>
            </a:r>
          </a:p>
          <a:p>
            <a:r>
              <a:rPr lang="en-US" sz="3200" dirty="0"/>
              <a:t>ADD R20, R21;      </a:t>
            </a:r>
            <a:r>
              <a:rPr lang="en-US" sz="3200" dirty="0">
                <a:solidFill>
                  <a:srgbClr val="FF0000"/>
                </a:solidFill>
              </a:rPr>
              <a:t>R20= 7+2=9</a:t>
            </a:r>
          </a:p>
          <a:p>
            <a:r>
              <a:rPr lang="en-US" sz="3200" dirty="0"/>
              <a:t>STS 0x0220, R20;   </a:t>
            </a:r>
            <a:r>
              <a:rPr lang="en-US" sz="3200" dirty="0">
                <a:solidFill>
                  <a:srgbClr val="FF0000"/>
                </a:solidFill>
              </a:rPr>
              <a:t>0x0220 = 9</a:t>
            </a:r>
          </a:p>
          <a:p>
            <a:endParaRPr lang="en-US" sz="1800" dirty="0">
              <a:solidFill>
                <a:srgbClr val="00B050"/>
              </a:solidFill>
            </a:endParaRPr>
          </a:p>
          <a:p>
            <a:r>
              <a:rPr lang="en-US" sz="3200" dirty="0">
                <a:solidFill>
                  <a:srgbClr val="00B050"/>
                </a:solidFill>
              </a:rPr>
              <a:t>R20= 9</a:t>
            </a:r>
          </a:p>
          <a:p>
            <a:r>
              <a:rPr lang="en-US" sz="3200" dirty="0">
                <a:solidFill>
                  <a:srgbClr val="00B050"/>
                </a:solidFill>
              </a:rPr>
              <a:t>R21= 2</a:t>
            </a:r>
          </a:p>
          <a:p>
            <a:r>
              <a:rPr lang="en-US" sz="3200" dirty="0">
                <a:solidFill>
                  <a:srgbClr val="00B050"/>
                </a:solidFill>
              </a:rPr>
              <a:t>0x0220= 9</a:t>
            </a:r>
          </a:p>
        </p:txBody>
      </p:sp>
      <p:sp>
        <p:nvSpPr>
          <p:cNvPr id="24" name="TextBox 23">
            <a:extLst>
              <a:ext uri="{FF2B5EF4-FFF2-40B4-BE49-F238E27FC236}">
                <a16:creationId xmlns:a16="http://schemas.microsoft.com/office/drawing/2014/main" id="{7E47A414-6AB4-3781-C4B9-C576EDE4C89E}"/>
              </a:ext>
            </a:extLst>
          </p:cNvPr>
          <p:cNvSpPr txBox="1"/>
          <p:nvPr/>
        </p:nvSpPr>
        <p:spPr>
          <a:xfrm>
            <a:off x="152400" y="2548347"/>
            <a:ext cx="3523488" cy="2554545"/>
          </a:xfrm>
          <a:prstGeom prst="rect">
            <a:avLst/>
          </a:prstGeom>
          <a:noFill/>
          <a:ln>
            <a:solidFill>
              <a:srgbClr val="00B0F0"/>
            </a:solidFill>
          </a:ln>
        </p:spPr>
        <p:txBody>
          <a:bodyPr wrap="square" rtlCol="0">
            <a:spAutoFit/>
          </a:bodyPr>
          <a:lstStyle/>
          <a:p>
            <a:r>
              <a:rPr lang="en-US" sz="3200" dirty="0"/>
              <a:t>LDI R20, 5;</a:t>
            </a:r>
          </a:p>
          <a:p>
            <a:r>
              <a:rPr lang="en-US" sz="3200" dirty="0"/>
              <a:t>LDI R21, 2;</a:t>
            </a:r>
          </a:p>
          <a:p>
            <a:r>
              <a:rPr lang="en-US" sz="3200" dirty="0"/>
              <a:t>ADD R20,R21;</a:t>
            </a:r>
          </a:p>
          <a:p>
            <a:r>
              <a:rPr lang="en-US" sz="3200" dirty="0"/>
              <a:t>ADD R20,R21;</a:t>
            </a:r>
          </a:p>
          <a:p>
            <a:r>
              <a:rPr lang="en-US" sz="3200" dirty="0"/>
              <a:t>STS 0x0220, R20;</a:t>
            </a:r>
          </a:p>
        </p:txBody>
      </p:sp>
      <p:sp>
        <p:nvSpPr>
          <p:cNvPr id="25" name="TextBox 24">
            <a:extLst>
              <a:ext uri="{FF2B5EF4-FFF2-40B4-BE49-F238E27FC236}">
                <a16:creationId xmlns:a16="http://schemas.microsoft.com/office/drawing/2014/main" id="{6FCC27B6-5F55-7CB5-1D56-31EEEB7B02DD}"/>
              </a:ext>
            </a:extLst>
          </p:cNvPr>
          <p:cNvSpPr txBox="1"/>
          <p:nvPr/>
        </p:nvSpPr>
        <p:spPr>
          <a:xfrm>
            <a:off x="9876927" y="2603242"/>
            <a:ext cx="3255264" cy="5016758"/>
          </a:xfrm>
          <a:prstGeom prst="rect">
            <a:avLst/>
          </a:prstGeom>
          <a:noFill/>
          <a:ln>
            <a:solidFill>
              <a:srgbClr val="00B0F0"/>
            </a:solidFill>
          </a:ln>
        </p:spPr>
        <p:txBody>
          <a:bodyPr wrap="square" tIns="0" bIns="0" rtlCol="0" anchor="t">
            <a:spAutoFit/>
          </a:bodyPr>
          <a:lstStyle/>
          <a:p>
            <a:r>
              <a:rPr lang="pt-BR" sz="3200" dirty="0"/>
              <a:t>LDI R16, 0x99</a:t>
            </a:r>
          </a:p>
          <a:p>
            <a:r>
              <a:rPr lang="pt-BR" sz="3200" dirty="0"/>
              <a:t>STS 0x0212, R16</a:t>
            </a:r>
          </a:p>
          <a:p>
            <a:r>
              <a:rPr lang="pt-BR" sz="3200" dirty="0"/>
              <a:t>LDI R16, 0x85</a:t>
            </a:r>
          </a:p>
          <a:p>
            <a:r>
              <a:rPr lang="pt-BR" sz="3200" dirty="0"/>
              <a:t>STS 0x0213, R16</a:t>
            </a:r>
          </a:p>
          <a:p>
            <a:r>
              <a:rPr lang="pt-BR" sz="3200" dirty="0"/>
              <a:t>LDI R16, 0x3F</a:t>
            </a:r>
          </a:p>
          <a:p>
            <a:r>
              <a:rPr lang="pt-BR" sz="3200" dirty="0"/>
              <a:t>STS 0x0214, R16</a:t>
            </a:r>
          </a:p>
          <a:p>
            <a:r>
              <a:rPr lang="pt-BR" sz="3200" dirty="0"/>
              <a:t>LDI R16, 0x63</a:t>
            </a:r>
          </a:p>
          <a:p>
            <a:r>
              <a:rPr lang="pt-BR" sz="3200" dirty="0"/>
              <a:t>STS 0x0215, R16</a:t>
            </a:r>
          </a:p>
          <a:p>
            <a:r>
              <a:rPr lang="pt-BR" sz="3200" dirty="0"/>
              <a:t>LDI R16, 0x12</a:t>
            </a:r>
          </a:p>
          <a:p>
            <a:r>
              <a:rPr lang="pt-BR" sz="3200" dirty="0"/>
              <a:t>STS 0x0216, R16</a:t>
            </a:r>
            <a:endParaRPr lang="en-US" sz="3200" dirty="0"/>
          </a:p>
        </p:txBody>
      </p:sp>
      <p:graphicFrame>
        <p:nvGraphicFramePr>
          <p:cNvPr id="26" name="Table 9">
            <a:extLst>
              <a:ext uri="{FF2B5EF4-FFF2-40B4-BE49-F238E27FC236}">
                <a16:creationId xmlns:a16="http://schemas.microsoft.com/office/drawing/2014/main" id="{8B5F24E3-9366-0A88-4A3F-1C2D9122FDD9}"/>
              </a:ext>
            </a:extLst>
          </p:cNvPr>
          <p:cNvGraphicFramePr>
            <a:graphicFrameLocks noGrp="1"/>
          </p:cNvGraphicFramePr>
          <p:nvPr>
            <p:extLst>
              <p:ext uri="{D42A27DB-BD31-4B8C-83A1-F6EECF244321}">
                <p14:modId xmlns:p14="http://schemas.microsoft.com/office/powerpoint/2010/main" val="3621029250"/>
              </p:ext>
            </p:extLst>
          </p:nvPr>
        </p:nvGraphicFramePr>
        <p:xfrm>
          <a:off x="13321557" y="4191000"/>
          <a:ext cx="2816585" cy="3218688"/>
        </p:xfrm>
        <a:graphic>
          <a:graphicData uri="http://schemas.openxmlformats.org/drawingml/2006/table">
            <a:tbl>
              <a:tblPr firstRow="1" bandRow="1">
                <a:tableStyleId>{5C22544A-7EE6-4342-B048-85BDC9FD1C3A}</a:tableStyleId>
              </a:tblPr>
              <a:tblGrid>
                <a:gridCol w="1588623">
                  <a:extLst>
                    <a:ext uri="{9D8B030D-6E8A-4147-A177-3AD203B41FA5}">
                      <a16:colId xmlns:a16="http://schemas.microsoft.com/office/drawing/2014/main" val="113710199"/>
                    </a:ext>
                  </a:extLst>
                </a:gridCol>
                <a:gridCol w="1227962">
                  <a:extLst>
                    <a:ext uri="{9D8B030D-6E8A-4147-A177-3AD203B41FA5}">
                      <a16:colId xmlns:a16="http://schemas.microsoft.com/office/drawing/2014/main" val="2325313131"/>
                    </a:ext>
                  </a:extLst>
                </a:gridCol>
              </a:tblGrid>
              <a:tr h="504749">
                <a:tc gridSpan="2">
                  <a:txBody>
                    <a:bodyPr/>
                    <a:lstStyle/>
                    <a:p>
                      <a:pPr algn="l"/>
                      <a:r>
                        <a:rPr lang="en-US" sz="2800" dirty="0">
                          <a:solidFill>
                            <a:schemeClr val="tx1"/>
                          </a:solidFill>
                          <a:latin typeface="Times New Roman" panose="02020603050405020304" pitchFamily="18" charset="0"/>
                          <a:cs typeface="Times New Roman" panose="02020603050405020304" pitchFamily="18" charset="0"/>
                        </a:rPr>
                        <a:t>Solution:</a:t>
                      </a:r>
                    </a:p>
                  </a:txBody>
                  <a:tcPr marL="109728" marR="109728" marT="54864" marB="54864"/>
                </a:tc>
                <a:tc hMerge="1">
                  <a:txBody>
                    <a:bodyPr/>
                    <a:lstStyle/>
                    <a:p>
                      <a:endParaRPr lang="en-US" dirty="0"/>
                    </a:p>
                  </a:txBody>
                  <a:tcPr/>
                </a:tc>
                <a:extLst>
                  <a:ext uri="{0D108BD9-81ED-4DB2-BD59-A6C34878D82A}">
                    <a16:rowId xmlns:a16="http://schemas.microsoft.com/office/drawing/2014/main" val="2938056605"/>
                  </a:ext>
                </a:extLst>
              </a:tr>
              <a:tr h="504749">
                <a:tc>
                  <a:txBody>
                    <a:bodyPr/>
                    <a:lstStyle/>
                    <a:p>
                      <a:pPr algn="ctr"/>
                      <a:r>
                        <a:rPr lang="en-US" sz="2800" dirty="0">
                          <a:latin typeface="Times New Roman" panose="02020603050405020304" pitchFamily="18" charset="0"/>
                          <a:cs typeface="Times New Roman" panose="02020603050405020304" pitchFamily="18" charset="0"/>
                        </a:rPr>
                        <a:t>0x0212</a:t>
                      </a:r>
                    </a:p>
                  </a:txBody>
                  <a:tcPr marL="109728" marR="109728" marT="54864" marB="54864"/>
                </a:tc>
                <a:tc>
                  <a:txBody>
                    <a:bodyPr/>
                    <a:lstStyle/>
                    <a:p>
                      <a:pPr algn="ctr"/>
                      <a:r>
                        <a:rPr lang="en-US" sz="2800" dirty="0">
                          <a:latin typeface="Times New Roman" panose="02020603050405020304" pitchFamily="18" charset="0"/>
                          <a:cs typeface="Times New Roman" panose="02020603050405020304" pitchFamily="18" charset="0"/>
                        </a:rPr>
                        <a:t>0x99</a:t>
                      </a:r>
                    </a:p>
                  </a:txBody>
                  <a:tcPr marL="109728" marR="109728" marT="54864" marB="54864"/>
                </a:tc>
                <a:extLst>
                  <a:ext uri="{0D108BD9-81ED-4DB2-BD59-A6C34878D82A}">
                    <a16:rowId xmlns:a16="http://schemas.microsoft.com/office/drawing/2014/main" val="2257017553"/>
                  </a:ext>
                </a:extLst>
              </a:tr>
              <a:tr h="504749">
                <a:tc>
                  <a:txBody>
                    <a:bodyPr/>
                    <a:lstStyle/>
                    <a:p>
                      <a:pPr algn="ctr"/>
                      <a:r>
                        <a:rPr lang="en-US" sz="2800" dirty="0">
                          <a:latin typeface="Times New Roman" panose="02020603050405020304" pitchFamily="18" charset="0"/>
                          <a:cs typeface="Times New Roman" panose="02020603050405020304" pitchFamily="18" charset="0"/>
                        </a:rPr>
                        <a:t>0x0213</a:t>
                      </a:r>
                    </a:p>
                  </a:txBody>
                  <a:tcPr marL="109728" marR="109728" marT="54864" marB="54864"/>
                </a:tc>
                <a:tc>
                  <a:txBody>
                    <a:bodyPr/>
                    <a:lstStyle/>
                    <a:p>
                      <a:pPr algn="ctr"/>
                      <a:r>
                        <a:rPr lang="en-US" sz="2800" dirty="0">
                          <a:latin typeface="Times New Roman" panose="02020603050405020304" pitchFamily="18" charset="0"/>
                          <a:cs typeface="Times New Roman" panose="02020603050405020304" pitchFamily="18" charset="0"/>
                        </a:rPr>
                        <a:t>0x85</a:t>
                      </a:r>
                    </a:p>
                  </a:txBody>
                  <a:tcPr marL="109728" marR="109728" marT="54864" marB="54864"/>
                </a:tc>
                <a:extLst>
                  <a:ext uri="{0D108BD9-81ED-4DB2-BD59-A6C34878D82A}">
                    <a16:rowId xmlns:a16="http://schemas.microsoft.com/office/drawing/2014/main" val="427179153"/>
                  </a:ext>
                </a:extLst>
              </a:tr>
              <a:tr h="504749">
                <a:tc>
                  <a:txBody>
                    <a:bodyPr/>
                    <a:lstStyle/>
                    <a:p>
                      <a:pPr algn="ctr"/>
                      <a:r>
                        <a:rPr lang="en-US" sz="2800" dirty="0">
                          <a:latin typeface="Times New Roman" panose="02020603050405020304" pitchFamily="18" charset="0"/>
                          <a:cs typeface="Times New Roman" panose="02020603050405020304" pitchFamily="18" charset="0"/>
                        </a:rPr>
                        <a:t>0x0214</a:t>
                      </a:r>
                    </a:p>
                  </a:txBody>
                  <a:tcPr marL="109728" marR="109728" marT="54864" marB="54864"/>
                </a:tc>
                <a:tc>
                  <a:txBody>
                    <a:bodyPr/>
                    <a:lstStyle/>
                    <a:p>
                      <a:pPr algn="ctr"/>
                      <a:r>
                        <a:rPr lang="en-US" sz="2800" dirty="0">
                          <a:latin typeface="Times New Roman" panose="02020603050405020304" pitchFamily="18" charset="0"/>
                          <a:cs typeface="Times New Roman" panose="02020603050405020304" pitchFamily="18" charset="0"/>
                        </a:rPr>
                        <a:t>0x3F</a:t>
                      </a:r>
                    </a:p>
                  </a:txBody>
                  <a:tcPr marL="109728" marR="109728" marT="54864" marB="54864"/>
                </a:tc>
                <a:extLst>
                  <a:ext uri="{0D108BD9-81ED-4DB2-BD59-A6C34878D82A}">
                    <a16:rowId xmlns:a16="http://schemas.microsoft.com/office/drawing/2014/main" val="1169841050"/>
                  </a:ext>
                </a:extLst>
              </a:tr>
              <a:tr h="504749">
                <a:tc>
                  <a:txBody>
                    <a:bodyPr/>
                    <a:lstStyle/>
                    <a:p>
                      <a:pPr algn="ctr"/>
                      <a:r>
                        <a:rPr lang="en-US" sz="2800" dirty="0">
                          <a:latin typeface="Times New Roman" panose="02020603050405020304" pitchFamily="18" charset="0"/>
                          <a:cs typeface="Times New Roman" panose="02020603050405020304" pitchFamily="18" charset="0"/>
                        </a:rPr>
                        <a:t>0x0215</a:t>
                      </a:r>
                    </a:p>
                  </a:txBody>
                  <a:tcPr marL="109728" marR="109728" marT="54864" marB="54864"/>
                </a:tc>
                <a:tc>
                  <a:txBody>
                    <a:bodyPr/>
                    <a:lstStyle/>
                    <a:p>
                      <a:pPr algn="ctr"/>
                      <a:r>
                        <a:rPr lang="en-US" sz="2800" dirty="0">
                          <a:latin typeface="Times New Roman" panose="02020603050405020304" pitchFamily="18" charset="0"/>
                          <a:cs typeface="Times New Roman" panose="02020603050405020304" pitchFamily="18" charset="0"/>
                        </a:rPr>
                        <a:t>0x63</a:t>
                      </a:r>
                    </a:p>
                  </a:txBody>
                  <a:tcPr marL="109728" marR="109728" marT="54864" marB="54864"/>
                </a:tc>
                <a:extLst>
                  <a:ext uri="{0D108BD9-81ED-4DB2-BD59-A6C34878D82A}">
                    <a16:rowId xmlns:a16="http://schemas.microsoft.com/office/drawing/2014/main" val="1493871356"/>
                  </a:ext>
                </a:extLst>
              </a:tr>
              <a:tr h="504749">
                <a:tc>
                  <a:txBody>
                    <a:bodyPr/>
                    <a:lstStyle/>
                    <a:p>
                      <a:pPr algn="ctr"/>
                      <a:r>
                        <a:rPr lang="en-US" sz="2800" dirty="0">
                          <a:latin typeface="Times New Roman" panose="02020603050405020304" pitchFamily="18" charset="0"/>
                          <a:cs typeface="Times New Roman" panose="02020603050405020304" pitchFamily="18" charset="0"/>
                        </a:rPr>
                        <a:t>0x0216</a:t>
                      </a:r>
                    </a:p>
                  </a:txBody>
                  <a:tcPr marL="109728" marR="109728" marT="54864" marB="54864"/>
                </a:tc>
                <a:tc>
                  <a:txBody>
                    <a:bodyPr/>
                    <a:lstStyle/>
                    <a:p>
                      <a:pPr algn="ctr"/>
                      <a:r>
                        <a:rPr lang="en-US" sz="2800" dirty="0">
                          <a:latin typeface="Times New Roman" panose="02020603050405020304" pitchFamily="18" charset="0"/>
                          <a:cs typeface="Times New Roman" panose="02020603050405020304" pitchFamily="18" charset="0"/>
                        </a:rPr>
                        <a:t>0x12</a:t>
                      </a:r>
                    </a:p>
                  </a:txBody>
                  <a:tcPr marL="109728" marR="109728" marT="54864" marB="54864"/>
                </a:tc>
                <a:extLst>
                  <a:ext uri="{0D108BD9-81ED-4DB2-BD59-A6C34878D82A}">
                    <a16:rowId xmlns:a16="http://schemas.microsoft.com/office/drawing/2014/main" val="3591211326"/>
                  </a:ext>
                </a:extLst>
              </a:tr>
            </a:tbl>
          </a:graphicData>
        </a:graphic>
      </p:graphicFrame>
      <p:sp>
        <p:nvSpPr>
          <p:cNvPr id="27" name="TextBox 26">
            <a:extLst>
              <a:ext uri="{FF2B5EF4-FFF2-40B4-BE49-F238E27FC236}">
                <a16:creationId xmlns:a16="http://schemas.microsoft.com/office/drawing/2014/main" id="{2A109C0C-75B9-BB27-968F-D92CBF09CCB6}"/>
              </a:ext>
            </a:extLst>
          </p:cNvPr>
          <p:cNvSpPr txBox="1"/>
          <p:nvPr/>
        </p:nvSpPr>
        <p:spPr>
          <a:xfrm>
            <a:off x="198120" y="1560493"/>
            <a:ext cx="9403080" cy="954107"/>
          </a:xfrm>
          <a:prstGeom prst="rect">
            <a:avLst/>
          </a:prstGeom>
          <a:noFill/>
        </p:spPr>
        <p:txBody>
          <a:bodyPr wrap="square" rtlCol="0">
            <a:spAutoFit/>
          </a:bodyPr>
          <a:lstStyle/>
          <a:p>
            <a:r>
              <a:rPr lang="en-US" sz="2800" b="1" dirty="0"/>
              <a:t>Example: </a:t>
            </a:r>
            <a:r>
              <a:rPr lang="en-US" sz="2800" dirty="0"/>
              <a:t>State the contents of R20, R21, and the data memory location of 0x0220 after executing the following program.</a:t>
            </a:r>
          </a:p>
        </p:txBody>
      </p:sp>
      <p:sp>
        <p:nvSpPr>
          <p:cNvPr id="28" name="TextBox 27">
            <a:extLst>
              <a:ext uri="{FF2B5EF4-FFF2-40B4-BE49-F238E27FC236}">
                <a16:creationId xmlns:a16="http://schemas.microsoft.com/office/drawing/2014/main" id="{37543C36-9E87-E7ED-FCD5-83B5262E83DE}"/>
              </a:ext>
            </a:extLst>
          </p:cNvPr>
          <p:cNvSpPr txBox="1"/>
          <p:nvPr/>
        </p:nvSpPr>
        <p:spPr>
          <a:xfrm>
            <a:off x="9806824" y="1560493"/>
            <a:ext cx="6347576" cy="1034129"/>
          </a:xfrm>
          <a:prstGeom prst="rect">
            <a:avLst/>
          </a:prstGeom>
          <a:noFill/>
        </p:spPr>
        <p:txBody>
          <a:bodyPr wrap="square" rtlCol="0">
            <a:spAutoFit/>
          </a:bodyPr>
          <a:lstStyle/>
          <a:p>
            <a:pPr>
              <a:lnSpc>
                <a:spcPct val="85000"/>
              </a:lnSpc>
            </a:pPr>
            <a:r>
              <a:rPr lang="en-US" sz="2400" b="1" dirty="0"/>
              <a:t>Example: </a:t>
            </a:r>
            <a:r>
              <a:rPr lang="en-US" sz="2400" dirty="0"/>
              <a:t>State the contents of RAM locations of $0212, $0213, $0214, $0215, and $0216 after executing the following program.</a:t>
            </a:r>
          </a:p>
        </p:txBody>
      </p:sp>
    </p:spTree>
    <p:extLst>
      <p:ext uri="{BB962C8B-B14F-4D97-AF65-F5344CB8AC3E}">
        <p14:creationId xmlns:p14="http://schemas.microsoft.com/office/powerpoint/2010/main" val="608897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Difference Between Assembly and C</a:t>
            </a:r>
          </a:p>
        </p:txBody>
      </p:sp>
      <p:graphicFrame>
        <p:nvGraphicFramePr>
          <p:cNvPr id="5" name="Table 4"/>
          <p:cNvGraphicFramePr>
            <a:graphicFrameLocks noGrp="1"/>
          </p:cNvGraphicFramePr>
          <p:nvPr>
            <p:extLst>
              <p:ext uri="{D42A27DB-BD31-4B8C-83A1-F6EECF244321}">
                <p14:modId xmlns:p14="http://schemas.microsoft.com/office/powerpoint/2010/main" val="4233292792"/>
              </p:ext>
            </p:extLst>
          </p:nvPr>
        </p:nvGraphicFramePr>
        <p:xfrm>
          <a:off x="1235075" y="1684112"/>
          <a:ext cx="13989050" cy="5707287"/>
        </p:xfrm>
        <a:graphic>
          <a:graphicData uri="http://schemas.openxmlformats.org/drawingml/2006/table">
            <a:tbl>
              <a:tblPr/>
              <a:tblGrid>
                <a:gridCol w="13989050">
                  <a:extLst>
                    <a:ext uri="{9D8B030D-6E8A-4147-A177-3AD203B41FA5}">
                      <a16:colId xmlns:a16="http://schemas.microsoft.com/office/drawing/2014/main" val="2658435196"/>
                    </a:ext>
                  </a:extLst>
                </a:gridCol>
              </a:tblGrid>
              <a:tr h="801678">
                <a:tc>
                  <a:txBody>
                    <a:bodyPr/>
                    <a:lstStyle/>
                    <a:p>
                      <a:pPr algn="l"/>
                      <a:r>
                        <a:rPr lang="en-CA" sz="3600" b="0" i="0" dirty="0">
                          <a:solidFill>
                            <a:srgbClr val="00B050"/>
                          </a:solidFill>
                          <a:effectLst/>
                          <a:latin typeface="+mn-lt"/>
                        </a:rPr>
                        <a:t>Assembly Code Example</a:t>
                      </a:r>
                      <a:endParaRPr lang="en-CA" sz="3600"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9248354"/>
                  </a:ext>
                </a:extLst>
              </a:tr>
              <a:tr h="1999525">
                <a:tc>
                  <a:txBody>
                    <a:bodyPr/>
                    <a:lstStyle/>
                    <a:p>
                      <a:pPr algn="l"/>
                      <a:r>
                        <a:rPr lang="en-CA" sz="3600" b="1" i="0" dirty="0">
                          <a:solidFill>
                            <a:srgbClr val="000000"/>
                          </a:solidFill>
                          <a:effectLst/>
                          <a:latin typeface="+mn-lt"/>
                        </a:rPr>
                        <a:t>sei</a:t>
                      </a:r>
                      <a:r>
                        <a:rPr lang="en-CA" sz="3600" b="0" i="1" dirty="0">
                          <a:solidFill>
                            <a:srgbClr val="000000"/>
                          </a:solidFill>
                          <a:effectLst/>
                          <a:latin typeface="+mn-lt"/>
                        </a:rPr>
                        <a:t>; set Global Interrupt Enable</a:t>
                      </a:r>
                      <a:br>
                        <a:rPr lang="en-CA" sz="3600" b="0" i="1" dirty="0">
                          <a:solidFill>
                            <a:srgbClr val="000000"/>
                          </a:solidFill>
                          <a:effectLst/>
                          <a:latin typeface="+mn-lt"/>
                        </a:rPr>
                      </a:br>
                      <a:r>
                        <a:rPr lang="en-CA" sz="3600" b="1" i="0" dirty="0">
                          <a:solidFill>
                            <a:srgbClr val="000000"/>
                          </a:solidFill>
                          <a:effectLst/>
                          <a:latin typeface="+mn-lt"/>
                        </a:rPr>
                        <a:t>sleep</a:t>
                      </a:r>
                      <a:r>
                        <a:rPr lang="en-CA" sz="3600" b="0" i="1" dirty="0">
                          <a:solidFill>
                            <a:srgbClr val="000000"/>
                          </a:solidFill>
                          <a:effectLst/>
                          <a:latin typeface="+mn-lt"/>
                        </a:rPr>
                        <a:t>; enter sleep, waiting for interrupt</a:t>
                      </a:r>
                      <a:br>
                        <a:rPr lang="en-CA" sz="3600" b="0" i="1" dirty="0">
                          <a:solidFill>
                            <a:srgbClr val="000000"/>
                          </a:solidFill>
                          <a:effectLst/>
                          <a:latin typeface="+mn-lt"/>
                        </a:rPr>
                      </a:br>
                      <a:r>
                        <a:rPr lang="en-CA" sz="3600" b="0" i="0" dirty="0">
                          <a:solidFill>
                            <a:srgbClr val="000000"/>
                          </a:solidFill>
                          <a:effectLst/>
                          <a:latin typeface="+mn-lt"/>
                        </a:rPr>
                        <a:t>; note: will enter sleep before any pending interrupt(s)</a:t>
                      </a:r>
                      <a:endParaRPr lang="en-CA" sz="3600" dirty="0">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3227000"/>
                  </a:ext>
                </a:extLst>
              </a:tr>
              <a:tr h="801678">
                <a:tc>
                  <a:txBody>
                    <a:bodyPr/>
                    <a:lstStyle/>
                    <a:p>
                      <a:pPr algn="l"/>
                      <a:r>
                        <a:rPr lang="en-CA" sz="3600" b="0" i="0" dirty="0">
                          <a:solidFill>
                            <a:srgbClr val="0000FF"/>
                          </a:solidFill>
                          <a:effectLst/>
                          <a:latin typeface="+mn-lt"/>
                        </a:rPr>
                        <a:t>C Code Example</a:t>
                      </a:r>
                      <a:endParaRPr lang="en-CA" sz="3600" dirty="0">
                        <a:solidFill>
                          <a:srgbClr val="0000FF"/>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15962538"/>
                  </a:ext>
                </a:extLst>
              </a:tr>
              <a:tr h="2104406">
                <a:tc>
                  <a:txBody>
                    <a:bodyPr/>
                    <a:lstStyle/>
                    <a:p>
                      <a:pPr algn="l"/>
                      <a:r>
                        <a:rPr lang="en-CA" sz="3600" b="0" i="0" dirty="0">
                          <a:solidFill>
                            <a:srgbClr val="000000"/>
                          </a:solidFill>
                          <a:effectLst/>
                          <a:latin typeface="+mn-lt"/>
                        </a:rPr>
                        <a:t>__</a:t>
                      </a:r>
                      <a:r>
                        <a:rPr lang="en-CA" sz="3600" b="0" i="0" dirty="0" err="1">
                          <a:solidFill>
                            <a:srgbClr val="000000"/>
                          </a:solidFill>
                          <a:effectLst/>
                          <a:latin typeface="+mn-lt"/>
                        </a:rPr>
                        <a:t>enable_interrupt</a:t>
                      </a:r>
                      <a:r>
                        <a:rPr lang="en-CA" sz="3600" b="0" i="0" dirty="0">
                          <a:solidFill>
                            <a:srgbClr val="000000"/>
                          </a:solidFill>
                          <a:effectLst/>
                          <a:latin typeface="+mn-lt"/>
                        </a:rPr>
                        <a:t>(); </a:t>
                      </a:r>
                      <a:r>
                        <a:rPr lang="en-CA" sz="3600" b="0" i="1" dirty="0">
                          <a:solidFill>
                            <a:srgbClr val="000000"/>
                          </a:solidFill>
                          <a:effectLst/>
                          <a:latin typeface="+mn-lt"/>
                        </a:rPr>
                        <a:t>/* set Global Interrupt Enable */</a:t>
                      </a:r>
                      <a:br>
                        <a:rPr lang="en-CA" sz="3600" b="0" i="1" dirty="0">
                          <a:solidFill>
                            <a:srgbClr val="000000"/>
                          </a:solidFill>
                          <a:effectLst/>
                          <a:latin typeface="+mn-lt"/>
                        </a:rPr>
                      </a:br>
                      <a:r>
                        <a:rPr lang="en-CA" sz="3600" b="0" i="0" dirty="0">
                          <a:solidFill>
                            <a:srgbClr val="000000"/>
                          </a:solidFill>
                          <a:effectLst/>
                          <a:latin typeface="+mn-lt"/>
                        </a:rPr>
                        <a:t>__sleep(); </a:t>
                      </a:r>
                      <a:r>
                        <a:rPr lang="en-CA" sz="3600" b="0" i="1" dirty="0">
                          <a:solidFill>
                            <a:srgbClr val="000000"/>
                          </a:solidFill>
                          <a:effectLst/>
                          <a:latin typeface="+mn-lt"/>
                        </a:rPr>
                        <a:t>/* enter sleep, waiting for interrupt */</a:t>
                      </a:r>
                      <a:br>
                        <a:rPr lang="en-CA" sz="3600" b="0" i="1" dirty="0">
                          <a:solidFill>
                            <a:srgbClr val="000000"/>
                          </a:solidFill>
                          <a:effectLst/>
                          <a:latin typeface="+mn-lt"/>
                        </a:rPr>
                      </a:br>
                      <a:r>
                        <a:rPr lang="en-CA" sz="3600" b="0" i="0" dirty="0">
                          <a:solidFill>
                            <a:srgbClr val="000000"/>
                          </a:solidFill>
                          <a:effectLst/>
                          <a:latin typeface="+mn-lt"/>
                        </a:rPr>
                        <a:t>/* note: will enter sleep before any pending interrupt(s) */</a:t>
                      </a:r>
                      <a:endParaRPr lang="en-CA" sz="3600" dirty="0">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2355127"/>
                  </a:ext>
                </a:extLst>
              </a:tr>
            </a:tbl>
          </a:graphicData>
        </a:graphic>
      </p:graphicFrame>
      <p:sp>
        <p:nvSpPr>
          <p:cNvPr id="6" name="Rectangle 2"/>
          <p:cNvSpPr>
            <a:spLocks noChangeArrowheads="1"/>
          </p:cNvSpPr>
          <p:nvPr/>
        </p:nvSpPr>
        <p:spPr bwMode="auto">
          <a:xfrm>
            <a:off x="5751196" y="326218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Tree>
    <p:extLst>
      <p:ext uri="{BB962C8B-B14F-4D97-AF65-F5344CB8AC3E}">
        <p14:creationId xmlns:p14="http://schemas.microsoft.com/office/powerpoint/2010/main" val="1918418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278F6-FF44-75A4-AB06-F3AE28930F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0D1C8C-38AB-E635-C99F-95AFB12C4EFF}"/>
              </a:ext>
            </a:extLst>
          </p:cNvPr>
          <p:cNvSpPr>
            <a:spLocks noGrp="1"/>
          </p:cNvSpPr>
          <p:nvPr>
            <p:ph type="title"/>
          </p:nvPr>
        </p:nvSpPr>
        <p:spPr>
          <a:xfrm>
            <a:off x="1752600" y="343924"/>
            <a:ext cx="12954000" cy="1106924"/>
          </a:xfrm>
        </p:spPr>
        <p:txBody>
          <a:bodyPr/>
          <a:lstStyle/>
          <a:p>
            <a:r>
              <a:rPr lang="en-US" dirty="0"/>
              <a:t>EEPROM Control Register (EECR)</a:t>
            </a:r>
          </a:p>
        </p:txBody>
      </p:sp>
      <p:graphicFrame>
        <p:nvGraphicFramePr>
          <p:cNvPr id="3" name="Table 3">
            <a:extLst>
              <a:ext uri="{FF2B5EF4-FFF2-40B4-BE49-F238E27FC236}">
                <a16:creationId xmlns:a16="http://schemas.microsoft.com/office/drawing/2014/main" id="{1F4700DD-932A-C562-7B22-75C75988AC4E}"/>
              </a:ext>
            </a:extLst>
          </p:cNvPr>
          <p:cNvGraphicFramePr>
            <a:graphicFrameLocks noGrp="1"/>
          </p:cNvGraphicFramePr>
          <p:nvPr/>
        </p:nvGraphicFramePr>
        <p:xfrm>
          <a:off x="533400" y="1676401"/>
          <a:ext cx="14020808" cy="1381078"/>
        </p:xfrm>
        <a:graphic>
          <a:graphicData uri="http://schemas.openxmlformats.org/drawingml/2006/table">
            <a:tbl>
              <a:tblPr firstRow="1" bandRow="1">
                <a:tableStyleId>{D7AC3CCA-C797-4891-BE02-D94E43425B78}</a:tableStyleId>
              </a:tblPr>
              <a:tblGrid>
                <a:gridCol w="1752601">
                  <a:extLst>
                    <a:ext uri="{9D8B030D-6E8A-4147-A177-3AD203B41FA5}">
                      <a16:colId xmlns:a16="http://schemas.microsoft.com/office/drawing/2014/main" val="1488193079"/>
                    </a:ext>
                  </a:extLst>
                </a:gridCol>
                <a:gridCol w="1752601">
                  <a:extLst>
                    <a:ext uri="{9D8B030D-6E8A-4147-A177-3AD203B41FA5}">
                      <a16:colId xmlns:a16="http://schemas.microsoft.com/office/drawing/2014/main" val="1311619111"/>
                    </a:ext>
                  </a:extLst>
                </a:gridCol>
                <a:gridCol w="1752601">
                  <a:extLst>
                    <a:ext uri="{9D8B030D-6E8A-4147-A177-3AD203B41FA5}">
                      <a16:colId xmlns:a16="http://schemas.microsoft.com/office/drawing/2014/main" val="3851950084"/>
                    </a:ext>
                  </a:extLst>
                </a:gridCol>
                <a:gridCol w="1752601">
                  <a:extLst>
                    <a:ext uri="{9D8B030D-6E8A-4147-A177-3AD203B41FA5}">
                      <a16:colId xmlns:a16="http://schemas.microsoft.com/office/drawing/2014/main" val="4222520083"/>
                    </a:ext>
                  </a:extLst>
                </a:gridCol>
                <a:gridCol w="1752601">
                  <a:extLst>
                    <a:ext uri="{9D8B030D-6E8A-4147-A177-3AD203B41FA5}">
                      <a16:colId xmlns:a16="http://schemas.microsoft.com/office/drawing/2014/main" val="667054485"/>
                    </a:ext>
                  </a:extLst>
                </a:gridCol>
                <a:gridCol w="1752601">
                  <a:extLst>
                    <a:ext uri="{9D8B030D-6E8A-4147-A177-3AD203B41FA5}">
                      <a16:colId xmlns:a16="http://schemas.microsoft.com/office/drawing/2014/main" val="1680255526"/>
                    </a:ext>
                  </a:extLst>
                </a:gridCol>
                <a:gridCol w="1752601">
                  <a:extLst>
                    <a:ext uri="{9D8B030D-6E8A-4147-A177-3AD203B41FA5}">
                      <a16:colId xmlns:a16="http://schemas.microsoft.com/office/drawing/2014/main" val="1720307494"/>
                    </a:ext>
                  </a:extLst>
                </a:gridCol>
                <a:gridCol w="1752601">
                  <a:extLst>
                    <a:ext uri="{9D8B030D-6E8A-4147-A177-3AD203B41FA5}">
                      <a16:colId xmlns:a16="http://schemas.microsoft.com/office/drawing/2014/main" val="37233508"/>
                    </a:ext>
                  </a:extLst>
                </a:gridCol>
              </a:tblGrid>
              <a:tr h="600730">
                <a:tc>
                  <a:txBody>
                    <a:bodyPr/>
                    <a:lstStyle/>
                    <a:p>
                      <a:pPr algn="ctr"/>
                      <a:r>
                        <a:rPr lang="en-US" sz="3600" dirty="0">
                          <a:latin typeface="Times New Roman" panose="02020603050405020304" pitchFamily="18" charset="0"/>
                          <a:cs typeface="Times New Roman" panose="02020603050405020304" pitchFamily="18" charset="0"/>
                        </a:rPr>
                        <a:t>7</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6</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5</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4</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3</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2</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1</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0</a:t>
                      </a:r>
                    </a:p>
                  </a:txBody>
                  <a:tcPr marL="109728" marR="109728" marT="54864" marB="54864"/>
                </a:tc>
                <a:extLst>
                  <a:ext uri="{0D108BD9-81ED-4DB2-BD59-A6C34878D82A}">
                    <a16:rowId xmlns:a16="http://schemas.microsoft.com/office/drawing/2014/main" val="3508189544"/>
                  </a:ext>
                </a:extLst>
              </a:tr>
              <a:tr h="722710">
                <a:tc>
                  <a:txBody>
                    <a:bodyPr/>
                    <a:lstStyle/>
                    <a:p>
                      <a:pPr algn="ctr"/>
                      <a:endParaRPr lang="en-US" sz="3600" dirty="0">
                        <a:latin typeface="Times New Roman" panose="02020603050405020304" pitchFamily="18" charset="0"/>
                        <a:cs typeface="Times New Roman" panose="02020603050405020304" pitchFamily="18" charset="0"/>
                      </a:endParaRPr>
                    </a:p>
                  </a:txBody>
                  <a:tcPr marL="109728" marR="109728" marT="54864" marB="54864"/>
                </a:tc>
                <a:tc>
                  <a:txBody>
                    <a:bodyPr/>
                    <a:lstStyle/>
                    <a:p>
                      <a:pPr algn="ctr"/>
                      <a:endParaRPr lang="en-US" sz="3600">
                        <a:latin typeface="Times New Roman" panose="02020603050405020304" pitchFamily="18" charset="0"/>
                        <a:cs typeface="Times New Roman" panose="02020603050405020304" pitchFamily="18" charset="0"/>
                      </a:endParaRPr>
                    </a:p>
                  </a:txBody>
                  <a:tcPr marL="109728" marR="109728" marT="54864" marB="54864"/>
                </a:tc>
                <a:tc gridSpan="2">
                  <a:txBody>
                    <a:bodyPr/>
                    <a:lstStyle/>
                    <a:p>
                      <a:pPr algn="ctr"/>
                      <a:r>
                        <a:rPr lang="en-US" sz="3600" dirty="0">
                          <a:latin typeface="Times New Roman" panose="02020603050405020304" pitchFamily="18" charset="0"/>
                          <a:cs typeface="Times New Roman" panose="02020603050405020304" pitchFamily="18" charset="0"/>
                        </a:rPr>
                        <a:t>EEPM(1:0)</a:t>
                      </a:r>
                    </a:p>
                  </a:txBody>
                  <a:tcPr marL="109728" marR="109728" marT="54864" marB="54864"/>
                </a:tc>
                <a:tc hMerge="1">
                  <a:txBody>
                    <a:bodyPr/>
                    <a:lstStyle/>
                    <a:p>
                      <a:pPr algn="ctr"/>
                      <a:endParaRPr lang="en-US" dirty="0"/>
                    </a:p>
                  </a:txBody>
                  <a:tcPr/>
                </a:tc>
                <a:tc>
                  <a:txBody>
                    <a:bodyPr/>
                    <a:lstStyle/>
                    <a:p>
                      <a:pPr algn="ctr"/>
                      <a:r>
                        <a:rPr lang="en-US" sz="3600" dirty="0">
                          <a:latin typeface="Times New Roman" panose="02020603050405020304" pitchFamily="18" charset="0"/>
                          <a:cs typeface="Times New Roman" panose="02020603050405020304" pitchFamily="18" charset="0"/>
                        </a:rPr>
                        <a:t>EERIE</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EEMPE</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EEPE</a:t>
                      </a:r>
                    </a:p>
                  </a:txBody>
                  <a:tcPr marL="109728" marR="109728" marT="54864" marB="54864"/>
                </a:tc>
                <a:tc>
                  <a:txBody>
                    <a:bodyPr/>
                    <a:lstStyle/>
                    <a:p>
                      <a:pPr algn="ctr"/>
                      <a:r>
                        <a:rPr lang="en-US" sz="3600" dirty="0">
                          <a:latin typeface="Times New Roman" panose="02020603050405020304" pitchFamily="18" charset="0"/>
                          <a:cs typeface="Times New Roman" panose="02020603050405020304" pitchFamily="18" charset="0"/>
                        </a:rPr>
                        <a:t>EERE</a:t>
                      </a:r>
                    </a:p>
                  </a:txBody>
                  <a:tcPr marL="109728" marR="109728" marT="54864" marB="54864"/>
                </a:tc>
                <a:extLst>
                  <a:ext uri="{0D108BD9-81ED-4DB2-BD59-A6C34878D82A}">
                    <a16:rowId xmlns:a16="http://schemas.microsoft.com/office/drawing/2014/main" val="1014251663"/>
                  </a:ext>
                </a:extLst>
              </a:tr>
            </a:tbl>
          </a:graphicData>
        </a:graphic>
      </p:graphicFrame>
      <p:sp>
        <p:nvSpPr>
          <p:cNvPr id="4" name="TextBox 3">
            <a:extLst>
              <a:ext uri="{FF2B5EF4-FFF2-40B4-BE49-F238E27FC236}">
                <a16:creationId xmlns:a16="http://schemas.microsoft.com/office/drawing/2014/main" id="{167645BE-896C-D1A9-11AF-FA178BF4C6B4}"/>
              </a:ext>
            </a:extLst>
          </p:cNvPr>
          <p:cNvSpPr txBox="1"/>
          <p:nvPr/>
        </p:nvSpPr>
        <p:spPr>
          <a:xfrm>
            <a:off x="412844" y="3057479"/>
            <a:ext cx="15773400" cy="1077218"/>
          </a:xfrm>
          <a:prstGeom prst="rect">
            <a:avLst/>
          </a:prstGeom>
          <a:noFill/>
        </p:spPr>
        <p:txBody>
          <a:bodyPr wrap="square" rtlCol="0">
            <a:spAutoFit/>
          </a:bodyPr>
          <a:lstStyle/>
          <a:p>
            <a:r>
              <a:rPr lang="en-US" sz="3200" b="1" dirty="0"/>
              <a:t>SBIC EECR, EEPE;  </a:t>
            </a:r>
            <a:r>
              <a:rPr lang="en-US" sz="3200" dirty="0"/>
              <a:t>If the EEPE bit of EECR is 0, then the Program Counter (PC) will skip 2 or 3 steps.  </a:t>
            </a:r>
          </a:p>
        </p:txBody>
      </p:sp>
      <p:sp>
        <p:nvSpPr>
          <p:cNvPr id="6" name="TextBox 5">
            <a:extLst>
              <a:ext uri="{FF2B5EF4-FFF2-40B4-BE49-F238E27FC236}">
                <a16:creationId xmlns:a16="http://schemas.microsoft.com/office/drawing/2014/main" id="{D0E102BB-D2F0-B512-B732-3D449715B857}"/>
              </a:ext>
            </a:extLst>
          </p:cNvPr>
          <p:cNvSpPr txBox="1"/>
          <p:nvPr/>
        </p:nvSpPr>
        <p:spPr>
          <a:xfrm>
            <a:off x="228600" y="4080570"/>
            <a:ext cx="15957644" cy="3539430"/>
          </a:xfrm>
          <a:prstGeom prst="rect">
            <a:avLst/>
          </a:prstGeom>
          <a:noFill/>
        </p:spPr>
        <p:txBody>
          <a:bodyPr wrap="square">
            <a:spAutoFit/>
          </a:bodyPr>
          <a:lstStyle/>
          <a:p>
            <a:r>
              <a:rPr lang="en-US" sz="2800" dirty="0"/>
              <a:t>BIT4:5: EEPM[1:0] EEPROM Programming Mode Bits: The EEPROM programming mode selects a programming action that is executed when EEWE is set.</a:t>
            </a:r>
          </a:p>
          <a:p>
            <a:r>
              <a:rPr lang="en-US" sz="2800" dirty="0"/>
              <a:t>EERIE EEPROM Ready Interrupt Enable: Writing EERIE to '1' enables the EEPROM ready interrupt if the I bit in SREG is set.</a:t>
            </a:r>
          </a:p>
          <a:p>
            <a:r>
              <a:rPr lang="en-US" sz="2800" dirty="0"/>
              <a:t>EEMPE EEPROM Master Write Enable: The EEMPE bit determines whether writing EEPE to '1' causes the EEPROM to be written.</a:t>
            </a:r>
          </a:p>
          <a:p>
            <a:r>
              <a:rPr lang="en-US" sz="2800" dirty="0"/>
              <a:t>EEPE EEPROM Write Enable: The EEPROM write enable signal EEPE is the write strobe to the EEPROM.</a:t>
            </a:r>
          </a:p>
          <a:p>
            <a:r>
              <a:rPr lang="en-US" sz="2800" dirty="0"/>
              <a:t>EERE EEPROM Read Enable: The EEPROM read enable signal EERE is the read strobe to the EEPROM. </a:t>
            </a:r>
          </a:p>
        </p:txBody>
      </p:sp>
    </p:spTree>
    <p:extLst>
      <p:ext uri="{BB962C8B-B14F-4D97-AF65-F5344CB8AC3E}">
        <p14:creationId xmlns:p14="http://schemas.microsoft.com/office/powerpoint/2010/main" val="4128101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Difference Between Assembly and C</a:t>
            </a:r>
          </a:p>
        </p:txBody>
      </p:sp>
      <p:graphicFrame>
        <p:nvGraphicFramePr>
          <p:cNvPr id="5" name="Table 4"/>
          <p:cNvGraphicFramePr>
            <a:graphicFrameLocks noGrp="1"/>
          </p:cNvGraphicFramePr>
          <p:nvPr>
            <p:extLst>
              <p:ext uri="{D42A27DB-BD31-4B8C-83A1-F6EECF244321}">
                <p14:modId xmlns:p14="http://schemas.microsoft.com/office/powerpoint/2010/main" val="2517895366"/>
              </p:ext>
            </p:extLst>
          </p:nvPr>
        </p:nvGraphicFramePr>
        <p:xfrm>
          <a:off x="1219199" y="1676401"/>
          <a:ext cx="6781801" cy="5830357"/>
        </p:xfrm>
        <a:graphic>
          <a:graphicData uri="http://schemas.openxmlformats.org/drawingml/2006/table">
            <a:tbl>
              <a:tblPr/>
              <a:tblGrid>
                <a:gridCol w="6781801">
                  <a:extLst>
                    <a:ext uri="{9D8B030D-6E8A-4147-A177-3AD203B41FA5}">
                      <a16:colId xmlns:a16="http://schemas.microsoft.com/office/drawing/2014/main" val="1674085445"/>
                    </a:ext>
                  </a:extLst>
                </a:gridCol>
              </a:tblGrid>
              <a:tr h="599989">
                <a:tc>
                  <a:txBody>
                    <a:bodyPr/>
                    <a:lstStyle/>
                    <a:p>
                      <a:r>
                        <a:rPr lang="en-CA" sz="2400" b="1" i="0" dirty="0">
                          <a:solidFill>
                            <a:srgbClr val="00B050"/>
                          </a:solidFill>
                          <a:effectLst/>
                          <a:latin typeface="+mn-lt"/>
                        </a:rPr>
                        <a:t>Assembly Code Example</a:t>
                      </a:r>
                      <a:endParaRPr lang="en-CA" sz="2400" b="1"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7639736"/>
                  </a:ext>
                </a:extLst>
              </a:tr>
              <a:tr h="5115011">
                <a:tc>
                  <a:txBody>
                    <a:bodyPr/>
                    <a:lstStyle/>
                    <a:p>
                      <a:r>
                        <a:rPr lang="en-CA" sz="2400" b="0" i="0" dirty="0" err="1">
                          <a:solidFill>
                            <a:srgbClr val="000000"/>
                          </a:solidFill>
                          <a:effectLst/>
                          <a:latin typeface="+mn-lt"/>
                        </a:rPr>
                        <a:t>EEPROM_Write</a:t>
                      </a:r>
                      <a:r>
                        <a:rPr lang="en-CA" sz="2400" b="0" i="0" dirty="0">
                          <a:solidFill>
                            <a:srgbClr val="000000"/>
                          </a:solidFill>
                          <a:effectLst/>
                          <a:latin typeface="+mn-lt"/>
                        </a:rPr>
                        <a:t>:</a:t>
                      </a:r>
                      <a:br>
                        <a:rPr lang="en-CA" sz="2400" b="0" i="0" dirty="0">
                          <a:solidFill>
                            <a:srgbClr val="000000"/>
                          </a:solidFill>
                          <a:effectLst/>
                          <a:latin typeface="+mn-lt"/>
                        </a:rPr>
                      </a:br>
                      <a:r>
                        <a:rPr lang="en-CA" sz="2400" b="0" i="1" dirty="0">
                          <a:solidFill>
                            <a:srgbClr val="000000"/>
                          </a:solidFill>
                          <a:effectLst/>
                          <a:latin typeface="+mn-lt"/>
                        </a:rPr>
                        <a:t>; Wait for completion of previous write</a:t>
                      </a:r>
                      <a:br>
                        <a:rPr lang="en-CA" sz="2400" b="0" i="1" dirty="0">
                          <a:solidFill>
                            <a:srgbClr val="000000"/>
                          </a:solidFill>
                          <a:effectLst/>
                          <a:latin typeface="+mn-lt"/>
                        </a:rPr>
                      </a:br>
                      <a:r>
                        <a:rPr lang="en-CA" sz="2400" b="1" i="0" dirty="0">
                          <a:solidFill>
                            <a:srgbClr val="000000"/>
                          </a:solidFill>
                          <a:effectLst/>
                          <a:latin typeface="+mn-lt"/>
                        </a:rPr>
                        <a:t>SBIC </a:t>
                      </a:r>
                      <a:r>
                        <a:rPr lang="en-CA" sz="2400" b="0" i="0" dirty="0">
                          <a:solidFill>
                            <a:srgbClr val="000000"/>
                          </a:solidFill>
                          <a:effectLst/>
                          <a:latin typeface="+mn-lt"/>
                        </a:rPr>
                        <a:t>EECR, EEPE</a:t>
                      </a:r>
                      <a:br>
                        <a:rPr lang="en-CA" sz="2400" b="0" i="0" dirty="0">
                          <a:solidFill>
                            <a:srgbClr val="000000"/>
                          </a:solidFill>
                          <a:effectLst/>
                          <a:latin typeface="+mn-lt"/>
                        </a:rPr>
                      </a:br>
                      <a:r>
                        <a:rPr lang="en-CA" sz="2400" b="1" i="0" dirty="0">
                          <a:solidFill>
                            <a:srgbClr val="000000"/>
                          </a:solidFill>
                          <a:effectLst/>
                          <a:latin typeface="+mn-lt"/>
                        </a:rPr>
                        <a:t>RJMP </a:t>
                      </a:r>
                      <a:r>
                        <a:rPr lang="en-CA" sz="2400" b="0" i="0" dirty="0" err="1">
                          <a:solidFill>
                            <a:srgbClr val="000000"/>
                          </a:solidFill>
                          <a:effectLst/>
                          <a:latin typeface="+mn-lt"/>
                        </a:rPr>
                        <a:t>EEPROM_Write</a:t>
                      </a:r>
                      <a:br>
                        <a:rPr lang="en-CA" sz="2400" b="0" i="0" dirty="0">
                          <a:solidFill>
                            <a:srgbClr val="000000"/>
                          </a:solidFill>
                          <a:effectLst/>
                          <a:latin typeface="+mn-lt"/>
                        </a:rPr>
                      </a:br>
                      <a:r>
                        <a:rPr lang="en-CA" sz="2400" b="0" i="1" dirty="0">
                          <a:solidFill>
                            <a:srgbClr val="000000"/>
                          </a:solidFill>
                          <a:effectLst/>
                          <a:latin typeface="+mn-lt"/>
                        </a:rPr>
                        <a:t>; Set up address (R18:R17) in address register</a:t>
                      </a:r>
                      <a:br>
                        <a:rPr lang="en-CA" sz="2400" b="0" i="1" dirty="0">
                          <a:solidFill>
                            <a:srgbClr val="000000"/>
                          </a:solidFill>
                          <a:effectLst/>
                          <a:latin typeface="+mn-lt"/>
                        </a:rPr>
                      </a:br>
                      <a:r>
                        <a:rPr lang="en-CA" sz="2400" b="1" i="0" dirty="0">
                          <a:solidFill>
                            <a:srgbClr val="000000"/>
                          </a:solidFill>
                          <a:effectLst/>
                          <a:latin typeface="+mn-lt"/>
                        </a:rPr>
                        <a:t>OUT </a:t>
                      </a:r>
                      <a:r>
                        <a:rPr lang="en-CA" sz="2400" b="0" i="0" dirty="0">
                          <a:solidFill>
                            <a:srgbClr val="000000"/>
                          </a:solidFill>
                          <a:effectLst/>
                          <a:latin typeface="+mn-lt"/>
                        </a:rPr>
                        <a:t>EEARH, R18</a:t>
                      </a:r>
                      <a:br>
                        <a:rPr lang="en-CA" sz="2400" b="0" i="0" dirty="0">
                          <a:solidFill>
                            <a:srgbClr val="000000"/>
                          </a:solidFill>
                          <a:effectLst/>
                          <a:latin typeface="+mn-lt"/>
                        </a:rPr>
                      </a:br>
                      <a:r>
                        <a:rPr lang="en-CA" sz="2400" b="1" i="0" dirty="0">
                          <a:solidFill>
                            <a:srgbClr val="000000"/>
                          </a:solidFill>
                          <a:effectLst/>
                          <a:latin typeface="+mn-lt"/>
                        </a:rPr>
                        <a:t>OUT </a:t>
                      </a:r>
                      <a:r>
                        <a:rPr lang="en-CA" sz="2400" b="0" i="0" dirty="0">
                          <a:solidFill>
                            <a:srgbClr val="000000"/>
                          </a:solidFill>
                          <a:effectLst/>
                          <a:latin typeface="+mn-lt"/>
                        </a:rPr>
                        <a:t>EEARL, R17</a:t>
                      </a:r>
                      <a:br>
                        <a:rPr lang="en-CA" sz="2400" b="0" i="0" dirty="0">
                          <a:solidFill>
                            <a:srgbClr val="000000"/>
                          </a:solidFill>
                          <a:effectLst/>
                          <a:latin typeface="+mn-lt"/>
                        </a:rPr>
                      </a:br>
                      <a:r>
                        <a:rPr lang="en-CA" sz="2400" b="0" i="1" dirty="0">
                          <a:solidFill>
                            <a:srgbClr val="000000"/>
                          </a:solidFill>
                          <a:effectLst/>
                          <a:latin typeface="+mn-lt"/>
                        </a:rPr>
                        <a:t>; Write data (R16) to Data Register</a:t>
                      </a:r>
                      <a:br>
                        <a:rPr lang="en-CA" sz="2400" b="0" i="1" dirty="0">
                          <a:solidFill>
                            <a:srgbClr val="000000"/>
                          </a:solidFill>
                          <a:effectLst/>
                          <a:latin typeface="+mn-lt"/>
                        </a:rPr>
                      </a:br>
                      <a:r>
                        <a:rPr lang="en-CA" sz="2400" b="1" i="0" dirty="0">
                          <a:solidFill>
                            <a:srgbClr val="000000"/>
                          </a:solidFill>
                          <a:effectLst/>
                          <a:latin typeface="+mn-lt"/>
                        </a:rPr>
                        <a:t>OUT </a:t>
                      </a:r>
                      <a:r>
                        <a:rPr lang="en-CA" sz="2400" b="0" i="0" dirty="0">
                          <a:solidFill>
                            <a:srgbClr val="000000"/>
                          </a:solidFill>
                          <a:effectLst/>
                          <a:latin typeface="+mn-lt"/>
                        </a:rPr>
                        <a:t>EEDR, R16</a:t>
                      </a:r>
                      <a:br>
                        <a:rPr lang="en-CA" sz="2400" b="0" i="0" dirty="0">
                          <a:solidFill>
                            <a:srgbClr val="000000"/>
                          </a:solidFill>
                          <a:effectLst/>
                          <a:latin typeface="+mn-lt"/>
                        </a:rPr>
                      </a:br>
                      <a:r>
                        <a:rPr lang="en-CA" sz="2400" b="0" i="1" dirty="0">
                          <a:solidFill>
                            <a:srgbClr val="000000"/>
                          </a:solidFill>
                          <a:effectLst/>
                          <a:latin typeface="+mn-lt"/>
                        </a:rPr>
                        <a:t>; Write a logical one to EEMPE</a:t>
                      </a:r>
                      <a:br>
                        <a:rPr lang="en-CA" sz="2400" b="0" i="1" dirty="0">
                          <a:solidFill>
                            <a:srgbClr val="000000"/>
                          </a:solidFill>
                          <a:effectLst/>
                          <a:latin typeface="+mn-lt"/>
                        </a:rPr>
                      </a:br>
                      <a:r>
                        <a:rPr lang="en-CA" sz="2400" b="1" i="0" dirty="0">
                          <a:solidFill>
                            <a:srgbClr val="000000"/>
                          </a:solidFill>
                          <a:effectLst/>
                          <a:latin typeface="+mn-lt"/>
                        </a:rPr>
                        <a:t>SBI </a:t>
                      </a:r>
                      <a:r>
                        <a:rPr lang="en-CA" sz="2400" b="0" i="0" dirty="0">
                          <a:solidFill>
                            <a:srgbClr val="000000"/>
                          </a:solidFill>
                          <a:effectLst/>
                          <a:latin typeface="+mn-lt"/>
                        </a:rPr>
                        <a:t>EECR, EEMPE</a:t>
                      </a:r>
                      <a:br>
                        <a:rPr lang="en-CA" sz="2400" b="0" i="0" dirty="0">
                          <a:solidFill>
                            <a:srgbClr val="000000"/>
                          </a:solidFill>
                          <a:effectLst/>
                          <a:latin typeface="+mn-lt"/>
                        </a:rPr>
                      </a:br>
                      <a:r>
                        <a:rPr lang="en-CA" sz="2400" b="0" i="1" dirty="0">
                          <a:solidFill>
                            <a:srgbClr val="000000"/>
                          </a:solidFill>
                          <a:effectLst/>
                          <a:latin typeface="+mn-lt"/>
                        </a:rPr>
                        <a:t>; Start EEPROM write by setting EEPE</a:t>
                      </a:r>
                      <a:br>
                        <a:rPr lang="en-CA" sz="2400" b="0" i="1" dirty="0">
                          <a:solidFill>
                            <a:srgbClr val="000000"/>
                          </a:solidFill>
                          <a:effectLst/>
                          <a:latin typeface="+mn-lt"/>
                        </a:rPr>
                      </a:br>
                      <a:r>
                        <a:rPr lang="en-CA" sz="2400" b="1" i="0" dirty="0">
                          <a:solidFill>
                            <a:srgbClr val="000000"/>
                          </a:solidFill>
                          <a:effectLst/>
                          <a:latin typeface="+mn-lt"/>
                        </a:rPr>
                        <a:t>SBI </a:t>
                      </a:r>
                      <a:r>
                        <a:rPr lang="en-CA" sz="2400" b="0" i="0" dirty="0">
                          <a:solidFill>
                            <a:srgbClr val="000000"/>
                          </a:solidFill>
                          <a:effectLst/>
                          <a:latin typeface="+mn-lt"/>
                        </a:rPr>
                        <a:t>EECR, EEPE</a:t>
                      </a:r>
                      <a:br>
                        <a:rPr lang="en-CA" sz="2400" b="0" i="0" dirty="0">
                          <a:solidFill>
                            <a:srgbClr val="000000"/>
                          </a:solidFill>
                          <a:effectLst/>
                          <a:latin typeface="+mn-lt"/>
                        </a:rPr>
                      </a:br>
                      <a:r>
                        <a:rPr lang="en-CA" sz="2400" b="1" i="0" dirty="0">
                          <a:solidFill>
                            <a:srgbClr val="000000"/>
                          </a:solidFill>
                          <a:effectLst/>
                          <a:latin typeface="+mn-lt"/>
                        </a:rPr>
                        <a:t>RET</a:t>
                      </a:r>
                      <a:endParaRPr lang="en-CA" sz="2400" dirty="0">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4285575"/>
                  </a:ext>
                </a:extLst>
              </a:tr>
            </a:tbl>
          </a:graphicData>
        </a:graphic>
      </p:graphicFrame>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337863880"/>
              </p:ext>
            </p:extLst>
          </p:nvPr>
        </p:nvGraphicFramePr>
        <p:xfrm>
          <a:off x="8458200" y="1684868"/>
          <a:ext cx="6765925" cy="5857247"/>
        </p:xfrm>
        <a:graphic>
          <a:graphicData uri="http://schemas.openxmlformats.org/drawingml/2006/table">
            <a:tbl>
              <a:tblPr/>
              <a:tblGrid>
                <a:gridCol w="6765925">
                  <a:extLst>
                    <a:ext uri="{9D8B030D-6E8A-4147-A177-3AD203B41FA5}">
                      <a16:colId xmlns:a16="http://schemas.microsoft.com/office/drawing/2014/main" val="828721743"/>
                    </a:ext>
                  </a:extLst>
                </a:gridCol>
              </a:tblGrid>
              <a:tr h="626879">
                <a:tc>
                  <a:txBody>
                    <a:bodyPr/>
                    <a:lstStyle/>
                    <a:p>
                      <a:r>
                        <a:rPr lang="en-CA" sz="2400" b="0" i="0" dirty="0">
                          <a:solidFill>
                            <a:srgbClr val="0000FF"/>
                          </a:solidFill>
                          <a:effectLst/>
                          <a:latin typeface="Arial" panose="020B0604020202020204" pitchFamily="34" charset="0"/>
                          <a:cs typeface="Arial" panose="020B0604020202020204" pitchFamily="34" charset="0"/>
                        </a:rPr>
                        <a:t>C Code Example</a:t>
                      </a:r>
                      <a:endParaRPr lang="en-CA" sz="2400" dirty="0">
                        <a:solidFill>
                          <a:srgbClr val="0000FF"/>
                        </a:solidFill>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2266283"/>
                  </a:ext>
                </a:extLst>
              </a:tr>
              <a:tr h="5079654">
                <a:tc>
                  <a:txBody>
                    <a:bodyPr/>
                    <a:lstStyle/>
                    <a:p>
                      <a:r>
                        <a:rPr lang="en-CA" sz="2400" b="1" i="0" dirty="0">
                          <a:solidFill>
                            <a:srgbClr val="000000"/>
                          </a:solidFill>
                          <a:effectLst/>
                          <a:latin typeface="Arial" panose="020B0604020202020204" pitchFamily="34" charset="0"/>
                          <a:cs typeface="Arial" panose="020B0604020202020204" pitchFamily="34" charset="0"/>
                        </a:rPr>
                        <a:t>void </a:t>
                      </a:r>
                      <a:r>
                        <a:rPr lang="en-CA" sz="2400" b="0" i="0" dirty="0" err="1">
                          <a:solidFill>
                            <a:srgbClr val="000000"/>
                          </a:solidFill>
                          <a:effectLst/>
                          <a:latin typeface="Arial" panose="020B0604020202020204" pitchFamily="34" charset="0"/>
                          <a:cs typeface="Arial" panose="020B0604020202020204" pitchFamily="34" charset="0"/>
                        </a:rPr>
                        <a:t>EEPROM_write</a:t>
                      </a:r>
                      <a:r>
                        <a:rPr lang="en-CA" sz="2400" b="0" i="0" dirty="0">
                          <a:solidFill>
                            <a:srgbClr val="000000"/>
                          </a:solidFill>
                          <a:effectLst/>
                          <a:latin typeface="Arial" panose="020B0604020202020204" pitchFamily="34" charset="0"/>
                          <a:cs typeface="Arial" panose="020B0604020202020204" pitchFamily="34" charset="0"/>
                        </a:rPr>
                        <a:t>(</a:t>
                      </a:r>
                      <a:r>
                        <a:rPr lang="en-CA" sz="2400" b="1" i="0" dirty="0">
                          <a:solidFill>
                            <a:srgbClr val="000000"/>
                          </a:solidFill>
                          <a:effectLst/>
                          <a:latin typeface="Arial" panose="020B0604020202020204" pitchFamily="34" charset="0"/>
                          <a:cs typeface="Arial" panose="020B0604020202020204" pitchFamily="34" charset="0"/>
                        </a:rPr>
                        <a:t>unsigned </a:t>
                      </a:r>
                      <a:r>
                        <a:rPr lang="en-CA" sz="2400" b="1" i="0" dirty="0" err="1">
                          <a:solidFill>
                            <a:srgbClr val="000000"/>
                          </a:solidFill>
                          <a:effectLst/>
                          <a:latin typeface="Arial" panose="020B0604020202020204" pitchFamily="34" charset="0"/>
                          <a:cs typeface="Arial" panose="020B0604020202020204" pitchFamily="34" charset="0"/>
                        </a:rPr>
                        <a:t>int</a:t>
                      </a:r>
                      <a:r>
                        <a:rPr lang="en-CA" sz="2400" b="1" i="0" dirty="0">
                          <a:solidFill>
                            <a:srgbClr val="000000"/>
                          </a:solidFill>
                          <a:effectLst/>
                          <a:latin typeface="Arial" panose="020B0604020202020204" pitchFamily="34" charset="0"/>
                          <a:cs typeface="Arial" panose="020B0604020202020204" pitchFamily="34" charset="0"/>
                        </a:rPr>
                        <a:t> </a:t>
                      </a:r>
                      <a:r>
                        <a:rPr lang="en-CA" sz="2400" b="0" i="0" dirty="0" err="1">
                          <a:solidFill>
                            <a:srgbClr val="000000"/>
                          </a:solidFill>
                          <a:effectLst/>
                          <a:latin typeface="Arial" panose="020B0604020202020204" pitchFamily="34" charset="0"/>
                          <a:cs typeface="Arial" panose="020B0604020202020204" pitchFamily="34" charset="0"/>
                        </a:rPr>
                        <a:t>uiAddress</a:t>
                      </a:r>
                      <a:r>
                        <a:rPr lang="en-CA" sz="2400" b="0" i="0" dirty="0">
                          <a:solidFill>
                            <a:srgbClr val="000000"/>
                          </a:solidFill>
                          <a:effectLst/>
                          <a:latin typeface="Arial" panose="020B0604020202020204" pitchFamily="34" charset="0"/>
                          <a:cs typeface="Arial" panose="020B0604020202020204" pitchFamily="34" charset="0"/>
                        </a:rPr>
                        <a:t>, </a:t>
                      </a:r>
                      <a:r>
                        <a:rPr lang="en-CA" sz="2400" b="1" i="0" dirty="0">
                          <a:solidFill>
                            <a:srgbClr val="000000"/>
                          </a:solidFill>
                          <a:effectLst/>
                          <a:latin typeface="Arial" panose="020B0604020202020204" pitchFamily="34" charset="0"/>
                          <a:cs typeface="Arial" panose="020B0604020202020204" pitchFamily="34" charset="0"/>
                        </a:rPr>
                        <a:t>unsigned char </a:t>
                      </a:r>
                      <a:r>
                        <a:rPr lang="en-CA" sz="2400" b="0" i="0" dirty="0" err="1">
                          <a:solidFill>
                            <a:srgbClr val="000000"/>
                          </a:solidFill>
                          <a:effectLst/>
                          <a:latin typeface="Arial" panose="020B0604020202020204" pitchFamily="34" charset="0"/>
                          <a:cs typeface="Arial" panose="020B0604020202020204" pitchFamily="34" charset="0"/>
                        </a:rPr>
                        <a:t>ucData</a:t>
                      </a:r>
                      <a:r>
                        <a:rPr lang="en-CA" sz="2400" b="0" i="0" dirty="0">
                          <a:solidFill>
                            <a:srgbClr val="000000"/>
                          </a:solidFill>
                          <a:effectLst/>
                          <a:latin typeface="Arial" panose="020B0604020202020204" pitchFamily="34" charset="0"/>
                          <a:cs typeface="Arial" panose="020B0604020202020204" pitchFamily="34" charset="0"/>
                        </a:rPr>
                        <a:t>)</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 </a:t>
                      </a:r>
                      <a:r>
                        <a:rPr lang="en-CA" sz="2400" b="0" i="1" dirty="0">
                          <a:solidFill>
                            <a:srgbClr val="000000"/>
                          </a:solidFill>
                          <a:effectLst/>
                          <a:latin typeface="Arial" panose="020B0604020202020204" pitchFamily="34" charset="0"/>
                          <a:cs typeface="Arial" panose="020B0604020202020204" pitchFamily="34" charset="0"/>
                        </a:rPr>
                        <a:t>Wait for completion of previous write </a:t>
                      </a:r>
                      <a:r>
                        <a:rPr lang="en-CA" sz="2400" b="0" i="0" dirty="0">
                          <a:solidFill>
                            <a:srgbClr val="000000"/>
                          </a:solidFill>
                          <a:effectLst/>
                          <a:latin typeface="Arial" panose="020B0604020202020204" pitchFamily="34" charset="0"/>
                          <a:cs typeface="Arial" panose="020B0604020202020204" pitchFamily="34" charset="0"/>
                        </a:rPr>
                        <a:t>*/</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while(EECR &amp; (1&lt;&lt;EEPE))</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 Set up address and Data Registers */</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EEAR = </a:t>
                      </a:r>
                      <a:r>
                        <a:rPr lang="en-CA" sz="2400" b="0" i="0" dirty="0" err="1">
                          <a:solidFill>
                            <a:srgbClr val="000000"/>
                          </a:solidFill>
                          <a:effectLst/>
                          <a:latin typeface="Arial" panose="020B0604020202020204" pitchFamily="34" charset="0"/>
                          <a:cs typeface="Arial" panose="020B0604020202020204" pitchFamily="34" charset="0"/>
                        </a:rPr>
                        <a:t>uiAddress</a:t>
                      </a:r>
                      <a:r>
                        <a:rPr lang="en-CA" sz="2400" b="0" i="0" dirty="0">
                          <a:solidFill>
                            <a:srgbClr val="000000"/>
                          </a:solidFill>
                          <a:effectLst/>
                          <a:latin typeface="Arial" panose="020B0604020202020204" pitchFamily="34" charset="0"/>
                          <a:cs typeface="Arial" panose="020B0604020202020204" pitchFamily="34" charset="0"/>
                        </a:rPr>
                        <a:t>;</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EEDR = </a:t>
                      </a:r>
                      <a:r>
                        <a:rPr lang="en-CA" sz="2400" b="0" i="0" dirty="0" err="1">
                          <a:solidFill>
                            <a:srgbClr val="000000"/>
                          </a:solidFill>
                          <a:effectLst/>
                          <a:latin typeface="Arial" panose="020B0604020202020204" pitchFamily="34" charset="0"/>
                          <a:cs typeface="Arial" panose="020B0604020202020204" pitchFamily="34" charset="0"/>
                        </a:rPr>
                        <a:t>ucData</a:t>
                      </a:r>
                      <a:r>
                        <a:rPr lang="en-CA" sz="2400" b="0" i="0" dirty="0">
                          <a:solidFill>
                            <a:srgbClr val="000000"/>
                          </a:solidFill>
                          <a:effectLst/>
                          <a:latin typeface="Arial" panose="020B0604020202020204" pitchFamily="34" charset="0"/>
                          <a:cs typeface="Arial" panose="020B0604020202020204" pitchFamily="34" charset="0"/>
                        </a:rPr>
                        <a:t>;</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 </a:t>
                      </a:r>
                      <a:r>
                        <a:rPr lang="en-CA" sz="2400" b="0" i="1" dirty="0">
                          <a:solidFill>
                            <a:srgbClr val="000000"/>
                          </a:solidFill>
                          <a:effectLst/>
                          <a:latin typeface="Arial" panose="020B0604020202020204" pitchFamily="34" charset="0"/>
                          <a:cs typeface="Arial" panose="020B0604020202020204" pitchFamily="34" charset="0"/>
                        </a:rPr>
                        <a:t>Write logical one to EEMPE */</a:t>
                      </a:r>
                      <a:br>
                        <a:rPr lang="en-CA" sz="2400" b="0" i="1"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EECR |= (1&lt;&lt;EEMPE);</a:t>
                      </a:r>
                      <a:br>
                        <a:rPr lang="en-CA" sz="2400" b="0" i="0" dirty="0">
                          <a:solidFill>
                            <a:srgbClr val="000000"/>
                          </a:solidFill>
                          <a:effectLst/>
                          <a:latin typeface="Arial" panose="020B0604020202020204" pitchFamily="34" charset="0"/>
                          <a:cs typeface="Arial" panose="020B0604020202020204" pitchFamily="34" charset="0"/>
                        </a:rPr>
                      </a:br>
                      <a:r>
                        <a:rPr lang="en-CA" sz="2400" b="0" i="1" dirty="0">
                          <a:solidFill>
                            <a:srgbClr val="000000"/>
                          </a:solidFill>
                          <a:effectLst/>
                          <a:latin typeface="Arial" panose="020B0604020202020204" pitchFamily="34" charset="0"/>
                          <a:cs typeface="Arial" panose="020B0604020202020204" pitchFamily="34" charset="0"/>
                        </a:rPr>
                        <a:t>/* Start </a:t>
                      </a:r>
                      <a:r>
                        <a:rPr lang="en-CA" sz="2400" b="0" i="1" dirty="0" err="1">
                          <a:solidFill>
                            <a:srgbClr val="000000"/>
                          </a:solidFill>
                          <a:effectLst/>
                          <a:latin typeface="Arial" panose="020B0604020202020204" pitchFamily="34" charset="0"/>
                          <a:cs typeface="Arial" panose="020B0604020202020204" pitchFamily="34" charset="0"/>
                        </a:rPr>
                        <a:t>eeprom</a:t>
                      </a:r>
                      <a:r>
                        <a:rPr lang="en-CA" sz="2400" b="0" i="1" dirty="0">
                          <a:solidFill>
                            <a:srgbClr val="000000"/>
                          </a:solidFill>
                          <a:effectLst/>
                          <a:latin typeface="Arial" panose="020B0604020202020204" pitchFamily="34" charset="0"/>
                          <a:cs typeface="Arial" panose="020B0604020202020204" pitchFamily="34" charset="0"/>
                        </a:rPr>
                        <a:t> write by setting EEPE */</a:t>
                      </a:r>
                      <a:br>
                        <a:rPr lang="en-CA" sz="2400" b="0" i="1"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EECR |= (1&lt;&lt;EEPE);</a:t>
                      </a:r>
                      <a:br>
                        <a:rPr lang="en-CA" sz="2400" b="0" i="0" dirty="0">
                          <a:solidFill>
                            <a:srgbClr val="000000"/>
                          </a:solidFill>
                          <a:effectLst/>
                          <a:latin typeface="Arial" panose="020B0604020202020204" pitchFamily="34" charset="0"/>
                          <a:cs typeface="Arial" panose="020B0604020202020204" pitchFamily="34" charset="0"/>
                        </a:rPr>
                      </a:br>
                      <a:r>
                        <a:rPr lang="en-CA" sz="2400" b="0" i="0" dirty="0">
                          <a:solidFill>
                            <a:srgbClr val="000000"/>
                          </a:solidFill>
                          <a:effectLst/>
                          <a:latin typeface="Arial" panose="020B0604020202020204" pitchFamily="34" charset="0"/>
                          <a:cs typeface="Arial" panose="020B0604020202020204" pitchFamily="34" charset="0"/>
                        </a:rPr>
                        <a:t>}</a:t>
                      </a:r>
                      <a:endParaRPr lang="en-CA" sz="2400" dirty="0">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5836154"/>
                  </a:ext>
                </a:extLst>
              </a:tr>
            </a:tbl>
          </a:graphicData>
        </a:graphic>
      </p:graphicFrame>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Tree>
    <p:extLst>
      <p:ext uri="{BB962C8B-B14F-4D97-AF65-F5344CB8AC3E}">
        <p14:creationId xmlns:p14="http://schemas.microsoft.com/office/powerpoint/2010/main" val="29220437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499" y="1752599"/>
            <a:ext cx="3333901" cy="5029201"/>
          </a:xfrm>
        </p:spPr>
        <p:txBody>
          <a:bodyPr anchor="t">
            <a:noAutofit/>
          </a:bodyPr>
          <a:lstStyle/>
          <a:p>
            <a:pPr algn="l">
              <a:lnSpc>
                <a:spcPct val="90000"/>
              </a:lnSpc>
            </a:pPr>
            <a:r>
              <a:rPr lang="en-CA" sz="2800" dirty="0">
                <a:latin typeface="Times New Roman" panose="02020603050405020304" pitchFamily="18" charset="0"/>
                <a:cs typeface="Times New Roman" panose="02020603050405020304" pitchFamily="18" charset="0"/>
              </a:rPr>
              <a:t>The next code examples show assembly and C functions for reading the EEPROM.</a:t>
            </a:r>
            <a:br>
              <a:rPr lang="en-CA" sz="2800" dirty="0">
                <a:latin typeface="Times New Roman" panose="02020603050405020304" pitchFamily="18" charset="0"/>
                <a:cs typeface="Times New Roman" panose="02020603050405020304" pitchFamily="18" charset="0"/>
              </a:rPr>
            </a:br>
            <a:br>
              <a:rPr lang="en-CA" sz="2800" dirty="0">
                <a:latin typeface="Times New Roman" panose="02020603050405020304" pitchFamily="18" charset="0"/>
                <a:cs typeface="Times New Roman" panose="02020603050405020304" pitchFamily="18" charset="0"/>
              </a:rPr>
            </a:br>
            <a:r>
              <a:rPr lang="en-CA" sz="2800" dirty="0">
                <a:latin typeface="Times New Roman" panose="02020603050405020304" pitchFamily="18" charset="0"/>
                <a:cs typeface="Times New Roman" panose="02020603050405020304" pitchFamily="18" charset="0"/>
              </a:rPr>
              <a:t>The examples assume that interrupts are controlled so that no interrupts will occur during the execution of these functions. </a:t>
            </a:r>
          </a:p>
        </p:txBody>
      </p:sp>
      <p:graphicFrame>
        <p:nvGraphicFramePr>
          <p:cNvPr id="5" name="Table 4"/>
          <p:cNvGraphicFramePr>
            <a:graphicFrameLocks noGrp="1"/>
          </p:cNvGraphicFramePr>
          <p:nvPr>
            <p:extLst>
              <p:ext uri="{D42A27DB-BD31-4B8C-83A1-F6EECF244321}">
                <p14:modId xmlns:p14="http://schemas.microsoft.com/office/powerpoint/2010/main" val="978549781"/>
              </p:ext>
            </p:extLst>
          </p:nvPr>
        </p:nvGraphicFramePr>
        <p:xfrm>
          <a:off x="3733800" y="1752600"/>
          <a:ext cx="6629400" cy="5428075"/>
        </p:xfrm>
        <a:graphic>
          <a:graphicData uri="http://schemas.openxmlformats.org/drawingml/2006/table">
            <a:tbl>
              <a:tblPr/>
              <a:tblGrid>
                <a:gridCol w="6629400">
                  <a:extLst>
                    <a:ext uri="{9D8B030D-6E8A-4147-A177-3AD203B41FA5}">
                      <a16:colId xmlns:a16="http://schemas.microsoft.com/office/drawing/2014/main" val="1674085445"/>
                    </a:ext>
                  </a:extLst>
                </a:gridCol>
              </a:tblGrid>
              <a:tr h="563467">
                <a:tc>
                  <a:txBody>
                    <a:bodyPr/>
                    <a:lstStyle/>
                    <a:p>
                      <a:r>
                        <a:rPr lang="en-CA" sz="2200" b="1" i="0" dirty="0">
                          <a:solidFill>
                            <a:srgbClr val="00B050"/>
                          </a:solidFill>
                          <a:effectLst/>
                          <a:latin typeface="+mn-lt"/>
                        </a:rPr>
                        <a:t>Assembly Code Example</a:t>
                      </a:r>
                      <a:endParaRPr lang="en-CA" sz="2200" b="1"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7639736"/>
                  </a:ext>
                </a:extLst>
              </a:tr>
              <a:tr h="4864608">
                <a:tc>
                  <a:txBody>
                    <a:bodyPr/>
                    <a:lstStyle/>
                    <a:p>
                      <a:r>
                        <a:rPr lang="en-CA" sz="2400" b="0" i="0" dirty="0" err="1">
                          <a:solidFill>
                            <a:srgbClr val="000000"/>
                          </a:solidFill>
                          <a:effectLst/>
                          <a:latin typeface="+mn-lt"/>
                        </a:rPr>
                        <a:t>EEPROM_Read</a:t>
                      </a:r>
                      <a:r>
                        <a:rPr lang="en-CA" sz="2400" b="0" i="0" dirty="0">
                          <a:solidFill>
                            <a:srgbClr val="000000"/>
                          </a:solidFill>
                          <a:effectLst/>
                          <a:latin typeface="+mn-lt"/>
                        </a:rPr>
                        <a:t>:</a:t>
                      </a:r>
                      <a:br>
                        <a:rPr lang="en-CA" sz="2400" b="0" i="0" dirty="0">
                          <a:solidFill>
                            <a:srgbClr val="000000"/>
                          </a:solidFill>
                          <a:effectLst/>
                          <a:latin typeface="+mn-lt"/>
                        </a:rPr>
                      </a:br>
                      <a:r>
                        <a:rPr lang="en-CA" sz="2400" b="0" i="1" dirty="0">
                          <a:solidFill>
                            <a:srgbClr val="000000"/>
                          </a:solidFill>
                          <a:effectLst/>
                          <a:latin typeface="+mn-lt"/>
                        </a:rPr>
                        <a:t>; Wait for completion of previous write</a:t>
                      </a:r>
                      <a:br>
                        <a:rPr lang="en-CA" sz="2400" b="0" i="1" dirty="0">
                          <a:solidFill>
                            <a:srgbClr val="000000"/>
                          </a:solidFill>
                          <a:effectLst/>
                          <a:latin typeface="+mn-lt"/>
                        </a:rPr>
                      </a:br>
                      <a:r>
                        <a:rPr lang="en-CA" sz="2400" b="1" i="0" dirty="0">
                          <a:solidFill>
                            <a:srgbClr val="000000"/>
                          </a:solidFill>
                          <a:effectLst/>
                          <a:latin typeface="+mn-lt"/>
                        </a:rPr>
                        <a:t>SBIC </a:t>
                      </a:r>
                      <a:r>
                        <a:rPr lang="en-CA" sz="2400" b="0" i="0" dirty="0">
                          <a:solidFill>
                            <a:srgbClr val="000000"/>
                          </a:solidFill>
                          <a:effectLst/>
                          <a:latin typeface="+mn-lt"/>
                        </a:rPr>
                        <a:t>EECR, EEPE</a:t>
                      </a:r>
                      <a:br>
                        <a:rPr lang="en-CA" sz="2400" b="0" i="0" dirty="0">
                          <a:solidFill>
                            <a:srgbClr val="000000"/>
                          </a:solidFill>
                          <a:effectLst/>
                          <a:latin typeface="+mn-lt"/>
                        </a:rPr>
                      </a:br>
                      <a:r>
                        <a:rPr lang="en-CA" sz="2400" b="1" i="0" dirty="0">
                          <a:solidFill>
                            <a:srgbClr val="000000"/>
                          </a:solidFill>
                          <a:effectLst/>
                          <a:latin typeface="+mn-lt"/>
                        </a:rPr>
                        <a:t>RJMP </a:t>
                      </a:r>
                      <a:r>
                        <a:rPr lang="en-CA" sz="2400" b="0" i="0" dirty="0" err="1">
                          <a:solidFill>
                            <a:srgbClr val="000000"/>
                          </a:solidFill>
                          <a:effectLst/>
                          <a:latin typeface="+mn-lt"/>
                        </a:rPr>
                        <a:t>EEPROM_Read</a:t>
                      </a:r>
                      <a:br>
                        <a:rPr lang="en-CA" sz="2400" b="0" i="0" dirty="0">
                          <a:solidFill>
                            <a:srgbClr val="000000"/>
                          </a:solidFill>
                          <a:effectLst/>
                          <a:latin typeface="+mn-lt"/>
                        </a:rPr>
                      </a:br>
                      <a:r>
                        <a:rPr lang="en-CA" sz="2400" b="0" i="1" dirty="0">
                          <a:solidFill>
                            <a:srgbClr val="000000"/>
                          </a:solidFill>
                          <a:effectLst/>
                          <a:latin typeface="+mn-lt"/>
                        </a:rPr>
                        <a:t>; Set up address (R18:R17) in address register</a:t>
                      </a:r>
                      <a:br>
                        <a:rPr lang="en-CA" sz="2400" b="0" i="1" dirty="0">
                          <a:solidFill>
                            <a:srgbClr val="000000"/>
                          </a:solidFill>
                          <a:effectLst/>
                          <a:latin typeface="+mn-lt"/>
                        </a:rPr>
                      </a:br>
                      <a:r>
                        <a:rPr lang="en-CA" sz="2400" b="1" i="0" dirty="0">
                          <a:solidFill>
                            <a:srgbClr val="000000"/>
                          </a:solidFill>
                          <a:effectLst/>
                          <a:latin typeface="+mn-lt"/>
                        </a:rPr>
                        <a:t>OUT </a:t>
                      </a:r>
                      <a:r>
                        <a:rPr lang="en-CA" sz="2400" b="0" i="0" dirty="0">
                          <a:solidFill>
                            <a:srgbClr val="000000"/>
                          </a:solidFill>
                          <a:effectLst/>
                          <a:latin typeface="+mn-lt"/>
                        </a:rPr>
                        <a:t>EEARH, R18</a:t>
                      </a:r>
                      <a:br>
                        <a:rPr lang="en-CA" sz="2400" b="0" i="0" dirty="0">
                          <a:solidFill>
                            <a:srgbClr val="000000"/>
                          </a:solidFill>
                          <a:effectLst/>
                          <a:latin typeface="+mn-lt"/>
                        </a:rPr>
                      </a:br>
                      <a:r>
                        <a:rPr lang="en-CA" sz="2400" b="1" i="0" dirty="0">
                          <a:solidFill>
                            <a:srgbClr val="000000"/>
                          </a:solidFill>
                          <a:effectLst/>
                          <a:latin typeface="+mn-lt"/>
                        </a:rPr>
                        <a:t>OUT </a:t>
                      </a:r>
                      <a:r>
                        <a:rPr lang="en-CA" sz="2400" b="0" i="0" dirty="0">
                          <a:solidFill>
                            <a:srgbClr val="000000"/>
                          </a:solidFill>
                          <a:effectLst/>
                          <a:latin typeface="+mn-lt"/>
                        </a:rPr>
                        <a:t>EEARL, R17</a:t>
                      </a:r>
                      <a:br>
                        <a:rPr lang="en-CA" sz="2400" b="0" i="0" dirty="0">
                          <a:solidFill>
                            <a:srgbClr val="000000"/>
                          </a:solidFill>
                          <a:effectLst/>
                          <a:latin typeface="+mn-lt"/>
                        </a:rPr>
                      </a:br>
                      <a:r>
                        <a:rPr lang="en-CA" sz="2400" b="0" i="1" dirty="0">
                          <a:solidFill>
                            <a:srgbClr val="000000"/>
                          </a:solidFill>
                          <a:effectLst/>
                          <a:latin typeface="+mn-lt"/>
                        </a:rPr>
                        <a:t>; Start EEPROM read by writing EERE</a:t>
                      </a:r>
                      <a:br>
                        <a:rPr lang="en-CA" sz="2400" b="0" i="1" dirty="0">
                          <a:solidFill>
                            <a:srgbClr val="000000"/>
                          </a:solidFill>
                          <a:effectLst/>
                          <a:latin typeface="+mn-lt"/>
                        </a:rPr>
                      </a:br>
                      <a:r>
                        <a:rPr lang="en-CA" sz="2400" b="1" i="0" dirty="0">
                          <a:solidFill>
                            <a:srgbClr val="000000"/>
                          </a:solidFill>
                          <a:effectLst/>
                          <a:latin typeface="+mn-lt"/>
                        </a:rPr>
                        <a:t>SBI </a:t>
                      </a:r>
                      <a:r>
                        <a:rPr lang="en-CA" sz="2400" b="0" i="0" dirty="0">
                          <a:solidFill>
                            <a:srgbClr val="000000"/>
                          </a:solidFill>
                          <a:effectLst/>
                          <a:latin typeface="+mn-lt"/>
                        </a:rPr>
                        <a:t>EECR, EERE</a:t>
                      </a:r>
                      <a:br>
                        <a:rPr lang="en-CA" sz="2400" b="0" i="0" dirty="0">
                          <a:solidFill>
                            <a:srgbClr val="000000"/>
                          </a:solidFill>
                          <a:effectLst/>
                          <a:latin typeface="+mn-lt"/>
                        </a:rPr>
                      </a:br>
                      <a:r>
                        <a:rPr lang="en-CA" sz="2400" b="0" i="1" dirty="0">
                          <a:solidFill>
                            <a:srgbClr val="000000"/>
                          </a:solidFill>
                          <a:effectLst/>
                          <a:latin typeface="+mn-lt"/>
                        </a:rPr>
                        <a:t>; Read data from Data Register</a:t>
                      </a:r>
                      <a:br>
                        <a:rPr lang="en-CA" sz="2400" b="0" i="1" dirty="0">
                          <a:solidFill>
                            <a:srgbClr val="000000"/>
                          </a:solidFill>
                          <a:effectLst/>
                          <a:latin typeface="+mn-lt"/>
                        </a:rPr>
                      </a:br>
                      <a:r>
                        <a:rPr lang="en-CA" sz="2400" b="1" i="0" dirty="0">
                          <a:solidFill>
                            <a:srgbClr val="000000"/>
                          </a:solidFill>
                          <a:effectLst/>
                          <a:latin typeface="+mn-lt"/>
                        </a:rPr>
                        <a:t>IN </a:t>
                      </a:r>
                      <a:r>
                        <a:rPr lang="en-CA" sz="2400" b="0" i="0" dirty="0">
                          <a:solidFill>
                            <a:srgbClr val="000000"/>
                          </a:solidFill>
                          <a:effectLst/>
                          <a:latin typeface="+mn-lt"/>
                        </a:rPr>
                        <a:t>R16, EEDR</a:t>
                      </a:r>
                      <a:br>
                        <a:rPr lang="en-CA" sz="2400" b="0" i="0" dirty="0">
                          <a:solidFill>
                            <a:srgbClr val="000000"/>
                          </a:solidFill>
                          <a:effectLst/>
                          <a:latin typeface="+mn-lt"/>
                        </a:rPr>
                      </a:br>
                      <a:r>
                        <a:rPr lang="en-CA" sz="2400" b="1" i="0" dirty="0">
                          <a:solidFill>
                            <a:srgbClr val="000000"/>
                          </a:solidFill>
                          <a:effectLst/>
                          <a:latin typeface="+mn-lt"/>
                        </a:rPr>
                        <a:t>RET</a:t>
                      </a:r>
                      <a:endParaRPr lang="en-CA" sz="2400" dirty="0">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4285575"/>
                  </a:ext>
                </a:extLst>
              </a:tr>
            </a:tbl>
          </a:graphicData>
        </a:graphic>
      </p:graphicFrame>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645539734"/>
              </p:ext>
            </p:extLst>
          </p:nvPr>
        </p:nvGraphicFramePr>
        <p:xfrm>
          <a:off x="10458299" y="1752600"/>
          <a:ext cx="5848501" cy="5457425"/>
        </p:xfrm>
        <a:graphic>
          <a:graphicData uri="http://schemas.openxmlformats.org/drawingml/2006/table">
            <a:tbl>
              <a:tblPr/>
              <a:tblGrid>
                <a:gridCol w="5848501">
                  <a:extLst>
                    <a:ext uri="{9D8B030D-6E8A-4147-A177-3AD203B41FA5}">
                      <a16:colId xmlns:a16="http://schemas.microsoft.com/office/drawing/2014/main" val="828721743"/>
                    </a:ext>
                  </a:extLst>
                </a:gridCol>
              </a:tblGrid>
              <a:tr h="592817">
                <a:tc>
                  <a:txBody>
                    <a:bodyPr/>
                    <a:lstStyle/>
                    <a:p>
                      <a:r>
                        <a:rPr lang="en-CA" sz="2200" b="0" i="0" dirty="0">
                          <a:solidFill>
                            <a:srgbClr val="0000FF"/>
                          </a:solidFill>
                          <a:effectLst/>
                          <a:latin typeface="Arial" panose="020B0604020202020204" pitchFamily="34" charset="0"/>
                          <a:cs typeface="Arial" panose="020B0604020202020204" pitchFamily="34" charset="0"/>
                        </a:rPr>
                        <a:t>C Code Example</a:t>
                      </a:r>
                      <a:endParaRPr lang="en-CA" sz="2200" dirty="0">
                        <a:solidFill>
                          <a:srgbClr val="0000FF"/>
                        </a:solidFill>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2266283"/>
                  </a:ext>
                </a:extLst>
              </a:tr>
              <a:tr h="4864608">
                <a:tc>
                  <a:txBody>
                    <a:bodyPr/>
                    <a:lstStyle/>
                    <a:p>
                      <a:r>
                        <a:rPr lang="en-CA" sz="2400" b="1" i="0" dirty="0">
                          <a:solidFill>
                            <a:srgbClr val="000000"/>
                          </a:solidFill>
                          <a:effectLst/>
                          <a:latin typeface="+mn-lt"/>
                        </a:rPr>
                        <a:t>unsigned char </a:t>
                      </a:r>
                      <a:r>
                        <a:rPr lang="en-CA" sz="2400" b="0" i="0" dirty="0" err="1">
                          <a:solidFill>
                            <a:srgbClr val="000000"/>
                          </a:solidFill>
                          <a:effectLst/>
                          <a:latin typeface="+mn-lt"/>
                        </a:rPr>
                        <a:t>EEPROM_read</a:t>
                      </a:r>
                      <a:r>
                        <a:rPr lang="en-CA" sz="2400" b="0" i="0" dirty="0">
                          <a:solidFill>
                            <a:srgbClr val="000000"/>
                          </a:solidFill>
                          <a:effectLst/>
                          <a:latin typeface="+mn-lt"/>
                        </a:rPr>
                        <a:t>(</a:t>
                      </a:r>
                      <a:r>
                        <a:rPr lang="en-CA" sz="2400" b="1" i="0" dirty="0">
                          <a:solidFill>
                            <a:srgbClr val="000000"/>
                          </a:solidFill>
                          <a:effectLst/>
                          <a:latin typeface="+mn-lt"/>
                        </a:rPr>
                        <a:t>unsigned </a:t>
                      </a:r>
                      <a:r>
                        <a:rPr lang="en-CA" sz="2400" b="1" i="0" dirty="0" err="1">
                          <a:solidFill>
                            <a:srgbClr val="000000"/>
                          </a:solidFill>
                          <a:effectLst/>
                          <a:latin typeface="+mn-lt"/>
                        </a:rPr>
                        <a:t>int</a:t>
                      </a:r>
                      <a:r>
                        <a:rPr lang="en-CA" sz="2400" b="1" i="0" dirty="0">
                          <a:solidFill>
                            <a:srgbClr val="000000"/>
                          </a:solidFill>
                          <a:effectLst/>
                          <a:latin typeface="+mn-lt"/>
                        </a:rPr>
                        <a:t> </a:t>
                      </a:r>
                      <a:r>
                        <a:rPr lang="en-CA" sz="2400" b="0" i="0" dirty="0" err="1">
                          <a:solidFill>
                            <a:srgbClr val="000000"/>
                          </a:solidFill>
                          <a:effectLst/>
                          <a:latin typeface="+mn-lt"/>
                        </a:rPr>
                        <a:t>uiAddress</a:t>
                      </a:r>
                      <a:r>
                        <a:rPr lang="en-CA" sz="2400" b="0" i="0" dirty="0">
                          <a:solidFill>
                            <a:srgbClr val="000000"/>
                          </a:solidFill>
                          <a:effectLst/>
                          <a:latin typeface="+mn-lt"/>
                        </a:rPr>
                        <a:t>)</a:t>
                      </a:r>
                      <a:br>
                        <a:rPr lang="en-CA" sz="2400" b="0" i="0" dirty="0">
                          <a:solidFill>
                            <a:srgbClr val="000000"/>
                          </a:solidFill>
                          <a:effectLst/>
                          <a:latin typeface="+mn-lt"/>
                        </a:rPr>
                      </a:br>
                      <a:r>
                        <a:rPr lang="en-CA" sz="2400" b="0" i="0" dirty="0">
                          <a:solidFill>
                            <a:srgbClr val="000000"/>
                          </a:solidFill>
                          <a:effectLst/>
                          <a:latin typeface="+mn-lt"/>
                        </a:rPr>
                        <a:t>{</a:t>
                      </a:r>
                      <a:br>
                        <a:rPr lang="en-CA" sz="2400" b="0" i="0" dirty="0">
                          <a:solidFill>
                            <a:srgbClr val="000000"/>
                          </a:solidFill>
                          <a:effectLst/>
                          <a:latin typeface="+mn-lt"/>
                        </a:rPr>
                      </a:br>
                      <a:r>
                        <a:rPr lang="en-CA" sz="2400" b="0" i="1" dirty="0">
                          <a:solidFill>
                            <a:srgbClr val="000000"/>
                          </a:solidFill>
                          <a:effectLst/>
                          <a:latin typeface="+mn-lt"/>
                        </a:rPr>
                        <a:t>/* Wait for completion of previous write */</a:t>
                      </a:r>
                      <a:br>
                        <a:rPr lang="en-CA" sz="2400" b="0" i="1" dirty="0">
                          <a:solidFill>
                            <a:srgbClr val="000000"/>
                          </a:solidFill>
                          <a:effectLst/>
                          <a:latin typeface="+mn-lt"/>
                        </a:rPr>
                      </a:br>
                      <a:r>
                        <a:rPr lang="en-CA" sz="2400" b="0" i="0" dirty="0">
                          <a:solidFill>
                            <a:srgbClr val="000000"/>
                          </a:solidFill>
                          <a:effectLst/>
                          <a:latin typeface="+mn-lt"/>
                        </a:rPr>
                        <a:t>while(EECR &amp; (1&lt;&lt;EEPE))</a:t>
                      </a:r>
                      <a:br>
                        <a:rPr lang="en-CA" sz="2400" b="0" i="0" dirty="0">
                          <a:solidFill>
                            <a:srgbClr val="000000"/>
                          </a:solidFill>
                          <a:effectLst/>
                          <a:latin typeface="+mn-lt"/>
                        </a:rPr>
                      </a:br>
                      <a:r>
                        <a:rPr lang="en-CA" sz="2400" b="0" i="0" dirty="0">
                          <a:solidFill>
                            <a:srgbClr val="000000"/>
                          </a:solidFill>
                          <a:effectLst/>
                          <a:latin typeface="+mn-lt"/>
                        </a:rPr>
                        <a:t>;</a:t>
                      </a:r>
                      <a:br>
                        <a:rPr lang="en-CA" sz="2400" b="0" i="0" dirty="0">
                          <a:solidFill>
                            <a:srgbClr val="000000"/>
                          </a:solidFill>
                          <a:effectLst/>
                          <a:latin typeface="+mn-lt"/>
                        </a:rPr>
                      </a:br>
                      <a:r>
                        <a:rPr lang="en-CA" sz="2400" b="0" i="0" dirty="0">
                          <a:solidFill>
                            <a:srgbClr val="000000"/>
                          </a:solidFill>
                          <a:effectLst/>
                          <a:latin typeface="+mn-lt"/>
                        </a:rPr>
                        <a:t>/* Set up address register */</a:t>
                      </a:r>
                      <a:br>
                        <a:rPr lang="en-CA" sz="2400" b="0" i="0" dirty="0">
                          <a:solidFill>
                            <a:srgbClr val="000000"/>
                          </a:solidFill>
                          <a:effectLst/>
                          <a:latin typeface="+mn-lt"/>
                        </a:rPr>
                      </a:br>
                      <a:r>
                        <a:rPr lang="en-CA" sz="2400" b="0" i="0" dirty="0">
                          <a:solidFill>
                            <a:srgbClr val="000000"/>
                          </a:solidFill>
                          <a:effectLst/>
                          <a:latin typeface="+mn-lt"/>
                        </a:rPr>
                        <a:t>EEAR = </a:t>
                      </a:r>
                      <a:r>
                        <a:rPr lang="en-CA" sz="2400" b="0" i="0" dirty="0" err="1">
                          <a:solidFill>
                            <a:srgbClr val="000000"/>
                          </a:solidFill>
                          <a:effectLst/>
                          <a:latin typeface="+mn-lt"/>
                        </a:rPr>
                        <a:t>uiAddress</a:t>
                      </a:r>
                      <a:r>
                        <a:rPr lang="en-CA" sz="2400" b="0" i="0" dirty="0">
                          <a:solidFill>
                            <a:srgbClr val="000000"/>
                          </a:solidFill>
                          <a:effectLst/>
                          <a:latin typeface="+mn-lt"/>
                        </a:rPr>
                        <a:t>;</a:t>
                      </a:r>
                      <a:br>
                        <a:rPr lang="en-CA" sz="2400" b="0" i="0" dirty="0">
                          <a:solidFill>
                            <a:srgbClr val="000000"/>
                          </a:solidFill>
                          <a:effectLst/>
                          <a:latin typeface="+mn-lt"/>
                        </a:rPr>
                      </a:br>
                      <a:r>
                        <a:rPr lang="en-CA" sz="2400" b="0" i="0" dirty="0">
                          <a:solidFill>
                            <a:srgbClr val="000000"/>
                          </a:solidFill>
                          <a:effectLst/>
                          <a:latin typeface="+mn-lt"/>
                        </a:rPr>
                        <a:t>/* </a:t>
                      </a:r>
                      <a:r>
                        <a:rPr lang="en-CA" sz="2400" b="0" i="1" dirty="0">
                          <a:solidFill>
                            <a:srgbClr val="000000"/>
                          </a:solidFill>
                          <a:effectLst/>
                          <a:latin typeface="+mn-lt"/>
                        </a:rPr>
                        <a:t>Start </a:t>
                      </a:r>
                      <a:r>
                        <a:rPr lang="en-CA" sz="2400" b="0" i="1" dirty="0" err="1">
                          <a:solidFill>
                            <a:srgbClr val="000000"/>
                          </a:solidFill>
                          <a:effectLst/>
                          <a:latin typeface="+mn-lt"/>
                        </a:rPr>
                        <a:t>eeprom</a:t>
                      </a:r>
                      <a:r>
                        <a:rPr lang="en-CA" sz="2400" b="0" i="1" dirty="0">
                          <a:solidFill>
                            <a:srgbClr val="000000"/>
                          </a:solidFill>
                          <a:effectLst/>
                          <a:latin typeface="+mn-lt"/>
                        </a:rPr>
                        <a:t> read by writing EERE */</a:t>
                      </a:r>
                      <a:br>
                        <a:rPr lang="en-CA" sz="2400" b="0" i="1" dirty="0">
                          <a:solidFill>
                            <a:srgbClr val="000000"/>
                          </a:solidFill>
                          <a:effectLst/>
                          <a:latin typeface="+mn-lt"/>
                        </a:rPr>
                      </a:br>
                      <a:r>
                        <a:rPr lang="en-CA" sz="2400" b="0" i="0" dirty="0">
                          <a:solidFill>
                            <a:srgbClr val="000000"/>
                          </a:solidFill>
                          <a:effectLst/>
                          <a:latin typeface="+mn-lt"/>
                        </a:rPr>
                        <a:t>EECR |= (1&lt;&lt;EERE);</a:t>
                      </a:r>
                      <a:br>
                        <a:rPr lang="en-CA" sz="2400" b="0" i="0" dirty="0">
                          <a:solidFill>
                            <a:srgbClr val="000000"/>
                          </a:solidFill>
                          <a:effectLst/>
                          <a:latin typeface="+mn-lt"/>
                        </a:rPr>
                      </a:br>
                      <a:r>
                        <a:rPr lang="en-CA" sz="2400" b="0" i="1" dirty="0">
                          <a:solidFill>
                            <a:srgbClr val="000000"/>
                          </a:solidFill>
                          <a:effectLst/>
                          <a:latin typeface="+mn-lt"/>
                        </a:rPr>
                        <a:t>/* Return data from Data Register */</a:t>
                      </a:r>
                      <a:br>
                        <a:rPr lang="en-CA" sz="2400" b="0" i="1" dirty="0">
                          <a:solidFill>
                            <a:srgbClr val="000000"/>
                          </a:solidFill>
                          <a:effectLst/>
                          <a:latin typeface="+mn-lt"/>
                        </a:rPr>
                      </a:br>
                      <a:r>
                        <a:rPr lang="en-CA" sz="2400" b="0" i="0" dirty="0">
                          <a:solidFill>
                            <a:srgbClr val="000000"/>
                          </a:solidFill>
                          <a:effectLst/>
                          <a:latin typeface="+mn-lt"/>
                        </a:rPr>
                        <a:t>return EEDR;</a:t>
                      </a:r>
                      <a:br>
                        <a:rPr lang="en-CA" sz="2400" b="0" i="0" dirty="0">
                          <a:solidFill>
                            <a:srgbClr val="000000"/>
                          </a:solidFill>
                          <a:effectLst/>
                          <a:latin typeface="+mn-lt"/>
                        </a:rPr>
                      </a:br>
                      <a:r>
                        <a:rPr lang="en-CA" sz="2400" b="0" i="0" dirty="0">
                          <a:solidFill>
                            <a:srgbClr val="000000"/>
                          </a:solidFill>
                          <a:effectLst/>
                          <a:latin typeface="+mn-lt"/>
                        </a:rPr>
                        <a:t>}</a:t>
                      </a:r>
                      <a:endParaRPr lang="en-CA" sz="2400" dirty="0">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5836154"/>
                  </a:ext>
                </a:extLst>
              </a:tr>
            </a:tbl>
          </a:graphicData>
        </a:graphic>
      </p:graphicFrame>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Functions of Assembly and C</a:t>
            </a:r>
          </a:p>
        </p:txBody>
      </p:sp>
    </p:spTree>
    <p:extLst>
      <p:ext uri="{BB962C8B-B14F-4D97-AF65-F5344CB8AC3E}">
        <p14:creationId xmlns:p14="http://schemas.microsoft.com/office/powerpoint/2010/main" val="2638464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16150"/>
            <a:ext cx="15925800" cy="1531850"/>
          </a:xfrm>
        </p:spPr>
        <p:txBody>
          <a:bodyPr>
            <a:normAutofit/>
          </a:bodyPr>
          <a:lstStyle/>
          <a:p>
            <a:pPr algn="l"/>
            <a:r>
              <a:rPr lang="en-CA" sz="2800" dirty="0">
                <a:latin typeface="Times New Roman" panose="02020603050405020304" pitchFamily="18" charset="0"/>
                <a:cs typeface="Times New Roman" panose="02020603050405020304" pitchFamily="18" charset="0"/>
              </a:rPr>
              <a:t>Bit 0 – IVCE: Interrupt Vector Change Enable</a:t>
            </a:r>
            <a:br>
              <a:rPr lang="en-CA" sz="2800" dirty="0">
                <a:latin typeface="Times New Roman" panose="02020603050405020304" pitchFamily="18" charset="0"/>
                <a:cs typeface="Times New Roman" panose="02020603050405020304" pitchFamily="18" charset="0"/>
              </a:rPr>
            </a:br>
            <a:r>
              <a:rPr lang="en-CA" sz="2800" dirty="0">
                <a:latin typeface="Times New Roman" panose="02020603050405020304" pitchFamily="18" charset="0"/>
                <a:cs typeface="Times New Roman" panose="02020603050405020304" pitchFamily="18" charset="0"/>
              </a:rPr>
              <a:t>The IVCE bit must be written to logic one to enable change of the IVSEL bit. IVCE is cleared by hardware four cycles after it is written or when IVSEL is written. Setting the IVCE bit will disable interrupts, </a:t>
            </a:r>
          </a:p>
        </p:txBody>
      </p:sp>
      <p:graphicFrame>
        <p:nvGraphicFramePr>
          <p:cNvPr id="5" name="Table 4"/>
          <p:cNvGraphicFramePr>
            <a:graphicFrameLocks noGrp="1"/>
          </p:cNvGraphicFramePr>
          <p:nvPr>
            <p:extLst>
              <p:ext uri="{D42A27DB-BD31-4B8C-83A1-F6EECF244321}">
                <p14:modId xmlns:p14="http://schemas.microsoft.com/office/powerpoint/2010/main" val="1348088191"/>
              </p:ext>
            </p:extLst>
          </p:nvPr>
        </p:nvGraphicFramePr>
        <p:xfrm>
          <a:off x="914400" y="3052632"/>
          <a:ext cx="7315200" cy="4354007"/>
        </p:xfrm>
        <a:graphic>
          <a:graphicData uri="http://schemas.openxmlformats.org/drawingml/2006/table">
            <a:tbl>
              <a:tblPr/>
              <a:tblGrid>
                <a:gridCol w="7315200">
                  <a:extLst>
                    <a:ext uri="{9D8B030D-6E8A-4147-A177-3AD203B41FA5}">
                      <a16:colId xmlns:a16="http://schemas.microsoft.com/office/drawing/2014/main" val="1674085445"/>
                    </a:ext>
                  </a:extLst>
                </a:gridCol>
              </a:tblGrid>
              <a:tr h="470703">
                <a:tc>
                  <a:txBody>
                    <a:bodyPr/>
                    <a:lstStyle/>
                    <a:p>
                      <a:r>
                        <a:rPr lang="en-CA" sz="2200" b="1" i="0" dirty="0">
                          <a:solidFill>
                            <a:srgbClr val="00B050"/>
                          </a:solidFill>
                          <a:effectLst/>
                          <a:latin typeface="+mn-lt"/>
                        </a:rPr>
                        <a:t>Assembly Code Example</a:t>
                      </a:r>
                      <a:endParaRPr lang="en-CA" sz="2200" b="1"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7639736"/>
                  </a:ext>
                </a:extLst>
              </a:tr>
              <a:tr h="3883304">
                <a:tc>
                  <a:txBody>
                    <a:bodyPr/>
                    <a:lstStyle/>
                    <a:p>
                      <a:r>
                        <a:rPr lang="en-CA" sz="2400" b="0" i="0" dirty="0" err="1">
                          <a:solidFill>
                            <a:srgbClr val="000000"/>
                          </a:solidFill>
                          <a:effectLst/>
                          <a:latin typeface="Courier"/>
                        </a:rPr>
                        <a:t>Move_interrupts</a:t>
                      </a:r>
                      <a:r>
                        <a:rPr lang="en-CA" sz="2400" b="0" i="0" dirty="0">
                          <a:solidFill>
                            <a:srgbClr val="000000"/>
                          </a:solidFill>
                          <a:effectLst/>
                          <a:latin typeface="Courier"/>
                        </a:rPr>
                        <a:t>:</a:t>
                      </a:r>
                      <a:br>
                        <a:rPr lang="en-CA" sz="2400" b="0" i="0" dirty="0">
                          <a:solidFill>
                            <a:srgbClr val="000000"/>
                          </a:solidFill>
                          <a:effectLst/>
                          <a:latin typeface="Courier"/>
                        </a:rPr>
                      </a:br>
                      <a:r>
                        <a:rPr lang="en-CA" sz="2400" b="0" i="1" dirty="0">
                          <a:solidFill>
                            <a:srgbClr val="000000"/>
                          </a:solidFill>
                          <a:effectLst/>
                          <a:latin typeface="Courier-Oblique"/>
                        </a:rPr>
                        <a:t>; Enable change of Interrupt Vectors</a:t>
                      </a:r>
                      <a:br>
                        <a:rPr lang="en-CA" sz="2400" b="0" i="1" dirty="0">
                          <a:solidFill>
                            <a:srgbClr val="000000"/>
                          </a:solidFill>
                          <a:effectLst/>
                          <a:latin typeface="Courier-Oblique"/>
                        </a:rPr>
                      </a:br>
                      <a:r>
                        <a:rPr lang="en-CA" sz="2400" b="1" i="0" dirty="0">
                          <a:solidFill>
                            <a:srgbClr val="000000"/>
                          </a:solidFill>
                          <a:effectLst/>
                          <a:latin typeface="Courier-Bold"/>
                        </a:rPr>
                        <a:t>LDI </a:t>
                      </a:r>
                      <a:r>
                        <a:rPr lang="en-CA" sz="2400" b="0" i="0" dirty="0">
                          <a:solidFill>
                            <a:srgbClr val="000000"/>
                          </a:solidFill>
                          <a:effectLst/>
                          <a:latin typeface="Courier"/>
                        </a:rPr>
                        <a:t>R16, (1&lt;&lt;IVCE)</a:t>
                      </a:r>
                      <a:br>
                        <a:rPr lang="en-CA" sz="2400" b="0" i="0" dirty="0">
                          <a:solidFill>
                            <a:srgbClr val="000000"/>
                          </a:solidFill>
                          <a:effectLst/>
                          <a:latin typeface="Courier"/>
                        </a:rPr>
                      </a:br>
                      <a:r>
                        <a:rPr lang="en-CA" sz="2400" b="1" i="0" dirty="0">
                          <a:solidFill>
                            <a:srgbClr val="000000"/>
                          </a:solidFill>
                          <a:effectLst/>
                          <a:latin typeface="Courier-Bold"/>
                        </a:rPr>
                        <a:t>OUT </a:t>
                      </a:r>
                      <a:r>
                        <a:rPr lang="en-CA" sz="2400" b="0" i="0" dirty="0">
                          <a:solidFill>
                            <a:srgbClr val="000000"/>
                          </a:solidFill>
                          <a:effectLst/>
                          <a:latin typeface="Courier"/>
                        </a:rPr>
                        <a:t>MCUCR, R16</a:t>
                      </a:r>
                      <a:br>
                        <a:rPr lang="en-CA" sz="2400" b="0" i="0" dirty="0">
                          <a:solidFill>
                            <a:srgbClr val="000000"/>
                          </a:solidFill>
                          <a:effectLst/>
                          <a:latin typeface="Courier"/>
                        </a:rPr>
                      </a:br>
                      <a:r>
                        <a:rPr lang="en-CA" sz="2400" b="0" i="1" dirty="0">
                          <a:solidFill>
                            <a:srgbClr val="000000"/>
                          </a:solidFill>
                          <a:effectLst/>
                          <a:latin typeface="Courier-Oblique"/>
                        </a:rPr>
                        <a:t>; Move interrupts to Boot Flash section</a:t>
                      </a:r>
                      <a:br>
                        <a:rPr lang="en-CA" sz="2400" b="0" i="1" dirty="0">
                          <a:solidFill>
                            <a:srgbClr val="000000"/>
                          </a:solidFill>
                          <a:effectLst/>
                          <a:latin typeface="Courier-Oblique"/>
                        </a:rPr>
                      </a:br>
                      <a:r>
                        <a:rPr lang="en-CA" sz="2400" b="1" i="0" dirty="0">
                          <a:solidFill>
                            <a:srgbClr val="000000"/>
                          </a:solidFill>
                          <a:effectLst/>
                          <a:latin typeface="Courier-Bold"/>
                        </a:rPr>
                        <a:t>LDI </a:t>
                      </a:r>
                      <a:r>
                        <a:rPr lang="en-CA" sz="2400" b="0" i="0" dirty="0">
                          <a:solidFill>
                            <a:srgbClr val="000000"/>
                          </a:solidFill>
                          <a:effectLst/>
                          <a:latin typeface="Courier"/>
                        </a:rPr>
                        <a:t>R16, (1&lt;&lt;IVSEL)</a:t>
                      </a:r>
                      <a:br>
                        <a:rPr lang="en-CA" sz="2400" b="0" i="0" dirty="0">
                          <a:solidFill>
                            <a:srgbClr val="000000"/>
                          </a:solidFill>
                          <a:effectLst/>
                          <a:latin typeface="Courier"/>
                        </a:rPr>
                      </a:br>
                      <a:r>
                        <a:rPr lang="en-CA" sz="2400" b="1" i="0" dirty="0">
                          <a:solidFill>
                            <a:srgbClr val="000000"/>
                          </a:solidFill>
                          <a:effectLst/>
                          <a:latin typeface="Courier-Bold"/>
                        </a:rPr>
                        <a:t>OUT </a:t>
                      </a:r>
                      <a:r>
                        <a:rPr lang="en-CA" sz="2400" b="0" i="0" dirty="0">
                          <a:solidFill>
                            <a:srgbClr val="000000"/>
                          </a:solidFill>
                          <a:effectLst/>
                          <a:latin typeface="Courier"/>
                        </a:rPr>
                        <a:t>MCUCR, R16</a:t>
                      </a:r>
                      <a:br>
                        <a:rPr lang="en-CA" sz="2400" b="0" i="0" dirty="0">
                          <a:solidFill>
                            <a:srgbClr val="000000"/>
                          </a:solidFill>
                          <a:effectLst/>
                          <a:latin typeface="Courier"/>
                        </a:rPr>
                      </a:br>
                      <a:r>
                        <a:rPr lang="en-CA" sz="2400" b="1" i="0" dirty="0">
                          <a:solidFill>
                            <a:srgbClr val="000000"/>
                          </a:solidFill>
                          <a:effectLst/>
                          <a:latin typeface="Courier-Bold"/>
                        </a:rPr>
                        <a:t>RET</a:t>
                      </a:r>
                      <a:endParaRPr lang="en-CA" sz="2400" dirty="0">
                        <a:effectLs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4285575"/>
                  </a:ext>
                </a:extLst>
              </a:tr>
            </a:tbl>
          </a:graphicData>
        </a:graphic>
      </p:graphicFrame>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801402532"/>
              </p:ext>
            </p:extLst>
          </p:nvPr>
        </p:nvGraphicFramePr>
        <p:xfrm>
          <a:off x="8452716" y="3056709"/>
          <a:ext cx="6406284" cy="4345297"/>
        </p:xfrm>
        <a:graphic>
          <a:graphicData uri="http://schemas.openxmlformats.org/drawingml/2006/table">
            <a:tbl>
              <a:tblPr/>
              <a:tblGrid>
                <a:gridCol w="6406284">
                  <a:extLst>
                    <a:ext uri="{9D8B030D-6E8A-4147-A177-3AD203B41FA5}">
                      <a16:colId xmlns:a16="http://schemas.microsoft.com/office/drawing/2014/main" val="828721743"/>
                    </a:ext>
                  </a:extLst>
                </a:gridCol>
              </a:tblGrid>
              <a:tr h="500177">
                <a:tc>
                  <a:txBody>
                    <a:bodyPr/>
                    <a:lstStyle/>
                    <a:p>
                      <a:r>
                        <a:rPr lang="en-CA" sz="2200" b="0" i="0" dirty="0">
                          <a:solidFill>
                            <a:srgbClr val="0000FF"/>
                          </a:solidFill>
                          <a:effectLst/>
                          <a:latin typeface="Arial" panose="020B0604020202020204" pitchFamily="34" charset="0"/>
                          <a:cs typeface="Arial" panose="020B0604020202020204" pitchFamily="34" charset="0"/>
                        </a:rPr>
                        <a:t>C Code Example</a:t>
                      </a:r>
                      <a:endParaRPr lang="en-CA" sz="2200" dirty="0">
                        <a:solidFill>
                          <a:srgbClr val="0000FF"/>
                        </a:solidFill>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2266283"/>
                  </a:ext>
                </a:extLst>
              </a:tr>
              <a:tr h="3845120">
                <a:tc>
                  <a:txBody>
                    <a:bodyPr/>
                    <a:lstStyle/>
                    <a:p>
                      <a:r>
                        <a:rPr lang="en-CA" sz="2400" dirty="0">
                          <a:effectLst/>
                          <a:latin typeface="+mn-lt"/>
                        </a:rPr>
                        <a:t>void </a:t>
                      </a:r>
                      <a:r>
                        <a:rPr lang="en-CA" sz="2400" dirty="0" err="1">
                          <a:effectLst/>
                          <a:latin typeface="+mn-lt"/>
                        </a:rPr>
                        <a:t>Move_interrupts</a:t>
                      </a:r>
                      <a:r>
                        <a:rPr lang="en-CA" sz="2400" dirty="0">
                          <a:effectLst/>
                          <a:latin typeface="+mn-lt"/>
                        </a:rPr>
                        <a:t>(void)</a:t>
                      </a:r>
                    </a:p>
                    <a:p>
                      <a:r>
                        <a:rPr lang="en-CA" sz="2400" dirty="0">
                          <a:effectLst/>
                          <a:latin typeface="+mn-lt"/>
                        </a:rPr>
                        <a:t>{</a:t>
                      </a:r>
                    </a:p>
                    <a:p>
                      <a:r>
                        <a:rPr lang="en-CA" sz="2400" dirty="0">
                          <a:effectLst/>
                          <a:latin typeface="+mn-lt"/>
                        </a:rPr>
                        <a:t>/* Enable change of Interrupt Vectors */</a:t>
                      </a:r>
                    </a:p>
                    <a:p>
                      <a:r>
                        <a:rPr lang="en-CA" sz="2400" dirty="0">
                          <a:effectLst/>
                          <a:latin typeface="+mn-lt"/>
                        </a:rPr>
                        <a:t>MCUCR = (1&lt;&lt;IVCE);</a:t>
                      </a:r>
                    </a:p>
                    <a:p>
                      <a:r>
                        <a:rPr lang="en-CA" sz="2400" dirty="0">
                          <a:effectLst/>
                          <a:latin typeface="+mn-lt"/>
                        </a:rPr>
                        <a:t>/* Move interrupts to Boot Flash section */</a:t>
                      </a:r>
                    </a:p>
                    <a:p>
                      <a:r>
                        <a:rPr lang="en-CA" sz="2400" dirty="0">
                          <a:effectLst/>
                          <a:latin typeface="+mn-lt"/>
                        </a:rPr>
                        <a:t>MCUCR = (1&lt;&lt;IVSEL);</a:t>
                      </a:r>
                    </a:p>
                    <a:p>
                      <a:r>
                        <a:rPr lang="en-CA" sz="2400" dirty="0">
                          <a:effectLst/>
                          <a:latin typeface="+mn-lt"/>
                        </a:rPr>
                        <a: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5836154"/>
                  </a:ext>
                </a:extLst>
              </a:tr>
            </a:tbl>
          </a:graphicData>
        </a:graphic>
      </p:graphicFrame>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Functions of Assembly and C</a:t>
            </a:r>
          </a:p>
        </p:txBody>
      </p:sp>
    </p:spTree>
    <p:extLst>
      <p:ext uri="{BB962C8B-B14F-4D97-AF65-F5344CB8AC3E}">
        <p14:creationId xmlns:p14="http://schemas.microsoft.com/office/powerpoint/2010/main" val="2035618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543622"/>
            <a:ext cx="16078200" cy="2226361"/>
          </a:xfrm>
        </p:spPr>
        <p:txBody>
          <a:bodyPr anchor="t">
            <a:noAutofit/>
          </a:bodyPr>
          <a:lstStyle/>
          <a:p>
            <a:pPr algn="l"/>
            <a:r>
              <a:rPr lang="en-CA" sz="2800" dirty="0">
                <a:latin typeface="Times New Roman" panose="02020603050405020304" pitchFamily="18" charset="0"/>
                <a:cs typeface="Times New Roman" panose="02020603050405020304" pitchFamily="18" charset="0"/>
              </a:rPr>
              <a:t>The assembly code example returns the TCNT1 value in the </a:t>
            </a:r>
            <a:r>
              <a:rPr lang="en-CA" sz="2800" b="1" dirty="0">
                <a:solidFill>
                  <a:srgbClr val="FF0000"/>
                </a:solidFill>
                <a:latin typeface="Times New Roman" panose="02020603050405020304" pitchFamily="18" charset="0"/>
                <a:cs typeface="Times New Roman" panose="02020603050405020304" pitchFamily="18" charset="0"/>
              </a:rPr>
              <a:t>R17:R16 </a:t>
            </a:r>
            <a:r>
              <a:rPr lang="en-CA" sz="2800" dirty="0">
                <a:latin typeface="Times New Roman" panose="02020603050405020304" pitchFamily="18" charset="0"/>
                <a:cs typeface="Times New Roman" panose="02020603050405020304" pitchFamily="18" charset="0"/>
              </a:rPr>
              <a:t>register pair.</a:t>
            </a:r>
            <a:br>
              <a:rPr lang="en-CA" sz="2800" dirty="0">
                <a:latin typeface="Times New Roman" panose="02020603050405020304" pitchFamily="18" charset="0"/>
                <a:cs typeface="Times New Roman" panose="02020603050405020304" pitchFamily="18" charset="0"/>
              </a:rPr>
            </a:br>
            <a:r>
              <a:rPr lang="en-CA" sz="2800" dirty="0">
                <a:latin typeface="Times New Roman" panose="02020603050405020304" pitchFamily="18" charset="0"/>
                <a:cs typeface="Times New Roman" panose="02020603050405020304" pitchFamily="18" charset="0"/>
              </a:rPr>
              <a:t>If an interrupt occurs between the two instructions accessing the </a:t>
            </a:r>
            <a:r>
              <a:rPr lang="en-CA" sz="2800" b="1" dirty="0">
                <a:solidFill>
                  <a:srgbClr val="FF0000"/>
                </a:solidFill>
                <a:latin typeface="Times New Roman" panose="02020603050405020304" pitchFamily="18" charset="0"/>
                <a:cs typeface="Times New Roman" panose="02020603050405020304" pitchFamily="18" charset="0"/>
              </a:rPr>
              <a:t>16-bit register</a:t>
            </a:r>
            <a:r>
              <a:rPr lang="en-CA" sz="2800" dirty="0">
                <a:latin typeface="Times New Roman" panose="02020603050405020304" pitchFamily="18" charset="0"/>
                <a:cs typeface="Times New Roman" panose="02020603050405020304" pitchFamily="18" charset="0"/>
              </a:rPr>
              <a:t>, the interrupt code</a:t>
            </a:r>
            <a:br>
              <a:rPr lang="en-CA"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Updates the temporary register by accessing the same or any other of the </a:t>
            </a:r>
            <a:r>
              <a:rPr lang="en-US" sz="2800" b="1" dirty="0">
                <a:solidFill>
                  <a:srgbClr val="FF0000"/>
                </a:solidFill>
                <a:latin typeface="Times New Roman" panose="02020603050405020304" pitchFamily="18" charset="0"/>
                <a:cs typeface="Times New Roman" panose="02020603050405020304" pitchFamily="18" charset="0"/>
              </a:rPr>
              <a:t>16-bit Timer Registers</a:t>
            </a:r>
            <a:r>
              <a:rPr lang="en-US" sz="2800" dirty="0">
                <a:latin typeface="Times New Roman" panose="02020603050405020304" pitchFamily="18" charset="0"/>
                <a:cs typeface="Times New Roman" panose="02020603050405020304" pitchFamily="18" charset="0"/>
              </a:rPr>
              <a:t>; then,</a:t>
            </a:r>
            <a:r>
              <a:rPr lang="en-CA" sz="2800" dirty="0">
                <a:latin typeface="Times New Roman" panose="02020603050405020304" pitchFamily="18" charset="0"/>
                <a:cs typeface="Times New Roman" panose="02020603050405020304" pitchFamily="18" charset="0"/>
              </a:rPr>
              <a:t> the result of the access outside the interrupt will be corrupted. Therefore, when both the main code and the interrupt code update the temporary register, the main code must disable the interrupts during the 16-bit access. </a:t>
            </a:r>
            <a:endParaRPr lang="en-CA" sz="2400"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130304733"/>
              </p:ext>
            </p:extLst>
          </p:nvPr>
        </p:nvGraphicFramePr>
        <p:xfrm>
          <a:off x="304800" y="3773424"/>
          <a:ext cx="4724400" cy="3846576"/>
        </p:xfrm>
        <a:graphic>
          <a:graphicData uri="http://schemas.openxmlformats.org/drawingml/2006/table">
            <a:tbl>
              <a:tblPr/>
              <a:tblGrid>
                <a:gridCol w="4724400">
                  <a:extLst>
                    <a:ext uri="{9D8B030D-6E8A-4147-A177-3AD203B41FA5}">
                      <a16:colId xmlns:a16="http://schemas.microsoft.com/office/drawing/2014/main" val="1674085445"/>
                    </a:ext>
                  </a:extLst>
                </a:gridCol>
              </a:tblGrid>
              <a:tr h="427377">
                <a:tc>
                  <a:txBody>
                    <a:bodyPr/>
                    <a:lstStyle/>
                    <a:p>
                      <a:r>
                        <a:rPr lang="en-CA" sz="2200" b="1" i="0" dirty="0">
                          <a:solidFill>
                            <a:srgbClr val="00B050"/>
                          </a:solidFill>
                          <a:effectLst/>
                          <a:latin typeface="+mn-lt"/>
                        </a:rPr>
                        <a:t>Assembly Code Example</a:t>
                      </a:r>
                      <a:endParaRPr lang="en-CA" sz="2200" b="1"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7639736"/>
                  </a:ext>
                </a:extLst>
              </a:tr>
              <a:tr h="3266799">
                <a:tc>
                  <a:txBody>
                    <a:bodyPr/>
                    <a:lstStyle/>
                    <a:p>
                      <a:r>
                        <a:rPr lang="en-CA" sz="2400" dirty="0">
                          <a:effectLst/>
                        </a:rPr>
                        <a:t>; Set TCNT1 to 0x01FF</a:t>
                      </a:r>
                    </a:p>
                    <a:p>
                      <a:r>
                        <a:rPr lang="en-CA" sz="2400" dirty="0">
                          <a:effectLst/>
                        </a:rPr>
                        <a:t>LDI R17, 0X01</a:t>
                      </a:r>
                    </a:p>
                    <a:p>
                      <a:r>
                        <a:rPr lang="en-CA" sz="2400" dirty="0">
                          <a:effectLst/>
                        </a:rPr>
                        <a:t>LDI R16, 0XFF</a:t>
                      </a:r>
                    </a:p>
                    <a:p>
                      <a:r>
                        <a:rPr lang="en-CA" sz="2400" dirty="0">
                          <a:effectLst/>
                        </a:rPr>
                        <a:t>OUT TCNT1H, R17</a:t>
                      </a:r>
                    </a:p>
                    <a:p>
                      <a:r>
                        <a:rPr lang="en-CA" sz="2400" dirty="0">
                          <a:effectLst/>
                        </a:rPr>
                        <a:t>OUT TCNT1L, R16</a:t>
                      </a:r>
                    </a:p>
                    <a:p>
                      <a:r>
                        <a:rPr lang="en-CA" sz="2400" dirty="0">
                          <a:effectLst/>
                        </a:rPr>
                        <a:t>; Read TCNT1 into R17:R16</a:t>
                      </a:r>
                    </a:p>
                    <a:p>
                      <a:r>
                        <a:rPr lang="en-CA" sz="2400" dirty="0">
                          <a:effectLst/>
                        </a:rPr>
                        <a:t>IN R16, TCNT1L</a:t>
                      </a:r>
                    </a:p>
                    <a:p>
                      <a:r>
                        <a:rPr lang="en-CA" sz="2400" dirty="0">
                          <a:effectLst/>
                        </a:rPr>
                        <a:t>IN R17, TCNT1H</a:t>
                      </a:r>
                    </a:p>
                    <a:p>
                      <a:r>
                        <a:rPr lang="en-CA" sz="2400" dirty="0">
                          <a:effectLst/>
                        </a:rPr>
                        <a: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4285575"/>
                  </a:ext>
                </a:extLst>
              </a:tr>
            </a:tbl>
          </a:graphicData>
        </a:graphic>
      </p:graphicFrame>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730965579"/>
              </p:ext>
            </p:extLst>
          </p:nvPr>
        </p:nvGraphicFramePr>
        <p:xfrm>
          <a:off x="5334000" y="3774003"/>
          <a:ext cx="4610402" cy="3693597"/>
        </p:xfrm>
        <a:graphic>
          <a:graphicData uri="http://schemas.openxmlformats.org/drawingml/2006/table">
            <a:tbl>
              <a:tblPr/>
              <a:tblGrid>
                <a:gridCol w="4610402">
                  <a:extLst>
                    <a:ext uri="{9D8B030D-6E8A-4147-A177-3AD203B41FA5}">
                      <a16:colId xmlns:a16="http://schemas.microsoft.com/office/drawing/2014/main" val="828721743"/>
                    </a:ext>
                  </a:extLst>
                </a:gridCol>
              </a:tblGrid>
              <a:tr h="431671">
                <a:tc>
                  <a:txBody>
                    <a:bodyPr/>
                    <a:lstStyle/>
                    <a:p>
                      <a:r>
                        <a:rPr lang="en-CA" sz="2200" b="0" i="0" dirty="0">
                          <a:solidFill>
                            <a:srgbClr val="0000FF"/>
                          </a:solidFill>
                          <a:effectLst/>
                          <a:latin typeface="Arial" panose="020B0604020202020204" pitchFamily="34" charset="0"/>
                          <a:cs typeface="Arial" panose="020B0604020202020204" pitchFamily="34" charset="0"/>
                        </a:rPr>
                        <a:t>C Code Example</a:t>
                      </a:r>
                      <a:endParaRPr lang="en-CA" sz="2200" dirty="0">
                        <a:solidFill>
                          <a:srgbClr val="0000FF"/>
                        </a:solidFill>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2266283"/>
                  </a:ext>
                </a:extLst>
              </a:tr>
              <a:tr h="3248589">
                <a:tc>
                  <a:txBody>
                    <a:bodyPr/>
                    <a:lstStyle/>
                    <a:p>
                      <a:r>
                        <a:rPr lang="en-CA" sz="2400" dirty="0">
                          <a:effectLst/>
                          <a:latin typeface="+mn-lt"/>
                        </a:rPr>
                        <a:t>unsigned </a:t>
                      </a:r>
                      <a:r>
                        <a:rPr lang="en-CA" sz="2400" dirty="0" err="1">
                          <a:effectLst/>
                          <a:latin typeface="+mn-lt"/>
                        </a:rPr>
                        <a:t>int</a:t>
                      </a:r>
                      <a:r>
                        <a:rPr lang="en-CA" sz="2400" dirty="0">
                          <a:effectLst/>
                          <a:latin typeface="+mn-lt"/>
                        </a:rPr>
                        <a:t> </a:t>
                      </a:r>
                      <a:r>
                        <a:rPr lang="en-CA" sz="2400" dirty="0" err="1">
                          <a:effectLst/>
                          <a:latin typeface="+mn-lt"/>
                        </a:rPr>
                        <a:t>i</a:t>
                      </a:r>
                      <a:r>
                        <a:rPr lang="en-CA" sz="2400" dirty="0">
                          <a:effectLst/>
                          <a:latin typeface="+mn-lt"/>
                        </a:rPr>
                        <a:t>;</a:t>
                      </a:r>
                    </a:p>
                    <a:p>
                      <a:r>
                        <a:rPr lang="en-CA" sz="2400" dirty="0">
                          <a:effectLst/>
                          <a:latin typeface="+mn-lt"/>
                        </a:rPr>
                        <a:t>...</a:t>
                      </a:r>
                    </a:p>
                    <a:p>
                      <a:r>
                        <a:rPr lang="en-CA" sz="2400" dirty="0">
                          <a:effectLst/>
                          <a:latin typeface="+mn-lt"/>
                        </a:rPr>
                        <a:t>/* Set TCNT1 to 0x01FF */</a:t>
                      </a:r>
                    </a:p>
                    <a:p>
                      <a:r>
                        <a:rPr lang="en-CA" sz="2400" dirty="0">
                          <a:effectLst/>
                          <a:latin typeface="+mn-lt"/>
                        </a:rPr>
                        <a:t>TCNT1 = 0x1FF;</a:t>
                      </a:r>
                    </a:p>
                    <a:p>
                      <a:r>
                        <a:rPr lang="en-CA" sz="2400" dirty="0">
                          <a:effectLst/>
                          <a:latin typeface="+mn-lt"/>
                        </a:rPr>
                        <a:t>/* Read TCNT1 into </a:t>
                      </a:r>
                      <a:r>
                        <a:rPr lang="en-CA" sz="2400" dirty="0" err="1">
                          <a:effectLst/>
                          <a:latin typeface="+mn-lt"/>
                        </a:rPr>
                        <a:t>i</a:t>
                      </a:r>
                      <a:r>
                        <a:rPr lang="en-CA" sz="2400" dirty="0">
                          <a:effectLst/>
                          <a:latin typeface="+mn-lt"/>
                        </a:rPr>
                        <a:t> */</a:t>
                      </a:r>
                    </a:p>
                    <a:p>
                      <a:r>
                        <a:rPr lang="en-CA" sz="2400" dirty="0" err="1">
                          <a:effectLst/>
                          <a:latin typeface="+mn-lt"/>
                        </a:rPr>
                        <a:t>i</a:t>
                      </a:r>
                      <a:r>
                        <a:rPr lang="en-CA" sz="2400" dirty="0">
                          <a:effectLst/>
                          <a:latin typeface="+mn-lt"/>
                        </a:rPr>
                        <a:t> = TCNT1;</a:t>
                      </a:r>
                    </a:p>
                    <a:p>
                      <a:r>
                        <a:rPr lang="en-CA" sz="2400" dirty="0">
                          <a:effectLst/>
                          <a:latin typeface="+mn-lt"/>
                        </a:rPr>
                        <a: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5836154"/>
                  </a:ext>
                </a:extLst>
              </a:tr>
            </a:tbl>
          </a:graphicData>
        </a:graphic>
      </p:graphicFrame>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Functions of Assembly and C</a:t>
            </a:r>
          </a:p>
        </p:txBody>
      </p:sp>
      <p:pic>
        <p:nvPicPr>
          <p:cNvPr id="3" name="Picture 2">
            <a:extLst>
              <a:ext uri="{FF2B5EF4-FFF2-40B4-BE49-F238E27FC236}">
                <a16:creationId xmlns:a16="http://schemas.microsoft.com/office/drawing/2014/main" id="{DBFFF373-A734-C474-5140-925EB9E6836E}"/>
              </a:ext>
            </a:extLst>
          </p:cNvPr>
          <p:cNvPicPr>
            <a:picLocks noChangeAspect="1"/>
          </p:cNvPicPr>
          <p:nvPr/>
        </p:nvPicPr>
        <p:blipFill rotWithShape="1">
          <a:blip r:embed="rId2"/>
          <a:srcRect t="3265" b="5550"/>
          <a:stretch/>
        </p:blipFill>
        <p:spPr>
          <a:xfrm>
            <a:off x="9973972" y="3769984"/>
            <a:ext cx="6294728" cy="1086332"/>
          </a:xfrm>
          <a:prstGeom prst="rect">
            <a:avLst/>
          </a:prstGeom>
        </p:spPr>
      </p:pic>
    </p:spTree>
    <p:extLst>
      <p:ext uri="{BB962C8B-B14F-4D97-AF65-F5344CB8AC3E}">
        <p14:creationId xmlns:p14="http://schemas.microsoft.com/office/powerpoint/2010/main" val="1005737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744748"/>
            <a:ext cx="4876800" cy="3208252"/>
          </a:xfrm>
        </p:spPr>
        <p:txBody>
          <a:bodyPr anchor="t">
            <a:noAutofit/>
          </a:bodyPr>
          <a:lstStyle/>
          <a:p>
            <a:pPr algn="l"/>
            <a:r>
              <a:rPr lang="en-CA" sz="2800" dirty="0">
                <a:latin typeface="Times New Roman" panose="02020603050405020304" pitchFamily="18" charset="0"/>
                <a:cs typeface="Times New Roman" panose="02020603050405020304" pitchFamily="18" charset="0"/>
              </a:rPr>
              <a:t>The following code examples show how to do an atomic read of the TCNT1 Register contents. </a:t>
            </a:r>
            <a:br>
              <a:rPr lang="en-CA" sz="2800" dirty="0">
                <a:latin typeface="Times New Roman" panose="02020603050405020304" pitchFamily="18" charset="0"/>
                <a:cs typeface="Times New Roman" panose="02020603050405020304" pitchFamily="18" charset="0"/>
              </a:rPr>
            </a:br>
            <a:br>
              <a:rPr lang="en-CA" sz="2800" dirty="0">
                <a:latin typeface="Times New Roman" panose="02020603050405020304" pitchFamily="18" charset="0"/>
                <a:cs typeface="Times New Roman" panose="02020603050405020304" pitchFamily="18" charset="0"/>
              </a:rPr>
            </a:br>
            <a:r>
              <a:rPr lang="en-CA" sz="2800" dirty="0">
                <a:latin typeface="Times New Roman" panose="02020603050405020304" pitchFamily="18" charset="0"/>
                <a:cs typeface="Times New Roman" panose="02020603050405020304" pitchFamily="18" charset="0"/>
              </a:rPr>
              <a:t>Reading any of the OCR1A/B or ICR1 Registers can be done by using the same principle</a:t>
            </a:r>
          </a:p>
        </p:txBody>
      </p:sp>
      <p:graphicFrame>
        <p:nvGraphicFramePr>
          <p:cNvPr id="5" name="Table 4"/>
          <p:cNvGraphicFramePr>
            <a:graphicFrameLocks noGrp="1"/>
          </p:cNvGraphicFramePr>
          <p:nvPr>
            <p:extLst>
              <p:ext uri="{D42A27DB-BD31-4B8C-83A1-F6EECF244321}">
                <p14:modId xmlns:p14="http://schemas.microsoft.com/office/powerpoint/2010/main" val="412243447"/>
              </p:ext>
            </p:extLst>
          </p:nvPr>
        </p:nvGraphicFramePr>
        <p:xfrm>
          <a:off x="5105400" y="1733139"/>
          <a:ext cx="5105400" cy="5212080"/>
        </p:xfrm>
        <a:graphic>
          <a:graphicData uri="http://schemas.openxmlformats.org/drawingml/2006/table">
            <a:tbl>
              <a:tblPr/>
              <a:tblGrid>
                <a:gridCol w="5105400">
                  <a:extLst>
                    <a:ext uri="{9D8B030D-6E8A-4147-A177-3AD203B41FA5}">
                      <a16:colId xmlns:a16="http://schemas.microsoft.com/office/drawing/2014/main" val="1674085445"/>
                    </a:ext>
                  </a:extLst>
                </a:gridCol>
              </a:tblGrid>
              <a:tr h="563467">
                <a:tc>
                  <a:txBody>
                    <a:bodyPr/>
                    <a:lstStyle/>
                    <a:p>
                      <a:r>
                        <a:rPr lang="en-CA" sz="2200" b="1" i="0" dirty="0">
                          <a:solidFill>
                            <a:srgbClr val="00B050"/>
                          </a:solidFill>
                          <a:effectLst/>
                          <a:latin typeface="+mn-lt"/>
                        </a:rPr>
                        <a:t>Assembly Code Example</a:t>
                      </a:r>
                      <a:endParaRPr lang="en-CA" sz="2200" b="1"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7639736"/>
                  </a:ext>
                </a:extLst>
              </a:tr>
              <a:tr h="4648613">
                <a:tc>
                  <a:txBody>
                    <a:bodyPr/>
                    <a:lstStyle/>
                    <a:p>
                      <a:r>
                        <a:rPr lang="en-CA" sz="2400" dirty="0">
                          <a:effectLst/>
                        </a:rPr>
                        <a:t>TIM16_ReadTCNT1:</a:t>
                      </a:r>
                    </a:p>
                    <a:p>
                      <a:r>
                        <a:rPr lang="en-CA" sz="2400" dirty="0">
                          <a:effectLst/>
                        </a:rPr>
                        <a:t>; Save global interrupt flag</a:t>
                      </a:r>
                    </a:p>
                    <a:p>
                      <a:r>
                        <a:rPr lang="en-CA" sz="2400" dirty="0">
                          <a:effectLst/>
                        </a:rPr>
                        <a:t>IN R18, SREG</a:t>
                      </a:r>
                    </a:p>
                    <a:p>
                      <a:r>
                        <a:rPr lang="en-CA" sz="2400" dirty="0">
                          <a:effectLst/>
                        </a:rPr>
                        <a:t>; Disable interrupts</a:t>
                      </a:r>
                    </a:p>
                    <a:p>
                      <a:r>
                        <a:rPr lang="en-CA" sz="2400" dirty="0">
                          <a:effectLst/>
                        </a:rPr>
                        <a:t>cli;</a:t>
                      </a:r>
                    </a:p>
                    <a:p>
                      <a:r>
                        <a:rPr lang="en-CA" sz="2400" dirty="0">
                          <a:effectLst/>
                        </a:rPr>
                        <a:t>; Read TCNT1 into R17:R16</a:t>
                      </a:r>
                    </a:p>
                    <a:p>
                      <a:r>
                        <a:rPr lang="en-CA" sz="2400" dirty="0">
                          <a:effectLst/>
                        </a:rPr>
                        <a:t>IN R16, TCNT1L</a:t>
                      </a:r>
                    </a:p>
                    <a:p>
                      <a:r>
                        <a:rPr lang="en-CA" sz="2400" dirty="0">
                          <a:effectLst/>
                        </a:rPr>
                        <a:t>IN R17, TCNT1H</a:t>
                      </a:r>
                    </a:p>
                    <a:p>
                      <a:r>
                        <a:rPr lang="en-CA" sz="2400" dirty="0">
                          <a:effectLst/>
                        </a:rPr>
                        <a:t>; Restore global interrupt flag</a:t>
                      </a:r>
                    </a:p>
                    <a:p>
                      <a:r>
                        <a:rPr lang="en-CA" sz="2400" dirty="0">
                          <a:effectLst/>
                        </a:rPr>
                        <a:t>OUT SREG, R18</a:t>
                      </a:r>
                    </a:p>
                    <a:p>
                      <a:r>
                        <a:rPr lang="en-CA" sz="2400" dirty="0">
                          <a:effectLst/>
                        </a:rPr>
                        <a:t>RET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4285575"/>
                  </a:ext>
                </a:extLst>
              </a:tr>
            </a:tbl>
          </a:graphicData>
        </a:graphic>
      </p:graphicFrame>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2985394404"/>
              </p:ext>
            </p:extLst>
          </p:nvPr>
        </p:nvGraphicFramePr>
        <p:xfrm>
          <a:off x="10363200" y="1724672"/>
          <a:ext cx="5848501" cy="5457425"/>
        </p:xfrm>
        <a:graphic>
          <a:graphicData uri="http://schemas.openxmlformats.org/drawingml/2006/table">
            <a:tbl>
              <a:tblPr/>
              <a:tblGrid>
                <a:gridCol w="5848501">
                  <a:extLst>
                    <a:ext uri="{9D8B030D-6E8A-4147-A177-3AD203B41FA5}">
                      <a16:colId xmlns:a16="http://schemas.microsoft.com/office/drawing/2014/main" val="828721743"/>
                    </a:ext>
                  </a:extLst>
                </a:gridCol>
              </a:tblGrid>
              <a:tr h="592817">
                <a:tc>
                  <a:txBody>
                    <a:bodyPr/>
                    <a:lstStyle/>
                    <a:p>
                      <a:r>
                        <a:rPr lang="en-CA" sz="2200" b="0" i="0" dirty="0">
                          <a:solidFill>
                            <a:srgbClr val="0000FF"/>
                          </a:solidFill>
                          <a:effectLst/>
                          <a:latin typeface="Arial" panose="020B0604020202020204" pitchFamily="34" charset="0"/>
                          <a:cs typeface="Arial" panose="020B0604020202020204" pitchFamily="34" charset="0"/>
                        </a:rPr>
                        <a:t>C Code Example</a:t>
                      </a:r>
                      <a:endParaRPr lang="en-CA" sz="2200" dirty="0">
                        <a:solidFill>
                          <a:srgbClr val="0000FF"/>
                        </a:solidFill>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2266283"/>
                  </a:ext>
                </a:extLst>
              </a:tr>
              <a:tr h="4864608">
                <a:tc>
                  <a:txBody>
                    <a:bodyPr/>
                    <a:lstStyle/>
                    <a:p>
                      <a:r>
                        <a:rPr lang="en-CA" sz="2400" dirty="0">
                          <a:effectLst/>
                          <a:latin typeface="+mn-lt"/>
                        </a:rPr>
                        <a:t>unsigned int TIM16_ReadTCNT1( void )</a:t>
                      </a:r>
                    </a:p>
                    <a:p>
                      <a:r>
                        <a:rPr lang="en-CA" sz="2400" dirty="0">
                          <a:effectLst/>
                          <a:latin typeface="+mn-lt"/>
                        </a:rPr>
                        <a:t>{</a:t>
                      </a:r>
                    </a:p>
                    <a:p>
                      <a:r>
                        <a:rPr lang="en-CA" sz="2400" dirty="0">
                          <a:effectLst/>
                          <a:latin typeface="+mn-lt"/>
                        </a:rPr>
                        <a:t>unsigned char </a:t>
                      </a:r>
                      <a:r>
                        <a:rPr lang="en-CA" sz="2400" dirty="0" err="1">
                          <a:effectLst/>
                          <a:latin typeface="+mn-lt"/>
                        </a:rPr>
                        <a:t>sreg</a:t>
                      </a:r>
                      <a:r>
                        <a:rPr lang="en-CA" sz="2400" dirty="0">
                          <a:effectLst/>
                          <a:latin typeface="+mn-lt"/>
                        </a:rPr>
                        <a:t>;</a:t>
                      </a:r>
                    </a:p>
                    <a:p>
                      <a:r>
                        <a:rPr lang="en-CA" sz="2400" dirty="0">
                          <a:effectLst/>
                          <a:latin typeface="+mn-lt"/>
                        </a:rPr>
                        <a:t>unsigned </a:t>
                      </a:r>
                      <a:r>
                        <a:rPr lang="en-CA" sz="2400" dirty="0" err="1">
                          <a:effectLst/>
                          <a:latin typeface="+mn-lt"/>
                        </a:rPr>
                        <a:t>int</a:t>
                      </a:r>
                      <a:r>
                        <a:rPr lang="en-CA" sz="2400" dirty="0">
                          <a:effectLst/>
                          <a:latin typeface="+mn-lt"/>
                        </a:rPr>
                        <a:t> </a:t>
                      </a:r>
                      <a:r>
                        <a:rPr lang="en-CA" sz="2400" dirty="0" err="1">
                          <a:effectLst/>
                          <a:latin typeface="+mn-lt"/>
                        </a:rPr>
                        <a:t>i</a:t>
                      </a:r>
                      <a:r>
                        <a:rPr lang="en-CA" sz="2400" dirty="0">
                          <a:effectLst/>
                          <a:latin typeface="+mn-lt"/>
                        </a:rPr>
                        <a:t>;</a:t>
                      </a:r>
                    </a:p>
                    <a:p>
                      <a:r>
                        <a:rPr lang="en-CA" sz="2400" dirty="0">
                          <a:effectLst/>
                          <a:latin typeface="+mn-lt"/>
                        </a:rPr>
                        <a:t>/* Save global interrupt flag */</a:t>
                      </a:r>
                    </a:p>
                    <a:p>
                      <a:r>
                        <a:rPr lang="en-CA" sz="2400" dirty="0" err="1">
                          <a:effectLst/>
                          <a:latin typeface="+mn-lt"/>
                        </a:rPr>
                        <a:t>sreg</a:t>
                      </a:r>
                      <a:r>
                        <a:rPr lang="en-CA" sz="2400" dirty="0">
                          <a:effectLst/>
                          <a:latin typeface="+mn-lt"/>
                        </a:rPr>
                        <a:t> = SREG;</a:t>
                      </a:r>
                    </a:p>
                    <a:p>
                      <a:r>
                        <a:rPr lang="en-CA" sz="2400" dirty="0">
                          <a:effectLst/>
                          <a:latin typeface="+mn-lt"/>
                        </a:rPr>
                        <a:t>/* Disable interrupts */</a:t>
                      </a:r>
                    </a:p>
                    <a:p>
                      <a:r>
                        <a:rPr lang="en-CA" sz="2400" dirty="0">
                          <a:effectLst/>
                          <a:latin typeface="+mn-lt"/>
                        </a:rPr>
                        <a:t>_CLI();</a:t>
                      </a:r>
                    </a:p>
                    <a:p>
                      <a:r>
                        <a:rPr lang="en-CA" sz="2400" dirty="0">
                          <a:effectLst/>
                          <a:latin typeface="+mn-lt"/>
                        </a:rPr>
                        <a:t>/* Read TCNT1 into </a:t>
                      </a:r>
                      <a:r>
                        <a:rPr lang="en-CA" sz="2400" dirty="0" err="1">
                          <a:effectLst/>
                          <a:latin typeface="+mn-lt"/>
                        </a:rPr>
                        <a:t>i</a:t>
                      </a:r>
                      <a:r>
                        <a:rPr lang="en-CA" sz="2400" dirty="0">
                          <a:effectLst/>
                          <a:latin typeface="+mn-lt"/>
                        </a:rPr>
                        <a:t> */</a:t>
                      </a:r>
                    </a:p>
                    <a:p>
                      <a:r>
                        <a:rPr lang="en-CA" sz="2400" dirty="0" err="1">
                          <a:effectLst/>
                          <a:latin typeface="+mn-lt"/>
                        </a:rPr>
                        <a:t>i</a:t>
                      </a:r>
                      <a:r>
                        <a:rPr lang="en-CA" sz="2400" dirty="0">
                          <a:effectLst/>
                          <a:latin typeface="+mn-lt"/>
                        </a:rPr>
                        <a:t> = TCNT1;</a:t>
                      </a:r>
                    </a:p>
                    <a:p>
                      <a:r>
                        <a:rPr lang="en-CA" sz="2400" dirty="0">
                          <a:effectLst/>
                          <a:latin typeface="+mn-lt"/>
                        </a:rPr>
                        <a:t>/* Restore global interrupt flag */</a:t>
                      </a:r>
                    </a:p>
                    <a:p>
                      <a:r>
                        <a:rPr lang="en-CA" sz="2400" dirty="0">
                          <a:effectLst/>
                          <a:latin typeface="+mn-lt"/>
                        </a:rPr>
                        <a:t>SREG = </a:t>
                      </a:r>
                      <a:r>
                        <a:rPr lang="en-CA" sz="2400" dirty="0" err="1">
                          <a:effectLst/>
                          <a:latin typeface="+mn-lt"/>
                        </a:rPr>
                        <a:t>sreg</a:t>
                      </a:r>
                      <a:r>
                        <a:rPr lang="en-CA" sz="2400" dirty="0">
                          <a:effectLst/>
                          <a:latin typeface="+mn-lt"/>
                        </a:rPr>
                        <a:t>;</a:t>
                      </a:r>
                    </a:p>
                    <a:p>
                      <a:r>
                        <a:rPr lang="en-CA" sz="2400" dirty="0">
                          <a:effectLst/>
                          <a:latin typeface="+mn-lt"/>
                        </a:rPr>
                        <a:t>return </a:t>
                      </a:r>
                      <a:r>
                        <a:rPr lang="en-CA" sz="2400" dirty="0" err="1">
                          <a:effectLst/>
                          <a:latin typeface="+mn-lt"/>
                        </a:rPr>
                        <a:t>i</a:t>
                      </a:r>
                      <a:r>
                        <a:rPr lang="en-CA" sz="2400" dirty="0">
                          <a:effectLst/>
                          <a:latin typeface="+mn-lt"/>
                        </a:rPr>
                        <a: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5836154"/>
                  </a:ext>
                </a:extLst>
              </a:tr>
            </a:tbl>
          </a:graphicData>
        </a:graphic>
      </p:graphicFrame>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3" name="Title 1">
            <a:extLst>
              <a:ext uri="{FF2B5EF4-FFF2-40B4-BE49-F238E27FC236}">
                <a16:creationId xmlns:a16="http://schemas.microsoft.com/office/drawing/2014/main" id="{32FD146F-F5E5-2237-3BAA-53F521BB9AAF}"/>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Functions of Assembly and C</a:t>
            </a:r>
          </a:p>
        </p:txBody>
      </p:sp>
    </p:spTree>
    <p:extLst>
      <p:ext uri="{BB962C8B-B14F-4D97-AF65-F5344CB8AC3E}">
        <p14:creationId xmlns:p14="http://schemas.microsoft.com/office/powerpoint/2010/main" val="3347803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744750"/>
            <a:ext cx="4876799" cy="4884650"/>
          </a:xfrm>
        </p:spPr>
        <p:txBody>
          <a:bodyPr anchor="t">
            <a:noAutofit/>
          </a:bodyPr>
          <a:lstStyle/>
          <a:p>
            <a:pPr algn="l">
              <a:lnSpc>
                <a:spcPct val="90000"/>
              </a:lnSpc>
            </a:pPr>
            <a:r>
              <a:rPr lang="en-CA" sz="2800" dirty="0">
                <a:latin typeface="Times New Roman" panose="02020603050405020304" pitchFamily="18" charset="0"/>
                <a:cs typeface="Times New Roman" panose="02020603050405020304" pitchFamily="18" charset="0"/>
              </a:rPr>
              <a:t>The assembly code example returns the </a:t>
            </a:r>
            <a:r>
              <a:rPr lang="en-CA" sz="2800" b="1" dirty="0">
                <a:solidFill>
                  <a:srgbClr val="FF0000"/>
                </a:solidFill>
                <a:latin typeface="Times New Roman" panose="02020603050405020304" pitchFamily="18" charset="0"/>
                <a:cs typeface="Times New Roman" panose="02020603050405020304" pitchFamily="18" charset="0"/>
              </a:rPr>
              <a:t>TCNT1</a:t>
            </a:r>
            <a:r>
              <a:rPr lang="en-CA" sz="2800" dirty="0">
                <a:latin typeface="Times New Roman" panose="02020603050405020304" pitchFamily="18" charset="0"/>
                <a:cs typeface="Times New Roman" panose="02020603050405020304" pitchFamily="18" charset="0"/>
              </a:rPr>
              <a:t> value in the </a:t>
            </a:r>
            <a:r>
              <a:rPr lang="en-CA" sz="2800" b="1" dirty="0">
                <a:solidFill>
                  <a:srgbClr val="FF0000"/>
                </a:solidFill>
                <a:latin typeface="Times New Roman" panose="02020603050405020304" pitchFamily="18" charset="0"/>
                <a:cs typeface="Times New Roman" panose="02020603050405020304" pitchFamily="18" charset="0"/>
              </a:rPr>
              <a:t>R17:R16 </a:t>
            </a:r>
            <a:r>
              <a:rPr lang="en-CA" sz="2800" dirty="0">
                <a:latin typeface="Times New Roman" panose="02020603050405020304" pitchFamily="18" charset="0"/>
                <a:cs typeface="Times New Roman" panose="02020603050405020304" pitchFamily="18" charset="0"/>
              </a:rPr>
              <a:t>register pair.</a:t>
            </a:r>
            <a:br>
              <a:rPr lang="en-CA" sz="2800" dirty="0">
                <a:latin typeface="Times New Roman" panose="02020603050405020304" pitchFamily="18" charset="0"/>
                <a:cs typeface="Times New Roman" panose="02020603050405020304" pitchFamily="18" charset="0"/>
              </a:rPr>
            </a:br>
            <a:br>
              <a:rPr lang="en-CA" sz="2800" dirty="0">
                <a:latin typeface="Times New Roman" panose="02020603050405020304" pitchFamily="18" charset="0"/>
                <a:cs typeface="Times New Roman" panose="02020603050405020304" pitchFamily="18" charset="0"/>
              </a:rPr>
            </a:br>
            <a:r>
              <a:rPr lang="en-CA" sz="2800" dirty="0">
                <a:latin typeface="Times New Roman" panose="02020603050405020304" pitchFamily="18" charset="0"/>
                <a:cs typeface="Times New Roman" panose="02020603050405020304" pitchFamily="18" charset="0"/>
              </a:rPr>
              <a:t>The following code examples </a:t>
            </a:r>
            <a:r>
              <a:rPr lang="en-US" sz="2800" dirty="0">
                <a:latin typeface="Times New Roman" panose="02020603050405020304" pitchFamily="18" charset="0"/>
                <a:cs typeface="Times New Roman" panose="02020603050405020304" pitchFamily="18" charset="0"/>
              </a:rPr>
              <a:t>demonstrate how to perform an atomic write to</a:t>
            </a:r>
            <a:r>
              <a:rPr lang="en-CA" sz="2800" dirty="0">
                <a:latin typeface="Times New Roman" panose="02020603050405020304" pitchFamily="18" charset="0"/>
                <a:cs typeface="Times New Roman" panose="02020603050405020304" pitchFamily="18" charset="0"/>
              </a:rPr>
              <a:t> the TCNT1 Register contents.</a:t>
            </a:r>
            <a:br>
              <a:rPr lang="en-CA" sz="2800" dirty="0">
                <a:latin typeface="Times New Roman" panose="02020603050405020304" pitchFamily="18" charset="0"/>
                <a:cs typeface="Times New Roman" panose="02020603050405020304" pitchFamily="18" charset="0"/>
              </a:rPr>
            </a:br>
            <a:br>
              <a:rPr lang="en-CA" sz="2800" dirty="0">
                <a:latin typeface="Times New Roman" panose="02020603050405020304" pitchFamily="18" charset="0"/>
                <a:cs typeface="Times New Roman" panose="02020603050405020304" pitchFamily="18" charset="0"/>
              </a:rPr>
            </a:br>
            <a:r>
              <a:rPr lang="en-CA" sz="2800" dirty="0">
                <a:latin typeface="Times New Roman" panose="02020603050405020304" pitchFamily="18" charset="0"/>
                <a:cs typeface="Times New Roman" panose="02020603050405020304" pitchFamily="18" charset="0"/>
              </a:rPr>
              <a:t>Writing any of the OCR1A/B or ICR1 Registers can be done by using the same principle </a:t>
            </a:r>
            <a:br>
              <a:rPr lang="en-CA" sz="2800" dirty="0">
                <a:latin typeface="Times New Roman" panose="02020603050405020304" pitchFamily="18" charset="0"/>
                <a:cs typeface="Times New Roman" panose="02020603050405020304" pitchFamily="18" charset="0"/>
              </a:rPr>
            </a:br>
            <a:endParaRPr lang="en-CA" sz="2800"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884845917"/>
              </p:ext>
            </p:extLst>
          </p:nvPr>
        </p:nvGraphicFramePr>
        <p:xfrm>
          <a:off x="5231925" y="1676400"/>
          <a:ext cx="4876800" cy="5823185"/>
        </p:xfrm>
        <a:graphic>
          <a:graphicData uri="http://schemas.openxmlformats.org/drawingml/2006/table">
            <a:tbl>
              <a:tblPr/>
              <a:tblGrid>
                <a:gridCol w="4876800">
                  <a:extLst>
                    <a:ext uri="{9D8B030D-6E8A-4147-A177-3AD203B41FA5}">
                      <a16:colId xmlns:a16="http://schemas.microsoft.com/office/drawing/2014/main" val="1674085445"/>
                    </a:ext>
                  </a:extLst>
                </a:gridCol>
              </a:tblGrid>
              <a:tr h="603417">
                <a:tc>
                  <a:txBody>
                    <a:bodyPr/>
                    <a:lstStyle/>
                    <a:p>
                      <a:r>
                        <a:rPr lang="en-CA" sz="2400" b="1" i="0" dirty="0">
                          <a:solidFill>
                            <a:srgbClr val="00B050"/>
                          </a:solidFill>
                          <a:effectLst/>
                          <a:latin typeface="+mn-lt"/>
                        </a:rPr>
                        <a:t>Assembly Code Example</a:t>
                      </a:r>
                      <a:endParaRPr lang="en-CA" sz="2400" b="1"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7639736"/>
                  </a:ext>
                </a:extLst>
              </a:tr>
              <a:tr h="5219768">
                <a:tc>
                  <a:txBody>
                    <a:bodyPr/>
                    <a:lstStyle/>
                    <a:p>
                      <a:r>
                        <a:rPr lang="en-CA" sz="2400" dirty="0">
                          <a:effectLst/>
                        </a:rPr>
                        <a:t>TIM16_ReadTCNT1:</a:t>
                      </a:r>
                    </a:p>
                    <a:p>
                      <a:r>
                        <a:rPr lang="en-CA" sz="2400" dirty="0">
                          <a:effectLst/>
                        </a:rPr>
                        <a:t>; Save global interrupt flag</a:t>
                      </a:r>
                    </a:p>
                    <a:p>
                      <a:r>
                        <a:rPr lang="en-CA" sz="2400" dirty="0">
                          <a:effectLst/>
                        </a:rPr>
                        <a:t>IN R18, SREG</a:t>
                      </a:r>
                    </a:p>
                    <a:p>
                      <a:r>
                        <a:rPr lang="en-CA" sz="2400" dirty="0">
                          <a:effectLst/>
                        </a:rPr>
                        <a:t>; Disable interrupts</a:t>
                      </a:r>
                    </a:p>
                    <a:p>
                      <a:r>
                        <a:rPr lang="en-CA" sz="2400" dirty="0">
                          <a:effectLst/>
                        </a:rPr>
                        <a:t>cli;</a:t>
                      </a:r>
                    </a:p>
                    <a:p>
                      <a:r>
                        <a:rPr lang="en-CA" sz="2400" dirty="0">
                          <a:effectLst/>
                        </a:rPr>
                        <a:t>; Read TCNT1 into r17:r16</a:t>
                      </a:r>
                    </a:p>
                    <a:p>
                      <a:r>
                        <a:rPr lang="en-CA" sz="2400" dirty="0">
                          <a:effectLst/>
                        </a:rPr>
                        <a:t>IN R16,TCNT1L</a:t>
                      </a:r>
                    </a:p>
                    <a:p>
                      <a:r>
                        <a:rPr lang="en-CA" sz="2400" dirty="0">
                          <a:effectLst/>
                        </a:rPr>
                        <a:t>IN R17,TCNT1H</a:t>
                      </a:r>
                    </a:p>
                    <a:p>
                      <a:r>
                        <a:rPr lang="en-CA" sz="2400" dirty="0">
                          <a:effectLst/>
                        </a:rPr>
                        <a:t>; Restore global interrupt flag</a:t>
                      </a:r>
                    </a:p>
                    <a:p>
                      <a:r>
                        <a:rPr lang="en-CA" sz="2400" dirty="0">
                          <a:effectLst/>
                        </a:rPr>
                        <a:t>OUT SREG, R18</a:t>
                      </a:r>
                    </a:p>
                    <a:p>
                      <a:r>
                        <a:rPr lang="en-CA" sz="2400" dirty="0">
                          <a:effectLst/>
                        </a:rPr>
                        <a:t>RET</a:t>
                      </a:r>
                    </a:p>
                  </a:txBody>
                  <a:tcPr marL="109728" marR="109728" marT="54864" marB="5486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4285575"/>
                  </a:ext>
                </a:extLst>
              </a:tr>
            </a:tbl>
          </a:graphicData>
        </a:graphic>
      </p:graphicFrame>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4276834184"/>
              </p:ext>
            </p:extLst>
          </p:nvPr>
        </p:nvGraphicFramePr>
        <p:xfrm>
          <a:off x="10311451" y="1676400"/>
          <a:ext cx="5848501" cy="5823185"/>
        </p:xfrm>
        <a:graphic>
          <a:graphicData uri="http://schemas.openxmlformats.org/drawingml/2006/table">
            <a:tbl>
              <a:tblPr/>
              <a:tblGrid>
                <a:gridCol w="5848501">
                  <a:extLst>
                    <a:ext uri="{9D8B030D-6E8A-4147-A177-3AD203B41FA5}">
                      <a16:colId xmlns:a16="http://schemas.microsoft.com/office/drawing/2014/main" val="828721743"/>
                    </a:ext>
                  </a:extLst>
                </a:gridCol>
              </a:tblGrid>
              <a:tr h="592817">
                <a:tc>
                  <a:txBody>
                    <a:bodyPr/>
                    <a:lstStyle/>
                    <a:p>
                      <a:r>
                        <a:rPr lang="en-CA" sz="2400" b="0" i="0" dirty="0">
                          <a:solidFill>
                            <a:srgbClr val="0000FF"/>
                          </a:solidFill>
                          <a:effectLst/>
                          <a:latin typeface="Arial" panose="020B0604020202020204" pitchFamily="34" charset="0"/>
                          <a:cs typeface="Arial" panose="020B0604020202020204" pitchFamily="34" charset="0"/>
                        </a:rPr>
                        <a:t>C Code Example</a:t>
                      </a:r>
                      <a:endParaRPr lang="en-CA" sz="2400" dirty="0">
                        <a:solidFill>
                          <a:srgbClr val="0000FF"/>
                        </a:solidFill>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2266283"/>
                  </a:ext>
                </a:extLst>
              </a:tr>
              <a:tr h="5230368">
                <a:tc>
                  <a:txBody>
                    <a:bodyPr/>
                    <a:lstStyle/>
                    <a:p>
                      <a:r>
                        <a:rPr lang="en-CA" sz="2400" dirty="0">
                          <a:effectLst/>
                          <a:latin typeface="+mn-lt"/>
                        </a:rPr>
                        <a:t>unsigned </a:t>
                      </a:r>
                      <a:r>
                        <a:rPr lang="en-CA" sz="2400" dirty="0" err="1">
                          <a:effectLst/>
                          <a:latin typeface="+mn-lt"/>
                        </a:rPr>
                        <a:t>int</a:t>
                      </a:r>
                      <a:r>
                        <a:rPr lang="en-CA" sz="2400" dirty="0">
                          <a:effectLst/>
                          <a:latin typeface="+mn-lt"/>
                        </a:rPr>
                        <a:t> TIM16_ReadTCNT1( void )</a:t>
                      </a:r>
                    </a:p>
                    <a:p>
                      <a:r>
                        <a:rPr lang="en-CA" sz="2400" dirty="0">
                          <a:effectLst/>
                          <a:latin typeface="+mn-lt"/>
                        </a:rPr>
                        <a:t>{</a:t>
                      </a:r>
                    </a:p>
                    <a:p>
                      <a:r>
                        <a:rPr lang="en-CA" sz="2400" dirty="0">
                          <a:effectLst/>
                          <a:latin typeface="+mn-lt"/>
                        </a:rPr>
                        <a:t>unsigned char </a:t>
                      </a:r>
                      <a:r>
                        <a:rPr lang="en-CA" sz="2400" dirty="0" err="1">
                          <a:effectLst/>
                          <a:latin typeface="+mn-lt"/>
                        </a:rPr>
                        <a:t>sreg</a:t>
                      </a:r>
                      <a:r>
                        <a:rPr lang="en-CA" sz="2400" dirty="0">
                          <a:effectLst/>
                          <a:latin typeface="+mn-lt"/>
                        </a:rPr>
                        <a:t>;</a:t>
                      </a:r>
                    </a:p>
                    <a:p>
                      <a:r>
                        <a:rPr lang="en-CA" sz="2400" dirty="0">
                          <a:effectLst/>
                          <a:latin typeface="+mn-lt"/>
                        </a:rPr>
                        <a:t>unsigned </a:t>
                      </a:r>
                      <a:r>
                        <a:rPr lang="en-CA" sz="2400" dirty="0" err="1">
                          <a:effectLst/>
                          <a:latin typeface="+mn-lt"/>
                        </a:rPr>
                        <a:t>int</a:t>
                      </a:r>
                      <a:r>
                        <a:rPr lang="en-CA" sz="2400" dirty="0">
                          <a:effectLst/>
                          <a:latin typeface="+mn-lt"/>
                        </a:rPr>
                        <a:t> </a:t>
                      </a:r>
                      <a:r>
                        <a:rPr lang="en-CA" sz="2400" dirty="0" err="1">
                          <a:effectLst/>
                          <a:latin typeface="+mn-lt"/>
                        </a:rPr>
                        <a:t>i</a:t>
                      </a:r>
                      <a:r>
                        <a:rPr lang="en-CA" sz="2400" dirty="0">
                          <a:effectLst/>
                          <a:latin typeface="+mn-lt"/>
                        </a:rPr>
                        <a:t>;</a:t>
                      </a:r>
                    </a:p>
                    <a:p>
                      <a:r>
                        <a:rPr lang="en-CA" sz="2400" dirty="0">
                          <a:effectLst/>
                          <a:latin typeface="+mn-lt"/>
                        </a:rPr>
                        <a:t>/* Save global interrupt flag */</a:t>
                      </a:r>
                    </a:p>
                    <a:p>
                      <a:r>
                        <a:rPr lang="en-CA" sz="2400" dirty="0" err="1">
                          <a:effectLst/>
                          <a:latin typeface="+mn-lt"/>
                        </a:rPr>
                        <a:t>sreg</a:t>
                      </a:r>
                      <a:r>
                        <a:rPr lang="en-CA" sz="2400" dirty="0">
                          <a:effectLst/>
                          <a:latin typeface="+mn-lt"/>
                        </a:rPr>
                        <a:t> = SREG;</a:t>
                      </a:r>
                    </a:p>
                    <a:p>
                      <a:r>
                        <a:rPr lang="en-CA" sz="2400" dirty="0">
                          <a:effectLst/>
                          <a:latin typeface="+mn-lt"/>
                        </a:rPr>
                        <a:t>/* Disable interrupts */</a:t>
                      </a:r>
                    </a:p>
                    <a:p>
                      <a:r>
                        <a:rPr lang="en-CA" sz="2400" dirty="0">
                          <a:effectLst/>
                          <a:latin typeface="+mn-lt"/>
                        </a:rPr>
                        <a:t>_CLI();</a:t>
                      </a:r>
                    </a:p>
                    <a:p>
                      <a:r>
                        <a:rPr lang="en-CA" sz="2400" dirty="0">
                          <a:effectLst/>
                          <a:latin typeface="+mn-lt"/>
                        </a:rPr>
                        <a:t>/* Read TCNT1 into </a:t>
                      </a:r>
                      <a:r>
                        <a:rPr lang="en-CA" sz="2400" dirty="0" err="1">
                          <a:effectLst/>
                          <a:latin typeface="+mn-lt"/>
                        </a:rPr>
                        <a:t>i</a:t>
                      </a:r>
                      <a:r>
                        <a:rPr lang="en-CA" sz="2400" dirty="0">
                          <a:effectLst/>
                          <a:latin typeface="+mn-lt"/>
                        </a:rPr>
                        <a:t> */</a:t>
                      </a:r>
                    </a:p>
                    <a:p>
                      <a:r>
                        <a:rPr lang="en-CA" sz="2400" dirty="0" err="1">
                          <a:effectLst/>
                          <a:latin typeface="+mn-lt"/>
                        </a:rPr>
                        <a:t>i</a:t>
                      </a:r>
                      <a:r>
                        <a:rPr lang="en-CA" sz="2400" dirty="0">
                          <a:effectLst/>
                          <a:latin typeface="+mn-lt"/>
                        </a:rPr>
                        <a:t> = TCNT1;</a:t>
                      </a:r>
                    </a:p>
                    <a:p>
                      <a:r>
                        <a:rPr lang="en-CA" sz="2400" dirty="0">
                          <a:effectLst/>
                          <a:latin typeface="+mn-lt"/>
                        </a:rPr>
                        <a:t>/* Restore global interrupt flag */</a:t>
                      </a:r>
                    </a:p>
                    <a:p>
                      <a:r>
                        <a:rPr lang="en-CA" sz="2400" dirty="0">
                          <a:effectLst/>
                          <a:latin typeface="+mn-lt"/>
                        </a:rPr>
                        <a:t>SREG = </a:t>
                      </a:r>
                      <a:r>
                        <a:rPr lang="en-CA" sz="2400" dirty="0" err="1">
                          <a:effectLst/>
                          <a:latin typeface="+mn-lt"/>
                        </a:rPr>
                        <a:t>sreg</a:t>
                      </a:r>
                      <a:r>
                        <a:rPr lang="en-CA" sz="2400" dirty="0">
                          <a:effectLst/>
                          <a:latin typeface="+mn-lt"/>
                        </a:rPr>
                        <a:t>;</a:t>
                      </a:r>
                    </a:p>
                    <a:p>
                      <a:r>
                        <a:rPr lang="en-CA" sz="2400" dirty="0">
                          <a:effectLst/>
                          <a:latin typeface="+mn-lt"/>
                        </a:rPr>
                        <a:t>return </a:t>
                      </a:r>
                      <a:r>
                        <a:rPr lang="en-CA" sz="2400" dirty="0" err="1">
                          <a:effectLst/>
                          <a:latin typeface="+mn-lt"/>
                        </a:rPr>
                        <a:t>i</a:t>
                      </a:r>
                      <a:r>
                        <a:rPr lang="en-CA" sz="2400" dirty="0">
                          <a:effectLst/>
                          <a:latin typeface="+mn-lt"/>
                        </a:rPr>
                        <a:t>;</a:t>
                      </a:r>
                    </a:p>
                    <a:p>
                      <a:r>
                        <a:rPr lang="en-CA" sz="2400" dirty="0">
                          <a:effectLst/>
                          <a:latin typeface="+mn-lt"/>
                        </a:rPr>
                        <a: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5836154"/>
                  </a:ext>
                </a:extLst>
              </a:tr>
            </a:tbl>
          </a:graphicData>
        </a:graphic>
      </p:graphicFrame>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Functions of Assembly and C</a:t>
            </a:r>
          </a:p>
        </p:txBody>
      </p:sp>
    </p:spTree>
    <p:extLst>
      <p:ext uri="{BB962C8B-B14F-4D97-AF65-F5344CB8AC3E}">
        <p14:creationId xmlns:p14="http://schemas.microsoft.com/office/powerpoint/2010/main" val="18763413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808435"/>
            <a:ext cx="5257801" cy="2992165"/>
          </a:xfrm>
        </p:spPr>
        <p:txBody>
          <a:bodyPr anchor="t">
            <a:noAutofit/>
          </a:bodyPr>
          <a:lstStyle/>
          <a:p>
            <a:pPr algn="l"/>
            <a:r>
              <a:rPr lang="en-CA" sz="3600" dirty="0">
                <a:latin typeface="Times New Roman" panose="02020603050405020304" pitchFamily="18" charset="0"/>
                <a:cs typeface="Times New Roman" panose="02020603050405020304" pitchFamily="18" charset="0"/>
              </a:rPr>
              <a:t>The assembly code example requires that the r17:r16 register pair contains the value to be written to TCNT1.</a:t>
            </a:r>
          </a:p>
        </p:txBody>
      </p:sp>
      <p:graphicFrame>
        <p:nvGraphicFramePr>
          <p:cNvPr id="5" name="Table 4"/>
          <p:cNvGraphicFramePr>
            <a:graphicFrameLocks noGrp="1"/>
          </p:cNvGraphicFramePr>
          <p:nvPr>
            <p:extLst>
              <p:ext uri="{D42A27DB-BD31-4B8C-83A1-F6EECF244321}">
                <p14:modId xmlns:p14="http://schemas.microsoft.com/office/powerpoint/2010/main" val="1397804315"/>
              </p:ext>
            </p:extLst>
          </p:nvPr>
        </p:nvGraphicFramePr>
        <p:xfrm>
          <a:off x="5105400" y="1828800"/>
          <a:ext cx="5029200" cy="5212080"/>
        </p:xfrm>
        <a:graphic>
          <a:graphicData uri="http://schemas.openxmlformats.org/drawingml/2006/table">
            <a:tbl>
              <a:tblPr/>
              <a:tblGrid>
                <a:gridCol w="5029200">
                  <a:extLst>
                    <a:ext uri="{9D8B030D-6E8A-4147-A177-3AD203B41FA5}">
                      <a16:colId xmlns:a16="http://schemas.microsoft.com/office/drawing/2014/main" val="1674085445"/>
                    </a:ext>
                  </a:extLst>
                </a:gridCol>
              </a:tblGrid>
              <a:tr h="563467">
                <a:tc>
                  <a:txBody>
                    <a:bodyPr/>
                    <a:lstStyle/>
                    <a:p>
                      <a:r>
                        <a:rPr lang="en-CA" sz="2200" b="0" i="0" dirty="0">
                          <a:solidFill>
                            <a:srgbClr val="00B050"/>
                          </a:solidFill>
                          <a:effectLst/>
                          <a:latin typeface="+mn-lt"/>
                        </a:rPr>
                        <a:t>Assembly Code Example</a:t>
                      </a:r>
                      <a:endParaRPr lang="en-CA" sz="2200" dirty="0">
                        <a:solidFill>
                          <a:srgbClr val="00B050"/>
                        </a:solidFill>
                        <a:effectLst/>
                        <a:latin typeface="+mn-lt"/>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7639736"/>
                  </a:ext>
                </a:extLst>
              </a:tr>
              <a:tr h="4648613">
                <a:tc>
                  <a:txBody>
                    <a:bodyPr/>
                    <a:lstStyle/>
                    <a:p>
                      <a:r>
                        <a:rPr lang="en-CA" sz="2400" dirty="0">
                          <a:effectLst/>
                        </a:rPr>
                        <a:t>TIM16_WriteTCNT1:</a:t>
                      </a:r>
                    </a:p>
                    <a:p>
                      <a:r>
                        <a:rPr lang="en-CA" sz="2400" dirty="0">
                          <a:effectLst/>
                        </a:rPr>
                        <a:t>; Save global interrupt flag</a:t>
                      </a:r>
                    </a:p>
                    <a:p>
                      <a:r>
                        <a:rPr lang="en-CA" sz="2400" dirty="0">
                          <a:effectLst/>
                        </a:rPr>
                        <a:t>IN R18, SREG</a:t>
                      </a:r>
                    </a:p>
                    <a:p>
                      <a:r>
                        <a:rPr lang="en-CA" sz="2400" dirty="0">
                          <a:effectLst/>
                        </a:rPr>
                        <a:t>; Disable interrupts</a:t>
                      </a:r>
                    </a:p>
                    <a:p>
                      <a:r>
                        <a:rPr lang="en-CA" sz="2400" dirty="0">
                          <a:effectLst/>
                        </a:rPr>
                        <a:t>cli;</a:t>
                      </a:r>
                    </a:p>
                    <a:p>
                      <a:r>
                        <a:rPr lang="en-CA" sz="2400" dirty="0">
                          <a:effectLst/>
                        </a:rPr>
                        <a:t>; Set TCNT1 to r17:r16</a:t>
                      </a:r>
                    </a:p>
                    <a:p>
                      <a:r>
                        <a:rPr lang="en-CA" sz="2400" dirty="0">
                          <a:effectLst/>
                        </a:rPr>
                        <a:t>OUT TCNT1H,R17</a:t>
                      </a:r>
                    </a:p>
                    <a:p>
                      <a:r>
                        <a:rPr lang="en-CA" sz="2400" dirty="0">
                          <a:effectLst/>
                        </a:rPr>
                        <a:t>OUT TCNT1L,R16</a:t>
                      </a:r>
                    </a:p>
                    <a:p>
                      <a:r>
                        <a:rPr lang="en-CA" sz="2400" dirty="0">
                          <a:effectLst/>
                        </a:rPr>
                        <a:t>; Restore global interrupt flag</a:t>
                      </a:r>
                    </a:p>
                    <a:p>
                      <a:r>
                        <a:rPr lang="en-CA" sz="2400" dirty="0">
                          <a:effectLst/>
                        </a:rPr>
                        <a:t>OUT SREG, R18</a:t>
                      </a:r>
                    </a:p>
                    <a:p>
                      <a:r>
                        <a:rPr lang="en-CA" sz="2400" dirty="0">
                          <a:effectLst/>
                        </a:rPr>
                        <a:t>RET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4285575"/>
                  </a:ext>
                </a:extLst>
              </a:tr>
            </a:tbl>
          </a:graphicData>
        </a:graphic>
      </p:graphicFrame>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563975454"/>
              </p:ext>
            </p:extLst>
          </p:nvPr>
        </p:nvGraphicFramePr>
        <p:xfrm>
          <a:off x="10287000" y="1828800"/>
          <a:ext cx="5848501" cy="5457425"/>
        </p:xfrm>
        <a:graphic>
          <a:graphicData uri="http://schemas.openxmlformats.org/drawingml/2006/table">
            <a:tbl>
              <a:tblPr/>
              <a:tblGrid>
                <a:gridCol w="5848501">
                  <a:extLst>
                    <a:ext uri="{9D8B030D-6E8A-4147-A177-3AD203B41FA5}">
                      <a16:colId xmlns:a16="http://schemas.microsoft.com/office/drawing/2014/main" val="828721743"/>
                    </a:ext>
                  </a:extLst>
                </a:gridCol>
              </a:tblGrid>
              <a:tr h="592817">
                <a:tc>
                  <a:txBody>
                    <a:bodyPr/>
                    <a:lstStyle/>
                    <a:p>
                      <a:r>
                        <a:rPr lang="en-CA" sz="2200" b="0" i="0" dirty="0">
                          <a:solidFill>
                            <a:srgbClr val="0000FF"/>
                          </a:solidFill>
                          <a:effectLst/>
                          <a:latin typeface="Arial" panose="020B0604020202020204" pitchFamily="34" charset="0"/>
                          <a:cs typeface="Arial" panose="020B0604020202020204" pitchFamily="34" charset="0"/>
                        </a:rPr>
                        <a:t>C Code Example</a:t>
                      </a:r>
                      <a:endParaRPr lang="en-CA" sz="2200" dirty="0">
                        <a:solidFill>
                          <a:srgbClr val="0000FF"/>
                        </a:solidFill>
                        <a:effectLst/>
                        <a:latin typeface="Arial" panose="020B0604020202020204" pitchFamily="34" charset="0"/>
                        <a:cs typeface="Arial" panose="020B0604020202020204" pitchFamily="34" charset="0"/>
                      </a:endParaRP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2266283"/>
                  </a:ext>
                </a:extLst>
              </a:tr>
              <a:tr h="4864608">
                <a:tc>
                  <a:txBody>
                    <a:bodyPr/>
                    <a:lstStyle/>
                    <a:p>
                      <a:r>
                        <a:rPr lang="en-CA" sz="2400" dirty="0">
                          <a:effectLst/>
                          <a:latin typeface="+mn-lt"/>
                        </a:rPr>
                        <a:t>void TIM16_WriteTCNT1( unsigned </a:t>
                      </a:r>
                      <a:r>
                        <a:rPr lang="en-CA" sz="2400" dirty="0" err="1">
                          <a:effectLst/>
                          <a:latin typeface="+mn-lt"/>
                        </a:rPr>
                        <a:t>int</a:t>
                      </a:r>
                      <a:r>
                        <a:rPr lang="en-CA" sz="2400" dirty="0">
                          <a:effectLst/>
                          <a:latin typeface="+mn-lt"/>
                        </a:rPr>
                        <a:t> </a:t>
                      </a:r>
                      <a:r>
                        <a:rPr lang="en-CA" sz="2400" dirty="0" err="1">
                          <a:effectLst/>
                          <a:latin typeface="+mn-lt"/>
                        </a:rPr>
                        <a:t>i</a:t>
                      </a:r>
                      <a:r>
                        <a:rPr lang="en-CA" sz="2400" dirty="0">
                          <a:effectLst/>
                          <a:latin typeface="+mn-lt"/>
                        </a:rPr>
                        <a:t> )</a:t>
                      </a:r>
                    </a:p>
                    <a:p>
                      <a:r>
                        <a:rPr lang="en-CA" sz="2400" dirty="0">
                          <a:effectLst/>
                          <a:latin typeface="+mn-lt"/>
                        </a:rPr>
                        <a:t>{</a:t>
                      </a:r>
                    </a:p>
                    <a:p>
                      <a:r>
                        <a:rPr lang="en-CA" sz="2400" dirty="0">
                          <a:effectLst/>
                          <a:latin typeface="+mn-lt"/>
                        </a:rPr>
                        <a:t>unsigned char </a:t>
                      </a:r>
                      <a:r>
                        <a:rPr lang="en-CA" sz="2400" dirty="0" err="1">
                          <a:effectLst/>
                          <a:latin typeface="+mn-lt"/>
                        </a:rPr>
                        <a:t>sreg</a:t>
                      </a:r>
                      <a:r>
                        <a:rPr lang="en-CA" sz="2400" dirty="0">
                          <a:effectLst/>
                          <a:latin typeface="+mn-lt"/>
                        </a:rPr>
                        <a:t>;</a:t>
                      </a:r>
                    </a:p>
                    <a:p>
                      <a:r>
                        <a:rPr lang="en-CA" sz="2400" dirty="0">
                          <a:effectLst/>
                          <a:latin typeface="+mn-lt"/>
                        </a:rPr>
                        <a:t>unsigned </a:t>
                      </a:r>
                      <a:r>
                        <a:rPr lang="en-CA" sz="2400" dirty="0" err="1">
                          <a:effectLst/>
                          <a:latin typeface="+mn-lt"/>
                        </a:rPr>
                        <a:t>int</a:t>
                      </a:r>
                      <a:r>
                        <a:rPr lang="en-CA" sz="2400" dirty="0">
                          <a:effectLst/>
                          <a:latin typeface="+mn-lt"/>
                        </a:rPr>
                        <a:t> </a:t>
                      </a:r>
                      <a:r>
                        <a:rPr lang="en-CA" sz="2400" dirty="0" err="1">
                          <a:effectLst/>
                          <a:latin typeface="+mn-lt"/>
                        </a:rPr>
                        <a:t>i</a:t>
                      </a:r>
                      <a:r>
                        <a:rPr lang="en-CA" sz="2400" dirty="0">
                          <a:effectLst/>
                          <a:latin typeface="+mn-lt"/>
                        </a:rPr>
                        <a:t>;</a:t>
                      </a:r>
                    </a:p>
                    <a:p>
                      <a:r>
                        <a:rPr lang="en-CA" sz="2400" dirty="0">
                          <a:effectLst/>
                          <a:latin typeface="+mn-lt"/>
                        </a:rPr>
                        <a:t>/* Save global interrupt flag */</a:t>
                      </a:r>
                    </a:p>
                    <a:p>
                      <a:r>
                        <a:rPr lang="en-CA" sz="2400" dirty="0" err="1">
                          <a:effectLst/>
                          <a:latin typeface="+mn-lt"/>
                        </a:rPr>
                        <a:t>sreg</a:t>
                      </a:r>
                      <a:r>
                        <a:rPr lang="en-CA" sz="2400" dirty="0">
                          <a:effectLst/>
                          <a:latin typeface="+mn-lt"/>
                        </a:rPr>
                        <a:t> = SREG;</a:t>
                      </a:r>
                    </a:p>
                    <a:p>
                      <a:r>
                        <a:rPr lang="en-CA" sz="2400" dirty="0">
                          <a:effectLst/>
                          <a:latin typeface="+mn-lt"/>
                        </a:rPr>
                        <a:t>/* Disable interrupts */</a:t>
                      </a:r>
                    </a:p>
                    <a:p>
                      <a:r>
                        <a:rPr lang="en-CA" sz="2400" dirty="0">
                          <a:effectLst/>
                          <a:latin typeface="+mn-lt"/>
                        </a:rPr>
                        <a:t>_CLI();</a:t>
                      </a:r>
                    </a:p>
                    <a:p>
                      <a:r>
                        <a:rPr lang="en-CA" sz="2400" dirty="0">
                          <a:effectLst/>
                          <a:latin typeface="+mn-lt"/>
                        </a:rPr>
                        <a:t>/* Set TCNT1 to </a:t>
                      </a:r>
                      <a:r>
                        <a:rPr lang="en-CA" sz="2400" dirty="0" err="1">
                          <a:effectLst/>
                          <a:latin typeface="+mn-lt"/>
                        </a:rPr>
                        <a:t>i</a:t>
                      </a:r>
                      <a:r>
                        <a:rPr lang="en-CA" sz="2400" dirty="0">
                          <a:effectLst/>
                          <a:latin typeface="+mn-lt"/>
                        </a:rPr>
                        <a:t> */</a:t>
                      </a:r>
                    </a:p>
                    <a:p>
                      <a:r>
                        <a:rPr lang="en-CA" sz="2400" dirty="0">
                          <a:effectLst/>
                          <a:latin typeface="+mn-lt"/>
                        </a:rPr>
                        <a:t>TCNT1 = </a:t>
                      </a:r>
                      <a:r>
                        <a:rPr lang="en-CA" sz="2400" dirty="0" err="1">
                          <a:effectLst/>
                          <a:latin typeface="+mn-lt"/>
                        </a:rPr>
                        <a:t>i</a:t>
                      </a:r>
                      <a:r>
                        <a:rPr lang="en-CA" sz="2400" dirty="0">
                          <a:effectLst/>
                          <a:latin typeface="+mn-lt"/>
                        </a:rPr>
                        <a:t>;</a:t>
                      </a:r>
                    </a:p>
                    <a:p>
                      <a:r>
                        <a:rPr lang="en-CA" sz="2400" dirty="0">
                          <a:effectLst/>
                          <a:latin typeface="+mn-lt"/>
                        </a:rPr>
                        <a:t>/* Restore global interrupt flag */</a:t>
                      </a:r>
                    </a:p>
                    <a:p>
                      <a:r>
                        <a:rPr lang="en-CA" sz="2400" dirty="0">
                          <a:effectLst/>
                          <a:latin typeface="+mn-lt"/>
                        </a:rPr>
                        <a:t>SREG = </a:t>
                      </a:r>
                      <a:r>
                        <a:rPr lang="en-CA" sz="2400" dirty="0" err="1">
                          <a:effectLst/>
                          <a:latin typeface="+mn-lt"/>
                        </a:rPr>
                        <a:t>sreg</a:t>
                      </a:r>
                      <a:r>
                        <a:rPr lang="en-CA" sz="2400" dirty="0">
                          <a:effectLst/>
                          <a:latin typeface="+mn-lt"/>
                        </a:rPr>
                        <a:t>;</a:t>
                      </a:r>
                    </a:p>
                    <a:p>
                      <a:r>
                        <a:rPr lang="en-CA" sz="2400" dirty="0">
                          <a:effectLst/>
                          <a:latin typeface="+mn-lt"/>
                        </a:rPr>
                        <a:t>}</a:t>
                      </a:r>
                    </a:p>
                  </a:txBody>
                  <a:tcPr marL="109728" marR="109728" marT="54864" marB="5486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5836154"/>
                  </a:ext>
                </a:extLst>
              </a:tr>
            </a:tbl>
          </a:graphicData>
        </a:graphic>
      </p:graphicFrame>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Functions of Assembly and C</a:t>
            </a:r>
          </a:p>
        </p:txBody>
      </p:sp>
    </p:spTree>
    <p:extLst>
      <p:ext uri="{BB962C8B-B14F-4D97-AF65-F5344CB8AC3E}">
        <p14:creationId xmlns:p14="http://schemas.microsoft.com/office/powerpoint/2010/main" val="21949703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2"/>
          <p:cNvSpPr>
            <a:spLocks noGrp="1"/>
          </p:cNvSpPr>
          <p:nvPr>
            <p:ph type="title"/>
          </p:nvPr>
        </p:nvSpPr>
        <p:spPr>
          <a:xfrm>
            <a:off x="1235075" y="457200"/>
            <a:ext cx="13989050" cy="823912"/>
          </a:xfrm>
        </p:spPr>
        <p:txBody>
          <a:bodyPr/>
          <a:lstStyle/>
          <a:p>
            <a:r>
              <a:rPr lang="en-CA" dirty="0"/>
              <a:t>Difference Between Assembly and C</a:t>
            </a:r>
            <a:endParaRPr lang="en-US" dirty="0"/>
          </a:p>
        </p:txBody>
      </p:sp>
      <p:pic>
        <p:nvPicPr>
          <p:cNvPr id="11" name="Picture 10"/>
          <p:cNvPicPr>
            <a:picLocks noChangeAspect="1"/>
          </p:cNvPicPr>
          <p:nvPr/>
        </p:nvPicPr>
        <p:blipFill rotWithShape="1">
          <a:blip r:embed="rId2"/>
          <a:srcRect l="1205" t="4221" r="1192" b="1863"/>
          <a:stretch/>
        </p:blipFill>
        <p:spPr>
          <a:xfrm>
            <a:off x="2712378" y="1574800"/>
            <a:ext cx="11003622" cy="6045200"/>
          </a:xfrm>
          <a:prstGeom prst="rect">
            <a:avLst/>
          </a:prstGeom>
        </p:spPr>
      </p:pic>
    </p:spTree>
    <p:extLst>
      <p:ext uri="{BB962C8B-B14F-4D97-AF65-F5344CB8AC3E}">
        <p14:creationId xmlns:p14="http://schemas.microsoft.com/office/powerpoint/2010/main" val="29896878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2"/>
          <p:cNvSpPr>
            <a:spLocks noGrp="1"/>
          </p:cNvSpPr>
          <p:nvPr>
            <p:ph type="title"/>
          </p:nvPr>
        </p:nvSpPr>
        <p:spPr>
          <a:xfrm>
            <a:off x="1235075" y="457200"/>
            <a:ext cx="13989050" cy="823912"/>
          </a:xfrm>
        </p:spPr>
        <p:txBody>
          <a:bodyPr/>
          <a:lstStyle/>
          <a:p>
            <a:r>
              <a:rPr lang="en-CA" dirty="0"/>
              <a:t>Difference Between Assembly and C</a:t>
            </a:r>
            <a:endParaRPr lang="en-US" dirty="0"/>
          </a:p>
        </p:txBody>
      </p:sp>
      <p:pic>
        <p:nvPicPr>
          <p:cNvPr id="5" name="Picture 4"/>
          <p:cNvPicPr>
            <a:picLocks noChangeAspect="1"/>
          </p:cNvPicPr>
          <p:nvPr/>
        </p:nvPicPr>
        <p:blipFill rotWithShape="1">
          <a:blip r:embed="rId2"/>
          <a:srcRect l="1892" r="1338" b="1170"/>
          <a:stretch/>
        </p:blipFill>
        <p:spPr>
          <a:xfrm>
            <a:off x="2209800" y="1503501"/>
            <a:ext cx="11848732" cy="6192699"/>
          </a:xfrm>
          <a:prstGeom prst="rect">
            <a:avLst/>
          </a:prstGeom>
        </p:spPr>
      </p:pic>
    </p:spTree>
    <p:extLst>
      <p:ext uri="{BB962C8B-B14F-4D97-AF65-F5344CB8AC3E}">
        <p14:creationId xmlns:p14="http://schemas.microsoft.com/office/powerpoint/2010/main" val="2557440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2925" y="1524000"/>
            <a:ext cx="15230476" cy="6019800"/>
          </a:xfrm>
        </p:spPr>
        <p:txBody>
          <a:bodyPr anchor="t">
            <a:noAutofit/>
          </a:bodyPr>
          <a:lstStyle/>
          <a:p>
            <a:pPr marL="0" marR="0" algn="l">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Determine the contents of the memory locations in binary format in Table 1 based on the following assembly language instructions:</a:t>
            </a:r>
            <a:br>
              <a:rPr lang="en-US" sz="24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LDI R17, 0xE6;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STS 0x21FB, R17;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LDI R22, 0xE0;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LDI R30, 0xD2;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ADD R30, R22;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STS 0x21FC, R30;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SUBI R30, 0xA1;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STS 0x21FD, R30;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AND R30, R17;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STS 0x21FE, R30;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OR R30, R17;               </a:t>
            </a:r>
            <a:br>
              <a:rPr lang="en-US" sz="2800" dirty="0">
                <a:effectLst/>
                <a:latin typeface="Times New Roman" panose="02020603050405020304" pitchFamily="18" charset="0"/>
                <a:ea typeface="Times New Roman" panose="02020603050405020304" pitchFamily="18" charset="0"/>
                <a:cs typeface="Angsana New" panose="02020603050405020304" pitchFamily="18" charset="-34"/>
              </a:rPr>
            </a:br>
            <a:r>
              <a:rPr lang="pt-BR" sz="2800" dirty="0">
                <a:effectLst/>
                <a:latin typeface="Californian FB" panose="0207040306080B030204" pitchFamily="18" charset="0"/>
                <a:ea typeface="Times New Roman" panose="02020603050405020304" pitchFamily="18" charset="0"/>
                <a:cs typeface="Arial" panose="020B0604020202020204" pitchFamily="34" charset="0"/>
              </a:rPr>
              <a:t>STS 0x21FF, R30;</a:t>
            </a:r>
            <a:endParaRPr lang="en-US" sz="24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1 of Assembly Program</a:t>
            </a:r>
          </a:p>
        </p:txBody>
      </p:sp>
      <p:graphicFrame>
        <p:nvGraphicFramePr>
          <p:cNvPr id="5" name="Table 4">
            <a:extLst>
              <a:ext uri="{FF2B5EF4-FFF2-40B4-BE49-F238E27FC236}">
                <a16:creationId xmlns:a16="http://schemas.microsoft.com/office/drawing/2014/main" id="{E6BFF618-B950-FC12-B33A-2BABC02190B9}"/>
              </a:ext>
            </a:extLst>
          </p:cNvPr>
          <p:cNvGraphicFramePr>
            <a:graphicFrameLocks noGrp="1"/>
          </p:cNvGraphicFramePr>
          <p:nvPr>
            <p:extLst>
              <p:ext uri="{D42A27DB-BD31-4B8C-83A1-F6EECF244321}">
                <p14:modId xmlns:p14="http://schemas.microsoft.com/office/powerpoint/2010/main" val="3297169455"/>
              </p:ext>
            </p:extLst>
          </p:nvPr>
        </p:nvGraphicFramePr>
        <p:xfrm>
          <a:off x="7924800" y="4724400"/>
          <a:ext cx="7991475" cy="2703576"/>
        </p:xfrm>
        <a:graphic>
          <a:graphicData uri="http://schemas.openxmlformats.org/drawingml/2006/table">
            <a:tbl>
              <a:tblPr firstRow="1" bandRow="1">
                <a:tableStyleId>{5C22544A-7EE6-4342-B048-85BDC9FD1C3A}</a:tableStyleId>
              </a:tblPr>
              <a:tblGrid>
                <a:gridCol w="3333588">
                  <a:extLst>
                    <a:ext uri="{9D8B030D-6E8A-4147-A177-3AD203B41FA5}">
                      <a16:colId xmlns:a16="http://schemas.microsoft.com/office/drawing/2014/main" val="3123372074"/>
                    </a:ext>
                  </a:extLst>
                </a:gridCol>
                <a:gridCol w="4657887">
                  <a:extLst>
                    <a:ext uri="{9D8B030D-6E8A-4147-A177-3AD203B41FA5}">
                      <a16:colId xmlns:a16="http://schemas.microsoft.com/office/drawing/2014/main" val="668293431"/>
                    </a:ext>
                  </a:extLst>
                </a:gridCol>
              </a:tblGrid>
              <a:tr h="182880">
                <a:tc>
                  <a:txBody>
                    <a:bodyPr/>
                    <a:lstStyle/>
                    <a:p>
                      <a:pPr marL="0" marR="0" algn="ctr">
                        <a:lnSpc>
                          <a:spcPct val="80000"/>
                        </a:lnSpc>
                        <a:buNone/>
                      </a:pPr>
                      <a:r>
                        <a:rPr lang="en-US" sz="2800">
                          <a:effectLst/>
                        </a:rPr>
                        <a:t>Memory Location</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2800">
                          <a:effectLst/>
                        </a:rPr>
                        <a:t>Contents in Binary</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0" marR="0" marT="0" marB="0" anchor="ctr"/>
                </a:tc>
                <a:extLst>
                  <a:ext uri="{0D108BD9-81ED-4DB2-BD59-A6C34878D82A}">
                    <a16:rowId xmlns:a16="http://schemas.microsoft.com/office/drawing/2014/main" val="412225639"/>
                  </a:ext>
                </a:extLst>
              </a:tr>
              <a:tr h="0">
                <a:tc>
                  <a:txBody>
                    <a:bodyPr/>
                    <a:lstStyle/>
                    <a:p>
                      <a:pPr marL="0" marR="0" algn="ctr">
                        <a:lnSpc>
                          <a:spcPct val="80000"/>
                        </a:lnSpc>
                        <a:buNone/>
                      </a:pPr>
                      <a:r>
                        <a:rPr lang="en-US" sz="2800" dirty="0">
                          <a:effectLst/>
                        </a:rPr>
                        <a:t>0x21FB</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2800">
                          <a:effectLst/>
                        </a:rPr>
                        <a:t> </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1709827390"/>
                  </a:ext>
                </a:extLst>
              </a:tr>
              <a:tr h="0">
                <a:tc>
                  <a:txBody>
                    <a:bodyPr/>
                    <a:lstStyle/>
                    <a:p>
                      <a:pPr marL="0" marR="0" algn="ctr">
                        <a:lnSpc>
                          <a:spcPct val="80000"/>
                        </a:lnSpc>
                        <a:buNone/>
                      </a:pPr>
                      <a:r>
                        <a:rPr lang="en-US" sz="2800">
                          <a:effectLst/>
                        </a:rPr>
                        <a:t>0x21FC</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2800">
                          <a:effectLst/>
                        </a:rPr>
                        <a:t> </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66573369"/>
                  </a:ext>
                </a:extLst>
              </a:tr>
              <a:tr h="0">
                <a:tc>
                  <a:txBody>
                    <a:bodyPr/>
                    <a:lstStyle/>
                    <a:p>
                      <a:pPr marL="0" marR="0" algn="ctr">
                        <a:lnSpc>
                          <a:spcPct val="80000"/>
                        </a:lnSpc>
                        <a:buNone/>
                      </a:pPr>
                      <a:r>
                        <a:rPr lang="en-US" sz="2800">
                          <a:effectLst/>
                        </a:rPr>
                        <a:t>0x21FD</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2800">
                          <a:effectLst/>
                        </a:rPr>
                        <a:t> </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2352755601"/>
                  </a:ext>
                </a:extLst>
              </a:tr>
              <a:tr h="0">
                <a:tc>
                  <a:txBody>
                    <a:bodyPr/>
                    <a:lstStyle/>
                    <a:p>
                      <a:pPr marL="0" marR="0" algn="ctr">
                        <a:lnSpc>
                          <a:spcPct val="80000"/>
                        </a:lnSpc>
                        <a:buNone/>
                      </a:pPr>
                      <a:r>
                        <a:rPr lang="en-US" sz="2800">
                          <a:effectLst/>
                        </a:rPr>
                        <a:t>0x21FE</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2800">
                          <a:effectLst/>
                        </a:rPr>
                        <a:t> </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2379951500"/>
                  </a:ext>
                </a:extLst>
              </a:tr>
              <a:tr h="0">
                <a:tc>
                  <a:txBody>
                    <a:bodyPr/>
                    <a:lstStyle/>
                    <a:p>
                      <a:pPr marL="0" marR="0" algn="ctr">
                        <a:lnSpc>
                          <a:spcPct val="80000"/>
                        </a:lnSpc>
                        <a:buNone/>
                      </a:pPr>
                      <a:r>
                        <a:rPr lang="en-US" sz="2800">
                          <a:effectLst/>
                        </a:rPr>
                        <a:t>0x21FF</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2800" dirty="0">
                          <a:effectLst/>
                        </a:rPr>
                        <a:t> </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1823585713"/>
                  </a:ext>
                </a:extLst>
              </a:tr>
            </a:tbl>
          </a:graphicData>
        </a:graphic>
      </p:graphicFrame>
    </p:spTree>
    <p:extLst>
      <p:ext uri="{BB962C8B-B14F-4D97-AF65-F5344CB8AC3E}">
        <p14:creationId xmlns:p14="http://schemas.microsoft.com/office/powerpoint/2010/main" val="27470007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2BC99-70CF-D0C1-AADA-E129AB6621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4C29FD-A5E3-D56B-F4BE-8F4B3308BFA4}"/>
              </a:ext>
            </a:extLst>
          </p:cNvPr>
          <p:cNvSpPr>
            <a:spLocks noGrp="1"/>
          </p:cNvSpPr>
          <p:nvPr>
            <p:ph type="title"/>
          </p:nvPr>
        </p:nvSpPr>
        <p:spPr>
          <a:xfrm>
            <a:off x="228600" y="1600200"/>
            <a:ext cx="15925800" cy="6019800"/>
          </a:xfrm>
        </p:spPr>
        <p:txBody>
          <a:bodyPr anchor="t">
            <a:noAutofit/>
          </a:bodyPr>
          <a:lstStyle/>
          <a:p>
            <a:pPr marL="0" marR="0" algn="l">
              <a:buNone/>
            </a:pPr>
            <a:r>
              <a:rPr lang="en-US" sz="22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Answers:</a:t>
            </a:r>
            <a:br>
              <a:rPr lang="en-US" sz="2200" dirty="0">
                <a:effectLst/>
                <a:latin typeface="Times New Roman" panose="02020603050405020304" pitchFamily="18" charset="0"/>
                <a:ea typeface="Times New Roman" panose="02020603050405020304" pitchFamily="18" charset="0"/>
                <a:cs typeface="Angsana New" panose="02020603050405020304" pitchFamily="18" charset="-34"/>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LDI R17, 0xE6;             // R17 register gets an immediate value of 0xE6</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STS 0x21FB, R17;         // Memory location, 0x21FB gets a value of 0xE6 from the register R17</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LDI R22, 0xE0;            // R22 register gets an immediate value of 0xE0  </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LDI R30, 0xD2;           // R30 register gets an immediate value of 0xD2  </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ADD R30, R22;            // R30 register gets a value of addition results of R22 and R30 registers’ contents, i.e., R30 = R30 + R22 = 0xD2 + 0xE0 = 0xB2; carry would be neglected</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STS 0x21FC, R30;       // Memory location, 0x21FC gets a value of 0xB2 from the register R30</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SUBI R30, 0xA1;          // R30 register gets a value of subtraction results of 0xA1 from R30 register’s contents, i.e., R30 = R30 – 0xA1 = 0xB2 + 0xA1 = 0x11; borrow won’t be generated</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STS 0x21FD, R30;       // Memory location, 0x21FD gets a value of 0x11 from the register R30</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AND R30, R17;            // R30 register gets a value of logical AND operation results of 0x00 from R30 register’s contents, i.e., R30 = R30 AND R17 = 0x11 AND 0xE6 = 0b00010001 AND 0b11100110 = 0x00</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STS 0x21FE, R30;       // Memory location, 0x21FE gets a value of 0x00 from the register R30</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OR R30, R17;               // R30 register gets a value of logical OR operation results of 0xE6 from R30 register’s contents, i.e., R30 = R30 OR R17 = 0x00 OR 0xE6 = 0b00000000 OR 0b11100110 = 0xE6</a:t>
            </a:r>
            <a:br>
              <a:rPr lang="en-US" sz="2200" dirty="0">
                <a:effectLst/>
                <a:latin typeface="Californian FB" panose="0207040306080B030204" pitchFamily="18" charset="0"/>
                <a:ea typeface="Times New Roman" panose="02020603050405020304" pitchFamily="18" charset="0"/>
                <a:cs typeface="Arial" panose="020B0604020202020204" pitchFamily="34" charset="0"/>
              </a:rPr>
            </a:br>
            <a:r>
              <a:rPr lang="en-US" sz="2200" dirty="0">
                <a:effectLst/>
                <a:latin typeface="Californian FB" panose="0207040306080B030204" pitchFamily="18" charset="0"/>
                <a:ea typeface="Times New Roman" panose="02020603050405020304" pitchFamily="18" charset="0"/>
                <a:cs typeface="Arial" panose="020B0604020202020204" pitchFamily="34" charset="0"/>
              </a:rPr>
              <a:t>STS 0x21FF, R30;     // Memory location, 0x21FF gets a value of 0xE6 from the register R30 </a:t>
            </a:r>
            <a:endParaRPr lang="en-US" sz="22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p:sp>
        <p:nvSpPr>
          <p:cNvPr id="6" name="Rectangle 2">
            <a:extLst>
              <a:ext uri="{FF2B5EF4-FFF2-40B4-BE49-F238E27FC236}">
                <a16:creationId xmlns:a16="http://schemas.microsoft.com/office/drawing/2014/main" id="{B01EEFA1-EA08-5704-AE4B-061A62A9A4BA}"/>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B5F177F9-D709-05D6-F43C-397404ECF8EC}"/>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DB327689-3B05-7EBA-2622-ED70A5471AB8}"/>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1 of Assembly Program</a:t>
            </a:r>
          </a:p>
        </p:txBody>
      </p:sp>
    </p:spTree>
    <p:extLst>
      <p:ext uri="{BB962C8B-B14F-4D97-AF65-F5344CB8AC3E}">
        <p14:creationId xmlns:p14="http://schemas.microsoft.com/office/powerpoint/2010/main" val="3100638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79819-953C-4354-6475-3D7B6BA78BD7}"/>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3EC068CB-A9D2-22E8-914C-C883FFE8FD36}"/>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8E0A76A1-51C3-154D-788D-F326E8FCAC97}"/>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05B02722-B3EC-D7FD-3783-C4230810144B}"/>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1 of Assembly Program</a:t>
            </a:r>
          </a:p>
        </p:txBody>
      </p:sp>
      <p:graphicFrame>
        <p:nvGraphicFramePr>
          <p:cNvPr id="5" name="Table 4">
            <a:extLst>
              <a:ext uri="{FF2B5EF4-FFF2-40B4-BE49-F238E27FC236}">
                <a16:creationId xmlns:a16="http://schemas.microsoft.com/office/drawing/2014/main" id="{3BBCE48F-BDF8-3AB1-330E-9C0C8D4ACA88}"/>
              </a:ext>
            </a:extLst>
          </p:cNvPr>
          <p:cNvGraphicFramePr>
            <a:graphicFrameLocks noGrp="1"/>
          </p:cNvGraphicFramePr>
          <p:nvPr>
            <p:extLst>
              <p:ext uri="{D42A27DB-BD31-4B8C-83A1-F6EECF244321}">
                <p14:modId xmlns:p14="http://schemas.microsoft.com/office/powerpoint/2010/main" val="3949877103"/>
              </p:ext>
            </p:extLst>
          </p:nvPr>
        </p:nvGraphicFramePr>
        <p:xfrm>
          <a:off x="1524000" y="3855720"/>
          <a:ext cx="11109325" cy="3611880"/>
        </p:xfrm>
        <a:graphic>
          <a:graphicData uri="http://schemas.openxmlformats.org/drawingml/2006/table">
            <a:tbl>
              <a:tblPr firstRow="1" bandRow="1">
                <a:tableStyleId>{5C22544A-7EE6-4342-B048-85BDC9FD1C3A}</a:tableStyleId>
              </a:tblPr>
              <a:tblGrid>
                <a:gridCol w="5562600">
                  <a:extLst>
                    <a:ext uri="{9D8B030D-6E8A-4147-A177-3AD203B41FA5}">
                      <a16:colId xmlns:a16="http://schemas.microsoft.com/office/drawing/2014/main" val="3123372074"/>
                    </a:ext>
                  </a:extLst>
                </a:gridCol>
                <a:gridCol w="5546725">
                  <a:extLst>
                    <a:ext uri="{9D8B030D-6E8A-4147-A177-3AD203B41FA5}">
                      <a16:colId xmlns:a16="http://schemas.microsoft.com/office/drawing/2014/main" val="668293431"/>
                    </a:ext>
                  </a:extLst>
                </a:gridCol>
              </a:tblGrid>
              <a:tr h="640080">
                <a:tc>
                  <a:txBody>
                    <a:bodyPr/>
                    <a:lstStyle/>
                    <a:p>
                      <a:pPr marL="0" marR="0" algn="ctr">
                        <a:lnSpc>
                          <a:spcPct val="80000"/>
                        </a:lnSpc>
                        <a:buNone/>
                      </a:pPr>
                      <a:r>
                        <a:rPr lang="en-US" sz="3200" dirty="0">
                          <a:effectLst/>
                        </a:rPr>
                        <a:t>Memory Location</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3200" dirty="0">
                          <a:effectLst/>
                        </a:rPr>
                        <a:t>Contents in Binary</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0" marR="0" marT="0" marB="0" anchor="ctr"/>
                </a:tc>
                <a:extLst>
                  <a:ext uri="{0D108BD9-81ED-4DB2-BD59-A6C34878D82A}">
                    <a16:rowId xmlns:a16="http://schemas.microsoft.com/office/drawing/2014/main" val="412225639"/>
                  </a:ext>
                </a:extLst>
              </a:tr>
              <a:tr h="594360">
                <a:tc>
                  <a:txBody>
                    <a:bodyPr/>
                    <a:lstStyle/>
                    <a:p>
                      <a:pPr marL="0" marR="0" algn="ctr">
                        <a:lnSpc>
                          <a:spcPct val="80000"/>
                        </a:lnSpc>
                        <a:buNone/>
                      </a:pPr>
                      <a:r>
                        <a:rPr lang="en-US" sz="3200" dirty="0">
                          <a:effectLst/>
                        </a:rPr>
                        <a:t>0x21FB</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3200" dirty="0">
                          <a:solidFill>
                            <a:srgbClr val="FF0000"/>
                          </a:solidFill>
                          <a:effectLst/>
                          <a:latin typeface="Arial" panose="020B0604020202020204" pitchFamily="34" charset="0"/>
                          <a:ea typeface="Calibri" panose="020F0502020204030204" pitchFamily="34" charset="0"/>
                          <a:cs typeface="Angsana New" panose="02020603050405020304" pitchFamily="18" charset="-34"/>
                        </a:rPr>
                        <a:t>0b11100110</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1709827390"/>
                  </a:ext>
                </a:extLst>
              </a:tr>
              <a:tr h="594360">
                <a:tc>
                  <a:txBody>
                    <a:bodyPr/>
                    <a:lstStyle/>
                    <a:p>
                      <a:pPr marL="0" marR="0" algn="ctr">
                        <a:lnSpc>
                          <a:spcPct val="80000"/>
                        </a:lnSpc>
                        <a:buNone/>
                      </a:pPr>
                      <a:r>
                        <a:rPr lang="en-US" sz="3200" dirty="0">
                          <a:effectLst/>
                        </a:rPr>
                        <a:t>0x21FC</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3200" dirty="0">
                          <a:solidFill>
                            <a:srgbClr val="FF0000"/>
                          </a:solidFill>
                          <a:effectLst/>
                          <a:latin typeface="Arial" panose="020B0604020202020204" pitchFamily="34" charset="0"/>
                          <a:ea typeface="Calibri" panose="020F0502020204030204" pitchFamily="34" charset="0"/>
                          <a:cs typeface="Angsana New" panose="02020603050405020304" pitchFamily="18" charset="-34"/>
                        </a:rPr>
                        <a:t>0b10110010</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66573369"/>
                  </a:ext>
                </a:extLst>
              </a:tr>
              <a:tr h="594360">
                <a:tc>
                  <a:txBody>
                    <a:bodyPr/>
                    <a:lstStyle/>
                    <a:p>
                      <a:pPr marL="0" marR="0" algn="ctr">
                        <a:lnSpc>
                          <a:spcPct val="80000"/>
                        </a:lnSpc>
                        <a:buNone/>
                      </a:pPr>
                      <a:r>
                        <a:rPr lang="en-US" sz="3200" dirty="0">
                          <a:effectLst/>
                        </a:rPr>
                        <a:t>0x21FD</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3200" dirty="0">
                          <a:solidFill>
                            <a:srgbClr val="FF0000"/>
                          </a:solidFill>
                          <a:effectLst/>
                          <a:latin typeface="Arial" panose="020B0604020202020204" pitchFamily="34" charset="0"/>
                          <a:ea typeface="Calibri" panose="020F0502020204030204" pitchFamily="34" charset="0"/>
                          <a:cs typeface="Angsana New" panose="02020603050405020304" pitchFamily="18" charset="-34"/>
                        </a:rPr>
                        <a:t>0b00010001</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2352755601"/>
                  </a:ext>
                </a:extLst>
              </a:tr>
              <a:tr h="594360">
                <a:tc>
                  <a:txBody>
                    <a:bodyPr/>
                    <a:lstStyle/>
                    <a:p>
                      <a:pPr marL="0" marR="0" algn="ctr">
                        <a:lnSpc>
                          <a:spcPct val="80000"/>
                        </a:lnSpc>
                        <a:buNone/>
                      </a:pPr>
                      <a:r>
                        <a:rPr lang="en-US" sz="3200">
                          <a:effectLst/>
                        </a:rPr>
                        <a:t>0x21FE</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3200" dirty="0">
                          <a:solidFill>
                            <a:srgbClr val="FF0000"/>
                          </a:solidFill>
                          <a:effectLst/>
                          <a:latin typeface="Arial" panose="020B0604020202020204" pitchFamily="34" charset="0"/>
                          <a:ea typeface="Calibri" panose="020F0502020204030204" pitchFamily="34" charset="0"/>
                          <a:cs typeface="Angsana New" panose="02020603050405020304" pitchFamily="18" charset="-34"/>
                        </a:rPr>
                        <a:t>0b00000000</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2379951500"/>
                  </a:ext>
                </a:extLst>
              </a:tr>
              <a:tr h="594360">
                <a:tc>
                  <a:txBody>
                    <a:bodyPr/>
                    <a:lstStyle/>
                    <a:p>
                      <a:pPr marL="0" marR="0" algn="ctr">
                        <a:lnSpc>
                          <a:spcPct val="80000"/>
                        </a:lnSpc>
                        <a:buNone/>
                      </a:pPr>
                      <a:r>
                        <a:rPr lang="en-US" sz="3200">
                          <a:effectLst/>
                        </a:rPr>
                        <a:t>0x21FF</a:t>
                      </a:r>
                      <a:endParaRPr lang="en-US" sz="3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tc>
                  <a:txBody>
                    <a:bodyPr/>
                    <a:lstStyle/>
                    <a:p>
                      <a:pPr marL="0" marR="0" algn="ctr">
                        <a:lnSpc>
                          <a:spcPct val="80000"/>
                        </a:lnSpc>
                        <a:buNone/>
                      </a:pPr>
                      <a:r>
                        <a:rPr lang="en-US" sz="3200" dirty="0">
                          <a:solidFill>
                            <a:srgbClr val="FF0000"/>
                          </a:solidFill>
                          <a:effectLst/>
                          <a:latin typeface="Arial" panose="020B0604020202020204" pitchFamily="34" charset="0"/>
                          <a:ea typeface="Calibri" panose="020F0502020204030204" pitchFamily="34" charset="0"/>
                          <a:cs typeface="Angsana New" panose="02020603050405020304" pitchFamily="18" charset="-34"/>
                        </a:rPr>
                        <a:t>0b11100110</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109855" marR="109855" marT="54610" marB="54610" anchor="ctr"/>
                </a:tc>
                <a:extLst>
                  <a:ext uri="{0D108BD9-81ED-4DB2-BD59-A6C34878D82A}">
                    <a16:rowId xmlns:a16="http://schemas.microsoft.com/office/drawing/2014/main" val="1823585713"/>
                  </a:ext>
                </a:extLst>
              </a:tr>
            </a:tbl>
          </a:graphicData>
        </a:graphic>
      </p:graphicFrame>
      <p:sp>
        <p:nvSpPr>
          <p:cNvPr id="3" name="TextBox 2">
            <a:extLst>
              <a:ext uri="{FF2B5EF4-FFF2-40B4-BE49-F238E27FC236}">
                <a16:creationId xmlns:a16="http://schemas.microsoft.com/office/drawing/2014/main" id="{1B658001-CA05-BE9D-6F12-47CE553C7273}"/>
              </a:ext>
            </a:extLst>
          </p:cNvPr>
          <p:cNvSpPr txBox="1"/>
          <p:nvPr/>
        </p:nvSpPr>
        <p:spPr>
          <a:xfrm>
            <a:off x="1478197" y="1671697"/>
            <a:ext cx="6065603" cy="2062103"/>
          </a:xfrm>
          <a:prstGeom prst="rect">
            <a:avLst/>
          </a:prstGeom>
          <a:noFill/>
        </p:spPr>
        <p:txBody>
          <a:bodyPr wrap="square">
            <a:spAutoFit/>
          </a:bodyPr>
          <a:lstStyle/>
          <a:p>
            <a:r>
              <a:rPr lang="en-US" sz="3200" b="1" dirty="0">
                <a:solidFill>
                  <a:srgbClr val="0000FF"/>
                </a:solidFill>
                <a:effectLst/>
                <a:ea typeface="Times New Roman" panose="02020603050405020304" pitchFamily="18" charset="0"/>
                <a:cs typeface="Times New Roman" panose="02020603050405020304" pitchFamily="18" charset="0"/>
              </a:rPr>
              <a:t>Example: 0xD2 + 0xE0 = 0xB2</a:t>
            </a:r>
          </a:p>
          <a:p>
            <a:r>
              <a:rPr lang="en-US" sz="3200" dirty="0">
                <a:cs typeface="Times New Roman" panose="02020603050405020304" pitchFamily="18" charset="0"/>
              </a:rPr>
              <a:t>0b11010010</a:t>
            </a:r>
          </a:p>
          <a:p>
            <a:r>
              <a:rPr lang="en-US" sz="3200" u="sng" dirty="0">
                <a:cs typeface="Times New Roman" panose="02020603050405020304" pitchFamily="18" charset="0"/>
              </a:rPr>
              <a:t>0b11100000</a:t>
            </a:r>
          </a:p>
          <a:p>
            <a:r>
              <a:rPr lang="en-US" sz="3200" dirty="0">
                <a:cs typeface="Times New Roman" panose="02020603050405020304" pitchFamily="18" charset="0"/>
              </a:rPr>
              <a:t>0b10110010 = 0xB2 [Carry, C = 1]</a:t>
            </a:r>
          </a:p>
        </p:txBody>
      </p:sp>
      <p:sp>
        <p:nvSpPr>
          <p:cNvPr id="10" name="TextBox 9">
            <a:extLst>
              <a:ext uri="{FF2B5EF4-FFF2-40B4-BE49-F238E27FC236}">
                <a16:creationId xmlns:a16="http://schemas.microsoft.com/office/drawing/2014/main" id="{DC4B29A7-B260-D625-EA27-0205AB02F147}"/>
              </a:ext>
            </a:extLst>
          </p:cNvPr>
          <p:cNvSpPr txBox="1"/>
          <p:nvPr/>
        </p:nvSpPr>
        <p:spPr>
          <a:xfrm>
            <a:off x="9192641" y="1671697"/>
            <a:ext cx="6352159" cy="2062103"/>
          </a:xfrm>
          <a:prstGeom prst="rect">
            <a:avLst/>
          </a:prstGeom>
          <a:noFill/>
        </p:spPr>
        <p:txBody>
          <a:bodyPr wrap="square">
            <a:spAutoFit/>
          </a:bodyPr>
          <a:lstStyle/>
          <a:p>
            <a:r>
              <a:rPr lang="en-US" sz="3200" b="1" dirty="0">
                <a:solidFill>
                  <a:srgbClr val="0000FF"/>
                </a:solidFill>
                <a:effectLst/>
                <a:ea typeface="Times New Roman" panose="02020603050405020304" pitchFamily="18" charset="0"/>
                <a:cs typeface="Times New Roman" panose="02020603050405020304" pitchFamily="18" charset="0"/>
              </a:rPr>
              <a:t>Example: 0x11 AND 0xE6 = </a:t>
            </a:r>
            <a:r>
              <a:rPr lang="en-US" sz="3200" b="1" dirty="0">
                <a:solidFill>
                  <a:srgbClr val="0000FF"/>
                </a:solidFill>
                <a:ea typeface="Times New Roman" panose="02020603050405020304" pitchFamily="18" charset="0"/>
                <a:cs typeface="Times New Roman" panose="02020603050405020304" pitchFamily="18" charset="0"/>
              </a:rPr>
              <a:t>0</a:t>
            </a:r>
            <a:r>
              <a:rPr lang="en-US" sz="3200" b="1" dirty="0">
                <a:solidFill>
                  <a:srgbClr val="0000FF"/>
                </a:solidFill>
                <a:effectLst/>
                <a:ea typeface="Times New Roman" panose="02020603050405020304" pitchFamily="18" charset="0"/>
                <a:cs typeface="Times New Roman" panose="02020603050405020304" pitchFamily="18" charset="0"/>
              </a:rPr>
              <a:t>x00</a:t>
            </a:r>
          </a:p>
          <a:p>
            <a:r>
              <a:rPr lang="en-US" sz="3200" dirty="0">
                <a:cs typeface="Times New Roman" panose="02020603050405020304" pitchFamily="18" charset="0"/>
              </a:rPr>
              <a:t>0b00010001</a:t>
            </a:r>
          </a:p>
          <a:p>
            <a:r>
              <a:rPr lang="en-US" sz="3200" u="sng" dirty="0">
                <a:cs typeface="Times New Roman" panose="02020603050405020304" pitchFamily="18" charset="0"/>
              </a:rPr>
              <a:t>0b11100110</a:t>
            </a:r>
          </a:p>
          <a:p>
            <a:r>
              <a:rPr lang="en-US" sz="3200" dirty="0">
                <a:cs typeface="Times New Roman" panose="02020603050405020304" pitchFamily="18" charset="0"/>
              </a:rPr>
              <a:t>0b00000000 = 0x00</a:t>
            </a:r>
          </a:p>
        </p:txBody>
      </p:sp>
    </p:spTree>
    <p:extLst>
      <p:ext uri="{BB962C8B-B14F-4D97-AF65-F5344CB8AC3E}">
        <p14:creationId xmlns:p14="http://schemas.microsoft.com/office/powerpoint/2010/main" val="4082206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6CD8-49BD-28A3-BF14-CFD22B6DB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F774C7-C13A-D3FA-8E19-498E10586B3B}"/>
              </a:ext>
            </a:extLst>
          </p:cNvPr>
          <p:cNvSpPr>
            <a:spLocks noGrp="1"/>
          </p:cNvSpPr>
          <p:nvPr>
            <p:ph type="title"/>
          </p:nvPr>
        </p:nvSpPr>
        <p:spPr>
          <a:xfrm>
            <a:off x="542925" y="1676400"/>
            <a:ext cx="15373350" cy="1600200"/>
          </a:xfrm>
        </p:spPr>
        <p:txBody>
          <a:bodyPr anchor="t">
            <a:noAutofit/>
          </a:bodyPr>
          <a:lstStyle/>
          <a:p>
            <a:pPr marL="0" marR="0" algn="l">
              <a:buNone/>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Prepare an assembly program to set the Sleep Mode Control Register (SMCR) so that the system remains in power-save mode as a whole and power reduction mode (PRR) for its PRTIM0 and PRSPI.</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p:sp>
        <p:nvSpPr>
          <p:cNvPr id="6" name="Rectangle 2">
            <a:extLst>
              <a:ext uri="{FF2B5EF4-FFF2-40B4-BE49-F238E27FC236}">
                <a16:creationId xmlns:a16="http://schemas.microsoft.com/office/drawing/2014/main" id="{C50E5390-FF2F-F912-353B-DE8CA38469C6}"/>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4AC791B5-21D7-EA72-5660-4AFC09378F10}"/>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903C4EC9-0361-0071-AD89-518F21C31F6A}"/>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2 of Assembly Program</a:t>
            </a:r>
          </a:p>
        </p:txBody>
      </p:sp>
      <p:pic>
        <p:nvPicPr>
          <p:cNvPr id="3" name="Picture 2">
            <a:extLst>
              <a:ext uri="{FF2B5EF4-FFF2-40B4-BE49-F238E27FC236}">
                <a16:creationId xmlns:a16="http://schemas.microsoft.com/office/drawing/2014/main" id="{80511017-6CCA-35AF-206E-BBB9D9CA27B1}"/>
              </a:ext>
            </a:extLst>
          </p:cNvPr>
          <p:cNvPicPr>
            <a:picLocks noChangeAspect="1"/>
          </p:cNvPicPr>
          <p:nvPr/>
        </p:nvPicPr>
        <p:blipFill rotWithShape="1">
          <a:blip r:embed="rId2">
            <a:extLst>
              <a:ext uri="{28A0092B-C50C-407E-A947-70E740481C1C}">
                <a14:useLocalDpi xmlns:a14="http://schemas.microsoft.com/office/drawing/2010/main" val="0"/>
              </a:ext>
            </a:extLst>
          </a:blip>
          <a:srcRect l="2000" t="5769" r="1788" b="9173"/>
          <a:stretch/>
        </p:blipFill>
        <p:spPr>
          <a:xfrm>
            <a:off x="542925" y="3276599"/>
            <a:ext cx="7839190" cy="1025526"/>
          </a:xfrm>
          <a:prstGeom prst="rect">
            <a:avLst/>
          </a:prstGeom>
        </p:spPr>
      </p:pic>
      <p:pic>
        <p:nvPicPr>
          <p:cNvPr id="4" name="Picture 3">
            <a:extLst>
              <a:ext uri="{FF2B5EF4-FFF2-40B4-BE49-F238E27FC236}">
                <a16:creationId xmlns:a16="http://schemas.microsoft.com/office/drawing/2014/main" id="{5FF3819F-BD9B-0E27-8725-5230D0CB1D99}"/>
              </a:ext>
            </a:extLst>
          </p:cNvPr>
          <p:cNvPicPr>
            <a:picLocks noChangeAspect="1"/>
          </p:cNvPicPr>
          <p:nvPr/>
        </p:nvPicPr>
        <p:blipFill rotWithShape="1">
          <a:blip r:embed="rId3">
            <a:extLst>
              <a:ext uri="{28A0092B-C50C-407E-A947-70E740481C1C}">
                <a14:useLocalDpi xmlns:a14="http://schemas.microsoft.com/office/drawing/2010/main" val="0"/>
              </a:ext>
            </a:extLst>
          </a:blip>
          <a:srcRect l="2937" t="9808" r="1506" b="14868"/>
          <a:stretch/>
        </p:blipFill>
        <p:spPr>
          <a:xfrm>
            <a:off x="8839200" y="3276600"/>
            <a:ext cx="7271063" cy="1025525"/>
          </a:xfrm>
          <a:prstGeom prst="rect">
            <a:avLst/>
          </a:prstGeom>
        </p:spPr>
      </p:pic>
      <p:pic>
        <p:nvPicPr>
          <p:cNvPr id="7" name="Picture 6">
            <a:extLst>
              <a:ext uri="{FF2B5EF4-FFF2-40B4-BE49-F238E27FC236}">
                <a16:creationId xmlns:a16="http://schemas.microsoft.com/office/drawing/2014/main" id="{E3BF25FB-E372-06AC-62E9-FB2F98CD84D5}"/>
              </a:ext>
            </a:extLst>
          </p:cNvPr>
          <p:cNvPicPr>
            <a:picLocks noChangeAspect="1"/>
          </p:cNvPicPr>
          <p:nvPr/>
        </p:nvPicPr>
        <p:blipFill rotWithShape="1">
          <a:blip r:embed="rId4">
            <a:extLst>
              <a:ext uri="{28A0092B-C50C-407E-A947-70E740481C1C}">
                <a14:useLocalDpi xmlns:a14="http://schemas.microsoft.com/office/drawing/2010/main" val="0"/>
              </a:ext>
            </a:extLst>
          </a:blip>
          <a:srcRect l="3831" t="11086" r="27115" b="10738"/>
          <a:stretch/>
        </p:blipFill>
        <p:spPr bwMode="auto">
          <a:xfrm>
            <a:off x="542925" y="4572000"/>
            <a:ext cx="5855706" cy="28956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36265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6499B-773F-9776-A356-993CB0A2DD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DF66BE-1019-C2AF-19C9-2D1ED462A2A9}"/>
              </a:ext>
            </a:extLst>
          </p:cNvPr>
          <p:cNvSpPr>
            <a:spLocks noGrp="1"/>
          </p:cNvSpPr>
          <p:nvPr>
            <p:ph type="title"/>
          </p:nvPr>
        </p:nvSpPr>
        <p:spPr>
          <a:xfrm>
            <a:off x="228600" y="1600200"/>
            <a:ext cx="15925800" cy="6019800"/>
          </a:xfrm>
        </p:spPr>
        <p:txBody>
          <a:bodyPr anchor="t">
            <a:noAutofit/>
          </a:bodyPr>
          <a:lstStyle/>
          <a:p>
            <a:pPr marL="0" marR="0" algn="l">
              <a:buNone/>
            </a:pPr>
            <a:r>
              <a:rPr lang="en-US" sz="28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Answers:</a:t>
            </a:r>
            <a:b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200" dirty="0">
                <a:latin typeface="Times New Roman" panose="02020603050405020304" pitchFamily="18" charset="0"/>
                <a:ea typeface="Times New Roman" panose="02020603050405020304" pitchFamily="18" charset="0"/>
                <a:cs typeface="Times New Roman" panose="02020603050405020304" pitchFamily="18" charset="0"/>
              </a:rPr>
              <a:t>To set the Sleep Mode Control Register (SMCR) in the power save mode, we need to set various bits of SMCR as follows as per the bit setting of the given table (SE bit, i.e. bit 0 must be set to logical HIGH to enable the Sleep Mode):</a:t>
            </a:r>
            <a:br>
              <a:rPr lang="en-US" sz="2200" dirty="0">
                <a:latin typeface="Times New Roman" panose="02020603050405020304" pitchFamily="18" charset="0"/>
                <a:ea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0000 0111b = 07h</a:t>
            </a:r>
            <a:br>
              <a:rPr lang="en-US" sz="2200" dirty="0">
                <a:latin typeface="Times New Roman" panose="02020603050405020304" pitchFamily="18" charset="0"/>
                <a:ea typeface="Times New Roman" panose="02020603050405020304" pitchFamily="18" charset="0"/>
                <a:cs typeface="Times New Roman" panose="02020603050405020304" pitchFamily="18" charset="0"/>
              </a:rPr>
            </a:br>
            <a:r>
              <a:rPr lang="en-US" sz="1400" dirty="0">
                <a:latin typeface="Times New Roman" panose="02020603050405020304" pitchFamily="18" charset="0"/>
                <a:ea typeface="Times New Roman" panose="02020603050405020304" pitchFamily="18" charset="0"/>
                <a:cs typeface="Times New Roman" panose="02020603050405020304" pitchFamily="18" charset="0"/>
              </a:rPr>
              <a:t> </a:t>
            </a:r>
            <a:br>
              <a:rPr lang="en-US" sz="1600" dirty="0">
                <a:latin typeface="Times New Roman" panose="02020603050405020304" pitchFamily="18" charset="0"/>
                <a:ea typeface="Times New Roman" panose="02020603050405020304" pitchFamily="18" charset="0"/>
                <a:cs typeface="Times New Roman" panose="02020603050405020304" pitchFamily="18" charset="0"/>
              </a:rPr>
            </a:br>
            <a:r>
              <a:rPr lang="en-US" sz="2200" dirty="0">
                <a:latin typeface="Times New Roman" panose="02020603050405020304" pitchFamily="18" charset="0"/>
                <a:ea typeface="Times New Roman" panose="02020603050405020304" pitchFamily="18" charset="0"/>
                <a:cs typeface="Times New Roman" panose="02020603050405020304" pitchFamily="18" charset="0"/>
              </a:rPr>
              <a:t>To set the Power Reduction Register (PRR) for saving the power of PRTIM0 and PRSPI, we must enable bit 5 and bit 2 of the PRR register as follows:</a:t>
            </a:r>
            <a:br>
              <a:rPr lang="en-US" sz="2200" dirty="0">
                <a:latin typeface="Times New Roman" panose="02020603050405020304" pitchFamily="18" charset="0"/>
                <a:ea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0010 0100b = 24h</a:t>
            </a:r>
            <a:br>
              <a:rPr lang="en-US" sz="2200" dirty="0">
                <a:latin typeface="Times New Roman" panose="02020603050405020304" pitchFamily="18" charset="0"/>
                <a:ea typeface="Times New Roman" panose="02020603050405020304" pitchFamily="18" charset="0"/>
                <a:cs typeface="Times New Roman" panose="02020603050405020304" pitchFamily="18" charset="0"/>
              </a:rPr>
            </a:br>
            <a:br>
              <a:rPr lang="en-US" sz="1400" dirty="0">
                <a:latin typeface="Times New Roman" panose="02020603050405020304" pitchFamily="18" charset="0"/>
                <a:ea typeface="Times New Roman" panose="02020603050405020304" pitchFamily="18" charset="0"/>
                <a:cs typeface="Times New Roman" panose="02020603050405020304" pitchFamily="18" charset="0"/>
              </a:rPr>
            </a:br>
            <a:r>
              <a:rPr lang="en-US" sz="2200" dirty="0">
                <a:latin typeface="Times New Roman" panose="02020603050405020304" pitchFamily="18" charset="0"/>
                <a:ea typeface="Times New Roman" panose="02020603050405020304" pitchFamily="18" charset="0"/>
                <a:cs typeface="Times New Roman" panose="02020603050405020304" pitchFamily="18" charset="0"/>
              </a:rPr>
              <a:t>Therefore, the assembly program should be as follows:</a:t>
            </a:r>
            <a:br>
              <a:rPr lang="en-US" sz="2200" dirty="0">
                <a:latin typeface="Californian FB" panose="0207040306080B030204" pitchFamily="18" charset="0"/>
                <a:ea typeface="Times New Roman" panose="02020603050405020304" pitchFamily="18" charset="0"/>
                <a:cs typeface="Arial" panose="020B0604020202020204" pitchFamily="34" charset="0"/>
              </a:rPr>
            </a:br>
            <a:br>
              <a:rPr lang="en-US" sz="1800" dirty="0">
                <a:latin typeface="Californian FB" panose="0207040306080B030204" pitchFamily="18" charset="0"/>
                <a:ea typeface="Times New Roman" panose="02020603050405020304" pitchFamily="18" charset="0"/>
                <a:cs typeface="Arial" panose="020B0604020202020204" pitchFamily="34" charset="0"/>
              </a:rPr>
            </a:br>
            <a:r>
              <a:rPr lang="en-US" sz="2200" dirty="0">
                <a:latin typeface="Book Antiqua" panose="02040602050305030304" pitchFamily="18" charset="0"/>
                <a:ea typeface="Times New Roman" panose="02020603050405020304" pitchFamily="18" charset="0"/>
                <a:cs typeface="Arial" panose="020B0604020202020204" pitchFamily="34" charset="0"/>
              </a:rPr>
              <a:t>; Set SMCR to 0x07</a:t>
            </a:r>
            <a:br>
              <a:rPr lang="en-US" sz="2200" dirty="0">
                <a:latin typeface="Book Antiqua" panose="02040602050305030304" pitchFamily="18" charset="0"/>
                <a:ea typeface="Times New Roman" panose="02020603050405020304" pitchFamily="18" charset="0"/>
                <a:cs typeface="Arial" panose="020B0604020202020204" pitchFamily="34" charset="0"/>
              </a:rPr>
            </a:br>
            <a:r>
              <a:rPr lang="en-US" sz="2200" dirty="0">
                <a:latin typeface="Book Antiqua" panose="02040602050305030304" pitchFamily="18" charset="0"/>
                <a:ea typeface="Times New Roman" panose="02020603050405020304" pitchFamily="18" charset="0"/>
                <a:cs typeface="Arial" panose="020B0604020202020204" pitchFamily="34" charset="0"/>
              </a:rPr>
              <a:t>LDI R16,0x07;       // Sleep Mode Control Register control data is loaded into the register R16</a:t>
            </a:r>
            <a:br>
              <a:rPr lang="en-US" sz="2200" dirty="0">
                <a:latin typeface="Book Antiqua" panose="02040602050305030304" pitchFamily="18" charset="0"/>
                <a:ea typeface="Times New Roman" panose="02020603050405020304" pitchFamily="18" charset="0"/>
                <a:cs typeface="Arial" panose="020B0604020202020204" pitchFamily="34" charset="0"/>
              </a:rPr>
            </a:br>
            <a:r>
              <a:rPr lang="en-US" sz="2200" dirty="0">
                <a:latin typeface="Book Antiqua" panose="02040602050305030304" pitchFamily="18" charset="0"/>
                <a:ea typeface="Times New Roman" panose="02020603050405020304" pitchFamily="18" charset="0"/>
                <a:cs typeface="Arial" panose="020B0604020202020204" pitchFamily="34" charset="0"/>
              </a:rPr>
              <a:t>OUT SMCR, R16;  // R16 sends the control data to the SMCR to set it in power save mode</a:t>
            </a:r>
            <a:br>
              <a:rPr lang="en-US" sz="2200" dirty="0">
                <a:latin typeface="Book Antiqua" panose="02040602050305030304" pitchFamily="18" charset="0"/>
                <a:ea typeface="Times New Roman" panose="02020603050405020304" pitchFamily="18" charset="0"/>
                <a:cs typeface="Arial" panose="020B0604020202020204" pitchFamily="34" charset="0"/>
              </a:rPr>
            </a:br>
            <a:br>
              <a:rPr lang="en-US" sz="2200" dirty="0">
                <a:latin typeface="Book Antiqua" panose="02040602050305030304" pitchFamily="18" charset="0"/>
                <a:ea typeface="Times New Roman" panose="02020603050405020304" pitchFamily="18" charset="0"/>
                <a:cs typeface="Arial" panose="020B0604020202020204" pitchFamily="34" charset="0"/>
              </a:rPr>
            </a:br>
            <a:r>
              <a:rPr lang="en-US" sz="2200" dirty="0">
                <a:latin typeface="Book Antiqua" panose="02040602050305030304" pitchFamily="18" charset="0"/>
                <a:ea typeface="Times New Roman" panose="02020603050405020304" pitchFamily="18" charset="0"/>
                <a:cs typeface="Arial" panose="020B0604020202020204" pitchFamily="34" charset="0"/>
              </a:rPr>
              <a:t>; Set PRR to 0x24</a:t>
            </a:r>
            <a:br>
              <a:rPr lang="en-US" sz="2200" dirty="0">
                <a:latin typeface="Book Antiqua" panose="02040602050305030304" pitchFamily="18" charset="0"/>
                <a:ea typeface="Times New Roman" panose="02020603050405020304" pitchFamily="18" charset="0"/>
                <a:cs typeface="Arial" panose="020B0604020202020204" pitchFamily="34" charset="0"/>
              </a:rPr>
            </a:br>
            <a:r>
              <a:rPr lang="en-US" sz="2200" dirty="0">
                <a:latin typeface="Book Antiqua" panose="02040602050305030304" pitchFamily="18" charset="0"/>
                <a:ea typeface="Times New Roman" panose="02020603050405020304" pitchFamily="18" charset="0"/>
                <a:cs typeface="Arial" panose="020B0604020202020204" pitchFamily="34" charset="0"/>
              </a:rPr>
              <a:t>LDI R17, 0x24;    // Power Reduction Register (PRR) control data is loaded into the register R17</a:t>
            </a:r>
            <a:br>
              <a:rPr lang="en-US" sz="2200" dirty="0">
                <a:latin typeface="Book Antiqua" panose="02040602050305030304" pitchFamily="18" charset="0"/>
                <a:ea typeface="Times New Roman" panose="02020603050405020304" pitchFamily="18" charset="0"/>
                <a:cs typeface="Arial" panose="020B0604020202020204" pitchFamily="34" charset="0"/>
              </a:rPr>
            </a:br>
            <a:r>
              <a:rPr lang="en-US" sz="2200" dirty="0">
                <a:latin typeface="Book Antiqua" panose="02040602050305030304" pitchFamily="18" charset="0"/>
                <a:ea typeface="Times New Roman" panose="02020603050405020304" pitchFamily="18" charset="0"/>
                <a:cs typeface="Arial" panose="020B0604020202020204" pitchFamily="34" charset="0"/>
              </a:rPr>
              <a:t>OUT PRR, R17;  // R17 sends the control data to the PRR to set it in the power reduction modes of Timer0 and SPI</a:t>
            </a:r>
            <a:br>
              <a:rPr lang="en-US" sz="2200" dirty="0">
                <a:latin typeface="Californian FB" panose="0207040306080B030204" pitchFamily="18" charset="0"/>
                <a:ea typeface="Times New Roman" panose="02020603050405020304" pitchFamily="18" charset="0"/>
                <a:cs typeface="Arial" panose="020B0604020202020204" pitchFamily="34" charset="0"/>
              </a:rPr>
            </a:br>
            <a:endParaRPr lang="en-US" sz="22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p:sp>
        <p:nvSpPr>
          <p:cNvPr id="6" name="Rectangle 2">
            <a:extLst>
              <a:ext uri="{FF2B5EF4-FFF2-40B4-BE49-F238E27FC236}">
                <a16:creationId xmlns:a16="http://schemas.microsoft.com/office/drawing/2014/main" id="{7BDCA6A4-9C58-6E2E-D3CE-7C4D6D1C3B4B}"/>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94662D06-1CC4-DACB-A32F-9F9EC47AD683}"/>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BC54FF85-2EF4-B7A2-1CEB-FEC2EB656990}"/>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2 of Assembly Program</a:t>
            </a:r>
          </a:p>
        </p:txBody>
      </p:sp>
    </p:spTree>
    <p:extLst>
      <p:ext uri="{BB962C8B-B14F-4D97-AF65-F5344CB8AC3E}">
        <p14:creationId xmlns:p14="http://schemas.microsoft.com/office/powerpoint/2010/main" val="35342689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A8472-8582-A5EA-B8A8-7CF9FA432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34E1B-F645-18FC-BBB5-F958883BAB3C}"/>
              </a:ext>
            </a:extLst>
          </p:cNvPr>
          <p:cNvSpPr>
            <a:spLocks noGrp="1"/>
          </p:cNvSpPr>
          <p:nvPr>
            <p:ph type="title"/>
          </p:nvPr>
        </p:nvSpPr>
        <p:spPr>
          <a:xfrm>
            <a:off x="228600" y="1828800"/>
            <a:ext cx="15925800" cy="5638800"/>
          </a:xfrm>
        </p:spPr>
        <p:txBody>
          <a:bodyPr anchor="t">
            <a:noAutofit/>
          </a:bodyPr>
          <a:lstStyle/>
          <a:p>
            <a:pPr algn="l"/>
            <a:r>
              <a:rPr lang="en-US" sz="3200" dirty="0">
                <a:latin typeface="Times New Roman" panose="02020603050405020304" pitchFamily="18" charset="0"/>
                <a:cs typeface="Times New Roman" panose="02020603050405020304" pitchFamily="18" charset="0"/>
              </a:rPr>
              <a:t>The word “algorithm” relates to the name of the mathematician Al-Khwarizmi, which means a procedure or a technique. A Software Engineer commonly uses an algorithm for planning and solving problems. An algorithm is a  sequence of steps to solve a particular problem, or an algorithm is an ordered set of unambiguous steps that produces a  result and terminates in a finite time Algorithm has the following characteristics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Input: An algorithm may or may not require input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Output: Each algorithm is expected to produce at least one result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Definiteness: Each instruction must be unambiguous.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Finiteness: If the instructions of an algorithm are executed, the algorithm should terminate after a finite number of steps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The algorithm and flowchart include the following three types of control structures.</a:t>
            </a:r>
          </a:p>
        </p:txBody>
      </p:sp>
      <p:sp>
        <p:nvSpPr>
          <p:cNvPr id="6" name="Rectangle 2">
            <a:extLst>
              <a:ext uri="{FF2B5EF4-FFF2-40B4-BE49-F238E27FC236}">
                <a16:creationId xmlns:a16="http://schemas.microsoft.com/office/drawing/2014/main" id="{A663BACE-D6A5-0148-36B2-FC08420D1D63}"/>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F7C5591D-9E83-93FC-2617-4D856AA0AB38}"/>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54631192-0098-17FE-58B7-C1BB86D3E94B}"/>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Algorithm</a:t>
            </a:r>
          </a:p>
        </p:txBody>
      </p:sp>
    </p:spTree>
    <p:extLst>
      <p:ext uri="{BB962C8B-B14F-4D97-AF65-F5344CB8AC3E}">
        <p14:creationId xmlns:p14="http://schemas.microsoft.com/office/powerpoint/2010/main" val="33073259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56DE8-EBF7-A41C-A30B-7AED94030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AB455C-ED5D-79D0-4A1F-3BD642106BEA}"/>
              </a:ext>
            </a:extLst>
          </p:cNvPr>
          <p:cNvSpPr>
            <a:spLocks noGrp="1"/>
          </p:cNvSpPr>
          <p:nvPr>
            <p:ph type="title"/>
          </p:nvPr>
        </p:nvSpPr>
        <p:spPr>
          <a:xfrm>
            <a:off x="266700" y="1600200"/>
            <a:ext cx="15925800" cy="5943600"/>
          </a:xfrm>
        </p:spPr>
        <p:txBody>
          <a:bodyPr anchor="t">
            <a:noAutofit/>
          </a:bodyPr>
          <a:lstStyle/>
          <a:p>
            <a:pPr algn="l"/>
            <a:r>
              <a:rPr lang="en-US" sz="2800" b="1" dirty="0">
                <a:latin typeface="Times New Roman" panose="02020603050405020304" pitchFamily="18" charset="0"/>
                <a:cs typeface="Times New Roman" panose="02020603050405020304" pitchFamily="18" charset="0"/>
              </a:rPr>
              <a:t>Sequence: </a:t>
            </a:r>
            <a:r>
              <a:rPr lang="en-US" sz="2800" dirty="0">
                <a:latin typeface="Times New Roman" panose="02020603050405020304" pitchFamily="18" charset="0"/>
                <a:cs typeface="Times New Roman" panose="02020603050405020304" pitchFamily="18" charset="0"/>
              </a:rPr>
              <a:t>In the sequence structure, statements are placed one after the other, and the execution takes place starting from up to down.</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Branching (Selection): </a:t>
            </a:r>
            <a:r>
              <a:rPr lang="en-US" sz="2800" dirty="0">
                <a:latin typeface="Times New Roman" panose="02020603050405020304" pitchFamily="18" charset="0"/>
                <a:cs typeface="Times New Roman" panose="02020603050405020304" pitchFamily="18" charset="0"/>
              </a:rPr>
              <a:t>In branch control, there is a condition, and according to a condition, a decision of either  TRUE or FALSE is achieved. In the case of TRUE, one of the two branches is explored; but in the case of a FALSE  condition, the other alternative branch is taken. Generally, the ‘IF-THEN’ is used to represent branch control.</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Loop (Repetition): </a:t>
            </a:r>
            <a:r>
              <a:rPr lang="en-US" sz="2800" dirty="0">
                <a:latin typeface="Times New Roman" panose="02020603050405020304" pitchFamily="18" charset="0"/>
                <a:cs typeface="Times New Roman" panose="02020603050405020304" pitchFamily="18" charset="0"/>
              </a:rPr>
              <a:t>The Loop or Repetition allows a statement(s) to be executed repeatedly based on a certain loop condition, e.g., ‘WHILE’, ‘FOR’, ‘DO’ loops.</a:t>
            </a:r>
            <a:br>
              <a:rPr lang="en-US" sz="2800" dirty="0">
                <a:latin typeface="Times New Roman" panose="02020603050405020304" pitchFamily="18" charset="0"/>
                <a:cs typeface="Times New Roman" panose="02020603050405020304" pitchFamily="18" charset="0"/>
              </a:rPr>
            </a:br>
            <a:br>
              <a:rPr lang="en-US" sz="2400" baseline="-25000" dirty="0">
                <a:latin typeface="Times New Roman" panose="02020603050405020304" pitchFamily="18" charset="0"/>
                <a:cs typeface="Times New Roman" panose="02020603050405020304" pitchFamily="18" charset="0"/>
              </a:rPr>
            </a:br>
            <a:r>
              <a:rPr lang="en-US" sz="2800" dirty="0">
                <a:solidFill>
                  <a:schemeClr val="tx1"/>
                </a:solidFill>
                <a:latin typeface="Times New Roman" panose="02020603050405020304" pitchFamily="18" charset="0"/>
                <a:cs typeface="Times New Roman" panose="02020603050405020304" pitchFamily="18" charset="0"/>
              </a:rPr>
              <a:t>1. It is a step-wise representation of a solution to a given problem, which makes it easy to understand.</a:t>
            </a:r>
            <a:br>
              <a:rPr lang="en-US" sz="2800" dirty="0">
                <a:solidFill>
                  <a:schemeClr val="tx1"/>
                </a:solidFill>
                <a:latin typeface="Times New Roman" panose="02020603050405020304" pitchFamily="18" charset="0"/>
                <a:cs typeface="Times New Roman" panose="02020603050405020304" pitchFamily="18" charset="0"/>
              </a:rPr>
            </a:br>
            <a:r>
              <a:rPr lang="en-US" sz="2800" dirty="0">
                <a:solidFill>
                  <a:schemeClr val="tx1"/>
                </a:solidFill>
                <a:latin typeface="Times New Roman" panose="02020603050405020304" pitchFamily="18" charset="0"/>
                <a:cs typeface="Times New Roman" panose="02020603050405020304" pitchFamily="18" charset="0"/>
              </a:rPr>
              <a:t>2. An algorithm uses a definite procedure.</a:t>
            </a:r>
            <a:br>
              <a:rPr lang="en-US" sz="2800" dirty="0">
                <a:solidFill>
                  <a:schemeClr val="tx1"/>
                </a:solidFill>
                <a:latin typeface="Times New Roman" panose="02020603050405020304" pitchFamily="18" charset="0"/>
                <a:cs typeface="Times New Roman" panose="02020603050405020304" pitchFamily="18" charset="0"/>
              </a:rPr>
            </a:br>
            <a:r>
              <a:rPr lang="en-US" sz="2800" dirty="0">
                <a:solidFill>
                  <a:schemeClr val="tx1"/>
                </a:solidFill>
                <a:latin typeface="Times New Roman" panose="02020603050405020304" pitchFamily="18" charset="0"/>
                <a:cs typeface="Times New Roman" panose="02020603050405020304" pitchFamily="18" charset="0"/>
              </a:rPr>
              <a:t>3. It is not dependent on any programming language, so it is easy to understand for anyone, even without programming knowledge.</a:t>
            </a:r>
            <a:br>
              <a:rPr lang="en-US" sz="2800" dirty="0">
                <a:solidFill>
                  <a:schemeClr val="tx1"/>
                </a:solidFill>
                <a:latin typeface="Times New Roman" panose="02020603050405020304" pitchFamily="18" charset="0"/>
                <a:cs typeface="Times New Roman" panose="02020603050405020304" pitchFamily="18" charset="0"/>
              </a:rPr>
            </a:br>
            <a:r>
              <a:rPr lang="en-US" sz="2800" dirty="0">
                <a:solidFill>
                  <a:schemeClr val="tx1"/>
                </a:solidFill>
                <a:latin typeface="Times New Roman" panose="02020603050405020304" pitchFamily="18" charset="0"/>
                <a:cs typeface="Times New Roman" panose="02020603050405020304" pitchFamily="18" charset="0"/>
              </a:rPr>
              <a:t>4. Every step in an algorithm has its logical sequence, so it is easy to debug.</a:t>
            </a:r>
            <a:endParaRPr lang="en-US" sz="2800"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CC456ED5-B322-9896-5474-17855FCC53A3}"/>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E3BBC3AE-DC6F-80D8-C11B-75345E44515A}"/>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480F4872-E7E5-E6CC-5959-9EEE1FE6F53B}"/>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Algorithm</a:t>
            </a:r>
          </a:p>
        </p:txBody>
      </p:sp>
    </p:spTree>
    <p:extLst>
      <p:ext uri="{BB962C8B-B14F-4D97-AF65-F5344CB8AC3E}">
        <p14:creationId xmlns:p14="http://schemas.microsoft.com/office/powerpoint/2010/main" val="39842532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D8F24-91B2-4A87-AC2C-13EB40BB7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0597BF-60BE-B688-161D-2379F2419F5A}"/>
              </a:ext>
            </a:extLst>
          </p:cNvPr>
          <p:cNvSpPr>
            <a:spLocks noGrp="1"/>
          </p:cNvSpPr>
          <p:nvPr>
            <p:ph type="title"/>
          </p:nvPr>
        </p:nvSpPr>
        <p:spPr>
          <a:xfrm>
            <a:off x="228600" y="1600200"/>
            <a:ext cx="15925800" cy="6019800"/>
          </a:xfrm>
        </p:spPr>
        <p:txBody>
          <a:bodyPr anchor="t">
            <a:noAutofit/>
          </a:bodyPr>
          <a:lstStyle/>
          <a:p>
            <a:pPr algn="l"/>
            <a:r>
              <a:rPr lang="en-US" sz="3000" dirty="0">
                <a:latin typeface="Times New Roman" panose="02020603050405020304" pitchFamily="18" charset="0"/>
                <a:cs typeface="Times New Roman" panose="02020603050405020304" pitchFamily="18" charset="0"/>
              </a:rPr>
              <a:t>The </a:t>
            </a:r>
            <a:r>
              <a:rPr lang="en-US" sz="3000" b="1" dirty="0">
                <a:latin typeface="Times New Roman" panose="02020603050405020304" pitchFamily="18" charset="0"/>
                <a:cs typeface="Times New Roman" panose="02020603050405020304" pitchFamily="18" charset="0"/>
              </a:rPr>
              <a:t>first design of flowchart </a:t>
            </a:r>
            <a:r>
              <a:rPr lang="en-US" sz="3000" dirty="0">
                <a:latin typeface="Times New Roman" panose="02020603050405020304" pitchFamily="18" charset="0"/>
                <a:cs typeface="Times New Roman" panose="02020603050405020304" pitchFamily="18" charset="0"/>
              </a:rPr>
              <a:t>goes back to </a:t>
            </a:r>
            <a:r>
              <a:rPr lang="en-US" sz="3000" b="1" dirty="0">
                <a:latin typeface="Times New Roman" panose="02020603050405020304" pitchFamily="18" charset="0"/>
                <a:cs typeface="Times New Roman" panose="02020603050405020304" pitchFamily="18" charset="0"/>
              </a:rPr>
              <a:t>1945</a:t>
            </a:r>
            <a:r>
              <a:rPr lang="en-US" sz="3000" dirty="0">
                <a:latin typeface="Times New Roman" panose="02020603050405020304" pitchFamily="18" charset="0"/>
                <a:cs typeface="Times New Roman" panose="02020603050405020304" pitchFamily="18" charset="0"/>
              </a:rPr>
              <a:t> which was designed by </a:t>
            </a:r>
            <a:r>
              <a:rPr lang="en-US" sz="3000" b="1" dirty="0">
                <a:solidFill>
                  <a:srgbClr val="FF0000"/>
                </a:solidFill>
                <a:latin typeface="Times New Roman" panose="02020603050405020304" pitchFamily="18" charset="0"/>
                <a:cs typeface="Times New Roman" panose="02020603050405020304" pitchFamily="18" charset="0"/>
              </a:rPr>
              <a:t>John Von Neumann</a:t>
            </a:r>
            <a:r>
              <a:rPr lang="en-US" sz="3000" dirty="0">
                <a:latin typeface="Times New Roman" panose="02020603050405020304" pitchFamily="18" charset="0"/>
                <a:cs typeface="Times New Roman" panose="02020603050405020304" pitchFamily="18" charset="0"/>
              </a:rPr>
              <a:t>. Unlike an algorithm, Flowchart uses different symbols to design a solution to a problem. It is another commonly used programming tool. By looking at a Flowchart, one can understand the operations and sequence of operations performed in a system.</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A flowchart is often considered a blueprint of a design used for solving a specific problem.</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A flowchart is a diagrammatic representation of an algorithm. Flowcharts are very helpful in writing programs and explaining programs to others.</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Though, flowcharts are useful in efficient coding, debugging, and analysis of a program, drawing flowcharts for very complicated in case of complex programs is often ignored.</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Flowcharts use special shapes to represent different types of actions or steps in a process.</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Lines and arrows show the sequence of the steps and the relationships among them.</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These are known as flowchart symbols. So, flowchart symbols are specific shapes used to create a visual representation of a program.</a:t>
            </a:r>
            <a:endParaRPr lang="en-CA" sz="3000"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50ED6118-6164-F31A-16FB-A4715B69133D}"/>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F191C1B1-9941-98CA-3678-C19B94B293AC}"/>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5307B8F4-5C11-2275-6B02-9B497FCF930B}"/>
              </a:ext>
            </a:extLst>
          </p:cNvPr>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Flowchart</a:t>
            </a:r>
          </a:p>
        </p:txBody>
      </p:sp>
    </p:spTree>
    <p:extLst>
      <p:ext uri="{BB962C8B-B14F-4D97-AF65-F5344CB8AC3E}">
        <p14:creationId xmlns:p14="http://schemas.microsoft.com/office/powerpoint/2010/main" val="2998865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235075" y="457200"/>
            <a:ext cx="1398905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Advantages of Flowchart</a:t>
            </a:r>
          </a:p>
        </p:txBody>
      </p:sp>
      <p:sp>
        <p:nvSpPr>
          <p:cNvPr id="3" name="TextBox 2">
            <a:extLst>
              <a:ext uri="{FF2B5EF4-FFF2-40B4-BE49-F238E27FC236}">
                <a16:creationId xmlns:a16="http://schemas.microsoft.com/office/drawing/2014/main" id="{63EDF769-01DF-DFE2-D30C-863ABEF67175}"/>
              </a:ext>
            </a:extLst>
          </p:cNvPr>
          <p:cNvSpPr txBox="1"/>
          <p:nvPr/>
        </p:nvSpPr>
        <p:spPr>
          <a:xfrm>
            <a:off x="457200" y="1905000"/>
            <a:ext cx="15544800" cy="4832092"/>
          </a:xfrm>
          <a:prstGeom prst="rect">
            <a:avLst/>
          </a:prstGeom>
          <a:noFill/>
        </p:spPr>
        <p:txBody>
          <a:bodyPr wrap="square" rtlCol="0">
            <a:spAutoFit/>
          </a:bodyPr>
          <a:lstStyle/>
          <a:p>
            <a:pPr marL="731520" indent="-731520">
              <a:spcAft>
                <a:spcPts val="600"/>
              </a:spcAft>
              <a:buFont typeface="+mj-lt"/>
              <a:buAutoNum type="arabicPeriod"/>
            </a:pPr>
            <a:r>
              <a:rPr lang="en-US" sz="3600" dirty="0">
                <a:cs typeface="Times New Roman" panose="02020603050405020304" pitchFamily="18" charset="0"/>
              </a:rPr>
              <a:t>A flowchart is an excellent way of communicating the logic of a program.</a:t>
            </a:r>
          </a:p>
          <a:p>
            <a:pPr marL="731520" indent="-731520">
              <a:spcAft>
                <a:spcPts val="600"/>
              </a:spcAft>
              <a:buFont typeface="+mj-lt"/>
              <a:buAutoNum type="arabicPeriod"/>
            </a:pPr>
            <a:r>
              <a:rPr lang="en-US" sz="3600" dirty="0">
                <a:cs typeface="Times New Roman" panose="02020603050405020304" pitchFamily="18" charset="0"/>
              </a:rPr>
              <a:t>Easy and efficient to analyze the problem using a flowchart.</a:t>
            </a:r>
          </a:p>
          <a:p>
            <a:pPr marL="731520" indent="-731520">
              <a:spcAft>
                <a:spcPts val="600"/>
              </a:spcAft>
              <a:buFont typeface="+mj-lt"/>
              <a:buAutoNum type="arabicPeriod"/>
            </a:pPr>
            <a:r>
              <a:rPr lang="en-US" sz="3600" dirty="0">
                <a:cs typeface="Times New Roman" panose="02020603050405020304" pitchFamily="18" charset="0"/>
              </a:rPr>
              <a:t>During the program development cycle, the flowchart plays the role of a blueprint, which makes the program development process easier.</a:t>
            </a:r>
          </a:p>
          <a:p>
            <a:pPr marL="731520" indent="-731520">
              <a:spcAft>
                <a:spcPts val="600"/>
              </a:spcAft>
              <a:buFont typeface="+mj-lt"/>
              <a:buAutoNum type="arabicPeriod"/>
            </a:pPr>
            <a:r>
              <a:rPr lang="en-US" sz="3600" dirty="0">
                <a:cs typeface="Times New Roman" panose="02020603050405020304" pitchFamily="18" charset="0"/>
              </a:rPr>
              <a:t>After the successful development of a program, it needs continuous timely</a:t>
            </a:r>
            <a:br>
              <a:rPr lang="en-US" sz="3600" dirty="0">
                <a:cs typeface="Times New Roman" panose="02020603050405020304" pitchFamily="18" charset="0"/>
              </a:rPr>
            </a:br>
            <a:r>
              <a:rPr lang="en-US" sz="3600" dirty="0">
                <a:cs typeface="Times New Roman" panose="02020603050405020304" pitchFamily="18" charset="0"/>
              </a:rPr>
              <a:t>maintenance during the course of its operation. The flowchart makes a program or system maintenance easier.</a:t>
            </a:r>
          </a:p>
          <a:p>
            <a:pPr marL="731520" indent="-731520">
              <a:spcAft>
                <a:spcPts val="600"/>
              </a:spcAft>
              <a:buFont typeface="+mj-lt"/>
              <a:buAutoNum type="arabicPeriod"/>
            </a:pPr>
            <a:r>
              <a:rPr lang="en-US" sz="3600" dirty="0">
                <a:cs typeface="Times New Roman" panose="02020603050405020304" pitchFamily="18" charset="0"/>
              </a:rPr>
              <a:t>It is easy to convert the flowchart into any programming language code.</a:t>
            </a:r>
            <a:endParaRPr lang="en-US" sz="3600" dirty="0"/>
          </a:p>
        </p:txBody>
      </p:sp>
    </p:spTree>
    <p:extLst>
      <p:ext uri="{BB962C8B-B14F-4D97-AF65-F5344CB8AC3E}">
        <p14:creationId xmlns:p14="http://schemas.microsoft.com/office/powerpoint/2010/main" val="22912637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D42D0-1E59-0317-352C-71C1C7646C4D}"/>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75F78677-5AE9-2E3E-75A1-C801DE675E7E}"/>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555945E7-D972-ED78-C434-24688EEEA67E}"/>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a:extLst>
              <a:ext uri="{FF2B5EF4-FFF2-40B4-BE49-F238E27FC236}">
                <a16:creationId xmlns:a16="http://schemas.microsoft.com/office/drawing/2014/main" id="{D0FF8704-FD86-58AC-44F9-5FA5ED3BCA7D}"/>
              </a:ext>
            </a:extLst>
          </p:cNvPr>
          <p:cNvSpPr txBox="1">
            <a:spLocks/>
          </p:cNvSpPr>
          <p:nvPr/>
        </p:nvSpPr>
        <p:spPr bwMode="auto">
          <a:xfrm>
            <a:off x="1235074" y="457200"/>
            <a:ext cx="14995525"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sz="4400" kern="0" dirty="0"/>
              <a:t>Comparison between Algorithm and Flowchart</a:t>
            </a:r>
          </a:p>
        </p:txBody>
      </p:sp>
      <p:sp>
        <p:nvSpPr>
          <p:cNvPr id="4" name="TextBox 3">
            <a:extLst>
              <a:ext uri="{FF2B5EF4-FFF2-40B4-BE49-F238E27FC236}">
                <a16:creationId xmlns:a16="http://schemas.microsoft.com/office/drawing/2014/main" id="{26911DC1-D667-DC5D-7E66-AA4CDB71A37E}"/>
              </a:ext>
            </a:extLst>
          </p:cNvPr>
          <p:cNvSpPr txBox="1"/>
          <p:nvPr/>
        </p:nvSpPr>
        <p:spPr>
          <a:xfrm>
            <a:off x="228601" y="1688842"/>
            <a:ext cx="8153399" cy="5016758"/>
          </a:xfrm>
          <a:prstGeom prst="rect">
            <a:avLst/>
          </a:prstGeom>
          <a:noFill/>
        </p:spPr>
        <p:txBody>
          <a:bodyPr wrap="square" rtlCol="0">
            <a:spAutoFit/>
          </a:bodyPr>
          <a:lstStyle/>
          <a:p>
            <a:pPr marL="365760" indent="-365760"/>
            <a:r>
              <a:rPr lang="en-US" sz="3200" b="1" dirty="0">
                <a:cs typeface="Times New Roman" panose="02020603050405020304" pitchFamily="18" charset="0"/>
              </a:rPr>
              <a:t>Algorithm:</a:t>
            </a:r>
          </a:p>
          <a:p>
            <a:pPr marL="365760" indent="-365760">
              <a:buFont typeface="+mj-lt"/>
              <a:buAutoNum type="arabicPeriod"/>
            </a:pPr>
            <a:r>
              <a:rPr lang="en-US" sz="3200" dirty="0">
                <a:cs typeface="Times New Roman" panose="02020603050405020304" pitchFamily="18" charset="0"/>
              </a:rPr>
              <a:t>It is a procedure for solving problems.</a:t>
            </a:r>
          </a:p>
          <a:p>
            <a:pPr marL="365760" indent="-365760">
              <a:buFont typeface="+mj-lt"/>
              <a:buAutoNum type="arabicPeriod"/>
            </a:pPr>
            <a:r>
              <a:rPr lang="en-US" sz="3200" dirty="0">
                <a:cs typeface="Times New Roman" panose="02020603050405020304" pitchFamily="18" charset="0"/>
              </a:rPr>
              <a:t>The process is	shown in step-by-step instructions in texts.</a:t>
            </a:r>
          </a:p>
          <a:p>
            <a:pPr marL="365760" indent="-365760">
              <a:buFont typeface="+mj-lt"/>
              <a:buAutoNum type="arabicPeriod"/>
            </a:pPr>
            <a:r>
              <a:rPr lang="en-US" sz="3200" dirty="0">
                <a:cs typeface="Times New Roman" panose="02020603050405020304" pitchFamily="18" charset="0"/>
              </a:rPr>
              <a:t>It is complex and difficult to understand.</a:t>
            </a:r>
          </a:p>
          <a:p>
            <a:pPr marL="365760" indent="-365760">
              <a:buFont typeface="+mj-lt"/>
              <a:buAutoNum type="arabicPeriod"/>
            </a:pPr>
            <a:r>
              <a:rPr lang="en-US" sz="3200" dirty="0">
                <a:cs typeface="Times New Roman" panose="02020603050405020304" pitchFamily="18" charset="0"/>
              </a:rPr>
              <a:t>It is convenient to debug errors</a:t>
            </a:r>
          </a:p>
          <a:p>
            <a:pPr marL="365760" indent="-365760">
              <a:buFont typeface="+mj-lt"/>
              <a:buAutoNum type="arabicPeriod"/>
            </a:pPr>
            <a:r>
              <a:rPr lang="en-US" sz="3200" dirty="0">
                <a:cs typeface="Times New Roman" panose="02020603050405020304" pitchFamily="18" charset="0"/>
              </a:rPr>
              <a:t>The solution is showcased in natural language.</a:t>
            </a:r>
          </a:p>
          <a:p>
            <a:pPr marL="365760" indent="-365760">
              <a:buFont typeface="+mj-lt"/>
              <a:buAutoNum type="arabicPeriod"/>
            </a:pPr>
            <a:r>
              <a:rPr lang="en-US" sz="3200" dirty="0">
                <a:cs typeface="Times New Roman" panose="02020603050405020304" pitchFamily="18" charset="0"/>
              </a:rPr>
              <a:t>It is somewhat easier to solve complex problem.</a:t>
            </a:r>
          </a:p>
          <a:p>
            <a:pPr marL="365760" indent="-365760">
              <a:buFont typeface="+mj-lt"/>
              <a:buAutoNum type="arabicPeriod"/>
            </a:pPr>
            <a:r>
              <a:rPr lang="en-US" sz="3200" dirty="0">
                <a:cs typeface="Times New Roman" panose="02020603050405020304" pitchFamily="18" charset="0"/>
              </a:rPr>
              <a:t>It costs more time to create an algorithm.</a:t>
            </a:r>
            <a:endParaRPr lang="en-US" sz="3200" dirty="0"/>
          </a:p>
        </p:txBody>
      </p:sp>
      <p:sp>
        <p:nvSpPr>
          <p:cNvPr id="5" name="TextBox 4">
            <a:extLst>
              <a:ext uri="{FF2B5EF4-FFF2-40B4-BE49-F238E27FC236}">
                <a16:creationId xmlns:a16="http://schemas.microsoft.com/office/drawing/2014/main" id="{71743637-50E3-313A-D03E-F829EEAC3064}"/>
              </a:ext>
            </a:extLst>
          </p:cNvPr>
          <p:cNvSpPr txBox="1"/>
          <p:nvPr/>
        </p:nvSpPr>
        <p:spPr>
          <a:xfrm>
            <a:off x="8458200" y="1688842"/>
            <a:ext cx="7772399" cy="5016758"/>
          </a:xfrm>
          <a:prstGeom prst="rect">
            <a:avLst/>
          </a:prstGeom>
          <a:noFill/>
        </p:spPr>
        <p:txBody>
          <a:bodyPr wrap="square" rtlCol="0">
            <a:spAutoFit/>
          </a:bodyPr>
          <a:lstStyle/>
          <a:p>
            <a:pPr marL="365760" indent="-365760"/>
            <a:r>
              <a:rPr lang="en-US" sz="3200" b="1" dirty="0">
                <a:cs typeface="Times New Roman" panose="02020603050405020304" pitchFamily="18" charset="0"/>
              </a:rPr>
              <a:t>Flowchart:</a:t>
            </a:r>
          </a:p>
          <a:p>
            <a:pPr marL="365760" indent="-365760">
              <a:buFont typeface="+mj-lt"/>
              <a:buAutoNum type="arabicPeriod"/>
            </a:pPr>
            <a:r>
              <a:rPr lang="en-US" sz="3200" dirty="0">
                <a:cs typeface="Times New Roman" panose="02020603050405020304" pitchFamily="18" charset="0"/>
              </a:rPr>
              <a:t>It is a graphic representation of a  process.</a:t>
            </a:r>
          </a:p>
          <a:p>
            <a:pPr marL="365760" indent="-365760">
              <a:buFont typeface="+mj-lt"/>
              <a:buAutoNum type="arabicPeriod"/>
            </a:pPr>
            <a:r>
              <a:rPr lang="en-US" sz="3200" dirty="0">
                <a:cs typeface="Times New Roman" panose="02020603050405020304" pitchFamily="18" charset="0"/>
              </a:rPr>
              <a:t>The process is shown in block-by-block  information diagram with texts inside.</a:t>
            </a:r>
          </a:p>
          <a:p>
            <a:pPr marL="365760" indent="-365760">
              <a:buFont typeface="+mj-lt"/>
              <a:buAutoNum type="arabicPeriod"/>
            </a:pPr>
            <a:r>
              <a:rPr lang="en-US" sz="3200" dirty="0">
                <a:cs typeface="Times New Roman" panose="02020603050405020304" pitchFamily="18" charset="0"/>
              </a:rPr>
              <a:t>It is intuitive and easy to understand.</a:t>
            </a:r>
          </a:p>
          <a:p>
            <a:pPr marL="365760" indent="-365760">
              <a:buFont typeface="+mj-lt"/>
              <a:buAutoNum type="arabicPeriod"/>
            </a:pPr>
            <a:r>
              <a:rPr lang="en-US" sz="3200" dirty="0">
                <a:cs typeface="Times New Roman" panose="02020603050405020304" pitchFamily="18" charset="0"/>
              </a:rPr>
              <a:t>It is hard to debug errors.</a:t>
            </a:r>
          </a:p>
          <a:p>
            <a:pPr marL="365760" indent="-365760">
              <a:buFont typeface="+mj-lt"/>
              <a:buAutoNum type="arabicPeriod"/>
            </a:pPr>
            <a:r>
              <a:rPr lang="en-US" sz="3200" dirty="0">
                <a:cs typeface="Times New Roman" panose="02020603050405020304" pitchFamily="18" charset="0"/>
              </a:rPr>
              <a:t>The solution is showcased in pictorial form.</a:t>
            </a:r>
          </a:p>
          <a:p>
            <a:pPr marL="365760" indent="-365760">
              <a:buFont typeface="+mj-lt"/>
              <a:buAutoNum type="arabicPeriod"/>
            </a:pPr>
            <a:r>
              <a:rPr lang="en-US" sz="3200" dirty="0">
                <a:cs typeface="Times New Roman" panose="02020603050405020304" pitchFamily="18" charset="0"/>
              </a:rPr>
              <a:t>It is hard to solve complex problem.</a:t>
            </a:r>
          </a:p>
          <a:p>
            <a:pPr marL="365760" indent="-365760">
              <a:buFont typeface="+mj-lt"/>
              <a:buAutoNum type="arabicPeriod"/>
            </a:pPr>
            <a:endParaRPr lang="en-US" sz="3200" dirty="0">
              <a:cs typeface="Times New Roman" panose="02020603050405020304" pitchFamily="18" charset="0"/>
            </a:endParaRPr>
          </a:p>
          <a:p>
            <a:pPr marL="365760" indent="-365760">
              <a:buFont typeface="+mj-lt"/>
              <a:buAutoNum type="arabicPeriod"/>
            </a:pPr>
            <a:r>
              <a:rPr lang="en-US" sz="3200" dirty="0">
                <a:cs typeface="Times New Roman" panose="02020603050405020304" pitchFamily="18" charset="0"/>
              </a:rPr>
              <a:t>It costs less time to create a flowchart.</a:t>
            </a:r>
          </a:p>
        </p:txBody>
      </p:sp>
    </p:spTree>
    <p:extLst>
      <p:ext uri="{BB962C8B-B14F-4D97-AF65-F5344CB8AC3E}">
        <p14:creationId xmlns:p14="http://schemas.microsoft.com/office/powerpoint/2010/main" val="21908247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050" y="1676400"/>
            <a:ext cx="15091750" cy="762000"/>
          </a:xfrm>
        </p:spPr>
        <p:txBody>
          <a:bodyPr anchor="t">
            <a:noAutofit/>
          </a:bodyPr>
          <a:lstStyle/>
          <a:p>
            <a:pPr algn="l"/>
            <a:r>
              <a:rPr lang="en-US" sz="3600" dirty="0">
                <a:latin typeface="Times New Roman" panose="02020603050405020304" pitchFamily="18" charset="0"/>
                <a:cs typeface="Times New Roman" panose="02020603050405020304" pitchFamily="18" charset="0"/>
              </a:rPr>
              <a:t>While creating flowchart, the following mathematical operators are used.</a:t>
            </a:r>
            <a:endParaRPr lang="en-CA" sz="3600" dirty="0">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9" name="Title 1"/>
          <p:cNvSpPr txBox="1">
            <a:spLocks/>
          </p:cNvSpPr>
          <p:nvPr/>
        </p:nvSpPr>
        <p:spPr bwMode="auto">
          <a:xfrm>
            <a:off x="1143000" y="242888"/>
            <a:ext cx="148431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Commonly used Operators in Flowchart</a:t>
            </a:r>
          </a:p>
        </p:txBody>
      </p:sp>
      <p:graphicFrame>
        <p:nvGraphicFramePr>
          <p:cNvPr id="4" name="Table 4">
            <a:extLst>
              <a:ext uri="{FF2B5EF4-FFF2-40B4-BE49-F238E27FC236}">
                <a16:creationId xmlns:a16="http://schemas.microsoft.com/office/drawing/2014/main" id="{9419D884-7121-BF49-FB87-D17A416A14F9}"/>
              </a:ext>
            </a:extLst>
          </p:cNvPr>
          <p:cNvGraphicFramePr>
            <a:graphicFrameLocks noGrp="1"/>
          </p:cNvGraphicFramePr>
          <p:nvPr>
            <p:extLst>
              <p:ext uri="{D42A27DB-BD31-4B8C-83A1-F6EECF244321}">
                <p14:modId xmlns:p14="http://schemas.microsoft.com/office/powerpoint/2010/main" val="4167276270"/>
              </p:ext>
            </p:extLst>
          </p:nvPr>
        </p:nvGraphicFramePr>
        <p:xfrm>
          <a:off x="453050" y="2667000"/>
          <a:ext cx="15625150" cy="4541520"/>
        </p:xfrm>
        <a:graphic>
          <a:graphicData uri="http://schemas.openxmlformats.org/drawingml/2006/table">
            <a:tbl>
              <a:tblPr firstRow="1" bandRow="1">
                <a:tableStyleId>{5C22544A-7EE6-4342-B048-85BDC9FD1C3A}</a:tableStyleId>
              </a:tblPr>
              <a:tblGrid>
                <a:gridCol w="1909150">
                  <a:extLst>
                    <a:ext uri="{9D8B030D-6E8A-4147-A177-3AD203B41FA5}">
                      <a16:colId xmlns:a16="http://schemas.microsoft.com/office/drawing/2014/main" val="2141846097"/>
                    </a:ext>
                  </a:extLst>
                </a:gridCol>
                <a:gridCol w="2743200">
                  <a:extLst>
                    <a:ext uri="{9D8B030D-6E8A-4147-A177-3AD203B41FA5}">
                      <a16:colId xmlns:a16="http://schemas.microsoft.com/office/drawing/2014/main" val="2298387133"/>
                    </a:ext>
                  </a:extLst>
                </a:gridCol>
                <a:gridCol w="1905000">
                  <a:extLst>
                    <a:ext uri="{9D8B030D-6E8A-4147-A177-3AD203B41FA5}">
                      <a16:colId xmlns:a16="http://schemas.microsoft.com/office/drawing/2014/main" val="862055410"/>
                    </a:ext>
                  </a:extLst>
                </a:gridCol>
                <a:gridCol w="9067800">
                  <a:extLst>
                    <a:ext uri="{9D8B030D-6E8A-4147-A177-3AD203B41FA5}">
                      <a16:colId xmlns:a16="http://schemas.microsoft.com/office/drawing/2014/main" val="131799327"/>
                    </a:ext>
                  </a:extLst>
                </a:gridCol>
              </a:tblGrid>
              <a:tr h="0">
                <a:tc>
                  <a:txBody>
                    <a:bodyPr/>
                    <a:lstStyle/>
                    <a:p>
                      <a:pPr algn="ctr"/>
                      <a:r>
                        <a:rPr lang="en-US" sz="3200" dirty="0"/>
                        <a:t>Operator</a:t>
                      </a:r>
                    </a:p>
                  </a:txBody>
                  <a:tcPr anchor="ctr"/>
                </a:tc>
                <a:tc>
                  <a:txBody>
                    <a:bodyPr/>
                    <a:lstStyle/>
                    <a:p>
                      <a:pPr algn="ctr"/>
                      <a:r>
                        <a:rPr lang="en-US" sz="3200" dirty="0"/>
                        <a:t>Meaning</a:t>
                      </a:r>
                    </a:p>
                  </a:txBody>
                  <a:tcPr anchor="ctr"/>
                </a:tc>
                <a:tc>
                  <a:txBody>
                    <a:bodyPr/>
                    <a:lstStyle/>
                    <a:p>
                      <a:pPr algn="ctr"/>
                      <a:r>
                        <a:rPr lang="en-US" sz="3200" dirty="0"/>
                        <a:t>Example</a:t>
                      </a:r>
                    </a:p>
                  </a:txBody>
                  <a:tcPr anchor="ctr"/>
                </a:tc>
                <a:tc>
                  <a:txBody>
                    <a:bodyPr/>
                    <a:lstStyle/>
                    <a:p>
                      <a:pPr algn="ctr"/>
                      <a:r>
                        <a:rPr lang="en-US" sz="3200" dirty="0"/>
                        <a:t>Remarks</a:t>
                      </a:r>
                    </a:p>
                  </a:txBody>
                  <a:tcPr anchor="ctr"/>
                </a:tc>
                <a:extLst>
                  <a:ext uri="{0D108BD9-81ED-4DB2-BD59-A6C34878D82A}">
                    <a16:rowId xmlns:a16="http://schemas.microsoft.com/office/drawing/2014/main" val="3199776413"/>
                  </a:ext>
                </a:extLst>
              </a:tr>
              <a:tr h="370840">
                <a:tc>
                  <a:txBody>
                    <a:bodyPr/>
                    <a:lstStyle/>
                    <a:p>
                      <a:pPr algn="ctr"/>
                      <a:r>
                        <a:rPr lang="en-US" sz="3200" dirty="0"/>
                        <a:t>+</a:t>
                      </a:r>
                    </a:p>
                  </a:txBody>
                  <a:tcPr anchor="ctr"/>
                </a:tc>
                <a:tc>
                  <a:txBody>
                    <a:bodyPr/>
                    <a:lstStyle/>
                    <a:p>
                      <a:pPr algn="ctr"/>
                      <a:r>
                        <a:rPr lang="en-US" sz="3200" dirty="0"/>
                        <a:t>Addition</a:t>
                      </a:r>
                    </a:p>
                  </a:txBody>
                  <a:tcPr anchor="ctr"/>
                </a:tc>
                <a:tc>
                  <a:txBody>
                    <a:bodyPr/>
                    <a:lstStyle/>
                    <a:p>
                      <a:pPr algn="ctr"/>
                      <a:r>
                        <a:rPr lang="en-US" sz="3200" dirty="0"/>
                        <a:t>A + B</a:t>
                      </a:r>
                    </a:p>
                  </a:txBody>
                  <a:tcPr anchor="ctr"/>
                </a:tc>
                <a:tc>
                  <a:txBody>
                    <a:bodyPr/>
                    <a:lstStyle/>
                    <a:p>
                      <a:pPr algn="ctr"/>
                      <a:r>
                        <a:rPr lang="en-US" sz="3200" dirty="0"/>
                        <a:t>Values in A and B will be added</a:t>
                      </a:r>
                    </a:p>
                  </a:txBody>
                  <a:tcPr anchor="ctr"/>
                </a:tc>
                <a:extLst>
                  <a:ext uri="{0D108BD9-81ED-4DB2-BD59-A6C34878D82A}">
                    <a16:rowId xmlns:a16="http://schemas.microsoft.com/office/drawing/2014/main" val="3586444918"/>
                  </a:ext>
                </a:extLst>
              </a:tr>
              <a:tr h="370840">
                <a:tc>
                  <a:txBody>
                    <a:bodyPr/>
                    <a:lstStyle/>
                    <a:p>
                      <a:pPr algn="ctr"/>
                      <a:r>
                        <a:rPr lang="en-US" sz="3200" dirty="0"/>
                        <a:t>-</a:t>
                      </a:r>
                    </a:p>
                  </a:txBody>
                  <a:tcPr anchor="ctr"/>
                </a:tc>
                <a:tc>
                  <a:txBody>
                    <a:bodyPr/>
                    <a:lstStyle/>
                    <a:p>
                      <a:pPr algn="ctr"/>
                      <a:r>
                        <a:rPr lang="en-US" sz="3200" dirty="0"/>
                        <a:t>Subtraction</a:t>
                      </a:r>
                    </a:p>
                  </a:txBody>
                  <a:tcPr anchor="ctr"/>
                </a:tc>
                <a:tc>
                  <a:txBody>
                    <a:bodyPr/>
                    <a:lstStyle/>
                    <a:p>
                      <a:pPr algn="ctr"/>
                      <a:r>
                        <a:rPr lang="en-US" sz="3200" dirty="0"/>
                        <a:t>A – B</a:t>
                      </a:r>
                    </a:p>
                  </a:txBody>
                  <a:tcPr anchor="ctr"/>
                </a:tc>
                <a:tc>
                  <a:txBody>
                    <a:bodyPr/>
                    <a:lstStyle/>
                    <a:p>
                      <a:pPr algn="ctr"/>
                      <a:r>
                        <a:rPr lang="en-US" sz="3200" dirty="0"/>
                        <a:t>Values of B will be subtracted from that of A</a:t>
                      </a:r>
                    </a:p>
                  </a:txBody>
                  <a:tcPr anchor="ctr"/>
                </a:tc>
                <a:extLst>
                  <a:ext uri="{0D108BD9-81ED-4DB2-BD59-A6C34878D82A}">
                    <a16:rowId xmlns:a16="http://schemas.microsoft.com/office/drawing/2014/main" val="2527144111"/>
                  </a:ext>
                </a:extLst>
              </a:tr>
              <a:tr h="370840">
                <a:tc>
                  <a:txBody>
                    <a:bodyPr/>
                    <a:lstStyle/>
                    <a:p>
                      <a:pPr algn="ctr"/>
                      <a:r>
                        <a:rPr lang="en-US" sz="3200" dirty="0"/>
                        <a:t>*</a:t>
                      </a:r>
                    </a:p>
                  </a:txBody>
                  <a:tcPr anchor="ctr"/>
                </a:tc>
                <a:tc>
                  <a:txBody>
                    <a:bodyPr/>
                    <a:lstStyle/>
                    <a:p>
                      <a:pPr algn="ctr"/>
                      <a:r>
                        <a:rPr lang="en-US" sz="3200" dirty="0"/>
                        <a:t>Multiplication</a:t>
                      </a:r>
                    </a:p>
                  </a:txBody>
                  <a:tcPr anchor="ctr"/>
                </a:tc>
                <a:tc>
                  <a:txBody>
                    <a:bodyPr/>
                    <a:lstStyle/>
                    <a:p>
                      <a:pPr algn="ctr"/>
                      <a:r>
                        <a:rPr lang="en-US" sz="3200" dirty="0"/>
                        <a:t>A * B</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Values of B will be multiplied by that of A</a:t>
                      </a:r>
                    </a:p>
                  </a:txBody>
                  <a:tcPr anchor="ctr"/>
                </a:tc>
                <a:extLst>
                  <a:ext uri="{0D108BD9-81ED-4DB2-BD59-A6C34878D82A}">
                    <a16:rowId xmlns:a16="http://schemas.microsoft.com/office/drawing/2014/main" val="4212700526"/>
                  </a:ext>
                </a:extLst>
              </a:tr>
              <a:tr h="370840">
                <a:tc>
                  <a:txBody>
                    <a:bodyPr/>
                    <a:lstStyle/>
                    <a:p>
                      <a:pPr algn="ctr"/>
                      <a:r>
                        <a:rPr lang="en-US" sz="3200" dirty="0"/>
                        <a:t>/</a:t>
                      </a:r>
                    </a:p>
                  </a:txBody>
                  <a:tcPr anchor="ctr"/>
                </a:tc>
                <a:tc>
                  <a:txBody>
                    <a:bodyPr/>
                    <a:lstStyle/>
                    <a:p>
                      <a:pPr algn="ctr"/>
                      <a:r>
                        <a:rPr lang="en-US" sz="3200" dirty="0"/>
                        <a:t>Division</a:t>
                      </a:r>
                    </a:p>
                  </a:txBody>
                  <a:tcPr anchor="ctr"/>
                </a:tc>
                <a:tc>
                  <a:txBody>
                    <a:bodyPr/>
                    <a:lstStyle/>
                    <a:p>
                      <a:pPr algn="ctr"/>
                      <a:r>
                        <a:rPr lang="en-US" sz="3200" dirty="0"/>
                        <a:t>A/B</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Values of A will be divided by that of B</a:t>
                      </a:r>
                    </a:p>
                  </a:txBody>
                  <a:tcPr anchor="ctr"/>
                </a:tc>
                <a:extLst>
                  <a:ext uri="{0D108BD9-81ED-4DB2-BD59-A6C34878D82A}">
                    <a16:rowId xmlns:a16="http://schemas.microsoft.com/office/drawing/2014/main" val="3800693325"/>
                  </a:ext>
                </a:extLst>
              </a:tr>
              <a:tr h="370840">
                <a:tc>
                  <a:txBody>
                    <a:bodyPr/>
                    <a:lstStyle/>
                    <a:p>
                      <a:pPr algn="ctr"/>
                      <a:r>
                        <a:rPr lang="en-US" sz="3200" dirty="0"/>
                        <a:t>^</a:t>
                      </a:r>
                    </a:p>
                  </a:txBody>
                  <a:tcPr anchor="ctr"/>
                </a:tc>
                <a:tc>
                  <a:txBody>
                    <a:bodyPr/>
                    <a:lstStyle/>
                    <a:p>
                      <a:pPr algn="ctr"/>
                      <a:r>
                        <a:rPr lang="en-US" sz="3200" dirty="0"/>
                        <a:t>Power</a:t>
                      </a:r>
                    </a:p>
                  </a:txBody>
                  <a:tcPr anchor="ctr"/>
                </a:tc>
                <a:tc>
                  <a:txBody>
                    <a:bodyPr/>
                    <a:lstStyle/>
                    <a:p>
                      <a:pPr algn="ctr"/>
                      <a:r>
                        <a:rPr lang="en-US" sz="3200" dirty="0"/>
                        <a:t>A^3</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Values of A will be raised by a power of 3</a:t>
                      </a:r>
                    </a:p>
                  </a:txBody>
                  <a:tcPr anchor="ctr"/>
                </a:tc>
                <a:extLst>
                  <a:ext uri="{0D108BD9-81ED-4DB2-BD59-A6C34878D82A}">
                    <a16:rowId xmlns:a16="http://schemas.microsoft.com/office/drawing/2014/main" val="2458715818"/>
                  </a:ext>
                </a:extLst>
              </a:tr>
              <a:tr h="370840">
                <a:tc>
                  <a:txBody>
                    <a:bodyPr/>
                    <a:lstStyle/>
                    <a:p>
                      <a:pPr algn="ctr"/>
                      <a:r>
                        <a:rPr lang="en-US" sz="3200" dirty="0"/>
                        <a:t>%</a:t>
                      </a:r>
                    </a:p>
                  </a:txBody>
                  <a:tcPr anchor="ctr"/>
                </a:tc>
                <a:tc>
                  <a:txBody>
                    <a:bodyPr/>
                    <a:lstStyle/>
                    <a:p>
                      <a:pPr algn="ctr"/>
                      <a:r>
                        <a:rPr lang="en-US" sz="3200" dirty="0"/>
                        <a:t>Remainder</a:t>
                      </a:r>
                    </a:p>
                  </a:txBody>
                  <a:tcPr anchor="ctr"/>
                </a:tc>
                <a:tc>
                  <a:txBody>
                    <a:bodyPr/>
                    <a:lstStyle/>
                    <a:p>
                      <a:pPr algn="ctr"/>
                      <a:r>
                        <a:rPr lang="en-US" sz="3200" dirty="0"/>
                        <a:t>A%B</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Values of A will be divided by that of A to get a remainder (if any)</a:t>
                      </a:r>
                    </a:p>
                  </a:txBody>
                  <a:tcPr anchor="ctr"/>
                </a:tc>
                <a:extLst>
                  <a:ext uri="{0D108BD9-81ED-4DB2-BD59-A6C34878D82A}">
                    <a16:rowId xmlns:a16="http://schemas.microsoft.com/office/drawing/2014/main" val="1004858722"/>
                  </a:ext>
                </a:extLst>
              </a:tr>
            </a:tbl>
          </a:graphicData>
        </a:graphic>
      </p:graphicFrame>
    </p:spTree>
    <p:extLst>
      <p:ext uri="{BB962C8B-B14F-4D97-AF65-F5344CB8AC3E}">
        <p14:creationId xmlns:p14="http://schemas.microsoft.com/office/powerpoint/2010/main" val="9460272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050" y="1676400"/>
            <a:ext cx="15091750" cy="762000"/>
          </a:xfrm>
        </p:spPr>
        <p:txBody>
          <a:bodyPr anchor="t">
            <a:noAutofit/>
          </a:bodyPr>
          <a:lstStyle/>
          <a:p>
            <a:pPr algn="l"/>
            <a:r>
              <a:rPr lang="en-US" sz="3600" dirty="0">
                <a:latin typeface="Times New Roman" panose="02020603050405020304" pitchFamily="18" charset="0"/>
                <a:cs typeface="Times New Roman" panose="02020603050405020304" pitchFamily="18" charset="0"/>
              </a:rPr>
              <a:t>While creating flowchart, the following relational operators are used.</a:t>
            </a:r>
            <a:endParaRPr lang="en-CA" sz="3600" dirty="0">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p:cNvSpPr txBox="1">
            <a:spLocks/>
          </p:cNvSpPr>
          <p:nvPr/>
        </p:nvSpPr>
        <p:spPr bwMode="auto">
          <a:xfrm>
            <a:off x="1143000" y="395288"/>
            <a:ext cx="148431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Commonly used Operators in Flowchart</a:t>
            </a:r>
          </a:p>
        </p:txBody>
      </p:sp>
      <p:graphicFrame>
        <p:nvGraphicFramePr>
          <p:cNvPr id="3" name="Table 4">
            <a:extLst>
              <a:ext uri="{FF2B5EF4-FFF2-40B4-BE49-F238E27FC236}">
                <a16:creationId xmlns:a16="http://schemas.microsoft.com/office/drawing/2014/main" id="{A801281E-58C9-998F-19C9-29AB5AFF626B}"/>
              </a:ext>
            </a:extLst>
          </p:cNvPr>
          <p:cNvGraphicFramePr>
            <a:graphicFrameLocks noGrp="1"/>
          </p:cNvGraphicFramePr>
          <p:nvPr>
            <p:extLst>
              <p:ext uri="{D42A27DB-BD31-4B8C-83A1-F6EECF244321}">
                <p14:modId xmlns:p14="http://schemas.microsoft.com/office/powerpoint/2010/main" val="3444687648"/>
              </p:ext>
            </p:extLst>
          </p:nvPr>
        </p:nvGraphicFramePr>
        <p:xfrm>
          <a:off x="228600" y="2438400"/>
          <a:ext cx="16078200" cy="5029200"/>
        </p:xfrm>
        <a:graphic>
          <a:graphicData uri="http://schemas.openxmlformats.org/drawingml/2006/table">
            <a:tbl>
              <a:tblPr firstRow="1" bandRow="1">
                <a:tableStyleId>{5C22544A-7EE6-4342-B048-85BDC9FD1C3A}</a:tableStyleId>
              </a:tblPr>
              <a:tblGrid>
                <a:gridCol w="1964505">
                  <a:extLst>
                    <a:ext uri="{9D8B030D-6E8A-4147-A177-3AD203B41FA5}">
                      <a16:colId xmlns:a16="http://schemas.microsoft.com/office/drawing/2014/main" val="2141846097"/>
                    </a:ext>
                  </a:extLst>
                </a:gridCol>
                <a:gridCol w="2587510">
                  <a:extLst>
                    <a:ext uri="{9D8B030D-6E8A-4147-A177-3AD203B41FA5}">
                      <a16:colId xmlns:a16="http://schemas.microsoft.com/office/drawing/2014/main" val="2298387133"/>
                    </a:ext>
                  </a:extLst>
                </a:gridCol>
                <a:gridCol w="3102795">
                  <a:extLst>
                    <a:ext uri="{9D8B030D-6E8A-4147-A177-3AD203B41FA5}">
                      <a16:colId xmlns:a16="http://schemas.microsoft.com/office/drawing/2014/main" val="862055410"/>
                    </a:ext>
                  </a:extLst>
                </a:gridCol>
                <a:gridCol w="8423390">
                  <a:extLst>
                    <a:ext uri="{9D8B030D-6E8A-4147-A177-3AD203B41FA5}">
                      <a16:colId xmlns:a16="http://schemas.microsoft.com/office/drawing/2014/main" val="131799327"/>
                    </a:ext>
                  </a:extLst>
                </a:gridCol>
              </a:tblGrid>
              <a:tr h="0">
                <a:tc>
                  <a:txBody>
                    <a:bodyPr/>
                    <a:lstStyle/>
                    <a:p>
                      <a:pPr algn="ctr"/>
                      <a:r>
                        <a:rPr lang="en-US" sz="3200" dirty="0"/>
                        <a:t>Operator</a:t>
                      </a:r>
                    </a:p>
                  </a:txBody>
                  <a:tcPr anchor="ctr"/>
                </a:tc>
                <a:tc>
                  <a:txBody>
                    <a:bodyPr/>
                    <a:lstStyle/>
                    <a:p>
                      <a:pPr algn="ctr"/>
                      <a:r>
                        <a:rPr lang="en-US" sz="3200" dirty="0"/>
                        <a:t>Meaning</a:t>
                      </a:r>
                    </a:p>
                  </a:txBody>
                  <a:tcPr anchor="ctr"/>
                </a:tc>
                <a:tc>
                  <a:txBody>
                    <a:bodyPr/>
                    <a:lstStyle/>
                    <a:p>
                      <a:pPr algn="ctr"/>
                      <a:r>
                        <a:rPr lang="en-US" sz="3200" dirty="0"/>
                        <a:t>Example</a:t>
                      </a:r>
                    </a:p>
                  </a:txBody>
                  <a:tcPr anchor="ctr"/>
                </a:tc>
                <a:tc>
                  <a:txBody>
                    <a:bodyPr/>
                    <a:lstStyle/>
                    <a:p>
                      <a:pPr algn="ctr"/>
                      <a:r>
                        <a:rPr lang="en-US" sz="3200" dirty="0"/>
                        <a:t>Remarks</a:t>
                      </a:r>
                    </a:p>
                  </a:txBody>
                  <a:tcPr anchor="ctr"/>
                </a:tc>
                <a:extLst>
                  <a:ext uri="{0D108BD9-81ED-4DB2-BD59-A6C34878D82A}">
                    <a16:rowId xmlns:a16="http://schemas.microsoft.com/office/drawing/2014/main" val="3199776413"/>
                  </a:ext>
                </a:extLst>
              </a:tr>
              <a:tr h="370840">
                <a:tc>
                  <a:txBody>
                    <a:bodyPr/>
                    <a:lstStyle/>
                    <a:p>
                      <a:pPr algn="ctr"/>
                      <a:r>
                        <a:rPr lang="en-US" sz="3200" dirty="0"/>
                        <a:t>&lt;</a:t>
                      </a:r>
                    </a:p>
                  </a:txBody>
                  <a:tcPr anchor="ctr"/>
                </a:tc>
                <a:tc>
                  <a:txBody>
                    <a:bodyPr/>
                    <a:lstStyle/>
                    <a:p>
                      <a:pPr algn="ctr"/>
                      <a:r>
                        <a:rPr lang="en-US" sz="3200" dirty="0"/>
                        <a:t>Less than</a:t>
                      </a:r>
                    </a:p>
                  </a:txBody>
                  <a:tcPr anchor="ctr"/>
                </a:tc>
                <a:tc>
                  <a:txBody>
                    <a:bodyPr/>
                    <a:lstStyle/>
                    <a:p>
                      <a:pPr algn="ctr"/>
                      <a:r>
                        <a:rPr lang="en-US" sz="3200" dirty="0"/>
                        <a:t>A &lt; B</a:t>
                      </a:r>
                    </a:p>
                  </a:txBody>
                  <a:tcPr anchor="ctr"/>
                </a:tc>
                <a:tc>
                  <a:txBody>
                    <a:bodyPr/>
                    <a:lstStyle/>
                    <a:p>
                      <a:pPr algn="ctr"/>
                      <a:r>
                        <a:rPr lang="en-US" sz="3200" dirty="0"/>
                        <a:t>Value in A is less than that of B</a:t>
                      </a:r>
                    </a:p>
                  </a:txBody>
                  <a:tcPr anchor="ctr"/>
                </a:tc>
                <a:extLst>
                  <a:ext uri="{0D108BD9-81ED-4DB2-BD59-A6C34878D82A}">
                    <a16:rowId xmlns:a16="http://schemas.microsoft.com/office/drawing/2014/main" val="3586444918"/>
                  </a:ext>
                </a:extLst>
              </a:tr>
              <a:tr h="370840">
                <a:tc>
                  <a:txBody>
                    <a:bodyPr/>
                    <a:lstStyle/>
                    <a:p>
                      <a:pPr algn="ctr"/>
                      <a:r>
                        <a:rPr lang="en-US" sz="3200" dirty="0"/>
                        <a:t>&lt;=</a:t>
                      </a:r>
                    </a:p>
                  </a:txBody>
                  <a:tcPr anchor="ctr"/>
                </a:tc>
                <a:tc>
                  <a:txBody>
                    <a:bodyPr/>
                    <a:lstStyle/>
                    <a:p>
                      <a:pPr algn="ctr"/>
                      <a:r>
                        <a:rPr lang="en-US" sz="3200" dirty="0"/>
                        <a:t>Less than or equal to</a:t>
                      </a:r>
                    </a:p>
                  </a:txBody>
                  <a:tcPr anchor="ctr"/>
                </a:tc>
                <a:tc>
                  <a:txBody>
                    <a:bodyPr/>
                    <a:lstStyle/>
                    <a:p>
                      <a:pPr algn="ctr"/>
                      <a:r>
                        <a:rPr lang="en-US" sz="3200" dirty="0"/>
                        <a:t>A &lt;= B</a:t>
                      </a:r>
                    </a:p>
                  </a:txBody>
                  <a:tcPr anchor="ctr"/>
                </a:tc>
                <a:tc>
                  <a:txBody>
                    <a:bodyPr/>
                    <a:lstStyle/>
                    <a:p>
                      <a:pPr algn="ctr"/>
                      <a:r>
                        <a:rPr lang="en-US" sz="3200" dirty="0"/>
                        <a:t>Value in A is less than or equal to that of B</a:t>
                      </a:r>
                    </a:p>
                  </a:txBody>
                  <a:tcPr anchor="ctr"/>
                </a:tc>
                <a:extLst>
                  <a:ext uri="{0D108BD9-81ED-4DB2-BD59-A6C34878D82A}">
                    <a16:rowId xmlns:a16="http://schemas.microsoft.com/office/drawing/2014/main" val="2527144111"/>
                  </a:ext>
                </a:extLst>
              </a:tr>
              <a:tr h="370840">
                <a:tc>
                  <a:txBody>
                    <a:bodyPr/>
                    <a:lstStyle/>
                    <a:p>
                      <a:pPr algn="ctr"/>
                      <a:r>
                        <a:rPr lang="en-US" sz="3200" dirty="0"/>
                        <a:t>= or ==</a:t>
                      </a:r>
                    </a:p>
                  </a:txBody>
                  <a:tcPr anchor="ctr"/>
                </a:tc>
                <a:tc>
                  <a:txBody>
                    <a:bodyPr/>
                    <a:lstStyle/>
                    <a:p>
                      <a:pPr algn="ctr"/>
                      <a:r>
                        <a:rPr lang="en-US" sz="3200" dirty="0"/>
                        <a:t>Equal to</a:t>
                      </a:r>
                    </a:p>
                  </a:txBody>
                  <a:tcPr anchor="ctr"/>
                </a:tc>
                <a:tc>
                  <a:txBody>
                    <a:bodyPr/>
                    <a:lstStyle/>
                    <a:p>
                      <a:pPr algn="ctr"/>
                      <a:r>
                        <a:rPr lang="en-US" sz="3200" dirty="0"/>
                        <a:t>A = B or A == B</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Values of A and B are equal</a:t>
                      </a:r>
                    </a:p>
                  </a:txBody>
                  <a:tcPr anchor="ctr"/>
                </a:tc>
                <a:extLst>
                  <a:ext uri="{0D108BD9-81ED-4DB2-BD59-A6C34878D82A}">
                    <a16:rowId xmlns:a16="http://schemas.microsoft.com/office/drawing/2014/main" val="4212700526"/>
                  </a:ext>
                </a:extLst>
              </a:tr>
              <a:tr h="370840">
                <a:tc>
                  <a:txBody>
                    <a:bodyPr/>
                    <a:lstStyle/>
                    <a:p>
                      <a:pPr algn="ctr"/>
                      <a:r>
                        <a:rPr lang="en-US" sz="3200" dirty="0"/>
                        <a:t># or !=</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Not Equal to</a:t>
                      </a:r>
                    </a:p>
                  </a:txBody>
                  <a:tcPr anchor="ctr"/>
                </a:tc>
                <a:tc>
                  <a:txBody>
                    <a:bodyPr/>
                    <a:lstStyle/>
                    <a:p>
                      <a:pPr algn="ctr"/>
                      <a:r>
                        <a:rPr lang="en-US" sz="3200" dirty="0"/>
                        <a:t>A # B, A != B</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Values of A and B are not equal</a:t>
                      </a:r>
                    </a:p>
                  </a:txBody>
                  <a:tcPr anchor="ctr"/>
                </a:tc>
                <a:extLst>
                  <a:ext uri="{0D108BD9-81ED-4DB2-BD59-A6C34878D82A}">
                    <a16:rowId xmlns:a16="http://schemas.microsoft.com/office/drawing/2014/main" val="1806780345"/>
                  </a:ext>
                </a:extLst>
              </a:tr>
              <a:tr h="370840">
                <a:tc>
                  <a:txBody>
                    <a:bodyPr/>
                    <a:lstStyle/>
                    <a:p>
                      <a:pPr algn="ctr"/>
                      <a:r>
                        <a:rPr lang="en-US" sz="3200" dirty="0"/>
                        <a:t>&gt;</a:t>
                      </a:r>
                    </a:p>
                  </a:txBody>
                  <a:tcPr anchor="ctr"/>
                </a:tc>
                <a:tc>
                  <a:txBody>
                    <a:bodyPr/>
                    <a:lstStyle/>
                    <a:p>
                      <a:pPr algn="ctr"/>
                      <a:r>
                        <a:rPr lang="en-US" sz="3200" dirty="0"/>
                        <a:t>Greater than</a:t>
                      </a:r>
                    </a:p>
                  </a:txBody>
                  <a:tcPr anchor="ctr"/>
                </a:tc>
                <a:tc>
                  <a:txBody>
                    <a:bodyPr/>
                    <a:lstStyle/>
                    <a:p>
                      <a:pPr algn="ctr"/>
                      <a:r>
                        <a:rPr lang="en-US" sz="3200" dirty="0"/>
                        <a:t>A &gt; B</a:t>
                      </a:r>
                    </a:p>
                  </a:txBody>
                  <a:tcPr anchor="ctr"/>
                </a:tc>
                <a:tc>
                  <a:txBody>
                    <a:bodyPr/>
                    <a:lstStyle/>
                    <a:p>
                      <a:pPr algn="ctr"/>
                      <a:r>
                        <a:rPr lang="en-US" sz="3200" dirty="0"/>
                        <a:t>Value in A is greater than that of B</a:t>
                      </a:r>
                    </a:p>
                  </a:txBody>
                  <a:tcPr anchor="ctr"/>
                </a:tc>
                <a:extLst>
                  <a:ext uri="{0D108BD9-81ED-4DB2-BD59-A6C34878D82A}">
                    <a16:rowId xmlns:a16="http://schemas.microsoft.com/office/drawing/2014/main" val="2458715818"/>
                  </a:ext>
                </a:extLst>
              </a:tr>
              <a:tr h="370840">
                <a:tc>
                  <a:txBody>
                    <a:bodyPr/>
                    <a:lstStyle/>
                    <a:p>
                      <a:pPr algn="ctr"/>
                      <a:r>
                        <a:rPr lang="en-US" sz="3200" dirty="0"/>
                        <a:t>&gt;=</a:t>
                      </a:r>
                    </a:p>
                  </a:txBody>
                  <a:tcPr anchor="ctr"/>
                </a:tc>
                <a:tc>
                  <a:txBody>
                    <a:bodyPr/>
                    <a:lstStyle/>
                    <a:p>
                      <a:pPr algn="ctr"/>
                      <a:r>
                        <a:rPr lang="en-US" sz="3200" dirty="0"/>
                        <a:t>Greater than or equal to</a:t>
                      </a:r>
                    </a:p>
                  </a:txBody>
                  <a:tcPr anchor="ctr"/>
                </a:tc>
                <a:tc>
                  <a:txBody>
                    <a:bodyPr/>
                    <a:lstStyle/>
                    <a:p>
                      <a:pPr algn="ctr"/>
                      <a:r>
                        <a:rPr lang="en-US" sz="3200" dirty="0"/>
                        <a:t>A &gt;= B</a:t>
                      </a:r>
                    </a:p>
                  </a:txBody>
                  <a:tcPr anchor="ctr"/>
                </a:tc>
                <a:tc>
                  <a:txBody>
                    <a:bodyPr/>
                    <a:lstStyle/>
                    <a:p>
                      <a:pPr algn="ctr"/>
                      <a:r>
                        <a:rPr lang="en-US" sz="3200" dirty="0"/>
                        <a:t>Value in A is greater than or equal to that of B</a:t>
                      </a:r>
                    </a:p>
                  </a:txBody>
                  <a:tcPr anchor="ctr"/>
                </a:tc>
                <a:extLst>
                  <a:ext uri="{0D108BD9-81ED-4DB2-BD59-A6C34878D82A}">
                    <a16:rowId xmlns:a16="http://schemas.microsoft.com/office/drawing/2014/main" val="1004858722"/>
                  </a:ext>
                </a:extLst>
              </a:tr>
            </a:tbl>
          </a:graphicData>
        </a:graphic>
      </p:graphicFrame>
    </p:spTree>
    <p:extLst>
      <p:ext uri="{BB962C8B-B14F-4D97-AF65-F5344CB8AC3E}">
        <p14:creationId xmlns:p14="http://schemas.microsoft.com/office/powerpoint/2010/main" val="31374453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050" y="1676400"/>
            <a:ext cx="15091750" cy="762000"/>
          </a:xfrm>
        </p:spPr>
        <p:txBody>
          <a:bodyPr anchor="t">
            <a:noAutofit/>
          </a:bodyPr>
          <a:lstStyle/>
          <a:p>
            <a:pPr algn="l"/>
            <a:r>
              <a:rPr lang="en-US" sz="3600" dirty="0">
                <a:latin typeface="Times New Roman" panose="02020603050405020304" pitchFamily="18" charset="0"/>
                <a:cs typeface="Times New Roman" panose="02020603050405020304" pitchFamily="18" charset="0"/>
              </a:rPr>
              <a:t>While creating flowchart, the following logical operators are used.</a:t>
            </a:r>
            <a:endParaRPr lang="en-CA" sz="3600" dirty="0">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p:cNvSpPr txBox="1">
            <a:spLocks/>
          </p:cNvSpPr>
          <p:nvPr/>
        </p:nvSpPr>
        <p:spPr bwMode="auto">
          <a:xfrm>
            <a:off x="1143000" y="381000"/>
            <a:ext cx="148431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Commonly used Operators in Flowchart</a:t>
            </a:r>
          </a:p>
        </p:txBody>
      </p:sp>
      <p:graphicFrame>
        <p:nvGraphicFramePr>
          <p:cNvPr id="4" name="Table 4">
            <a:extLst>
              <a:ext uri="{FF2B5EF4-FFF2-40B4-BE49-F238E27FC236}">
                <a16:creationId xmlns:a16="http://schemas.microsoft.com/office/drawing/2014/main" id="{E8B85E96-4EC0-1654-EB8C-DFE17DC979D8}"/>
              </a:ext>
            </a:extLst>
          </p:cNvPr>
          <p:cNvGraphicFramePr>
            <a:graphicFrameLocks noGrp="1"/>
          </p:cNvGraphicFramePr>
          <p:nvPr>
            <p:extLst>
              <p:ext uri="{D42A27DB-BD31-4B8C-83A1-F6EECF244321}">
                <p14:modId xmlns:p14="http://schemas.microsoft.com/office/powerpoint/2010/main" val="3784465870"/>
              </p:ext>
            </p:extLst>
          </p:nvPr>
        </p:nvGraphicFramePr>
        <p:xfrm>
          <a:off x="190500" y="2589717"/>
          <a:ext cx="16078200" cy="2316480"/>
        </p:xfrm>
        <a:graphic>
          <a:graphicData uri="http://schemas.openxmlformats.org/drawingml/2006/table">
            <a:tbl>
              <a:tblPr firstRow="1" bandRow="1">
                <a:tableStyleId>{5C22544A-7EE6-4342-B048-85BDC9FD1C3A}</a:tableStyleId>
              </a:tblPr>
              <a:tblGrid>
                <a:gridCol w="1964505">
                  <a:extLst>
                    <a:ext uri="{9D8B030D-6E8A-4147-A177-3AD203B41FA5}">
                      <a16:colId xmlns:a16="http://schemas.microsoft.com/office/drawing/2014/main" val="2141846097"/>
                    </a:ext>
                  </a:extLst>
                </a:gridCol>
                <a:gridCol w="2587510">
                  <a:extLst>
                    <a:ext uri="{9D8B030D-6E8A-4147-A177-3AD203B41FA5}">
                      <a16:colId xmlns:a16="http://schemas.microsoft.com/office/drawing/2014/main" val="2298387133"/>
                    </a:ext>
                  </a:extLst>
                </a:gridCol>
                <a:gridCol w="3102795">
                  <a:extLst>
                    <a:ext uri="{9D8B030D-6E8A-4147-A177-3AD203B41FA5}">
                      <a16:colId xmlns:a16="http://schemas.microsoft.com/office/drawing/2014/main" val="862055410"/>
                    </a:ext>
                  </a:extLst>
                </a:gridCol>
                <a:gridCol w="8423390">
                  <a:extLst>
                    <a:ext uri="{9D8B030D-6E8A-4147-A177-3AD203B41FA5}">
                      <a16:colId xmlns:a16="http://schemas.microsoft.com/office/drawing/2014/main" val="131799327"/>
                    </a:ext>
                  </a:extLst>
                </a:gridCol>
              </a:tblGrid>
              <a:tr h="0">
                <a:tc>
                  <a:txBody>
                    <a:bodyPr/>
                    <a:lstStyle/>
                    <a:p>
                      <a:pPr algn="ctr"/>
                      <a:r>
                        <a:rPr lang="en-US" sz="3200" dirty="0"/>
                        <a:t>Operator</a:t>
                      </a:r>
                    </a:p>
                  </a:txBody>
                  <a:tcPr anchor="ctr"/>
                </a:tc>
                <a:tc>
                  <a:txBody>
                    <a:bodyPr/>
                    <a:lstStyle/>
                    <a:p>
                      <a:pPr algn="ctr"/>
                      <a:r>
                        <a:rPr lang="en-US" sz="3200" dirty="0"/>
                        <a:t>Meaning</a:t>
                      </a:r>
                    </a:p>
                  </a:txBody>
                  <a:tcPr anchor="ctr"/>
                </a:tc>
                <a:tc>
                  <a:txBody>
                    <a:bodyPr/>
                    <a:lstStyle/>
                    <a:p>
                      <a:pPr algn="ctr"/>
                      <a:r>
                        <a:rPr lang="en-US" sz="3200" dirty="0"/>
                        <a:t>Example</a:t>
                      </a:r>
                    </a:p>
                  </a:txBody>
                  <a:tcPr anchor="ctr"/>
                </a:tc>
                <a:tc>
                  <a:txBody>
                    <a:bodyPr/>
                    <a:lstStyle/>
                    <a:p>
                      <a:pPr algn="ctr"/>
                      <a:r>
                        <a:rPr lang="en-US" sz="3200" dirty="0"/>
                        <a:t>Remarks</a:t>
                      </a:r>
                    </a:p>
                  </a:txBody>
                  <a:tcPr anchor="ctr"/>
                </a:tc>
                <a:extLst>
                  <a:ext uri="{0D108BD9-81ED-4DB2-BD59-A6C34878D82A}">
                    <a16:rowId xmlns:a16="http://schemas.microsoft.com/office/drawing/2014/main" val="3199776413"/>
                  </a:ext>
                </a:extLst>
              </a:tr>
              <a:tr h="370840">
                <a:tc>
                  <a:txBody>
                    <a:bodyPr/>
                    <a:lstStyle/>
                    <a:p>
                      <a:pPr algn="ctr"/>
                      <a:r>
                        <a:rPr lang="en-US" sz="3200" dirty="0"/>
                        <a:t>AND</a:t>
                      </a:r>
                    </a:p>
                  </a:txBody>
                  <a:tcPr anchor="ctr"/>
                </a:tc>
                <a:tc>
                  <a:txBody>
                    <a:bodyPr/>
                    <a:lstStyle/>
                    <a:p>
                      <a:pPr algn="ctr"/>
                      <a:r>
                        <a:rPr lang="en-US" sz="3200" dirty="0"/>
                        <a:t>Logical AND</a:t>
                      </a:r>
                    </a:p>
                  </a:txBody>
                  <a:tcPr anchor="ctr"/>
                </a:tc>
                <a:tc>
                  <a:txBody>
                    <a:bodyPr/>
                    <a:lstStyle/>
                    <a:p>
                      <a:pPr algn="ctr"/>
                      <a:r>
                        <a:rPr lang="en-US" sz="3200" dirty="0"/>
                        <a:t>A˄B</a:t>
                      </a:r>
                    </a:p>
                  </a:txBody>
                  <a:tcPr anchor="ctr"/>
                </a:tc>
                <a:tc>
                  <a:txBody>
                    <a:bodyPr/>
                    <a:lstStyle/>
                    <a:p>
                      <a:pPr algn="ctr"/>
                      <a:r>
                        <a:rPr lang="en-US" sz="3200" dirty="0"/>
                        <a:t>Values in A and B will be ANDed</a:t>
                      </a:r>
                    </a:p>
                  </a:txBody>
                  <a:tcPr anchor="ctr"/>
                </a:tc>
                <a:extLst>
                  <a:ext uri="{0D108BD9-81ED-4DB2-BD59-A6C34878D82A}">
                    <a16:rowId xmlns:a16="http://schemas.microsoft.com/office/drawing/2014/main" val="3586444918"/>
                  </a:ext>
                </a:extLst>
              </a:tr>
              <a:tr h="370840">
                <a:tc>
                  <a:txBody>
                    <a:bodyPr/>
                    <a:lstStyle/>
                    <a:p>
                      <a:pPr algn="ctr"/>
                      <a:r>
                        <a:rPr lang="en-US" sz="3200" dirty="0"/>
                        <a:t>OR</a:t>
                      </a:r>
                    </a:p>
                  </a:txBody>
                  <a:tcPr anchor="ctr"/>
                </a:tc>
                <a:tc>
                  <a:txBody>
                    <a:bodyPr/>
                    <a:lstStyle/>
                    <a:p>
                      <a:pPr algn="ctr"/>
                      <a:r>
                        <a:rPr lang="en-US" sz="3200" dirty="0"/>
                        <a:t>Logical OR</a:t>
                      </a:r>
                    </a:p>
                  </a:txBody>
                  <a:tcPr anchor="ctr"/>
                </a:tc>
                <a:tc>
                  <a:txBody>
                    <a:bodyPr/>
                    <a:lstStyle/>
                    <a:p>
                      <a:pPr algn="ctr"/>
                      <a:r>
                        <a:rPr lang="en-US" sz="3200" dirty="0"/>
                        <a:t>A˅B</a:t>
                      </a:r>
                    </a:p>
                  </a:txBody>
                  <a:tcPr anchor="ctr"/>
                </a:tc>
                <a:tc>
                  <a:txBody>
                    <a:bodyPr/>
                    <a:lstStyle/>
                    <a:p>
                      <a:pPr algn="ctr"/>
                      <a:r>
                        <a:rPr lang="en-US" sz="3200" dirty="0"/>
                        <a:t>Values in A and B will be </a:t>
                      </a:r>
                      <a:r>
                        <a:rPr lang="en-US" sz="3200" dirty="0" err="1"/>
                        <a:t>ORed</a:t>
                      </a:r>
                      <a:endParaRPr lang="en-US" sz="3200" dirty="0"/>
                    </a:p>
                  </a:txBody>
                  <a:tcPr anchor="ctr"/>
                </a:tc>
                <a:extLst>
                  <a:ext uri="{0D108BD9-81ED-4DB2-BD59-A6C34878D82A}">
                    <a16:rowId xmlns:a16="http://schemas.microsoft.com/office/drawing/2014/main" val="2527144111"/>
                  </a:ext>
                </a:extLst>
              </a:tr>
              <a:tr h="370840">
                <a:tc>
                  <a:txBody>
                    <a:bodyPr/>
                    <a:lstStyle/>
                    <a:p>
                      <a:pPr algn="ctr"/>
                      <a:r>
                        <a:rPr lang="en-US" sz="3200" dirty="0"/>
                        <a:t>NOT</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Logical NOT</a:t>
                      </a:r>
                    </a:p>
                  </a:txBody>
                  <a:tcPr anchor="ctr"/>
                </a:tc>
                <a:tc>
                  <a:txBody>
                    <a:bodyPr/>
                    <a:lstStyle/>
                    <a:p>
                      <a:pPr algn="ctr"/>
                      <a:r>
                        <a:rPr lang="en-US" sz="3200" dirty="0"/>
                        <a:t>!A</a:t>
                      </a: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sz="3200" dirty="0"/>
                        <a:t>Values in A will be inverted</a:t>
                      </a:r>
                    </a:p>
                  </a:txBody>
                  <a:tcPr anchor="ctr"/>
                </a:tc>
                <a:extLst>
                  <a:ext uri="{0D108BD9-81ED-4DB2-BD59-A6C34878D82A}">
                    <a16:rowId xmlns:a16="http://schemas.microsoft.com/office/drawing/2014/main" val="1806780345"/>
                  </a:ext>
                </a:extLst>
              </a:tr>
            </a:tbl>
          </a:graphicData>
        </a:graphic>
      </p:graphicFrame>
    </p:spTree>
    <p:extLst>
      <p:ext uri="{BB962C8B-B14F-4D97-AF65-F5344CB8AC3E}">
        <p14:creationId xmlns:p14="http://schemas.microsoft.com/office/powerpoint/2010/main" val="42055660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29400" y="1676400"/>
            <a:ext cx="9601200" cy="1143000"/>
          </a:xfrm>
        </p:spPr>
        <p:txBody>
          <a:bodyPr anchor="t">
            <a:noAutofit/>
          </a:bodyPr>
          <a:lstStyle/>
          <a:p>
            <a:pPr algn="l"/>
            <a:r>
              <a:rPr lang="en-US" sz="3600" dirty="0">
                <a:latin typeface="Times New Roman" panose="02020603050405020304" pitchFamily="18" charset="0"/>
                <a:cs typeface="Times New Roman" panose="02020603050405020304" pitchFamily="18" charset="0"/>
              </a:rPr>
              <a:t>While creating a flowchart, the following symbols are used.</a:t>
            </a:r>
            <a:endParaRPr lang="en-CA" sz="3600" dirty="0">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p:cNvSpPr txBox="1">
            <a:spLocks/>
          </p:cNvSpPr>
          <p:nvPr/>
        </p:nvSpPr>
        <p:spPr bwMode="auto">
          <a:xfrm>
            <a:off x="1143000" y="228600"/>
            <a:ext cx="148431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Commonly used Symbols in Flowchart</a:t>
            </a:r>
          </a:p>
        </p:txBody>
      </p:sp>
      <p:sp>
        <p:nvSpPr>
          <p:cNvPr id="5" name="Rectangle 4"/>
          <p:cNvSpPr/>
          <p:nvPr/>
        </p:nvSpPr>
        <p:spPr>
          <a:xfrm>
            <a:off x="6629400" y="2828359"/>
            <a:ext cx="9677400" cy="3801041"/>
          </a:xfrm>
          <a:prstGeom prst="rect">
            <a:avLst/>
          </a:prstGeom>
        </p:spPr>
        <p:txBody>
          <a:bodyPr wrap="square">
            <a:spAutoFit/>
          </a:bodyPr>
          <a:lstStyle/>
          <a:p>
            <a:pPr marL="457200" indent="-457200">
              <a:spcAft>
                <a:spcPts val="600"/>
              </a:spcAft>
              <a:buFont typeface="Wingdings" panose="05000000000000000000" pitchFamily="2" charset="2"/>
              <a:buChar char="Ø"/>
            </a:pPr>
            <a:r>
              <a:rPr lang="en-US" sz="3600" dirty="0"/>
              <a:t>Rectangle Shape - Represents a process</a:t>
            </a:r>
          </a:p>
          <a:p>
            <a:pPr marL="457200" indent="-457200">
              <a:spcAft>
                <a:spcPts val="600"/>
              </a:spcAft>
              <a:buFont typeface="Wingdings" panose="05000000000000000000" pitchFamily="2" charset="2"/>
              <a:buChar char="Ø"/>
            </a:pPr>
            <a:r>
              <a:rPr lang="en-US" sz="3600" dirty="0"/>
              <a:t>Oval or Pill Shape - Represents the start or end</a:t>
            </a:r>
          </a:p>
          <a:p>
            <a:pPr marL="457200" indent="-457200">
              <a:spcAft>
                <a:spcPts val="600"/>
              </a:spcAft>
              <a:buFont typeface="Wingdings" panose="05000000000000000000" pitchFamily="2" charset="2"/>
              <a:buChar char="Ø"/>
            </a:pPr>
            <a:r>
              <a:rPr lang="en-US" sz="3600" dirty="0"/>
              <a:t>Diamond Shape - Represents a decision</a:t>
            </a:r>
          </a:p>
          <a:p>
            <a:pPr marL="457200" indent="-457200">
              <a:spcAft>
                <a:spcPts val="600"/>
              </a:spcAft>
              <a:buFont typeface="Wingdings" panose="05000000000000000000" pitchFamily="2" charset="2"/>
              <a:buChar char="Ø"/>
            </a:pPr>
            <a:r>
              <a:rPr lang="en-US" sz="3600" dirty="0"/>
              <a:t>Parallelogram - Represents input/output</a:t>
            </a:r>
          </a:p>
          <a:p>
            <a:pPr marL="457200" indent="-457200">
              <a:spcAft>
                <a:spcPts val="600"/>
              </a:spcAft>
              <a:buFont typeface="Wingdings" panose="05000000000000000000" pitchFamily="2" charset="2"/>
              <a:buChar char="Ø"/>
            </a:pPr>
            <a:r>
              <a:rPr lang="en-US" sz="3600" dirty="0"/>
              <a:t>Circle - Represents reference/page connector</a:t>
            </a:r>
          </a:p>
          <a:p>
            <a:pPr marL="457200" indent="-457200">
              <a:spcAft>
                <a:spcPts val="600"/>
              </a:spcAft>
              <a:buFont typeface="Wingdings" panose="05000000000000000000" pitchFamily="2" charset="2"/>
              <a:buChar char="Ø"/>
            </a:pPr>
            <a:r>
              <a:rPr lang="en-US" sz="3600" dirty="0"/>
              <a:t>Arrow - Represents a connection between shapes</a:t>
            </a:r>
          </a:p>
        </p:txBody>
      </p:sp>
      <p:pic>
        <p:nvPicPr>
          <p:cNvPr id="7" name="Picture 6">
            <a:extLst>
              <a:ext uri="{FF2B5EF4-FFF2-40B4-BE49-F238E27FC236}">
                <a16:creationId xmlns:a16="http://schemas.microsoft.com/office/drawing/2014/main" id="{AFAEE584-788D-868F-2C81-9C62CBD0D027}"/>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473074" y="1052512"/>
            <a:ext cx="6248400" cy="6948488"/>
          </a:xfrm>
          <a:prstGeom prst="rect">
            <a:avLst/>
          </a:prstGeom>
        </p:spPr>
      </p:pic>
    </p:spTree>
    <p:extLst>
      <p:ext uri="{BB962C8B-B14F-4D97-AF65-F5344CB8AC3E}">
        <p14:creationId xmlns:p14="http://schemas.microsoft.com/office/powerpoint/2010/main" val="22297500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7693E-D266-150D-B345-F5147865792E}"/>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83EF60CD-E14C-A904-ED61-1760D6C86A81}"/>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D1C737F0-2995-1D18-9483-7819BEFF5CF6}"/>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ED8E27DD-1D3A-43F8-15EA-5678AD584564}"/>
              </a:ext>
            </a:extLst>
          </p:cNvPr>
          <p:cNvSpPr txBox="1">
            <a:spLocks/>
          </p:cNvSpPr>
          <p:nvPr/>
        </p:nvSpPr>
        <p:spPr bwMode="auto">
          <a:xfrm>
            <a:off x="1143000" y="471488"/>
            <a:ext cx="148431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Commonly used Symbols in Flowchart</a:t>
            </a:r>
          </a:p>
        </p:txBody>
      </p:sp>
      <p:sp>
        <p:nvSpPr>
          <p:cNvPr id="5" name="Rectangle 4">
            <a:extLst>
              <a:ext uri="{FF2B5EF4-FFF2-40B4-BE49-F238E27FC236}">
                <a16:creationId xmlns:a16="http://schemas.microsoft.com/office/drawing/2014/main" id="{38D1352C-0DB7-7278-9977-39DC5C5A9886}"/>
              </a:ext>
            </a:extLst>
          </p:cNvPr>
          <p:cNvSpPr/>
          <p:nvPr/>
        </p:nvSpPr>
        <p:spPr>
          <a:xfrm>
            <a:off x="228600" y="1728311"/>
            <a:ext cx="15925800" cy="5663089"/>
          </a:xfrm>
          <a:prstGeom prst="rect">
            <a:avLst/>
          </a:prstGeom>
        </p:spPr>
        <p:txBody>
          <a:bodyPr wrap="square">
            <a:spAutoFit/>
          </a:bodyPr>
          <a:lstStyle/>
          <a:p>
            <a:pPr>
              <a:spcAft>
                <a:spcPts val="600"/>
              </a:spcAft>
            </a:pPr>
            <a:r>
              <a:rPr lang="en-US" sz="3200" dirty="0"/>
              <a:t>Each symbol has its own function within the program. Each symbol  represents a piece of the code written for the program. The start/end symbol  can be used to represent either the beginning or ending of a program. The  symbol for process allows you to show how the program is functioning, like  when you need the program to calculate two numbers or even analyze the  information.</a:t>
            </a:r>
          </a:p>
          <a:p>
            <a:pPr>
              <a:spcAft>
                <a:spcPts val="600"/>
              </a:spcAft>
            </a:pPr>
            <a:r>
              <a:rPr lang="en-US" sz="3200" dirty="0"/>
              <a:t>When you decide to enter data, show it on the screen, or print it to paper,  you use the input/output symbol. The display symbol signifies that  information is displayed to the user.</a:t>
            </a:r>
          </a:p>
          <a:p>
            <a:pPr>
              <a:spcAft>
                <a:spcPts val="600"/>
              </a:spcAft>
            </a:pPr>
            <a:r>
              <a:rPr lang="en-US" sz="3200" dirty="0"/>
              <a:t>There are many other symbols frequently used in flowcharts.  The decision symbol is used for things like 'if statements,' where you must  choose an option based on a specified criteria. A decision question may be  something as simple as: if the grade is at least 70 then send out the message  'Passing' to the screen. Otherwise, send 'Failing' to the screen.</a:t>
            </a:r>
          </a:p>
        </p:txBody>
      </p:sp>
    </p:spTree>
    <p:extLst>
      <p:ext uri="{BB962C8B-B14F-4D97-AF65-F5344CB8AC3E}">
        <p14:creationId xmlns:p14="http://schemas.microsoft.com/office/powerpoint/2010/main" val="6192698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050" y="1600200"/>
            <a:ext cx="15533076" cy="762000"/>
          </a:xfrm>
        </p:spPr>
        <p:txBody>
          <a:bodyPr anchor="t">
            <a:noAutofit/>
          </a:bodyPr>
          <a:lstStyle/>
          <a:p>
            <a:pPr algn="l"/>
            <a:r>
              <a:rPr lang="en-US" sz="3600" dirty="0">
                <a:latin typeface="Times New Roman" panose="02020603050405020304" pitchFamily="18" charset="0"/>
                <a:cs typeface="Times New Roman" panose="02020603050405020304" pitchFamily="18" charset="0"/>
              </a:rPr>
              <a:t>Draw a flowchart along with its algorithm to add two numbers entered by the user.</a:t>
            </a:r>
            <a:endParaRPr lang="en-CA" sz="3600" dirty="0">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 1 of Flowchart</a:t>
            </a:r>
          </a:p>
        </p:txBody>
      </p:sp>
      <p:sp>
        <p:nvSpPr>
          <p:cNvPr id="7" name="Rectangle 6"/>
          <p:cNvSpPr/>
          <p:nvPr/>
        </p:nvSpPr>
        <p:spPr>
          <a:xfrm>
            <a:off x="6633550" y="2438400"/>
            <a:ext cx="9063650" cy="5078313"/>
          </a:xfrm>
          <a:prstGeom prst="rect">
            <a:avLst/>
          </a:prstGeom>
        </p:spPr>
        <p:txBody>
          <a:bodyPr wrap="square">
            <a:spAutoFit/>
          </a:bodyPr>
          <a:lstStyle/>
          <a:p>
            <a:r>
              <a:rPr lang="en-US" sz="3600" dirty="0"/>
              <a:t>An algorithm to find the sum of two numbers:</a:t>
            </a:r>
          </a:p>
          <a:p>
            <a:pPr marL="571500" indent="-571500">
              <a:buFont typeface="Wingdings" panose="05000000000000000000" pitchFamily="2" charset="2"/>
              <a:buChar char="Ø"/>
            </a:pPr>
            <a:r>
              <a:rPr lang="en-US" sz="3600" dirty="0"/>
              <a:t>Step 1: Start</a:t>
            </a:r>
          </a:p>
          <a:p>
            <a:pPr marL="571500" indent="-571500">
              <a:buFont typeface="Wingdings" panose="05000000000000000000" pitchFamily="2" charset="2"/>
              <a:buChar char="Ø"/>
            </a:pPr>
            <a:r>
              <a:rPr lang="en-US" sz="3600" dirty="0"/>
              <a:t>Step 2: Declare three variables</a:t>
            </a:r>
          </a:p>
          <a:p>
            <a:pPr marL="571500" indent="-571500">
              <a:buFont typeface="Wingdings" panose="05000000000000000000" pitchFamily="2" charset="2"/>
              <a:buChar char="Ø"/>
            </a:pPr>
            <a:r>
              <a:rPr lang="en-US" sz="3600" dirty="0"/>
              <a:t>Step 3: Read numbers and store them in the declared variables</a:t>
            </a:r>
          </a:p>
          <a:p>
            <a:pPr marL="571500" indent="-571500">
              <a:buFont typeface="Wingdings" panose="05000000000000000000" pitchFamily="2" charset="2"/>
              <a:buChar char="Ø"/>
            </a:pPr>
            <a:r>
              <a:rPr lang="en-US" sz="3600" dirty="0"/>
              <a:t>Step 4: Sum these two numbers and assign them to the declared variable</a:t>
            </a:r>
          </a:p>
          <a:p>
            <a:pPr marL="571500" indent="-571500">
              <a:buFont typeface="Wingdings" panose="05000000000000000000" pitchFamily="2" charset="2"/>
              <a:buChar char="Ø"/>
            </a:pPr>
            <a:r>
              <a:rPr lang="en-US" sz="3600" dirty="0"/>
              <a:t>Step 5: Display the sum</a:t>
            </a:r>
          </a:p>
          <a:p>
            <a:pPr marL="571500" indent="-571500">
              <a:buFont typeface="Wingdings" panose="05000000000000000000" pitchFamily="2" charset="2"/>
              <a:buChar char="Ø"/>
            </a:pPr>
            <a:r>
              <a:rPr lang="en-US" sz="3600" dirty="0"/>
              <a:t>Step 6: Stop</a:t>
            </a:r>
          </a:p>
        </p:txBody>
      </p:sp>
      <p:pic>
        <p:nvPicPr>
          <p:cNvPr id="11" name="Picture 10">
            <a:extLst>
              <a:ext uri="{FF2B5EF4-FFF2-40B4-BE49-F238E27FC236}">
                <a16:creationId xmlns:a16="http://schemas.microsoft.com/office/drawing/2014/main" id="{3F240DB9-3C28-F41D-4D50-0CFFD9F1FADA}"/>
              </a:ext>
            </a:extLst>
          </p:cNvPr>
          <p:cNvPicPr>
            <a:picLocks noChangeAspect="1"/>
          </p:cNvPicPr>
          <p:nvPr/>
        </p:nvPicPr>
        <p:blipFill>
          <a:blip r:embed="rId2"/>
          <a:stretch>
            <a:fillRect/>
          </a:stretch>
        </p:blipFill>
        <p:spPr>
          <a:xfrm>
            <a:off x="1676400" y="2179618"/>
            <a:ext cx="1905000" cy="5349240"/>
          </a:xfrm>
          <a:prstGeom prst="rect">
            <a:avLst/>
          </a:prstGeom>
        </p:spPr>
      </p:pic>
    </p:spTree>
    <p:extLst>
      <p:ext uri="{BB962C8B-B14F-4D97-AF65-F5344CB8AC3E}">
        <p14:creationId xmlns:p14="http://schemas.microsoft.com/office/powerpoint/2010/main" val="19049704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2E060-D120-FFC0-8E22-F676C68C6D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0BA072-F684-FBE1-C76B-6B92676C962D}"/>
              </a:ext>
            </a:extLst>
          </p:cNvPr>
          <p:cNvSpPr>
            <a:spLocks noGrp="1"/>
          </p:cNvSpPr>
          <p:nvPr>
            <p:ph type="title"/>
          </p:nvPr>
        </p:nvSpPr>
        <p:spPr>
          <a:xfrm>
            <a:off x="228600" y="1524001"/>
            <a:ext cx="16002000" cy="990600"/>
          </a:xfrm>
        </p:spPr>
        <p:txBody>
          <a:bodyPr anchor="t">
            <a:noAutofit/>
          </a:bodyPr>
          <a:lstStyle/>
          <a:p>
            <a:pPr algn="l"/>
            <a:r>
              <a:rPr lang="en-US" sz="3200" dirty="0">
                <a:latin typeface="Times New Roman" panose="02020603050405020304" pitchFamily="18" charset="0"/>
                <a:cs typeface="Times New Roman" panose="02020603050405020304" pitchFamily="18" charset="0"/>
              </a:rPr>
              <a:t>Draw a flowchart along with its algorithm to compare two numbers entered by the user and then find the greater number among the given two.</a:t>
            </a:r>
            <a:endParaRPr lang="en-CA" sz="3200"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C3C309B-87FF-5043-2757-E2FA149AE8C5}"/>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40F07EDE-3897-F2F9-376E-E9D1ED0DF0F9}"/>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3C003E41-B6F2-7860-C384-6F42D0D05C49}"/>
              </a:ext>
            </a:extLst>
          </p:cNvPr>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 2 of Flowchart</a:t>
            </a:r>
          </a:p>
        </p:txBody>
      </p:sp>
      <p:sp>
        <p:nvSpPr>
          <p:cNvPr id="7" name="Rectangle 6">
            <a:extLst>
              <a:ext uri="{FF2B5EF4-FFF2-40B4-BE49-F238E27FC236}">
                <a16:creationId xmlns:a16="http://schemas.microsoft.com/office/drawing/2014/main" id="{673C6A89-71F7-1901-844D-451A81FF82D5}"/>
              </a:ext>
            </a:extLst>
          </p:cNvPr>
          <p:cNvSpPr/>
          <p:nvPr/>
        </p:nvSpPr>
        <p:spPr>
          <a:xfrm>
            <a:off x="6633550" y="2438400"/>
            <a:ext cx="9063650" cy="3046988"/>
          </a:xfrm>
          <a:prstGeom prst="rect">
            <a:avLst/>
          </a:prstGeom>
        </p:spPr>
        <p:txBody>
          <a:bodyPr wrap="square">
            <a:spAutoFit/>
          </a:bodyPr>
          <a:lstStyle/>
          <a:p>
            <a:r>
              <a:rPr lang="en-US" sz="3200" dirty="0"/>
              <a:t>The algorithm is given below:</a:t>
            </a:r>
          </a:p>
          <a:p>
            <a:pPr marL="571500" indent="-571500">
              <a:buFont typeface="Wingdings" panose="05000000000000000000" pitchFamily="2" charset="2"/>
              <a:buChar char="Ø"/>
            </a:pPr>
            <a:r>
              <a:rPr lang="en-US" sz="3200" dirty="0"/>
              <a:t>Step 1: Start</a:t>
            </a:r>
          </a:p>
          <a:p>
            <a:pPr marL="571500" indent="-571500">
              <a:buFont typeface="Wingdings" panose="05000000000000000000" pitchFamily="2" charset="2"/>
              <a:buChar char="Ø"/>
            </a:pPr>
            <a:r>
              <a:rPr lang="en-US" sz="3200" dirty="0"/>
              <a:t>Step 2: Read two numbers and store them in the two variables, A and B</a:t>
            </a:r>
          </a:p>
          <a:p>
            <a:pPr marL="571500" indent="-571500">
              <a:buFont typeface="Wingdings" panose="05000000000000000000" pitchFamily="2" charset="2"/>
              <a:buChar char="Ø"/>
            </a:pPr>
            <a:r>
              <a:rPr lang="en-US" sz="3200" dirty="0"/>
              <a:t>Step 3: If A &gt; B then Display A else Display B</a:t>
            </a:r>
          </a:p>
          <a:p>
            <a:pPr marL="571500" indent="-571500">
              <a:buFont typeface="Wingdings" panose="05000000000000000000" pitchFamily="2" charset="2"/>
              <a:buChar char="Ø"/>
            </a:pPr>
            <a:r>
              <a:rPr lang="en-US" sz="3200" dirty="0"/>
              <a:t>Step 4: Stop</a:t>
            </a:r>
          </a:p>
        </p:txBody>
      </p:sp>
      <p:pic>
        <p:nvPicPr>
          <p:cNvPr id="4" name="Picture 3">
            <a:extLst>
              <a:ext uri="{FF2B5EF4-FFF2-40B4-BE49-F238E27FC236}">
                <a16:creationId xmlns:a16="http://schemas.microsoft.com/office/drawing/2014/main" id="{2B550212-7813-8601-3ECE-E54C0859FE3C}"/>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914400" y="2535942"/>
            <a:ext cx="4176106" cy="4978572"/>
          </a:xfrm>
          <a:prstGeom prst="rect">
            <a:avLst/>
          </a:prstGeom>
        </p:spPr>
      </p:pic>
    </p:spTree>
    <p:extLst>
      <p:ext uri="{BB962C8B-B14F-4D97-AF65-F5344CB8AC3E}">
        <p14:creationId xmlns:p14="http://schemas.microsoft.com/office/powerpoint/2010/main" val="24607106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050" y="1600200"/>
            <a:ext cx="15533076" cy="762000"/>
          </a:xfrm>
        </p:spPr>
        <p:txBody>
          <a:bodyPr anchor="t">
            <a:noAutofit/>
          </a:bodyPr>
          <a:lstStyle/>
          <a:p>
            <a:pPr algn="l"/>
            <a:r>
              <a:rPr lang="en-US" sz="3200" dirty="0">
                <a:latin typeface="Times New Roman" panose="02020603050405020304" pitchFamily="18" charset="0"/>
                <a:cs typeface="Times New Roman" panose="02020603050405020304" pitchFamily="18" charset="0"/>
              </a:rPr>
              <a:t>Draw a flowchart along with its algorithm to convert temperature from Celsius to Fahrenheit.</a:t>
            </a:r>
            <a:endParaRPr lang="en-CA" sz="3200" dirty="0">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 4 of Flowchart</a:t>
            </a:r>
          </a:p>
        </p:txBody>
      </p:sp>
      <p:sp>
        <p:nvSpPr>
          <p:cNvPr id="7" name="Rectangle 6"/>
          <p:cNvSpPr/>
          <p:nvPr/>
        </p:nvSpPr>
        <p:spPr>
          <a:xfrm>
            <a:off x="4724400" y="2438400"/>
            <a:ext cx="11430000" cy="5078313"/>
          </a:xfrm>
          <a:prstGeom prst="rect">
            <a:avLst/>
          </a:prstGeom>
        </p:spPr>
        <p:txBody>
          <a:bodyPr wrap="square">
            <a:spAutoFit/>
          </a:bodyPr>
          <a:lstStyle/>
          <a:p>
            <a:pPr marL="571500" indent="-571500">
              <a:buFont typeface="Wingdings" panose="05000000000000000000" pitchFamily="2" charset="2"/>
              <a:buChar char="Ø"/>
            </a:pPr>
            <a:r>
              <a:rPr lang="en-US" sz="3600" dirty="0"/>
              <a:t>Step 1: Start</a:t>
            </a:r>
          </a:p>
          <a:p>
            <a:pPr marL="571500" indent="-571500">
              <a:buFont typeface="Wingdings" panose="05000000000000000000" pitchFamily="2" charset="2"/>
              <a:buChar char="Ø"/>
            </a:pPr>
            <a:r>
              <a:rPr lang="en-US" sz="3600" dirty="0"/>
              <a:t>Step 2: Declare two variables</a:t>
            </a:r>
          </a:p>
          <a:p>
            <a:pPr marL="571500" indent="-571500">
              <a:buFont typeface="Wingdings" panose="05000000000000000000" pitchFamily="2" charset="2"/>
              <a:buChar char="Ø"/>
            </a:pPr>
            <a:r>
              <a:rPr lang="en-US" sz="3600" dirty="0"/>
              <a:t>Step 3: Read the temperature value in Celsius scale and store it in one of the declared variables</a:t>
            </a:r>
          </a:p>
          <a:p>
            <a:pPr marL="571500" indent="-571500">
              <a:buFont typeface="Wingdings" panose="05000000000000000000" pitchFamily="2" charset="2"/>
              <a:buChar char="Ø"/>
            </a:pPr>
            <a:r>
              <a:rPr lang="en-US" sz="3600" dirty="0"/>
              <a:t>Step 4: Apply the formula of temperature conversion i.e., </a:t>
            </a:r>
            <a:r>
              <a:rPr lang="en-US" sz="3600" i="1" dirty="0"/>
              <a:t>F</a:t>
            </a:r>
            <a:r>
              <a:rPr lang="en-US" sz="3600" dirty="0"/>
              <a:t> = (9*</a:t>
            </a:r>
            <a:r>
              <a:rPr lang="en-US" sz="3600" i="1" dirty="0"/>
              <a:t>C</a:t>
            </a:r>
            <a:r>
              <a:rPr lang="en-US" sz="3600" dirty="0"/>
              <a:t>)/5 + 32 to the convert Celsius value in Fahrenheit scale and store it in the declared variable</a:t>
            </a:r>
          </a:p>
          <a:p>
            <a:pPr marL="571500" indent="-571500">
              <a:buFont typeface="Wingdings" panose="05000000000000000000" pitchFamily="2" charset="2"/>
              <a:buChar char="Ø"/>
            </a:pPr>
            <a:r>
              <a:rPr lang="en-US" sz="3600" dirty="0"/>
              <a:t>Step 5: Display the temperature in Fahrenheit scale</a:t>
            </a:r>
          </a:p>
          <a:p>
            <a:pPr marL="571500" indent="-571500">
              <a:buFont typeface="Wingdings" panose="05000000000000000000" pitchFamily="2" charset="2"/>
              <a:buChar char="Ø"/>
            </a:pPr>
            <a:r>
              <a:rPr lang="en-US" sz="3600" dirty="0"/>
              <a:t>Step 6: Stop</a:t>
            </a:r>
          </a:p>
        </p:txBody>
      </p:sp>
      <p:pic>
        <p:nvPicPr>
          <p:cNvPr id="5" name="Picture 4">
            <a:extLst>
              <a:ext uri="{FF2B5EF4-FFF2-40B4-BE49-F238E27FC236}">
                <a16:creationId xmlns:a16="http://schemas.microsoft.com/office/drawing/2014/main" id="{54A8C0F9-8851-59A2-F992-3D6143AFF618}"/>
              </a:ext>
            </a:extLst>
          </p:cNvPr>
          <p:cNvPicPr>
            <a:picLocks noChangeAspect="1"/>
          </p:cNvPicPr>
          <p:nvPr/>
        </p:nvPicPr>
        <p:blipFill>
          <a:blip r:embed="rId2"/>
          <a:stretch>
            <a:fillRect/>
          </a:stretch>
        </p:blipFill>
        <p:spPr>
          <a:xfrm>
            <a:off x="1636526" y="2057400"/>
            <a:ext cx="2227217" cy="5485987"/>
          </a:xfrm>
          <a:prstGeom prst="rect">
            <a:avLst/>
          </a:prstGeom>
        </p:spPr>
      </p:pic>
    </p:spTree>
    <p:extLst>
      <p:ext uri="{BB962C8B-B14F-4D97-AF65-F5344CB8AC3E}">
        <p14:creationId xmlns:p14="http://schemas.microsoft.com/office/powerpoint/2010/main" val="5752732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050" y="1600200"/>
            <a:ext cx="15533076" cy="762000"/>
          </a:xfrm>
        </p:spPr>
        <p:txBody>
          <a:bodyPr anchor="t">
            <a:noAutofit/>
          </a:bodyPr>
          <a:lstStyle/>
          <a:p>
            <a:pPr algn="l"/>
            <a:r>
              <a:rPr lang="en-US" sz="3200" dirty="0">
                <a:latin typeface="Times New Roman" panose="02020603050405020304" pitchFamily="18" charset="0"/>
                <a:cs typeface="Times New Roman" panose="02020603050405020304" pitchFamily="18" charset="0"/>
              </a:rPr>
              <a:t>Draw a flowchart along with its algorithm to print numbers from 1 to 20.</a:t>
            </a:r>
            <a:endParaRPr lang="en-CA" sz="3200" dirty="0">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Example # 5 of Flowchart</a:t>
            </a:r>
          </a:p>
        </p:txBody>
      </p:sp>
      <p:sp>
        <p:nvSpPr>
          <p:cNvPr id="7" name="Rectangle 6"/>
          <p:cNvSpPr/>
          <p:nvPr/>
        </p:nvSpPr>
        <p:spPr>
          <a:xfrm>
            <a:off x="5486400" y="2667000"/>
            <a:ext cx="10668000" cy="4524315"/>
          </a:xfrm>
          <a:prstGeom prst="rect">
            <a:avLst/>
          </a:prstGeom>
        </p:spPr>
        <p:txBody>
          <a:bodyPr wrap="square">
            <a:spAutoFit/>
          </a:bodyPr>
          <a:lstStyle/>
          <a:p>
            <a:pPr marL="571500" indent="-571500">
              <a:buFont typeface="Wingdings" panose="05000000000000000000" pitchFamily="2" charset="2"/>
              <a:buChar char="Ø"/>
            </a:pPr>
            <a:r>
              <a:rPr lang="en-US" sz="3600" dirty="0"/>
              <a:t>Step 1: Start</a:t>
            </a:r>
          </a:p>
          <a:p>
            <a:pPr marL="571500" indent="-571500">
              <a:buFont typeface="Wingdings" panose="05000000000000000000" pitchFamily="2" charset="2"/>
              <a:buChar char="Ø"/>
            </a:pPr>
            <a:r>
              <a:rPr lang="en-US" sz="3600" dirty="0"/>
              <a:t>Step 2: Declare and initialize a variable with a 0 value</a:t>
            </a:r>
          </a:p>
          <a:p>
            <a:pPr marL="571500" indent="-571500">
              <a:buFont typeface="Wingdings" panose="05000000000000000000" pitchFamily="2" charset="2"/>
              <a:buChar char="Ø"/>
            </a:pPr>
            <a:r>
              <a:rPr lang="en-US" sz="3600" dirty="0"/>
              <a:t>Step 3: Increment the variable value by 1 and store it in the same declared variable</a:t>
            </a:r>
          </a:p>
          <a:p>
            <a:pPr marL="571500" indent="-571500">
              <a:buFont typeface="Wingdings" panose="05000000000000000000" pitchFamily="2" charset="2"/>
              <a:buChar char="Ø"/>
            </a:pPr>
            <a:r>
              <a:rPr lang="en-US" sz="3600" dirty="0"/>
              <a:t>Step 4: Print the value stored in the variable</a:t>
            </a:r>
          </a:p>
          <a:p>
            <a:pPr marL="571500" indent="-571500">
              <a:buFont typeface="Wingdings" panose="05000000000000000000" pitchFamily="2" charset="2"/>
              <a:buChar char="Ø"/>
            </a:pPr>
            <a:r>
              <a:rPr lang="en-US" sz="3600" dirty="0"/>
              <a:t>Step 5: If the variable is &lt; 20 then go to step 3, otherwise go to the next step</a:t>
            </a:r>
          </a:p>
          <a:p>
            <a:pPr marL="571500" indent="-571500">
              <a:buFont typeface="Wingdings" panose="05000000000000000000" pitchFamily="2" charset="2"/>
              <a:buChar char="Ø"/>
            </a:pPr>
            <a:r>
              <a:rPr lang="en-US" sz="3600" dirty="0"/>
              <a:t>Step 6: Stop</a:t>
            </a:r>
          </a:p>
        </p:txBody>
      </p:sp>
      <p:pic>
        <p:nvPicPr>
          <p:cNvPr id="4" name="Picture 3">
            <a:extLst>
              <a:ext uri="{FF2B5EF4-FFF2-40B4-BE49-F238E27FC236}">
                <a16:creationId xmlns:a16="http://schemas.microsoft.com/office/drawing/2014/main" id="{F5BE74BA-6DE4-77D3-F525-B73290F20B5B}"/>
              </a:ext>
            </a:extLst>
          </p:cNvPr>
          <p:cNvPicPr>
            <a:picLocks noChangeAspect="1"/>
          </p:cNvPicPr>
          <p:nvPr/>
        </p:nvPicPr>
        <p:blipFill>
          <a:blip r:embed="rId2"/>
          <a:stretch>
            <a:fillRect/>
          </a:stretch>
        </p:blipFill>
        <p:spPr>
          <a:xfrm>
            <a:off x="1447800" y="2150974"/>
            <a:ext cx="2362200" cy="5392826"/>
          </a:xfrm>
          <a:prstGeom prst="rect">
            <a:avLst/>
          </a:prstGeom>
        </p:spPr>
      </p:pic>
    </p:spTree>
    <p:extLst>
      <p:ext uri="{BB962C8B-B14F-4D97-AF65-F5344CB8AC3E}">
        <p14:creationId xmlns:p14="http://schemas.microsoft.com/office/powerpoint/2010/main" val="5574640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8C37F-B7F4-390B-BFE9-8FCD28C45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115F21-A5A6-5D44-B6AC-E47478DF9F49}"/>
              </a:ext>
            </a:extLst>
          </p:cNvPr>
          <p:cNvSpPr>
            <a:spLocks noGrp="1"/>
          </p:cNvSpPr>
          <p:nvPr>
            <p:ph type="title"/>
          </p:nvPr>
        </p:nvSpPr>
        <p:spPr>
          <a:xfrm>
            <a:off x="228600" y="1752600"/>
            <a:ext cx="11125200" cy="5486400"/>
          </a:xfrm>
        </p:spPr>
        <p:txBody>
          <a:bodyPr anchor="t">
            <a:noAutofit/>
          </a:bodyPr>
          <a:lstStyle/>
          <a:p>
            <a:pPr algn="l"/>
            <a:r>
              <a:rPr lang="en-US" sz="3200" dirty="0">
                <a:latin typeface="Times New Roman" panose="02020603050405020304" pitchFamily="18" charset="0"/>
                <a:cs typeface="Times New Roman" panose="02020603050405020304" pitchFamily="18" charset="0"/>
              </a:rPr>
              <a:t>An airport has a conveyer belt to pass the luggage to the passengers. This </a:t>
            </a:r>
            <a:r>
              <a:rPr lang="en-US" sz="3200" b="1" dirty="0">
                <a:solidFill>
                  <a:srgbClr val="FF0000"/>
                </a:solidFill>
                <a:latin typeface="Times New Roman" panose="02020603050405020304" pitchFamily="18" charset="0"/>
                <a:cs typeface="Times New Roman" panose="02020603050405020304" pitchFamily="18" charset="0"/>
              </a:rPr>
              <a:t>conveyor belt (</a:t>
            </a:r>
            <a:r>
              <a:rPr lang="en-US" sz="3200" b="1" i="1" dirty="0">
                <a:solidFill>
                  <a:srgbClr val="FF0000"/>
                </a:solidFill>
                <a:latin typeface="Times New Roman" panose="02020603050405020304" pitchFamily="18" charset="0"/>
                <a:cs typeface="Times New Roman" panose="02020603050405020304" pitchFamily="18" charset="0"/>
              </a:rPr>
              <a:t>C</a:t>
            </a:r>
            <a:r>
              <a:rPr lang="en-US" sz="3200" b="1" dirty="0">
                <a:solidFill>
                  <a:srgbClr val="FF0000"/>
                </a:solidFill>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is operated by a </a:t>
            </a:r>
            <a:r>
              <a:rPr lang="en-US" sz="3200" b="1" dirty="0">
                <a:solidFill>
                  <a:srgbClr val="FF0000"/>
                </a:solidFill>
                <a:latin typeface="Times New Roman" panose="02020603050405020304" pitchFamily="18" charset="0"/>
                <a:cs typeface="Times New Roman" panose="02020603050405020304" pitchFamily="18" charset="0"/>
              </a:rPr>
              <a:t>push button (</a:t>
            </a:r>
            <a:r>
              <a:rPr lang="en-US" sz="3200" b="1" i="1" dirty="0">
                <a:solidFill>
                  <a:srgbClr val="FF0000"/>
                </a:solidFill>
                <a:latin typeface="Times New Roman" panose="02020603050405020304" pitchFamily="18" charset="0"/>
                <a:cs typeface="Times New Roman" panose="02020603050405020304" pitchFamily="18" charset="0"/>
              </a:rPr>
              <a:t>B</a:t>
            </a:r>
            <a:r>
              <a:rPr lang="en-US" sz="3200" b="1" dirty="0">
                <a:solidFill>
                  <a:srgbClr val="FF0000"/>
                </a:solidFill>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and </a:t>
            </a:r>
            <a:r>
              <a:rPr lang="en-US" sz="3200" b="1" dirty="0">
                <a:solidFill>
                  <a:srgbClr val="FF0000"/>
                </a:solidFill>
                <a:latin typeface="Times New Roman" panose="02020603050405020304" pitchFamily="18" charset="0"/>
                <a:cs typeface="Times New Roman" panose="02020603050405020304" pitchFamily="18" charset="0"/>
              </a:rPr>
              <a:t>2 LED lights (GREEN, </a:t>
            </a:r>
            <a:r>
              <a:rPr lang="en-US" sz="3200" b="1" i="1" dirty="0">
                <a:solidFill>
                  <a:srgbClr val="FF0000"/>
                </a:solidFill>
                <a:latin typeface="Times New Roman" panose="02020603050405020304" pitchFamily="18" charset="0"/>
                <a:cs typeface="Times New Roman" panose="02020603050405020304" pitchFamily="18" charset="0"/>
              </a:rPr>
              <a:t>GL</a:t>
            </a:r>
            <a:r>
              <a:rPr lang="en-US" sz="3200" b="1" dirty="0">
                <a:solidFill>
                  <a:srgbClr val="FF0000"/>
                </a:solidFill>
                <a:latin typeface="Times New Roman" panose="02020603050405020304" pitchFamily="18" charset="0"/>
                <a:cs typeface="Times New Roman" panose="02020603050405020304" pitchFamily="18" charset="0"/>
              </a:rPr>
              <a:t> and RED, </a:t>
            </a:r>
            <a:r>
              <a:rPr lang="en-US" sz="3200" b="1" i="1" dirty="0">
                <a:solidFill>
                  <a:srgbClr val="FF0000"/>
                </a:solidFill>
                <a:latin typeface="Times New Roman" panose="02020603050405020304" pitchFamily="18" charset="0"/>
                <a:cs typeface="Times New Roman" panose="02020603050405020304" pitchFamily="18" charset="0"/>
              </a:rPr>
              <a:t>RL</a:t>
            </a:r>
            <a:r>
              <a:rPr lang="en-US" sz="3200" b="1" dirty="0">
                <a:solidFill>
                  <a:srgbClr val="FF0000"/>
                </a:solidFill>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are fitted in the system. If the button is pressed once, then the belt will circulate in the clockwise direction and the GREEN light will remain ON keeping the RED light OFF. If the button is not pressed then the conveyer belt will not be circulating, and the RED light will remain ON keeping the GREEN light OFF. This entire system is built around an Arduino Uno platform. </a:t>
            </a:r>
            <a:br>
              <a:rPr lang="en-US" sz="2400"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Draw</a:t>
            </a:r>
            <a:r>
              <a:rPr lang="en-US" sz="3200" dirty="0">
                <a:latin typeface="Times New Roman" panose="02020603050405020304" pitchFamily="18" charset="0"/>
                <a:cs typeface="Times New Roman" panose="02020603050405020304" pitchFamily="18" charset="0"/>
              </a:rPr>
              <a:t> a flowchart to operate the lights and conveyor belt through the switch considering the given restraints.</a:t>
            </a:r>
          </a:p>
        </p:txBody>
      </p:sp>
      <p:sp>
        <p:nvSpPr>
          <p:cNvPr id="6" name="Rectangle 2">
            <a:extLst>
              <a:ext uri="{FF2B5EF4-FFF2-40B4-BE49-F238E27FC236}">
                <a16:creationId xmlns:a16="http://schemas.microsoft.com/office/drawing/2014/main" id="{BEF1A279-EC69-53FB-854E-D707157D655E}"/>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D13D5F02-7FB4-88C8-C86B-0FEEE6400837}"/>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2F48F7B1-383E-F5D8-835D-EBA68FA0BC06}"/>
              </a:ext>
            </a:extLst>
          </p:cNvPr>
          <p:cNvSpPr txBox="1">
            <a:spLocks/>
          </p:cNvSpPr>
          <p:nvPr/>
        </p:nvSpPr>
        <p:spPr bwMode="auto">
          <a:xfrm>
            <a:off x="457200" y="471488"/>
            <a:ext cx="155289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1 of Flowchart</a:t>
            </a:r>
          </a:p>
        </p:txBody>
      </p:sp>
      <p:pic>
        <p:nvPicPr>
          <p:cNvPr id="5" name="Picture 4">
            <a:extLst>
              <a:ext uri="{FF2B5EF4-FFF2-40B4-BE49-F238E27FC236}">
                <a16:creationId xmlns:a16="http://schemas.microsoft.com/office/drawing/2014/main" id="{75E36EB0-E1D0-9F5F-1076-EE72182253FD}"/>
              </a:ext>
            </a:extLst>
          </p:cNvPr>
          <p:cNvPicPr>
            <a:picLocks noChangeAspect="1"/>
          </p:cNvPicPr>
          <p:nvPr/>
        </p:nvPicPr>
        <p:blipFill>
          <a:blip r:embed="rId2"/>
          <a:stretch>
            <a:fillRect/>
          </a:stretch>
        </p:blipFill>
        <p:spPr>
          <a:xfrm>
            <a:off x="11430000" y="1667691"/>
            <a:ext cx="4724400" cy="6104709"/>
          </a:xfrm>
          <a:prstGeom prst="rect">
            <a:avLst/>
          </a:prstGeom>
        </p:spPr>
      </p:pic>
    </p:spTree>
    <p:extLst>
      <p:ext uri="{BB962C8B-B14F-4D97-AF65-F5344CB8AC3E}">
        <p14:creationId xmlns:p14="http://schemas.microsoft.com/office/powerpoint/2010/main" val="7989610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4570A-EFCA-EB4A-FE44-BA2AD16092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0EB508-6104-6399-88BA-723E7A6CF892}"/>
              </a:ext>
            </a:extLst>
          </p:cNvPr>
          <p:cNvSpPr>
            <a:spLocks noGrp="1"/>
          </p:cNvSpPr>
          <p:nvPr>
            <p:ph type="title"/>
          </p:nvPr>
        </p:nvSpPr>
        <p:spPr>
          <a:xfrm>
            <a:off x="304800" y="1676400"/>
            <a:ext cx="15925800" cy="5791200"/>
          </a:xfrm>
        </p:spPr>
        <p:txBody>
          <a:bodyPr anchor="t">
            <a:noAutofit/>
          </a:bodyPr>
          <a:lstStyle/>
          <a:p>
            <a:pPr algn="l"/>
            <a:r>
              <a:rPr lang="en-US" sz="3000" dirty="0">
                <a:latin typeface="Times New Roman" panose="02020603050405020304" pitchFamily="18" charset="0"/>
                <a:cs typeface="Times New Roman" panose="02020603050405020304" pitchFamily="18" charset="0"/>
              </a:rPr>
              <a:t>A vending machine at a university campus offers three different options for cold drinks. This machine can dispense a maximum of 3 drinks at once. The machine has a total of three buttons (button_1 for 1 drink, button_2 for 2 drinks, and button_3 for 3 drinks) to select the number of drinks to be dispensed. After this initial selection, the vending machine waits for 3 s and then displays the options for available drinks. The consumer can use the 3 buttons (button_1 for A drink, button_2 for B drink, and button_3 for C drink) to select their desired drink(s). If only 1 drink is to be dispensed, the consumer should press the relevant button, and the vending machine dispenses the chosen drink after a 3 s delay. If more than 1 drink is to be dispensed, the relevant buttons need to be pressed one after another, and the machine dispenses the drinks one at a time with a 3 s gap between the consecutive drinks. This vending machine is to be built around an Arduino Uno platform. Now, </a:t>
            </a:r>
            <a:r>
              <a:rPr lang="en-US" sz="3000" b="1" dirty="0">
                <a:latin typeface="Times New Roman" panose="02020603050405020304" pitchFamily="18" charset="0"/>
                <a:cs typeface="Times New Roman" panose="02020603050405020304" pitchFamily="18" charset="0"/>
              </a:rPr>
              <a:t>prepare</a:t>
            </a:r>
            <a:r>
              <a:rPr lang="en-US" sz="3000" dirty="0">
                <a:latin typeface="Times New Roman" panose="02020603050405020304" pitchFamily="18" charset="0"/>
                <a:cs typeface="Times New Roman" panose="02020603050405020304" pitchFamily="18" charset="0"/>
              </a:rPr>
              <a:t> a program to execute the mentioned tasks if the Arduino Uno system is operating at 16 </a:t>
            </a:r>
            <a:r>
              <a:rPr lang="en-US" sz="3000" dirty="0" err="1">
                <a:latin typeface="Times New Roman" panose="02020603050405020304" pitchFamily="18" charset="0"/>
                <a:cs typeface="Times New Roman" panose="02020603050405020304" pitchFamily="18" charset="0"/>
              </a:rPr>
              <a:t>MHz.</a:t>
            </a:r>
            <a:r>
              <a:rPr lang="en-US" sz="3000" dirty="0">
                <a:latin typeface="Times New Roman" panose="02020603050405020304" pitchFamily="18" charset="0"/>
                <a:cs typeface="Times New Roman" panose="02020603050405020304" pitchFamily="18" charset="0"/>
              </a:rPr>
              <a:t> [For this program, digital I/O pins D0 to D13 can be used.]</a:t>
            </a:r>
          </a:p>
        </p:txBody>
      </p:sp>
      <p:sp>
        <p:nvSpPr>
          <p:cNvPr id="6" name="Rectangle 2">
            <a:extLst>
              <a:ext uri="{FF2B5EF4-FFF2-40B4-BE49-F238E27FC236}">
                <a16:creationId xmlns:a16="http://schemas.microsoft.com/office/drawing/2014/main" id="{2A021806-0A52-7BDA-722D-86E3091CB8A8}"/>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4A578207-CAE9-BD6C-7E18-8493235C4133}"/>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920F55A5-BFAC-E1CB-1D31-DC9022240B28}"/>
              </a:ext>
            </a:extLst>
          </p:cNvPr>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2 of Flowchart</a:t>
            </a:r>
          </a:p>
        </p:txBody>
      </p:sp>
    </p:spTree>
    <p:extLst>
      <p:ext uri="{BB962C8B-B14F-4D97-AF65-F5344CB8AC3E}">
        <p14:creationId xmlns:p14="http://schemas.microsoft.com/office/powerpoint/2010/main" val="17825570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CBD2B-318A-255E-0C96-78F06707C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4FA2B3-DCA2-C76E-5C7D-1D2CD6D5E8BD}"/>
              </a:ext>
            </a:extLst>
          </p:cNvPr>
          <p:cNvSpPr>
            <a:spLocks noGrp="1"/>
          </p:cNvSpPr>
          <p:nvPr>
            <p:ph type="title"/>
          </p:nvPr>
        </p:nvSpPr>
        <p:spPr>
          <a:xfrm>
            <a:off x="304800" y="1676400"/>
            <a:ext cx="3581400" cy="5791200"/>
          </a:xfrm>
        </p:spPr>
        <p:txBody>
          <a:bodyPr anchor="t">
            <a:noAutofit/>
          </a:bodyPr>
          <a:lstStyle/>
          <a:p>
            <a:pPr algn="l"/>
            <a:r>
              <a:rPr lang="en-US" sz="2800" dirty="0">
                <a:latin typeface="Times New Roman" panose="02020603050405020304" pitchFamily="18" charset="0"/>
                <a:cs typeface="Times New Roman" panose="02020603050405020304" pitchFamily="18" charset="0"/>
              </a:rPr>
              <a:t>const int button1 = 2;</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const int button2 = 3;</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const int button3 = 4;</a:t>
            </a: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const int </a:t>
            </a:r>
            <a:r>
              <a:rPr lang="en-US" sz="2800" dirty="0" err="1">
                <a:latin typeface="Times New Roman" panose="02020603050405020304" pitchFamily="18" charset="0"/>
                <a:cs typeface="Times New Roman" panose="02020603050405020304" pitchFamily="18" charset="0"/>
              </a:rPr>
              <a:t>drinkA</a:t>
            </a:r>
            <a:r>
              <a:rPr lang="en-US" sz="2800" dirty="0">
                <a:latin typeface="Times New Roman" panose="02020603050405020304" pitchFamily="18" charset="0"/>
                <a:cs typeface="Times New Roman" panose="02020603050405020304" pitchFamily="18" charset="0"/>
              </a:rPr>
              <a:t> = 8;</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const int </a:t>
            </a:r>
            <a:r>
              <a:rPr lang="en-US" sz="2800" dirty="0" err="1">
                <a:latin typeface="Times New Roman" panose="02020603050405020304" pitchFamily="18" charset="0"/>
                <a:cs typeface="Times New Roman" panose="02020603050405020304" pitchFamily="18" charset="0"/>
              </a:rPr>
              <a:t>drinkB</a:t>
            </a:r>
            <a:r>
              <a:rPr lang="en-US" sz="2800" dirty="0">
                <a:latin typeface="Times New Roman" panose="02020603050405020304" pitchFamily="18" charset="0"/>
                <a:cs typeface="Times New Roman" panose="02020603050405020304" pitchFamily="18" charset="0"/>
              </a:rPr>
              <a:t> = 9;</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const int </a:t>
            </a:r>
            <a:r>
              <a:rPr lang="en-US" sz="2800" dirty="0" err="1">
                <a:latin typeface="Times New Roman" panose="02020603050405020304" pitchFamily="18" charset="0"/>
                <a:cs typeface="Times New Roman" panose="02020603050405020304" pitchFamily="18" charset="0"/>
              </a:rPr>
              <a:t>drinkC</a:t>
            </a:r>
            <a:r>
              <a:rPr lang="en-US" sz="2800" dirty="0">
                <a:latin typeface="Times New Roman" panose="02020603050405020304" pitchFamily="18" charset="0"/>
                <a:cs typeface="Times New Roman" panose="02020603050405020304" pitchFamily="18" charset="0"/>
              </a:rPr>
              <a:t> = 10;</a:t>
            </a: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int </a:t>
            </a:r>
            <a:r>
              <a:rPr lang="en-US" sz="2800" dirty="0" err="1">
                <a:latin typeface="Times New Roman" panose="02020603050405020304" pitchFamily="18" charset="0"/>
                <a:cs typeface="Times New Roman" panose="02020603050405020304" pitchFamily="18" charset="0"/>
              </a:rPr>
              <a:t>numDrinks</a:t>
            </a:r>
            <a:r>
              <a:rPr lang="en-US" sz="2800" dirty="0">
                <a:latin typeface="Times New Roman" panose="02020603050405020304" pitchFamily="18" charset="0"/>
                <a:cs typeface="Times New Roman" panose="02020603050405020304" pitchFamily="18" charset="0"/>
              </a:rPr>
              <a:t> = 0;</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holds selected drinks // (0=A, 1=B, 2=C)</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int </a:t>
            </a:r>
            <a:r>
              <a:rPr lang="en-US" sz="2800" dirty="0" err="1">
                <a:latin typeface="Times New Roman" panose="02020603050405020304" pitchFamily="18" charset="0"/>
                <a:cs typeface="Times New Roman" panose="02020603050405020304" pitchFamily="18" charset="0"/>
              </a:rPr>
              <a:t>selectedDrinks</a:t>
            </a:r>
            <a:r>
              <a:rPr lang="en-US" sz="2800" dirty="0">
                <a:latin typeface="Times New Roman" panose="02020603050405020304" pitchFamily="18" charset="0"/>
                <a:cs typeface="Times New Roman" panose="02020603050405020304" pitchFamily="18" charset="0"/>
              </a:rPr>
              <a:t>[3];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int </a:t>
            </a:r>
            <a:r>
              <a:rPr lang="en-US" sz="2800" dirty="0" err="1">
                <a:latin typeface="Times New Roman" panose="02020603050405020304" pitchFamily="18" charset="0"/>
                <a:cs typeface="Times New Roman" panose="02020603050405020304" pitchFamily="18" charset="0"/>
              </a:rPr>
              <a:t>selectionIndex</a:t>
            </a:r>
            <a:r>
              <a:rPr lang="en-US" sz="2800" dirty="0">
                <a:latin typeface="Times New Roman" panose="02020603050405020304" pitchFamily="18" charset="0"/>
                <a:cs typeface="Times New Roman" panose="02020603050405020304" pitchFamily="18" charset="0"/>
              </a:rPr>
              <a:t> = 0;</a:t>
            </a:r>
          </a:p>
        </p:txBody>
      </p:sp>
      <p:sp>
        <p:nvSpPr>
          <p:cNvPr id="6" name="Rectangle 2">
            <a:extLst>
              <a:ext uri="{FF2B5EF4-FFF2-40B4-BE49-F238E27FC236}">
                <a16:creationId xmlns:a16="http://schemas.microsoft.com/office/drawing/2014/main" id="{5E37A97E-20AD-808F-8C9A-7A862A3C172D}"/>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C41CE462-A312-F51C-35B3-F6CF3687392A}"/>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857954E4-889A-A8F7-63FD-31D542E30626}"/>
              </a:ext>
            </a:extLst>
          </p:cNvPr>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2 of Flowchart</a:t>
            </a:r>
          </a:p>
        </p:txBody>
      </p:sp>
      <p:sp>
        <p:nvSpPr>
          <p:cNvPr id="5" name="TextBox 4">
            <a:extLst>
              <a:ext uri="{FF2B5EF4-FFF2-40B4-BE49-F238E27FC236}">
                <a16:creationId xmlns:a16="http://schemas.microsoft.com/office/drawing/2014/main" id="{5C51CB80-5825-BC3B-F366-032760C14DEB}"/>
              </a:ext>
            </a:extLst>
          </p:cNvPr>
          <p:cNvSpPr txBox="1"/>
          <p:nvPr/>
        </p:nvSpPr>
        <p:spPr>
          <a:xfrm>
            <a:off x="3962400" y="1607024"/>
            <a:ext cx="5715000" cy="6124754"/>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void setup()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Serial.begin</a:t>
            </a:r>
            <a:r>
              <a:rPr lang="en-US" sz="2400" dirty="0">
                <a:latin typeface="Times New Roman" panose="02020603050405020304" pitchFamily="18" charset="0"/>
                <a:cs typeface="Times New Roman" panose="02020603050405020304" pitchFamily="18" charset="0"/>
              </a:rPr>
              <a:t>(9600);</a:t>
            </a:r>
            <a:br>
              <a:rPr lang="en-US" sz="2400" dirty="0">
                <a:latin typeface="Times New Roman" panose="02020603050405020304" pitchFamily="18" charset="0"/>
                <a:cs typeface="Times New Roman" panose="02020603050405020304" pitchFamily="18" charset="0"/>
              </a:rPr>
            </a:br>
            <a:br>
              <a:rPr lang="en-US" sz="1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(button1, INPUT_PULLUP);</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(button2, INPUT_PULLUP);</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(button3, INPUT_PULLUP);</a:t>
            </a:r>
            <a:br>
              <a:rPr lang="en-US" sz="2400" dirty="0">
                <a:latin typeface="Times New Roman" panose="02020603050405020304" pitchFamily="18" charset="0"/>
                <a:cs typeface="Times New Roman" panose="02020603050405020304" pitchFamily="18" charset="0"/>
              </a:rPr>
            </a:br>
            <a:br>
              <a:rPr lang="en-US" sz="1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drinkA</a:t>
            </a:r>
            <a:r>
              <a:rPr lang="en-US" sz="2400" dirty="0">
                <a:latin typeface="Times New Roman" panose="02020603050405020304" pitchFamily="18" charset="0"/>
                <a:cs typeface="Times New Roman" panose="02020603050405020304" pitchFamily="18" charset="0"/>
              </a:rPr>
              <a:t>, OUTPUT);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drinkB</a:t>
            </a:r>
            <a:r>
              <a:rPr lang="en-US" sz="2400" dirty="0">
                <a:latin typeface="Times New Roman" panose="02020603050405020304" pitchFamily="18" charset="0"/>
                <a:cs typeface="Times New Roman" panose="02020603050405020304" pitchFamily="18" charset="0"/>
              </a:rPr>
              <a:t>, OUTPUT);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drinkC</a:t>
            </a:r>
            <a:r>
              <a:rPr lang="en-US" sz="2400" dirty="0">
                <a:latin typeface="Times New Roman" panose="02020603050405020304" pitchFamily="18" charset="0"/>
                <a:cs typeface="Times New Roman" panose="02020603050405020304" pitchFamily="18" charset="0"/>
              </a:rPr>
              <a:t>, OUTPUT);</a:t>
            </a:r>
            <a:br>
              <a:rPr lang="en-US" sz="2400" dirty="0">
                <a:latin typeface="Times New Roman" panose="02020603050405020304" pitchFamily="18" charset="0"/>
                <a:cs typeface="Times New Roman" panose="02020603050405020304" pitchFamily="18" charset="0"/>
              </a:rPr>
            </a:br>
            <a:br>
              <a:rPr lang="en-US" sz="1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 Ensure all outputs are LOW</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drinkA</a:t>
            </a:r>
            <a:r>
              <a:rPr lang="en-US" sz="2400" dirty="0">
                <a:latin typeface="Times New Roman" panose="02020603050405020304" pitchFamily="18" charset="0"/>
                <a:cs typeface="Times New Roman" panose="02020603050405020304" pitchFamily="18" charset="0"/>
              </a:rPr>
              <a:t>, LOW);</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drinkB</a:t>
            </a:r>
            <a:r>
              <a:rPr lang="en-US" sz="2400" dirty="0">
                <a:latin typeface="Times New Roman" panose="02020603050405020304" pitchFamily="18" charset="0"/>
                <a:cs typeface="Times New Roman" panose="02020603050405020304" pitchFamily="18" charset="0"/>
              </a:rPr>
              <a:t>, LOW);</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drinkC</a:t>
            </a:r>
            <a:r>
              <a:rPr lang="en-US" sz="2400" dirty="0">
                <a:latin typeface="Times New Roman" panose="02020603050405020304" pitchFamily="18" charset="0"/>
                <a:cs typeface="Times New Roman" panose="02020603050405020304" pitchFamily="18" charset="0"/>
              </a:rPr>
              <a:t>, LOW);</a:t>
            </a:r>
            <a:br>
              <a:rPr lang="en-US" sz="2400" dirty="0">
                <a:latin typeface="Times New Roman" panose="02020603050405020304" pitchFamily="18" charset="0"/>
                <a:cs typeface="Times New Roman" panose="02020603050405020304" pitchFamily="18" charset="0"/>
              </a:rPr>
            </a:br>
            <a:br>
              <a:rPr lang="en-US" sz="1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Serial.println</a:t>
            </a:r>
            <a:r>
              <a:rPr lang="en-US" sz="2400" dirty="0">
                <a:latin typeface="Times New Roman" panose="02020603050405020304" pitchFamily="18" charset="0"/>
                <a:cs typeface="Times New Roman" panose="02020603050405020304" pitchFamily="18" charset="0"/>
              </a:rPr>
              <a:t>("Vending Machine Ready...");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t>
            </a:r>
            <a:endParaRPr lang="en-US" sz="2400" dirty="0"/>
          </a:p>
        </p:txBody>
      </p:sp>
      <p:sp>
        <p:nvSpPr>
          <p:cNvPr id="15" name="TextBox 14">
            <a:extLst>
              <a:ext uri="{FF2B5EF4-FFF2-40B4-BE49-F238E27FC236}">
                <a16:creationId xmlns:a16="http://schemas.microsoft.com/office/drawing/2014/main" id="{DC9465B8-0522-B500-4381-518AF5474E42}"/>
              </a:ext>
            </a:extLst>
          </p:cNvPr>
          <p:cNvSpPr txBox="1"/>
          <p:nvPr/>
        </p:nvSpPr>
        <p:spPr>
          <a:xfrm>
            <a:off x="9753600" y="1524000"/>
            <a:ext cx="6553200" cy="6124754"/>
          </a:xfrm>
          <a:prstGeom prst="rect">
            <a:avLst/>
          </a:prstGeom>
          <a:noFill/>
        </p:spPr>
        <p:txBody>
          <a:bodyPr wrap="square" rtlCol="0">
            <a:spAutoFit/>
          </a:bodyPr>
          <a:lstStyle/>
          <a:p>
            <a:r>
              <a:rPr lang="en-US" sz="2400" dirty="0"/>
              <a:t>void loop() {</a:t>
            </a:r>
          </a:p>
          <a:p>
            <a:r>
              <a:rPr lang="en-US" sz="2400" dirty="0"/>
              <a:t>  </a:t>
            </a:r>
            <a:r>
              <a:rPr lang="en-US" sz="2400" dirty="0" err="1"/>
              <a:t>selectionIndex</a:t>
            </a:r>
            <a:r>
              <a:rPr lang="en-US" sz="2400" dirty="0"/>
              <a:t> = 0;</a:t>
            </a:r>
          </a:p>
          <a:p>
            <a:r>
              <a:rPr lang="en-US" sz="2400" dirty="0"/>
              <a:t>  </a:t>
            </a:r>
            <a:r>
              <a:rPr lang="en-US" sz="2400" dirty="0" err="1"/>
              <a:t>numDrinks</a:t>
            </a:r>
            <a:r>
              <a:rPr lang="en-US" sz="2400" dirty="0"/>
              <a:t> = 0;</a:t>
            </a:r>
          </a:p>
          <a:p>
            <a:endParaRPr lang="en-US" sz="1600" dirty="0"/>
          </a:p>
          <a:p>
            <a:r>
              <a:rPr lang="en-US" sz="2400" dirty="0"/>
              <a:t>  </a:t>
            </a:r>
            <a:r>
              <a:rPr lang="en-US" sz="2400" dirty="0" err="1"/>
              <a:t>Serial.println</a:t>
            </a:r>
            <a:r>
              <a:rPr lang="en-US" sz="2400" dirty="0"/>
              <a:t>("Select number of drinks (1-3):");</a:t>
            </a:r>
          </a:p>
          <a:p>
            <a:endParaRPr lang="en-US" sz="1600" dirty="0"/>
          </a:p>
          <a:p>
            <a:r>
              <a:rPr lang="en-US" sz="2400" dirty="0"/>
              <a:t>  </a:t>
            </a:r>
            <a:r>
              <a:rPr lang="en-US" sz="2000" dirty="0"/>
              <a:t>// Wait for initial button press to select number of drinks</a:t>
            </a:r>
          </a:p>
          <a:p>
            <a:r>
              <a:rPr lang="en-US" sz="2400" dirty="0"/>
              <a:t>  while (</a:t>
            </a:r>
            <a:r>
              <a:rPr lang="en-US" sz="2400" dirty="0" err="1"/>
              <a:t>numDrinks</a:t>
            </a:r>
            <a:r>
              <a:rPr lang="en-US" sz="2400" dirty="0"/>
              <a:t> == 0) {</a:t>
            </a:r>
          </a:p>
          <a:p>
            <a:r>
              <a:rPr lang="en-US" sz="2400" dirty="0"/>
              <a:t>    if (</a:t>
            </a:r>
            <a:r>
              <a:rPr lang="en-US" sz="2400" dirty="0" err="1"/>
              <a:t>digitalRead</a:t>
            </a:r>
            <a:r>
              <a:rPr lang="en-US" sz="2400" dirty="0"/>
              <a:t>(button1) == LOW) {</a:t>
            </a:r>
          </a:p>
          <a:p>
            <a:r>
              <a:rPr lang="en-US" sz="2400" dirty="0"/>
              <a:t>      </a:t>
            </a:r>
            <a:r>
              <a:rPr lang="en-US" sz="2400" dirty="0" err="1"/>
              <a:t>numDrinks</a:t>
            </a:r>
            <a:r>
              <a:rPr lang="en-US" sz="2400" dirty="0"/>
              <a:t> = 1;</a:t>
            </a:r>
          </a:p>
          <a:p>
            <a:r>
              <a:rPr lang="en-US" sz="2400" dirty="0"/>
              <a:t>    } else if (</a:t>
            </a:r>
            <a:r>
              <a:rPr lang="en-US" sz="2400" dirty="0" err="1"/>
              <a:t>digitalRead</a:t>
            </a:r>
            <a:r>
              <a:rPr lang="en-US" sz="2400" dirty="0"/>
              <a:t>(button2) == LOW) {</a:t>
            </a:r>
          </a:p>
          <a:p>
            <a:r>
              <a:rPr lang="en-US" sz="2400" dirty="0"/>
              <a:t>      </a:t>
            </a:r>
            <a:r>
              <a:rPr lang="en-US" sz="2400" dirty="0" err="1"/>
              <a:t>numDrinks</a:t>
            </a:r>
            <a:r>
              <a:rPr lang="en-US" sz="2400" dirty="0"/>
              <a:t> = 2;</a:t>
            </a:r>
          </a:p>
          <a:p>
            <a:r>
              <a:rPr lang="en-US" sz="2400" dirty="0"/>
              <a:t>    } else if (</a:t>
            </a:r>
            <a:r>
              <a:rPr lang="en-US" sz="2400" dirty="0" err="1"/>
              <a:t>digitalRead</a:t>
            </a:r>
            <a:r>
              <a:rPr lang="en-US" sz="2400" dirty="0"/>
              <a:t>(button3) == LOW) {</a:t>
            </a:r>
          </a:p>
          <a:p>
            <a:r>
              <a:rPr lang="en-US" sz="2400" dirty="0"/>
              <a:t>      </a:t>
            </a:r>
            <a:r>
              <a:rPr lang="en-US" sz="2400" dirty="0" err="1"/>
              <a:t>numDrinks</a:t>
            </a:r>
            <a:r>
              <a:rPr lang="en-US" sz="2400" dirty="0"/>
              <a:t> = 3;</a:t>
            </a:r>
          </a:p>
          <a:p>
            <a:r>
              <a:rPr lang="en-US" sz="2400" dirty="0"/>
              <a:t>    }</a:t>
            </a:r>
          </a:p>
          <a:p>
            <a:r>
              <a:rPr lang="en-US" sz="2400" dirty="0"/>
              <a:t>    delay(200); // Debounce</a:t>
            </a:r>
          </a:p>
          <a:p>
            <a:r>
              <a:rPr lang="en-US" sz="2400" dirty="0"/>
              <a:t>  }</a:t>
            </a:r>
          </a:p>
        </p:txBody>
      </p:sp>
    </p:spTree>
    <p:extLst>
      <p:ext uri="{BB962C8B-B14F-4D97-AF65-F5344CB8AC3E}">
        <p14:creationId xmlns:p14="http://schemas.microsoft.com/office/powerpoint/2010/main" val="17394627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37FBD-4F30-0E86-9327-C3F0C4FDDE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4AF467-CDA3-B087-B856-474C6339CC56}"/>
              </a:ext>
            </a:extLst>
          </p:cNvPr>
          <p:cNvSpPr>
            <a:spLocks noGrp="1"/>
          </p:cNvSpPr>
          <p:nvPr>
            <p:ph type="title"/>
          </p:nvPr>
        </p:nvSpPr>
        <p:spPr>
          <a:xfrm>
            <a:off x="304800" y="1676400"/>
            <a:ext cx="8077200" cy="5791200"/>
          </a:xfrm>
        </p:spPr>
        <p:txBody>
          <a:bodyPr anchor="t">
            <a:noAutofit/>
          </a:bodyPr>
          <a:lstStyle/>
          <a:p>
            <a:pPr algn="l"/>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a:t>
            </a:r>
            <a:r>
              <a:rPr lang="en-US" sz="2400" dirty="0">
                <a:latin typeface="Times New Roman" panose="02020603050405020304" pitchFamily="18" charset="0"/>
                <a:cs typeface="Times New Roman" panose="02020603050405020304" pitchFamily="18" charset="0"/>
              </a:rPr>
              <a:t>("Number of drinks selected: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Serial.println</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numDrinks</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delay(3000); // Wait 3 seconds before selecting drink types</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Serial.println</a:t>
            </a:r>
            <a:r>
              <a:rPr lang="en-US" sz="2400" dirty="0">
                <a:latin typeface="Times New Roman" panose="02020603050405020304" pitchFamily="18" charset="0"/>
                <a:cs typeface="Times New Roman" panose="02020603050405020304" pitchFamily="18" charset="0"/>
              </a:rPr>
              <a:t>("Select drink types:");</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 Wait for drink type selections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while (</a:t>
            </a:r>
            <a:r>
              <a:rPr lang="en-US" sz="2400" dirty="0" err="1">
                <a:latin typeface="Times New Roman" panose="02020603050405020304" pitchFamily="18" charset="0"/>
                <a:cs typeface="Times New Roman" panose="02020603050405020304" pitchFamily="18" charset="0"/>
              </a:rPr>
              <a:t>selectionIndex</a:t>
            </a:r>
            <a:r>
              <a:rPr lang="en-US" sz="2400" dirty="0">
                <a:latin typeface="Times New Roman" panose="02020603050405020304" pitchFamily="18" charset="0"/>
                <a:cs typeface="Times New Roman" panose="02020603050405020304" pitchFamily="18" charset="0"/>
              </a:rPr>
              <a:t> &lt; </a:t>
            </a:r>
            <a:r>
              <a:rPr lang="en-US" sz="2400" dirty="0" err="1">
                <a:latin typeface="Times New Roman" panose="02020603050405020304" pitchFamily="18" charset="0"/>
                <a:cs typeface="Times New Roman" panose="02020603050405020304" pitchFamily="18" charset="0"/>
              </a:rPr>
              <a:t>numDrinks</a:t>
            </a: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if (</a:t>
            </a:r>
            <a:r>
              <a:rPr lang="en-US" sz="2400" dirty="0" err="1">
                <a:latin typeface="Times New Roman" panose="02020603050405020304" pitchFamily="18" charset="0"/>
                <a:cs typeface="Times New Roman" panose="02020603050405020304" pitchFamily="18" charset="0"/>
              </a:rPr>
              <a:t>digitalRead</a:t>
            </a:r>
            <a:r>
              <a:rPr lang="en-US" sz="2400" dirty="0">
                <a:latin typeface="Times New Roman" panose="02020603050405020304" pitchFamily="18" charset="0"/>
                <a:cs typeface="Times New Roman" panose="02020603050405020304" pitchFamily="18" charset="0"/>
              </a:rPr>
              <a:t>(button1) == LOW)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selectedDrinks</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selectionIndex</a:t>
            </a:r>
            <a:r>
              <a:rPr lang="en-US" sz="2400" dirty="0">
                <a:latin typeface="Times New Roman" panose="02020603050405020304" pitchFamily="18" charset="0"/>
                <a:cs typeface="Times New Roman" panose="02020603050405020304" pitchFamily="18" charset="0"/>
              </a:rPr>
              <a:t>++] = 0; // Drink A</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Serial.println</a:t>
            </a:r>
            <a:r>
              <a:rPr lang="en-US" sz="2400" dirty="0">
                <a:latin typeface="Times New Roman" panose="02020603050405020304" pitchFamily="18" charset="0"/>
                <a:cs typeface="Times New Roman" panose="02020603050405020304" pitchFamily="18" charset="0"/>
              </a:rPr>
              <a:t>("Selected: Drink A");</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delay(500); // Debounce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while (</a:t>
            </a:r>
            <a:r>
              <a:rPr lang="en-US" sz="2400" dirty="0" err="1">
                <a:latin typeface="Times New Roman" panose="02020603050405020304" pitchFamily="18" charset="0"/>
                <a:cs typeface="Times New Roman" panose="02020603050405020304" pitchFamily="18" charset="0"/>
              </a:rPr>
              <a:t>digitalRead</a:t>
            </a:r>
            <a:r>
              <a:rPr lang="en-US" sz="2400" dirty="0">
                <a:latin typeface="Times New Roman" panose="02020603050405020304" pitchFamily="18" charset="0"/>
                <a:cs typeface="Times New Roman" panose="02020603050405020304" pitchFamily="18" charset="0"/>
              </a:rPr>
              <a:t>(button1) == LOW); // Wait for release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 else if (</a:t>
            </a:r>
            <a:r>
              <a:rPr lang="en-US" sz="2400" dirty="0" err="1">
                <a:latin typeface="Times New Roman" panose="02020603050405020304" pitchFamily="18" charset="0"/>
                <a:cs typeface="Times New Roman" panose="02020603050405020304" pitchFamily="18" charset="0"/>
              </a:rPr>
              <a:t>digitalRead</a:t>
            </a:r>
            <a:r>
              <a:rPr lang="en-US" sz="2400" dirty="0">
                <a:latin typeface="Times New Roman" panose="02020603050405020304" pitchFamily="18" charset="0"/>
                <a:cs typeface="Times New Roman" panose="02020603050405020304" pitchFamily="18" charset="0"/>
              </a:rPr>
              <a:t>(button2) == LOW) {</a:t>
            </a:r>
          </a:p>
        </p:txBody>
      </p:sp>
      <p:sp>
        <p:nvSpPr>
          <p:cNvPr id="6" name="Rectangle 2">
            <a:extLst>
              <a:ext uri="{FF2B5EF4-FFF2-40B4-BE49-F238E27FC236}">
                <a16:creationId xmlns:a16="http://schemas.microsoft.com/office/drawing/2014/main" id="{55225CD8-A203-7AA4-A352-A7DCA98F80BA}"/>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B2D69745-D777-FFD3-0549-A0D249B26075}"/>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9ED27EFC-B94D-C3C8-304D-C153FB5A353E}"/>
              </a:ext>
            </a:extLst>
          </p:cNvPr>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2 of Flowchart</a:t>
            </a:r>
          </a:p>
        </p:txBody>
      </p:sp>
      <p:sp>
        <p:nvSpPr>
          <p:cNvPr id="15" name="TextBox 14">
            <a:extLst>
              <a:ext uri="{FF2B5EF4-FFF2-40B4-BE49-F238E27FC236}">
                <a16:creationId xmlns:a16="http://schemas.microsoft.com/office/drawing/2014/main" id="{26786B26-99DA-562D-1921-CFE70B84B7B9}"/>
              </a:ext>
            </a:extLst>
          </p:cNvPr>
          <p:cNvSpPr txBox="1"/>
          <p:nvPr/>
        </p:nvSpPr>
        <p:spPr>
          <a:xfrm>
            <a:off x="8763000" y="1678675"/>
            <a:ext cx="7391400" cy="4154984"/>
          </a:xfrm>
          <a:prstGeom prst="rect">
            <a:avLst/>
          </a:prstGeom>
          <a:noFill/>
        </p:spPr>
        <p:txBody>
          <a:bodyPr wrap="square" rtlCol="0">
            <a:spAutoFit/>
          </a:bodyPr>
          <a:lstStyle/>
          <a:p>
            <a:r>
              <a:rPr lang="en-US" sz="2400" dirty="0" err="1"/>
              <a:t>selectedDrinks</a:t>
            </a:r>
            <a:r>
              <a:rPr lang="en-US" sz="2400" dirty="0"/>
              <a:t>[</a:t>
            </a:r>
            <a:r>
              <a:rPr lang="en-US" sz="2400" dirty="0" err="1"/>
              <a:t>selectionIndex</a:t>
            </a:r>
            <a:r>
              <a:rPr lang="en-US" sz="2400" dirty="0"/>
              <a:t>++] = 1; // Drink B</a:t>
            </a:r>
          </a:p>
          <a:p>
            <a:r>
              <a:rPr lang="en-US" sz="2400" dirty="0"/>
              <a:t>      </a:t>
            </a:r>
            <a:r>
              <a:rPr lang="en-US" sz="2400" dirty="0" err="1"/>
              <a:t>Serial.println</a:t>
            </a:r>
            <a:r>
              <a:rPr lang="en-US" sz="2400" dirty="0"/>
              <a:t>("Selected: Drink B");</a:t>
            </a:r>
          </a:p>
          <a:p>
            <a:r>
              <a:rPr lang="en-US" sz="2400" dirty="0"/>
              <a:t>      delay(500);</a:t>
            </a:r>
          </a:p>
          <a:p>
            <a:r>
              <a:rPr lang="en-US" sz="2400" dirty="0"/>
              <a:t>      while (</a:t>
            </a:r>
            <a:r>
              <a:rPr lang="en-US" sz="2400" dirty="0" err="1"/>
              <a:t>digitalRead</a:t>
            </a:r>
            <a:r>
              <a:rPr lang="en-US" sz="2400" dirty="0"/>
              <a:t>(button2) == LOW);</a:t>
            </a:r>
          </a:p>
          <a:p>
            <a:r>
              <a:rPr lang="en-US" sz="2400" dirty="0"/>
              <a:t>    } else if (</a:t>
            </a:r>
            <a:r>
              <a:rPr lang="en-US" sz="2400" dirty="0" err="1"/>
              <a:t>digitalRead</a:t>
            </a:r>
            <a:r>
              <a:rPr lang="en-US" sz="2400" dirty="0"/>
              <a:t>(button3) == LOW) {</a:t>
            </a:r>
          </a:p>
          <a:p>
            <a:r>
              <a:rPr lang="en-US" sz="2400" dirty="0"/>
              <a:t>      </a:t>
            </a:r>
            <a:r>
              <a:rPr lang="en-US" sz="2400" dirty="0" err="1"/>
              <a:t>selectedDrinks</a:t>
            </a:r>
            <a:r>
              <a:rPr lang="en-US" sz="2400" dirty="0"/>
              <a:t>[</a:t>
            </a:r>
            <a:r>
              <a:rPr lang="en-US" sz="2400" dirty="0" err="1"/>
              <a:t>selectionIndex</a:t>
            </a:r>
            <a:r>
              <a:rPr lang="en-US" sz="2400" dirty="0"/>
              <a:t>++] = 2; // Drink C</a:t>
            </a:r>
          </a:p>
          <a:p>
            <a:r>
              <a:rPr lang="en-US" sz="2400" dirty="0"/>
              <a:t>      </a:t>
            </a:r>
            <a:r>
              <a:rPr lang="en-US" sz="2400" dirty="0" err="1"/>
              <a:t>Serial.println</a:t>
            </a:r>
            <a:r>
              <a:rPr lang="en-US" sz="2400" dirty="0"/>
              <a:t>("Selected: Drink C");</a:t>
            </a:r>
          </a:p>
          <a:p>
            <a:r>
              <a:rPr lang="en-US" sz="2400" dirty="0"/>
              <a:t>      delay(500);</a:t>
            </a:r>
          </a:p>
          <a:p>
            <a:r>
              <a:rPr lang="en-US" sz="2400" dirty="0"/>
              <a:t>      while (</a:t>
            </a:r>
            <a:r>
              <a:rPr lang="en-US" sz="2400" dirty="0" err="1"/>
              <a:t>digitalRead</a:t>
            </a:r>
            <a:r>
              <a:rPr lang="en-US" sz="2400" dirty="0"/>
              <a:t>(button3) == LOW);</a:t>
            </a:r>
          </a:p>
          <a:p>
            <a:r>
              <a:rPr lang="en-US" sz="2400" dirty="0"/>
              <a:t>    }</a:t>
            </a:r>
          </a:p>
          <a:p>
            <a:r>
              <a:rPr lang="en-US" sz="2400" dirty="0"/>
              <a:t>  }</a:t>
            </a:r>
          </a:p>
        </p:txBody>
      </p:sp>
    </p:spTree>
    <p:extLst>
      <p:ext uri="{BB962C8B-B14F-4D97-AF65-F5344CB8AC3E}">
        <p14:creationId xmlns:p14="http://schemas.microsoft.com/office/powerpoint/2010/main" val="5497733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55BEF-0061-90B3-459B-00EC977036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947D12-6F3B-2ABB-F272-B17BD1E25EEC}"/>
              </a:ext>
            </a:extLst>
          </p:cNvPr>
          <p:cNvSpPr>
            <a:spLocks noGrp="1"/>
          </p:cNvSpPr>
          <p:nvPr>
            <p:ph type="title"/>
          </p:nvPr>
        </p:nvSpPr>
        <p:spPr>
          <a:xfrm>
            <a:off x="304800" y="1676400"/>
            <a:ext cx="8077200" cy="5791200"/>
          </a:xfrm>
        </p:spPr>
        <p:txBody>
          <a:bodyPr anchor="t">
            <a:noAutofit/>
          </a:bodyPr>
          <a:lstStyle/>
          <a:p>
            <a:pPr algn="l"/>
            <a:r>
              <a:rPr lang="en-US" sz="2400" dirty="0">
                <a:latin typeface="Times New Roman" panose="02020603050405020304" pitchFamily="18" charset="0"/>
                <a:cs typeface="Times New Roman" panose="02020603050405020304" pitchFamily="18" charset="0"/>
              </a:rPr>
              <a:t>// Dispense drinks with a 3-second delay between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for (int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0;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&lt; </a:t>
            </a:r>
            <a:r>
              <a:rPr lang="en-US" sz="2400" dirty="0" err="1">
                <a:latin typeface="Times New Roman" panose="02020603050405020304" pitchFamily="18" charset="0"/>
                <a:cs typeface="Times New Roman" panose="02020603050405020304" pitchFamily="18" charset="0"/>
              </a:rPr>
              <a:t>numDrinks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a:t>
            </a:r>
            <a:r>
              <a:rPr lang="en-US" sz="2400" dirty="0">
                <a:latin typeface="Times New Roman" panose="02020603050405020304" pitchFamily="18" charset="0"/>
                <a:cs typeface="Times New Roman" panose="02020603050405020304" pitchFamily="18" charset="0"/>
              </a:rPr>
              <a:t>("Dispensing drink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if (</a:t>
            </a:r>
            <a:r>
              <a:rPr lang="en-US" sz="2400" dirty="0" err="1">
                <a:latin typeface="Times New Roman" panose="02020603050405020304" pitchFamily="18" charset="0"/>
                <a:cs typeface="Times New Roman" panose="02020603050405020304" pitchFamily="18" charset="0"/>
              </a:rPr>
              <a:t>selectedDrinks</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0)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Serial.println</a:t>
            </a:r>
            <a:r>
              <a:rPr lang="en-US" sz="2400" dirty="0">
                <a:latin typeface="Times New Roman" panose="02020603050405020304" pitchFamily="18" charset="0"/>
                <a:cs typeface="Times New Roman" panose="02020603050405020304" pitchFamily="18" charset="0"/>
              </a:rPr>
              <a:t>("A");</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drinkA</a:t>
            </a:r>
            <a:r>
              <a:rPr lang="en-US" sz="2400" dirty="0">
                <a:latin typeface="Times New Roman" panose="02020603050405020304" pitchFamily="18" charset="0"/>
                <a:cs typeface="Times New Roman" panose="02020603050405020304" pitchFamily="18" charset="0"/>
              </a:rPr>
              <a:t>, HIGH);</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delay(1000); // Simulate dispensing</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drinkA</a:t>
            </a:r>
            <a:r>
              <a:rPr lang="en-US" sz="2400" dirty="0">
                <a:latin typeface="Times New Roman" panose="02020603050405020304" pitchFamily="18" charset="0"/>
                <a:cs typeface="Times New Roman" panose="02020603050405020304" pitchFamily="18" charset="0"/>
              </a:rPr>
              <a:t>, LOW);</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 else if (</a:t>
            </a:r>
            <a:r>
              <a:rPr lang="en-US" sz="2400" dirty="0" err="1">
                <a:latin typeface="Times New Roman" panose="02020603050405020304" pitchFamily="18" charset="0"/>
                <a:cs typeface="Times New Roman" panose="02020603050405020304" pitchFamily="18" charset="0"/>
              </a:rPr>
              <a:t>selectedDrinks</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1)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Serial.println</a:t>
            </a:r>
            <a:r>
              <a:rPr lang="en-US" sz="2400" dirty="0">
                <a:latin typeface="Times New Roman" panose="02020603050405020304" pitchFamily="18" charset="0"/>
                <a:cs typeface="Times New Roman" panose="02020603050405020304" pitchFamily="18" charset="0"/>
              </a:rPr>
              <a:t>("B");</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drinkB</a:t>
            </a:r>
            <a:r>
              <a:rPr lang="en-US" sz="2400" dirty="0">
                <a:latin typeface="Times New Roman" panose="02020603050405020304" pitchFamily="18" charset="0"/>
                <a:cs typeface="Times New Roman" panose="02020603050405020304" pitchFamily="18" charset="0"/>
              </a:rPr>
              <a:t>, HIGH);</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delay(1000);</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drinkB</a:t>
            </a:r>
            <a:r>
              <a:rPr lang="en-US" sz="2400" dirty="0">
                <a:latin typeface="Times New Roman" panose="02020603050405020304" pitchFamily="18" charset="0"/>
                <a:cs typeface="Times New Roman" panose="02020603050405020304" pitchFamily="18" charset="0"/>
              </a:rPr>
              <a:t>, LOW);</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 else if (</a:t>
            </a:r>
            <a:r>
              <a:rPr lang="en-US" sz="2400" dirty="0" err="1">
                <a:latin typeface="Times New Roman" panose="02020603050405020304" pitchFamily="18" charset="0"/>
                <a:cs typeface="Times New Roman" panose="02020603050405020304" pitchFamily="18" charset="0"/>
              </a:rPr>
              <a:t>selectedDrinks</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2) {</a:t>
            </a:r>
          </a:p>
        </p:txBody>
      </p:sp>
      <p:sp>
        <p:nvSpPr>
          <p:cNvPr id="6" name="Rectangle 2">
            <a:extLst>
              <a:ext uri="{FF2B5EF4-FFF2-40B4-BE49-F238E27FC236}">
                <a16:creationId xmlns:a16="http://schemas.microsoft.com/office/drawing/2014/main" id="{903CBBAC-1A23-B5AC-844D-9B4C733EAF1E}"/>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585085C0-71E8-57DA-BD4D-7811DF342976}"/>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919CE583-8FD3-D524-7D2F-1AB9C3D4A184}"/>
              </a:ext>
            </a:extLst>
          </p:cNvPr>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2 of Flowchart</a:t>
            </a:r>
          </a:p>
        </p:txBody>
      </p:sp>
      <p:sp>
        <p:nvSpPr>
          <p:cNvPr id="15" name="TextBox 14">
            <a:extLst>
              <a:ext uri="{FF2B5EF4-FFF2-40B4-BE49-F238E27FC236}">
                <a16:creationId xmlns:a16="http://schemas.microsoft.com/office/drawing/2014/main" id="{6208B573-A80B-1DCD-8031-204295BEF103}"/>
              </a:ext>
            </a:extLst>
          </p:cNvPr>
          <p:cNvSpPr txBox="1"/>
          <p:nvPr/>
        </p:nvSpPr>
        <p:spPr>
          <a:xfrm>
            <a:off x="8763000" y="1678675"/>
            <a:ext cx="7223126" cy="4893647"/>
          </a:xfrm>
          <a:prstGeom prst="rect">
            <a:avLst/>
          </a:prstGeom>
          <a:noFill/>
        </p:spPr>
        <p:txBody>
          <a:bodyPr wrap="square" rtlCol="0">
            <a:spAutoFit/>
          </a:bodyPr>
          <a:lstStyle/>
          <a:p>
            <a:r>
              <a:rPr lang="en-US" sz="2400" dirty="0" err="1">
                <a:cs typeface="Times New Roman" panose="02020603050405020304" pitchFamily="18" charset="0"/>
              </a:rPr>
              <a:t>Serial.println</a:t>
            </a:r>
            <a:r>
              <a:rPr lang="en-US" sz="2400" dirty="0">
                <a:cs typeface="Times New Roman" panose="02020603050405020304" pitchFamily="18" charset="0"/>
              </a:rPr>
              <a:t>("C");</a:t>
            </a:r>
            <a:br>
              <a:rPr lang="en-US" sz="2400" dirty="0">
                <a:cs typeface="Times New Roman" panose="02020603050405020304" pitchFamily="18" charset="0"/>
              </a:rPr>
            </a:br>
            <a:r>
              <a:rPr lang="en-US" sz="2400" dirty="0">
                <a:cs typeface="Times New Roman" panose="02020603050405020304" pitchFamily="18" charset="0"/>
              </a:rPr>
              <a:t>      </a:t>
            </a:r>
            <a:r>
              <a:rPr lang="en-US" sz="2400" dirty="0" err="1">
                <a:cs typeface="Times New Roman" panose="02020603050405020304" pitchFamily="18" charset="0"/>
              </a:rPr>
              <a:t>digitalWrite</a:t>
            </a:r>
            <a:r>
              <a:rPr lang="en-US" sz="2400" dirty="0">
                <a:cs typeface="Times New Roman" panose="02020603050405020304" pitchFamily="18" charset="0"/>
              </a:rPr>
              <a:t>(</a:t>
            </a:r>
            <a:r>
              <a:rPr lang="en-US" sz="2400" dirty="0" err="1">
                <a:cs typeface="Times New Roman" panose="02020603050405020304" pitchFamily="18" charset="0"/>
              </a:rPr>
              <a:t>drinkC</a:t>
            </a:r>
            <a:r>
              <a:rPr lang="en-US" sz="2400" dirty="0">
                <a:cs typeface="Times New Roman" panose="02020603050405020304" pitchFamily="18" charset="0"/>
              </a:rPr>
              <a:t>, HIGH);</a:t>
            </a:r>
            <a:br>
              <a:rPr lang="en-US" sz="2400" dirty="0">
                <a:cs typeface="Times New Roman" panose="02020603050405020304" pitchFamily="18" charset="0"/>
              </a:rPr>
            </a:br>
            <a:r>
              <a:rPr lang="en-US" sz="2400" dirty="0">
                <a:cs typeface="Times New Roman" panose="02020603050405020304" pitchFamily="18" charset="0"/>
              </a:rPr>
              <a:t>      delay(1000);</a:t>
            </a:r>
            <a:br>
              <a:rPr lang="en-US" sz="2400" dirty="0">
                <a:cs typeface="Times New Roman" panose="02020603050405020304" pitchFamily="18" charset="0"/>
              </a:rPr>
            </a:br>
            <a:r>
              <a:rPr lang="en-US" sz="2400" dirty="0">
                <a:cs typeface="Times New Roman" panose="02020603050405020304" pitchFamily="18" charset="0"/>
              </a:rPr>
              <a:t>      </a:t>
            </a:r>
            <a:r>
              <a:rPr lang="en-US" sz="2400" dirty="0" err="1">
                <a:cs typeface="Times New Roman" panose="02020603050405020304" pitchFamily="18" charset="0"/>
              </a:rPr>
              <a:t>digitalWrite</a:t>
            </a:r>
            <a:r>
              <a:rPr lang="en-US" sz="2400" dirty="0">
                <a:cs typeface="Times New Roman" panose="02020603050405020304" pitchFamily="18" charset="0"/>
              </a:rPr>
              <a:t>(</a:t>
            </a:r>
            <a:r>
              <a:rPr lang="en-US" sz="2400" dirty="0" err="1">
                <a:cs typeface="Times New Roman" panose="02020603050405020304" pitchFamily="18" charset="0"/>
              </a:rPr>
              <a:t>drinkC</a:t>
            </a:r>
            <a:r>
              <a:rPr lang="en-US" sz="2400" dirty="0">
                <a:cs typeface="Times New Roman" panose="02020603050405020304" pitchFamily="18" charset="0"/>
              </a:rPr>
              <a:t>, LOW);</a:t>
            </a:r>
            <a:br>
              <a:rPr lang="en-US" sz="2400" dirty="0">
                <a:cs typeface="Times New Roman" panose="02020603050405020304" pitchFamily="18" charset="0"/>
              </a:rPr>
            </a:br>
            <a:r>
              <a:rPr lang="en-US" sz="2400" dirty="0">
                <a:cs typeface="Times New Roman" panose="02020603050405020304" pitchFamily="18" charset="0"/>
              </a:rPr>
              <a:t>    }</a:t>
            </a:r>
            <a:br>
              <a:rPr lang="en-US" sz="2400" dirty="0">
                <a:cs typeface="Times New Roman" panose="02020603050405020304" pitchFamily="18" charset="0"/>
              </a:rPr>
            </a:br>
            <a:r>
              <a:rPr lang="en-US" sz="2400" dirty="0">
                <a:cs typeface="Times New Roman" panose="02020603050405020304" pitchFamily="18" charset="0"/>
              </a:rPr>
              <a:t> if (</a:t>
            </a:r>
            <a:r>
              <a:rPr lang="en-US" sz="2400" dirty="0" err="1">
                <a:cs typeface="Times New Roman" panose="02020603050405020304" pitchFamily="18" charset="0"/>
              </a:rPr>
              <a:t>i</a:t>
            </a:r>
            <a:r>
              <a:rPr lang="en-US" sz="2400" dirty="0">
                <a:cs typeface="Times New Roman" panose="02020603050405020304" pitchFamily="18" charset="0"/>
              </a:rPr>
              <a:t> &lt; </a:t>
            </a:r>
            <a:r>
              <a:rPr lang="en-US" sz="2400" dirty="0" err="1">
                <a:cs typeface="Times New Roman" panose="02020603050405020304" pitchFamily="18" charset="0"/>
              </a:rPr>
              <a:t>numDrinks</a:t>
            </a:r>
            <a:r>
              <a:rPr lang="en-US" sz="2400" dirty="0">
                <a:cs typeface="Times New Roman" panose="02020603050405020304" pitchFamily="18" charset="0"/>
              </a:rPr>
              <a:t> - 1) {</a:t>
            </a:r>
            <a:br>
              <a:rPr lang="en-US" sz="2400" dirty="0">
                <a:cs typeface="Times New Roman" panose="02020603050405020304" pitchFamily="18" charset="0"/>
              </a:rPr>
            </a:br>
            <a:r>
              <a:rPr lang="en-US" sz="2400" dirty="0">
                <a:cs typeface="Times New Roman" panose="02020603050405020304" pitchFamily="18" charset="0"/>
              </a:rPr>
              <a:t>      delay(3000); // Wait 3 seconds between drinks</a:t>
            </a:r>
            <a:br>
              <a:rPr lang="en-US" sz="2400" dirty="0">
                <a:cs typeface="Times New Roman" panose="02020603050405020304" pitchFamily="18" charset="0"/>
              </a:rPr>
            </a:br>
            <a:r>
              <a:rPr lang="en-US" sz="2400" dirty="0">
                <a:cs typeface="Times New Roman" panose="02020603050405020304" pitchFamily="18" charset="0"/>
              </a:rPr>
              <a:t>    }</a:t>
            </a:r>
            <a:br>
              <a:rPr lang="en-US" sz="2400" dirty="0">
                <a:cs typeface="Times New Roman" panose="02020603050405020304" pitchFamily="18" charset="0"/>
              </a:rPr>
            </a:br>
            <a:r>
              <a:rPr lang="en-US" sz="2400" dirty="0">
                <a:cs typeface="Times New Roman" panose="02020603050405020304" pitchFamily="18" charset="0"/>
              </a:rPr>
              <a:t>  }</a:t>
            </a:r>
          </a:p>
          <a:p>
            <a:endParaRPr lang="en-US" sz="2400" dirty="0">
              <a:cs typeface="Times New Roman" panose="02020603050405020304" pitchFamily="18" charset="0"/>
            </a:endParaRPr>
          </a:p>
          <a:p>
            <a:r>
              <a:rPr lang="en-US" sz="2400" dirty="0">
                <a:cs typeface="Times New Roman" panose="02020603050405020304" pitchFamily="18" charset="0"/>
              </a:rPr>
              <a:t>  </a:t>
            </a:r>
            <a:r>
              <a:rPr lang="en-US" sz="2400" dirty="0" err="1">
                <a:cs typeface="Times New Roman" panose="02020603050405020304" pitchFamily="18" charset="0"/>
              </a:rPr>
              <a:t>Serial.println</a:t>
            </a:r>
            <a:r>
              <a:rPr lang="en-US" sz="2400" dirty="0">
                <a:cs typeface="Times New Roman" panose="02020603050405020304" pitchFamily="18" charset="0"/>
              </a:rPr>
              <a:t>("Transaction complete.\n");</a:t>
            </a:r>
            <a:br>
              <a:rPr lang="en-US" sz="2400" dirty="0">
                <a:cs typeface="Times New Roman" panose="02020603050405020304" pitchFamily="18" charset="0"/>
              </a:rPr>
            </a:br>
            <a:r>
              <a:rPr lang="en-US" sz="2400" dirty="0">
                <a:cs typeface="Times New Roman" panose="02020603050405020304" pitchFamily="18" charset="0"/>
              </a:rPr>
              <a:t>  delay(3000); // Reset system after transaction</a:t>
            </a:r>
            <a:br>
              <a:rPr lang="en-US" sz="2400" dirty="0">
                <a:cs typeface="Times New Roman" panose="02020603050405020304" pitchFamily="18" charset="0"/>
              </a:rPr>
            </a:br>
            <a:r>
              <a:rPr lang="en-US" sz="2400" dirty="0">
                <a:cs typeface="Times New Roman" panose="02020603050405020304" pitchFamily="18" charset="0"/>
              </a:rPr>
              <a:t>}</a:t>
            </a:r>
            <a:endParaRPr lang="en-US" sz="2400" dirty="0"/>
          </a:p>
        </p:txBody>
      </p:sp>
    </p:spTree>
    <p:extLst>
      <p:ext uri="{BB962C8B-B14F-4D97-AF65-F5344CB8AC3E}">
        <p14:creationId xmlns:p14="http://schemas.microsoft.com/office/powerpoint/2010/main" val="39506310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38D6F-D1B8-5962-691B-6549F548BA85}"/>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A188BF9E-C4B1-4D64-1B99-84A8F512AABF}"/>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4AEE2A07-D600-3D35-1FD2-565380AF3478}"/>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9CB9FA9D-1E1F-2012-2C34-38ECBD832051}"/>
              </a:ext>
            </a:extLst>
          </p:cNvPr>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2 of Flowchart</a:t>
            </a:r>
          </a:p>
        </p:txBody>
      </p:sp>
      <p:pic>
        <p:nvPicPr>
          <p:cNvPr id="9" name="Picture 8">
            <a:extLst>
              <a:ext uri="{FF2B5EF4-FFF2-40B4-BE49-F238E27FC236}">
                <a16:creationId xmlns:a16="http://schemas.microsoft.com/office/drawing/2014/main" id="{985C1DE9-1821-6B5C-FFD6-5996A9C1807E}"/>
              </a:ext>
            </a:extLst>
          </p:cNvPr>
          <p:cNvPicPr>
            <a:picLocks noChangeAspect="1"/>
          </p:cNvPicPr>
          <p:nvPr/>
        </p:nvPicPr>
        <p:blipFill>
          <a:blip r:embed="rId2"/>
          <a:stretch>
            <a:fillRect/>
          </a:stretch>
        </p:blipFill>
        <p:spPr>
          <a:xfrm>
            <a:off x="76200" y="1676400"/>
            <a:ext cx="16306800" cy="6002747"/>
          </a:xfrm>
          <a:prstGeom prst="rect">
            <a:avLst/>
          </a:prstGeom>
        </p:spPr>
      </p:pic>
    </p:spTree>
    <p:extLst>
      <p:ext uri="{BB962C8B-B14F-4D97-AF65-F5344CB8AC3E}">
        <p14:creationId xmlns:p14="http://schemas.microsoft.com/office/powerpoint/2010/main" val="1805259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585DD-E4AC-7251-DE1F-332EF04894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84B7D0-E12E-9B5C-9B2B-4462144FE3F4}"/>
              </a:ext>
            </a:extLst>
          </p:cNvPr>
          <p:cNvSpPr>
            <a:spLocks noGrp="1"/>
          </p:cNvSpPr>
          <p:nvPr>
            <p:ph type="title"/>
          </p:nvPr>
        </p:nvSpPr>
        <p:spPr>
          <a:xfrm>
            <a:off x="228600" y="1752600"/>
            <a:ext cx="10287000" cy="4267200"/>
          </a:xfrm>
        </p:spPr>
        <p:txBody>
          <a:bodyPr anchor="t">
            <a:noAutofit/>
          </a:bodyPr>
          <a:lstStyle/>
          <a:p>
            <a:pPr algn="l"/>
            <a:r>
              <a:rPr lang="en-US" sz="3200" dirty="0">
                <a:latin typeface="Times New Roman" panose="02020603050405020304" pitchFamily="18" charset="0"/>
                <a:cs typeface="Times New Roman" panose="02020603050405020304" pitchFamily="18" charset="0"/>
              </a:rPr>
              <a:t>A space research facility is planning to shoot high-powered frequency pulses into space for research. These pulses are to be shot at a 1 µs interval continuously. The facility has an ATmega328P MCU to trigger every 1 µs. For this purpose, it has been decided that the predefined delay function, delay() of the Arduino IDE, will be used.</a:t>
            </a: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Prepare</a:t>
            </a:r>
            <a:r>
              <a:rPr lang="en-US" sz="3200" dirty="0">
                <a:latin typeface="Times New Roman" panose="02020603050405020304" pitchFamily="18" charset="0"/>
                <a:cs typeface="Times New Roman" panose="02020603050405020304" pitchFamily="18" charset="0"/>
              </a:rPr>
              <a:t> a flow chart that sends the pulses.</a:t>
            </a:r>
          </a:p>
        </p:txBody>
      </p:sp>
      <p:sp>
        <p:nvSpPr>
          <p:cNvPr id="6" name="Rectangle 2">
            <a:extLst>
              <a:ext uri="{FF2B5EF4-FFF2-40B4-BE49-F238E27FC236}">
                <a16:creationId xmlns:a16="http://schemas.microsoft.com/office/drawing/2014/main" id="{017F003C-77D3-DF71-658A-5F5D32B2ABDF}"/>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04A675B9-52C4-4FB1-F1DB-6A9F26E4D452}"/>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D46B84FF-6AD9-2EEF-3425-7F234D190A03}"/>
              </a:ext>
            </a:extLst>
          </p:cNvPr>
          <p:cNvSpPr txBox="1">
            <a:spLocks/>
          </p:cNvSpPr>
          <p:nvPr/>
        </p:nvSpPr>
        <p:spPr bwMode="auto">
          <a:xfrm>
            <a:off x="609600" y="471488"/>
            <a:ext cx="153765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3 of Flowchart</a:t>
            </a:r>
          </a:p>
        </p:txBody>
      </p:sp>
      <p:pic>
        <p:nvPicPr>
          <p:cNvPr id="5" name="Picture 4">
            <a:extLst>
              <a:ext uri="{FF2B5EF4-FFF2-40B4-BE49-F238E27FC236}">
                <a16:creationId xmlns:a16="http://schemas.microsoft.com/office/drawing/2014/main" id="{0A49E1EB-6C8E-63C1-717A-9BBE31F6F57A}"/>
              </a:ext>
            </a:extLst>
          </p:cNvPr>
          <p:cNvPicPr>
            <a:picLocks noChangeAspect="1"/>
          </p:cNvPicPr>
          <p:nvPr/>
        </p:nvPicPr>
        <p:blipFill>
          <a:blip r:embed="rId2"/>
          <a:stretch>
            <a:fillRect/>
          </a:stretch>
        </p:blipFill>
        <p:spPr>
          <a:xfrm>
            <a:off x="10591800" y="1657475"/>
            <a:ext cx="5562600" cy="5962526"/>
          </a:xfrm>
          <a:prstGeom prst="rect">
            <a:avLst/>
          </a:prstGeom>
        </p:spPr>
      </p:pic>
    </p:spTree>
    <p:extLst>
      <p:ext uri="{BB962C8B-B14F-4D97-AF65-F5344CB8AC3E}">
        <p14:creationId xmlns:p14="http://schemas.microsoft.com/office/powerpoint/2010/main" val="10709718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72497-5D05-7BBD-3B96-27C87B2D26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936BD-6098-1A70-5C05-11B3E96116CF}"/>
              </a:ext>
            </a:extLst>
          </p:cNvPr>
          <p:cNvSpPr>
            <a:spLocks noGrp="1"/>
          </p:cNvSpPr>
          <p:nvPr>
            <p:ph type="title"/>
          </p:nvPr>
        </p:nvSpPr>
        <p:spPr>
          <a:xfrm>
            <a:off x="228600" y="1676400"/>
            <a:ext cx="10640282" cy="5943600"/>
          </a:xfrm>
        </p:spPr>
        <p:txBody>
          <a:bodyPr anchor="t">
            <a:noAutofit/>
          </a:bodyPr>
          <a:lstStyle/>
          <a:p>
            <a:pPr algn="l"/>
            <a:r>
              <a:rPr lang="en-US" sz="3000" dirty="0">
                <a:latin typeface="Times New Roman" panose="02020603050405020304" pitchFamily="18" charset="0"/>
                <a:cs typeface="Times New Roman" panose="02020603050405020304" pitchFamily="18" charset="0"/>
              </a:rPr>
              <a:t>A space research facility is planning to shoot high-powered frequency pulses into space for research. These pulses are to be shot at a 1 µs interval. The facility has an ATmega328P MCU to count the time. The MCU will trigger every 1 µs, and a timer interrupt will be shot. Considering the power consumption and necessity, it is decided to use the Timer0 interrupt. The MCU runs at 16 </a:t>
            </a:r>
            <a:r>
              <a:rPr lang="en-US" sz="3000" dirty="0" err="1">
                <a:latin typeface="Times New Roman" panose="02020603050405020304" pitchFamily="18" charset="0"/>
                <a:cs typeface="Times New Roman" panose="02020603050405020304" pitchFamily="18" charset="0"/>
              </a:rPr>
              <a:t>MHz.</a:t>
            </a:r>
            <a:r>
              <a:rPr lang="en-US" sz="3000" dirty="0">
                <a:latin typeface="Times New Roman" panose="02020603050405020304" pitchFamily="18" charset="0"/>
                <a:cs typeface="Times New Roman" panose="02020603050405020304" pitchFamily="18" charset="0"/>
              </a:rPr>
              <a:t> Prepare a program to trigger the Timer0 interrupt every 1 µs. </a:t>
            </a:r>
            <a:r>
              <a:rPr lang="en-US" sz="3000" b="1" dirty="0">
                <a:latin typeface="Times New Roman" panose="02020603050405020304" pitchFamily="18" charset="0"/>
                <a:cs typeface="Times New Roman" panose="02020603050405020304" pitchFamily="18" charset="0"/>
              </a:rPr>
              <a:t>Prepare</a:t>
            </a:r>
            <a:r>
              <a:rPr lang="en-US" sz="3000" dirty="0">
                <a:latin typeface="Times New Roman" panose="02020603050405020304" pitchFamily="18" charset="0"/>
                <a:cs typeface="Times New Roman" panose="02020603050405020304" pitchFamily="18" charset="0"/>
              </a:rPr>
              <a:t> a flow chart for this purpose.</a:t>
            </a:r>
            <a:br>
              <a:rPr lang="en-US" sz="30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[Hint: Bits 0 to 2 of the TCCR0B register must be set. These bits correspond to the pre-scaler to be used. Output Compare Register 0A: OCR0A holds the necessary Timer0 count to achieve the required delay. Bit 1 from TIMSK0 is OCIE0A – this bit must be set to enable comparison match A. Any bits not mentioned here are to be considered as 0. All registers mentioned are 8-bit registers.]</a:t>
            </a:r>
            <a:endParaRPr lang="en-US" sz="3000"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C12A2D13-F90E-22BD-CF52-53888294BCC2}"/>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C63EC52A-CEB5-0CC6-FCB9-39125388FAEE}"/>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056B61F6-E686-69FD-F079-B1D8F7E8DCD6}"/>
              </a:ext>
            </a:extLst>
          </p:cNvPr>
          <p:cNvSpPr txBox="1">
            <a:spLocks/>
          </p:cNvSpPr>
          <p:nvPr/>
        </p:nvSpPr>
        <p:spPr bwMode="auto">
          <a:xfrm>
            <a:off x="457200" y="471488"/>
            <a:ext cx="155289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4 of Flowchart</a:t>
            </a:r>
          </a:p>
        </p:txBody>
      </p:sp>
      <p:pic>
        <p:nvPicPr>
          <p:cNvPr id="4" name="Picture 3">
            <a:extLst>
              <a:ext uri="{FF2B5EF4-FFF2-40B4-BE49-F238E27FC236}">
                <a16:creationId xmlns:a16="http://schemas.microsoft.com/office/drawing/2014/main" id="{FD0DF780-E4AF-8A5E-FE69-3032776F9883}"/>
              </a:ext>
            </a:extLst>
          </p:cNvPr>
          <p:cNvPicPr>
            <a:picLocks noChangeAspect="1"/>
          </p:cNvPicPr>
          <p:nvPr/>
        </p:nvPicPr>
        <p:blipFill>
          <a:blip r:embed="rId2"/>
          <a:stretch>
            <a:fillRect/>
          </a:stretch>
        </p:blipFill>
        <p:spPr>
          <a:xfrm>
            <a:off x="10868882" y="1600200"/>
            <a:ext cx="5361718" cy="5943600"/>
          </a:xfrm>
          <a:prstGeom prst="rect">
            <a:avLst/>
          </a:prstGeom>
        </p:spPr>
      </p:pic>
    </p:spTree>
    <p:extLst>
      <p:ext uri="{BB962C8B-B14F-4D97-AF65-F5344CB8AC3E}">
        <p14:creationId xmlns:p14="http://schemas.microsoft.com/office/powerpoint/2010/main" val="35858551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3E65D-030B-14E2-9BB8-389131199663}"/>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92FC05E8-D0DA-A06F-62A1-2C2E84027065}"/>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F78F50D2-0AA8-B627-F21D-61B5A30D025A}"/>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94DEA6F7-B00E-60F6-B8F4-731BECEA991B}"/>
              </a:ext>
            </a:extLst>
          </p:cNvPr>
          <p:cNvSpPr txBox="1">
            <a:spLocks/>
          </p:cNvSpPr>
          <p:nvPr/>
        </p:nvSpPr>
        <p:spPr bwMode="auto">
          <a:xfrm>
            <a:off x="685800" y="471488"/>
            <a:ext cx="153003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Practice Example # 5 of Flowchart</a:t>
            </a:r>
          </a:p>
        </p:txBody>
      </p:sp>
      <p:sp>
        <p:nvSpPr>
          <p:cNvPr id="3" name="TextBox 2">
            <a:extLst>
              <a:ext uri="{FF2B5EF4-FFF2-40B4-BE49-F238E27FC236}">
                <a16:creationId xmlns:a16="http://schemas.microsoft.com/office/drawing/2014/main" id="{C7EDA148-A1C7-C665-FBB8-EA937E8204EA}"/>
              </a:ext>
            </a:extLst>
          </p:cNvPr>
          <p:cNvSpPr txBox="1"/>
          <p:nvPr/>
        </p:nvSpPr>
        <p:spPr>
          <a:xfrm>
            <a:off x="304800" y="1618357"/>
            <a:ext cx="15849600" cy="6001643"/>
          </a:xfrm>
          <a:prstGeom prst="rect">
            <a:avLst/>
          </a:prstGeom>
          <a:noFill/>
        </p:spPr>
        <p:txBody>
          <a:bodyPr wrap="square" rtlCol="0">
            <a:spAutoFit/>
          </a:bodyPr>
          <a:lstStyle/>
          <a:p>
            <a:r>
              <a:rPr lang="en-US" sz="3200" dirty="0">
                <a:cs typeface="Times New Roman" panose="02020603050405020304" pitchFamily="18" charset="0"/>
              </a:rPr>
              <a:t>A traffic control system uses 3 different colors of lights: Red, Yellow, and Green. Dhaka Metropolitan Police (DMP) wants an automated system to be implemented using a microcontroller, such as an Arduino Uno platform. </a:t>
            </a:r>
            <a:r>
              <a:rPr lang="en-US" sz="3200" b="1" dirty="0">
                <a:cs typeface="Times New Roman" panose="02020603050405020304" pitchFamily="18" charset="0"/>
              </a:rPr>
              <a:t>Prepare</a:t>
            </a:r>
            <a:r>
              <a:rPr lang="en-US" sz="3200" dirty="0">
                <a:cs typeface="Times New Roman" panose="02020603050405020304" pitchFamily="18" charset="0"/>
              </a:rPr>
              <a:t> a flow chart and write the code to implement this traffic control system as per the following sequences</a:t>
            </a:r>
            <a:endParaRPr lang="en-US" sz="4400" dirty="0">
              <a:cs typeface="Times New Roman" panose="02020603050405020304" pitchFamily="18" charset="0"/>
            </a:endParaRPr>
          </a:p>
          <a:p>
            <a:pPr marL="742950" indent="-742950">
              <a:buFont typeface="+mj-lt"/>
              <a:buAutoNum type="arabicPeriod"/>
            </a:pPr>
            <a:r>
              <a:rPr lang="en-US" sz="3200" dirty="0">
                <a:cs typeface="Times New Roman" panose="02020603050405020304" pitchFamily="18" charset="0"/>
              </a:rPr>
              <a:t>The Red LED light will light up for 30 s.</a:t>
            </a:r>
          </a:p>
          <a:p>
            <a:pPr marL="742950" indent="-742950">
              <a:buFont typeface="+mj-lt"/>
              <a:buAutoNum type="arabicPeriod"/>
            </a:pPr>
            <a:r>
              <a:rPr lang="en-US" sz="3200" dirty="0">
                <a:cs typeface="Times New Roman" panose="02020603050405020304" pitchFamily="18" charset="0"/>
              </a:rPr>
              <a:t>The Red light will go off and the Green LED light will light up for 55 s.</a:t>
            </a:r>
          </a:p>
          <a:p>
            <a:pPr marL="742950" indent="-742950">
              <a:buFont typeface="+mj-lt"/>
              <a:buAutoNum type="arabicPeriod"/>
            </a:pPr>
            <a:r>
              <a:rPr lang="en-US" sz="3200" dirty="0">
                <a:cs typeface="Times New Roman" panose="02020603050405020304" pitchFamily="18" charset="0"/>
              </a:rPr>
              <a:t>50 s after the Green LED lights up, the Yellow LED light will start to blink for 5 s at a total 1 s interval.</a:t>
            </a:r>
            <a:br>
              <a:rPr lang="en-US" sz="3200" dirty="0">
                <a:cs typeface="Times New Roman" panose="02020603050405020304" pitchFamily="18" charset="0"/>
              </a:rPr>
            </a:br>
            <a:r>
              <a:rPr lang="en-US" sz="3200" dirty="0">
                <a:cs typeface="Times New Roman" panose="02020603050405020304" pitchFamily="18" charset="0"/>
              </a:rPr>
              <a:t>[Consider blink to be a light lighting up for 500 </a:t>
            </a:r>
            <a:r>
              <a:rPr lang="en-US" sz="3200" dirty="0" err="1">
                <a:cs typeface="Times New Roman" panose="02020603050405020304" pitchFamily="18" charset="0"/>
              </a:rPr>
              <a:t>ms</a:t>
            </a:r>
            <a:r>
              <a:rPr lang="en-US" sz="3200" dirty="0">
                <a:cs typeface="Times New Roman" panose="02020603050405020304" pitchFamily="18" charset="0"/>
              </a:rPr>
              <a:t> and staying off for 500 </a:t>
            </a:r>
            <a:r>
              <a:rPr lang="en-US" sz="3200" dirty="0" err="1">
                <a:cs typeface="Times New Roman" panose="02020603050405020304" pitchFamily="18" charset="0"/>
              </a:rPr>
              <a:t>ms</a:t>
            </a:r>
            <a:r>
              <a:rPr lang="en-US" sz="3200" dirty="0">
                <a:cs typeface="Times New Roman" panose="02020603050405020304" pitchFamily="18" charset="0"/>
              </a:rPr>
              <a:t>, and the sequence is repeated.]</a:t>
            </a:r>
          </a:p>
          <a:p>
            <a:pPr marL="742950" indent="-742950">
              <a:buFont typeface="+mj-lt"/>
              <a:buAutoNum type="arabicPeriod"/>
            </a:pPr>
            <a:r>
              <a:rPr lang="en-US" sz="3200" dirty="0">
                <a:cs typeface="Times New Roman" panose="02020603050405020304" pitchFamily="18" charset="0"/>
              </a:rPr>
              <a:t>Then the Green LED light will turn off.</a:t>
            </a:r>
          </a:p>
          <a:p>
            <a:pPr marL="742950" indent="-742950">
              <a:buFont typeface="+mj-lt"/>
              <a:buAutoNum type="arabicPeriod"/>
            </a:pPr>
            <a:r>
              <a:rPr lang="en-US" sz="3200" dirty="0">
                <a:cs typeface="Times New Roman" panose="02020603050405020304" pitchFamily="18" charset="0"/>
              </a:rPr>
              <a:t>After that, the Red LED light will turn on again and the sequence will repeat continuously.</a:t>
            </a:r>
            <a:endParaRPr lang="en-US" sz="4000" dirty="0"/>
          </a:p>
        </p:txBody>
      </p:sp>
    </p:spTree>
    <p:extLst>
      <p:ext uri="{BB962C8B-B14F-4D97-AF65-F5344CB8AC3E}">
        <p14:creationId xmlns:p14="http://schemas.microsoft.com/office/powerpoint/2010/main" val="31654553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FA3E9-5BFB-5F01-052F-EA13F029C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321B4-DFAE-0D2F-DAA2-01DD77E4D3A9}"/>
              </a:ext>
            </a:extLst>
          </p:cNvPr>
          <p:cNvSpPr>
            <a:spLocks noGrp="1"/>
          </p:cNvSpPr>
          <p:nvPr>
            <p:ph type="title"/>
          </p:nvPr>
        </p:nvSpPr>
        <p:spPr>
          <a:xfrm>
            <a:off x="228600" y="1676400"/>
            <a:ext cx="7696200" cy="5867400"/>
          </a:xfrm>
        </p:spPr>
        <p:txBody>
          <a:bodyPr anchor="t">
            <a:noAutofit/>
          </a:bodyPr>
          <a:lstStyle/>
          <a:p>
            <a:pPr algn="l"/>
            <a:r>
              <a:rPr lang="en-US" sz="2400" dirty="0">
                <a:latin typeface="Times New Roman" panose="02020603050405020304" pitchFamily="18" charset="0"/>
                <a:cs typeface="Times New Roman" panose="02020603050405020304" pitchFamily="18" charset="0"/>
              </a:rPr>
              <a:t>const int </a:t>
            </a:r>
            <a:r>
              <a:rPr lang="en-US" sz="2400" dirty="0" err="1">
                <a:latin typeface="Times New Roman" panose="02020603050405020304" pitchFamily="18" charset="0"/>
                <a:cs typeface="Times New Roman" panose="02020603050405020304" pitchFamily="18" charset="0"/>
              </a:rPr>
              <a:t>redPin</a:t>
            </a:r>
            <a:r>
              <a:rPr lang="en-US" sz="2400" dirty="0">
                <a:latin typeface="Times New Roman" panose="02020603050405020304" pitchFamily="18" charset="0"/>
                <a:cs typeface="Times New Roman" panose="02020603050405020304" pitchFamily="18" charset="0"/>
              </a:rPr>
              <a:t> = 12;      // Pin connected to the red LED</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const int </a:t>
            </a:r>
            <a:r>
              <a:rPr lang="en-US" sz="2400" dirty="0" err="1">
                <a:latin typeface="Times New Roman" panose="02020603050405020304" pitchFamily="18" charset="0"/>
                <a:cs typeface="Times New Roman" panose="02020603050405020304" pitchFamily="18" charset="0"/>
              </a:rPr>
              <a:t>greenPin</a:t>
            </a:r>
            <a:r>
              <a:rPr lang="en-US" sz="2400" dirty="0">
                <a:latin typeface="Times New Roman" panose="02020603050405020304" pitchFamily="18" charset="0"/>
                <a:cs typeface="Times New Roman" panose="02020603050405020304" pitchFamily="18" charset="0"/>
              </a:rPr>
              <a:t> = 11;   // Pin connected to the green LED</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const int </a:t>
            </a:r>
            <a:r>
              <a:rPr lang="en-US" sz="2400" dirty="0" err="1">
                <a:latin typeface="Times New Roman" panose="02020603050405020304" pitchFamily="18" charset="0"/>
                <a:cs typeface="Times New Roman" panose="02020603050405020304" pitchFamily="18" charset="0"/>
              </a:rPr>
              <a:t>yellowPin</a:t>
            </a:r>
            <a:r>
              <a:rPr lang="en-US" sz="2400" dirty="0">
                <a:latin typeface="Times New Roman" panose="02020603050405020304" pitchFamily="18" charset="0"/>
                <a:cs typeface="Times New Roman" panose="02020603050405020304" pitchFamily="18" charset="0"/>
              </a:rPr>
              <a:t> = 10;  // Pin connected to the yellow LED</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void setup()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redPin</a:t>
            </a:r>
            <a:r>
              <a:rPr lang="en-US" sz="2400" dirty="0">
                <a:latin typeface="Times New Roman" panose="02020603050405020304" pitchFamily="18" charset="0"/>
                <a:cs typeface="Times New Roman" panose="02020603050405020304" pitchFamily="18" charset="0"/>
              </a:rPr>
              <a:t>, OUTPUT);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yellowPin</a:t>
            </a:r>
            <a:r>
              <a:rPr lang="en-US" sz="2400" dirty="0">
                <a:latin typeface="Times New Roman" panose="02020603050405020304" pitchFamily="18" charset="0"/>
                <a:cs typeface="Times New Roman" panose="02020603050405020304" pitchFamily="18" charset="0"/>
              </a:rPr>
              <a:t>, OUTPUT);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pinMode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greenPin</a:t>
            </a:r>
            <a:r>
              <a:rPr lang="en-US" sz="2400" dirty="0">
                <a:latin typeface="Times New Roman" panose="02020603050405020304" pitchFamily="18" charset="0"/>
                <a:cs typeface="Times New Roman" panose="02020603050405020304" pitchFamily="18" charset="0"/>
              </a:rPr>
              <a:t>, OUTPUT);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void loop()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 Red light on for 30 seconds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redPin</a:t>
            </a:r>
            <a:r>
              <a:rPr lang="en-US" sz="2400" dirty="0">
                <a:latin typeface="Times New Roman" panose="02020603050405020304" pitchFamily="18" charset="0"/>
                <a:cs typeface="Times New Roman" panose="02020603050405020304" pitchFamily="18" charset="0"/>
              </a:rPr>
              <a:t>, HIGH);</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delay(30000);  //IDE’s built-in function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digitalWrite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redPin</a:t>
            </a:r>
            <a:r>
              <a:rPr lang="en-US" sz="2400" dirty="0">
                <a:latin typeface="Times New Roman" panose="02020603050405020304" pitchFamily="18" charset="0"/>
                <a:cs typeface="Times New Roman" panose="02020603050405020304" pitchFamily="18" charset="0"/>
              </a:rPr>
              <a:t>, LOW);</a:t>
            </a:r>
          </a:p>
        </p:txBody>
      </p:sp>
      <p:sp>
        <p:nvSpPr>
          <p:cNvPr id="6" name="Rectangle 2">
            <a:extLst>
              <a:ext uri="{FF2B5EF4-FFF2-40B4-BE49-F238E27FC236}">
                <a16:creationId xmlns:a16="http://schemas.microsoft.com/office/drawing/2014/main" id="{4B01DD01-487B-CE76-B0C0-F2DAFD1C62D5}"/>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014693DA-E177-BCAA-84FD-20242AB9764F}"/>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514025D7-041C-670F-9E41-A5E1198EA810}"/>
              </a:ext>
            </a:extLst>
          </p:cNvPr>
          <p:cNvSpPr txBox="1">
            <a:spLocks/>
          </p:cNvSpPr>
          <p:nvPr/>
        </p:nvSpPr>
        <p:spPr bwMode="auto">
          <a:xfrm>
            <a:off x="1447800" y="471488"/>
            <a:ext cx="121920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sz="4800" kern="0" dirty="0"/>
              <a:t>Practice Example # 5 of Flowchart</a:t>
            </a:r>
          </a:p>
        </p:txBody>
      </p:sp>
      <p:sp>
        <p:nvSpPr>
          <p:cNvPr id="3" name="TextBox 2">
            <a:extLst>
              <a:ext uri="{FF2B5EF4-FFF2-40B4-BE49-F238E27FC236}">
                <a16:creationId xmlns:a16="http://schemas.microsoft.com/office/drawing/2014/main" id="{708A64DE-2502-BF6E-4D84-BB40A264EA59}"/>
              </a:ext>
            </a:extLst>
          </p:cNvPr>
          <p:cNvSpPr txBox="1"/>
          <p:nvPr/>
        </p:nvSpPr>
        <p:spPr>
          <a:xfrm>
            <a:off x="8035118" y="1652516"/>
            <a:ext cx="5299881" cy="4893647"/>
          </a:xfrm>
          <a:prstGeom prst="rect">
            <a:avLst/>
          </a:prstGeom>
          <a:noFill/>
        </p:spPr>
        <p:txBody>
          <a:bodyPr wrap="square" rtlCol="0">
            <a:spAutoFit/>
          </a:bodyPr>
          <a:lstStyle/>
          <a:p>
            <a:r>
              <a:rPr lang="en-US" sz="2400" dirty="0">
                <a:cs typeface="Times New Roman" panose="02020603050405020304" pitchFamily="18" charset="0"/>
              </a:rPr>
              <a:t>// Green light on for 55 seconds</a:t>
            </a:r>
            <a:br>
              <a:rPr lang="en-US" sz="2400" dirty="0">
                <a:cs typeface="Times New Roman" panose="02020603050405020304" pitchFamily="18" charset="0"/>
              </a:rPr>
            </a:br>
            <a:r>
              <a:rPr lang="en-US" sz="2400" dirty="0">
                <a:cs typeface="Times New Roman" panose="02020603050405020304" pitchFamily="18" charset="0"/>
              </a:rPr>
              <a:t>  </a:t>
            </a:r>
            <a:r>
              <a:rPr lang="en-US" sz="2400" dirty="0" err="1">
                <a:cs typeface="Times New Roman" panose="02020603050405020304" pitchFamily="18" charset="0"/>
              </a:rPr>
              <a:t>digitalWrite</a:t>
            </a:r>
            <a:r>
              <a:rPr lang="en-US" sz="2400" dirty="0">
                <a:cs typeface="Times New Roman" panose="02020603050405020304" pitchFamily="18" charset="0"/>
              </a:rPr>
              <a:t>(</a:t>
            </a:r>
            <a:r>
              <a:rPr lang="en-US" sz="2400" dirty="0" err="1">
                <a:cs typeface="Times New Roman" panose="02020603050405020304" pitchFamily="18" charset="0"/>
              </a:rPr>
              <a:t>greenPin</a:t>
            </a:r>
            <a:r>
              <a:rPr lang="en-US" sz="2400" dirty="0">
                <a:cs typeface="Times New Roman" panose="02020603050405020304" pitchFamily="18" charset="0"/>
              </a:rPr>
              <a:t>, HIGH);</a:t>
            </a:r>
            <a:br>
              <a:rPr lang="en-US" sz="2400" dirty="0">
                <a:cs typeface="Times New Roman" panose="02020603050405020304" pitchFamily="18" charset="0"/>
              </a:rPr>
            </a:br>
            <a:r>
              <a:rPr lang="en-US" sz="2400" dirty="0">
                <a:cs typeface="Times New Roman" panose="02020603050405020304" pitchFamily="18" charset="0"/>
              </a:rPr>
              <a:t>  delay(50000); //IDE’s built-in function</a:t>
            </a:r>
            <a:br>
              <a:rPr lang="en-US" sz="2400" dirty="0">
                <a:cs typeface="Times New Roman" panose="02020603050405020304" pitchFamily="18" charset="0"/>
              </a:rPr>
            </a:br>
            <a:br>
              <a:rPr lang="en-US" sz="2400" dirty="0">
                <a:cs typeface="Times New Roman" panose="02020603050405020304" pitchFamily="18" charset="0"/>
              </a:rPr>
            </a:br>
            <a:r>
              <a:rPr lang="en-US" sz="2400" dirty="0">
                <a:cs typeface="Times New Roman" panose="02020603050405020304" pitchFamily="18" charset="0"/>
              </a:rPr>
              <a:t>  // Yellow light blinking for 5 seconds</a:t>
            </a:r>
            <a:br>
              <a:rPr lang="en-US" sz="2400" dirty="0">
                <a:cs typeface="Times New Roman" panose="02020603050405020304" pitchFamily="18" charset="0"/>
              </a:rPr>
            </a:br>
            <a:r>
              <a:rPr lang="en-US" sz="2400" dirty="0">
                <a:cs typeface="Times New Roman" panose="02020603050405020304" pitchFamily="18" charset="0"/>
              </a:rPr>
              <a:t>  for (int </a:t>
            </a:r>
            <a:r>
              <a:rPr lang="en-US" sz="2400" dirty="0" err="1">
                <a:cs typeface="Times New Roman" panose="02020603050405020304" pitchFamily="18" charset="0"/>
              </a:rPr>
              <a:t>i</a:t>
            </a:r>
            <a:r>
              <a:rPr lang="en-US" sz="2400" dirty="0">
                <a:cs typeface="Times New Roman" panose="02020603050405020304" pitchFamily="18" charset="0"/>
              </a:rPr>
              <a:t> = 0; </a:t>
            </a:r>
            <a:r>
              <a:rPr lang="en-US" sz="2400" dirty="0" err="1">
                <a:cs typeface="Times New Roman" panose="02020603050405020304" pitchFamily="18" charset="0"/>
              </a:rPr>
              <a:t>i</a:t>
            </a:r>
            <a:r>
              <a:rPr lang="en-US" sz="2400" dirty="0">
                <a:cs typeface="Times New Roman" panose="02020603050405020304" pitchFamily="18" charset="0"/>
              </a:rPr>
              <a:t> &lt; 5; </a:t>
            </a:r>
            <a:r>
              <a:rPr lang="en-US" sz="2400" dirty="0" err="1">
                <a:cs typeface="Times New Roman" panose="02020603050405020304" pitchFamily="18" charset="0"/>
              </a:rPr>
              <a:t>i</a:t>
            </a:r>
            <a:r>
              <a:rPr lang="en-US" sz="2400" dirty="0">
                <a:cs typeface="Times New Roman" panose="02020603050405020304" pitchFamily="18" charset="0"/>
              </a:rPr>
              <a:t>++) {</a:t>
            </a:r>
            <a:br>
              <a:rPr lang="en-US" sz="2400" dirty="0">
                <a:cs typeface="Times New Roman" panose="02020603050405020304" pitchFamily="18" charset="0"/>
              </a:rPr>
            </a:br>
            <a:r>
              <a:rPr lang="en-US" sz="2400" dirty="0">
                <a:cs typeface="Times New Roman" panose="02020603050405020304" pitchFamily="18" charset="0"/>
              </a:rPr>
              <a:t>    </a:t>
            </a:r>
            <a:r>
              <a:rPr lang="en-US" sz="2400" dirty="0" err="1">
                <a:cs typeface="Times New Roman" panose="02020603050405020304" pitchFamily="18" charset="0"/>
              </a:rPr>
              <a:t>digitalWrite</a:t>
            </a:r>
            <a:r>
              <a:rPr lang="en-US" sz="2400" dirty="0">
                <a:cs typeface="Times New Roman" panose="02020603050405020304" pitchFamily="18" charset="0"/>
              </a:rPr>
              <a:t>(</a:t>
            </a:r>
            <a:r>
              <a:rPr lang="en-US" sz="2400" dirty="0" err="1">
                <a:cs typeface="Times New Roman" panose="02020603050405020304" pitchFamily="18" charset="0"/>
              </a:rPr>
              <a:t>yellowPin</a:t>
            </a:r>
            <a:r>
              <a:rPr lang="en-US" sz="2400" dirty="0">
                <a:cs typeface="Times New Roman" panose="02020603050405020304" pitchFamily="18" charset="0"/>
              </a:rPr>
              <a:t>, HIGH);</a:t>
            </a:r>
            <a:br>
              <a:rPr lang="en-US" sz="2400" dirty="0">
                <a:cs typeface="Times New Roman" panose="02020603050405020304" pitchFamily="18" charset="0"/>
              </a:rPr>
            </a:br>
            <a:r>
              <a:rPr lang="en-US" sz="2400" dirty="0">
                <a:cs typeface="Times New Roman" panose="02020603050405020304" pitchFamily="18" charset="0"/>
              </a:rPr>
              <a:t>    delay(500); //IDE’s built-in function</a:t>
            </a:r>
            <a:br>
              <a:rPr lang="en-US" sz="2400" dirty="0">
                <a:cs typeface="Times New Roman" panose="02020603050405020304" pitchFamily="18" charset="0"/>
              </a:rPr>
            </a:br>
            <a:r>
              <a:rPr lang="en-US" sz="2400" dirty="0">
                <a:cs typeface="Times New Roman" panose="02020603050405020304" pitchFamily="18" charset="0"/>
              </a:rPr>
              <a:t>    </a:t>
            </a:r>
            <a:r>
              <a:rPr lang="en-US" sz="2400" dirty="0" err="1">
                <a:cs typeface="Times New Roman" panose="02020603050405020304" pitchFamily="18" charset="0"/>
              </a:rPr>
              <a:t>digitalWrite</a:t>
            </a:r>
            <a:r>
              <a:rPr lang="en-US" sz="2400" dirty="0">
                <a:cs typeface="Times New Roman" panose="02020603050405020304" pitchFamily="18" charset="0"/>
              </a:rPr>
              <a:t>(</a:t>
            </a:r>
            <a:r>
              <a:rPr lang="en-US" sz="2400" dirty="0" err="1">
                <a:cs typeface="Times New Roman" panose="02020603050405020304" pitchFamily="18" charset="0"/>
              </a:rPr>
              <a:t>yellowPin</a:t>
            </a:r>
            <a:r>
              <a:rPr lang="en-US" sz="2400" dirty="0">
                <a:cs typeface="Times New Roman" panose="02020603050405020304" pitchFamily="18" charset="0"/>
              </a:rPr>
              <a:t>, LOW);    </a:t>
            </a:r>
            <a:br>
              <a:rPr lang="en-US" sz="2400" dirty="0">
                <a:cs typeface="Times New Roman" panose="02020603050405020304" pitchFamily="18" charset="0"/>
              </a:rPr>
            </a:br>
            <a:r>
              <a:rPr lang="en-US" sz="2400" dirty="0">
                <a:cs typeface="Times New Roman" panose="02020603050405020304" pitchFamily="18" charset="0"/>
              </a:rPr>
              <a:t>    delay(500); //IDE’s built-in function</a:t>
            </a:r>
            <a:br>
              <a:rPr lang="en-US" sz="2400" dirty="0">
                <a:cs typeface="Times New Roman" panose="02020603050405020304" pitchFamily="18" charset="0"/>
              </a:rPr>
            </a:br>
            <a:r>
              <a:rPr lang="en-US" sz="2400" dirty="0">
                <a:cs typeface="Times New Roman" panose="02020603050405020304" pitchFamily="18" charset="0"/>
              </a:rPr>
              <a:t>    }</a:t>
            </a:r>
          </a:p>
          <a:p>
            <a:r>
              <a:rPr lang="en-US" sz="2400" dirty="0">
                <a:cs typeface="Times New Roman" panose="02020603050405020304" pitchFamily="18" charset="0"/>
              </a:rPr>
              <a:t>    </a:t>
            </a:r>
            <a:r>
              <a:rPr lang="en-US" sz="2400" dirty="0" err="1">
                <a:cs typeface="Times New Roman" panose="02020603050405020304" pitchFamily="18" charset="0"/>
              </a:rPr>
              <a:t>digitalWrite</a:t>
            </a:r>
            <a:r>
              <a:rPr lang="en-US" sz="2400" dirty="0">
                <a:cs typeface="Times New Roman" panose="02020603050405020304" pitchFamily="18" charset="0"/>
              </a:rPr>
              <a:t>(</a:t>
            </a:r>
            <a:r>
              <a:rPr lang="en-US" sz="2400" dirty="0" err="1">
                <a:cs typeface="Times New Roman" panose="02020603050405020304" pitchFamily="18" charset="0"/>
              </a:rPr>
              <a:t>greenPin</a:t>
            </a:r>
            <a:r>
              <a:rPr lang="en-US" sz="2400" dirty="0">
                <a:cs typeface="Times New Roman" panose="02020603050405020304" pitchFamily="18" charset="0"/>
              </a:rPr>
              <a:t>, LOW);</a:t>
            </a:r>
          </a:p>
          <a:p>
            <a:r>
              <a:rPr lang="en-US" sz="2400" dirty="0">
                <a:cs typeface="Times New Roman" panose="02020603050405020304" pitchFamily="18" charset="0"/>
              </a:rPr>
              <a:t>}</a:t>
            </a:r>
            <a:endParaRPr lang="en-US" sz="2400" dirty="0"/>
          </a:p>
        </p:txBody>
      </p:sp>
      <p:pic>
        <p:nvPicPr>
          <p:cNvPr id="9" name="Picture 8">
            <a:extLst>
              <a:ext uri="{FF2B5EF4-FFF2-40B4-BE49-F238E27FC236}">
                <a16:creationId xmlns:a16="http://schemas.microsoft.com/office/drawing/2014/main" id="{87FBFF05-148D-56FA-D928-552D18A96857}"/>
              </a:ext>
            </a:extLst>
          </p:cNvPr>
          <p:cNvPicPr>
            <a:picLocks noChangeAspect="1"/>
          </p:cNvPicPr>
          <p:nvPr/>
        </p:nvPicPr>
        <p:blipFill>
          <a:blip r:embed="rId2">
            <a:duotone>
              <a:schemeClr val="accent1">
                <a:shade val="45000"/>
                <a:satMod val="135000"/>
              </a:schemeClr>
              <a:prstClr val="white"/>
            </a:duotone>
          </a:blip>
          <a:stretch>
            <a:fillRect/>
          </a:stretch>
        </p:blipFill>
        <p:spPr>
          <a:xfrm>
            <a:off x="13415706" y="152400"/>
            <a:ext cx="2891094" cy="7848600"/>
          </a:xfrm>
          <a:prstGeom prst="rect">
            <a:avLst/>
          </a:prstGeom>
        </p:spPr>
      </p:pic>
    </p:spTree>
    <p:extLst>
      <p:ext uri="{BB962C8B-B14F-4D97-AF65-F5344CB8AC3E}">
        <p14:creationId xmlns:p14="http://schemas.microsoft.com/office/powerpoint/2010/main" val="2538582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37"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arn(outVertical)">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A965D-16CA-D62F-BEFC-73B84B222B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911306-C791-5040-F4C2-73695DB86360}"/>
              </a:ext>
            </a:extLst>
          </p:cNvPr>
          <p:cNvSpPr>
            <a:spLocks noGrp="1"/>
          </p:cNvSpPr>
          <p:nvPr>
            <p:ph type="title"/>
          </p:nvPr>
        </p:nvSpPr>
        <p:spPr>
          <a:xfrm>
            <a:off x="376850" y="1752600"/>
            <a:ext cx="15777550" cy="5791200"/>
          </a:xfrm>
        </p:spPr>
        <p:txBody>
          <a:bodyPr anchor="t">
            <a:noAutofit/>
          </a:bodyPr>
          <a:lstStyle/>
          <a:p>
            <a:pPr algn="l">
              <a:spcBef>
                <a:spcPts val="0"/>
              </a:spcBef>
              <a:spcAft>
                <a:spcPts val="1200"/>
              </a:spcAft>
            </a:pPr>
            <a:r>
              <a:rPr lang="en-US" sz="2800" dirty="0">
                <a:solidFill>
                  <a:srgbClr val="0000FF"/>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http://www.yspuniversity.ac.in/cic/algorithm-manual.pdf</a:t>
            </a:r>
            <a:br>
              <a:rPr lang="en-US" sz="2800" dirty="0">
                <a:solidFill>
                  <a:srgbClr val="0000FF"/>
                </a:solidFill>
                <a:latin typeface="Times New Roman" panose="02020603050405020304" pitchFamily="18" charset="0"/>
                <a:cs typeface="Times New Roman" panose="02020603050405020304" pitchFamily="18" charset="0"/>
              </a:rPr>
            </a:br>
            <a:br>
              <a:rPr lang="en-US" sz="2800" dirty="0">
                <a:solidFill>
                  <a:srgbClr val="0000FF"/>
                </a:solidFill>
                <a:latin typeface="Times New Roman" panose="02020603050405020304" pitchFamily="18" charset="0"/>
                <a:cs typeface="Times New Roman" panose="02020603050405020304" pitchFamily="18" charset="0"/>
              </a:rPr>
            </a:br>
            <a:r>
              <a:rPr lang="en-US" sz="2800" dirty="0">
                <a:solidFill>
                  <a:srgbClr val="0000FF"/>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http://programmingposts.com/c-program-converting-celsius-fahrenheit/</a:t>
            </a:r>
            <a:r>
              <a:rPr lang="en-US" sz="2800" dirty="0">
                <a:solidFill>
                  <a:srgbClr val="0000FF"/>
                </a:solidFill>
                <a:latin typeface="Times New Roman" panose="02020603050405020304" pitchFamily="18" charset="0"/>
                <a:cs typeface="Times New Roman" panose="02020603050405020304" pitchFamily="18" charset="0"/>
              </a:rPr>
              <a:t> </a:t>
            </a:r>
            <a:br>
              <a:rPr lang="en-US" sz="2800" dirty="0">
                <a:solidFill>
                  <a:srgbClr val="0000FF"/>
                </a:solidFill>
                <a:latin typeface="Times New Roman" panose="02020603050405020304" pitchFamily="18" charset="0"/>
                <a:cs typeface="Times New Roman" panose="02020603050405020304" pitchFamily="18" charset="0"/>
              </a:rPr>
            </a:br>
            <a:br>
              <a:rPr lang="en-US" sz="2800" dirty="0">
                <a:solidFill>
                  <a:srgbClr val="0000FF"/>
                </a:solidFill>
                <a:latin typeface="Times New Roman" panose="02020603050405020304" pitchFamily="18" charset="0"/>
                <a:cs typeface="Times New Roman" panose="02020603050405020304" pitchFamily="18" charset="0"/>
              </a:rPr>
            </a:br>
            <a:r>
              <a:rPr lang="en-US" sz="2800" dirty="0">
                <a:solidFill>
                  <a:srgbClr val="0000FF"/>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https://www.edrawsoft.com/explain-algorithm-flowchart.html</a:t>
            </a:r>
            <a:br>
              <a:rPr lang="en-US" sz="2800" dirty="0">
                <a:solidFill>
                  <a:srgbClr val="0000FF"/>
                </a:solidFill>
                <a:latin typeface="Times New Roman" panose="02020603050405020304" pitchFamily="18" charset="0"/>
                <a:cs typeface="Times New Roman" panose="02020603050405020304" pitchFamily="18" charset="0"/>
              </a:rPr>
            </a:br>
            <a:br>
              <a:rPr lang="en-US" sz="2800" dirty="0">
                <a:solidFill>
                  <a:srgbClr val="0000FF"/>
                </a:solidFill>
                <a:latin typeface="Times New Roman" panose="02020603050405020304" pitchFamily="18" charset="0"/>
                <a:cs typeface="Times New Roman" panose="02020603050405020304" pitchFamily="18" charset="0"/>
              </a:rPr>
            </a:br>
            <a:r>
              <a:rPr lang="en-US" sz="2800" dirty="0">
                <a:solidFill>
                  <a:srgbClr val="0000FF"/>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https://www.c-programming-simple-steps.com/flow-chart.html</a:t>
            </a:r>
            <a:br>
              <a:rPr lang="en-US" sz="2800" dirty="0">
                <a:solidFill>
                  <a:srgbClr val="0000FF"/>
                </a:solidFill>
                <a:latin typeface="Times New Roman" panose="02020603050405020304" pitchFamily="18" charset="0"/>
                <a:cs typeface="Times New Roman" panose="02020603050405020304" pitchFamily="18" charset="0"/>
              </a:rPr>
            </a:br>
            <a:br>
              <a:rPr lang="en-US" sz="2800" dirty="0">
                <a:solidFill>
                  <a:srgbClr val="0000FF"/>
                </a:solidFill>
                <a:latin typeface="Times New Roman" panose="02020603050405020304" pitchFamily="18" charset="0"/>
                <a:cs typeface="Times New Roman" panose="02020603050405020304" pitchFamily="18" charset="0"/>
              </a:rPr>
            </a:br>
            <a:r>
              <a:rPr lang="en-US" sz="2800" dirty="0">
                <a:solidFill>
                  <a:srgbClr val="0000FF"/>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https://faradars.org/wp-content/uploads/2015/07/Algorithm-and-Flow-Chart.pdf</a:t>
            </a:r>
            <a:br>
              <a:rPr lang="en-US" sz="2800" dirty="0">
                <a:solidFill>
                  <a:srgbClr val="0000FF"/>
                </a:solidFill>
                <a:latin typeface="Times New Roman" panose="02020603050405020304" pitchFamily="18" charset="0"/>
                <a:cs typeface="Times New Roman" panose="02020603050405020304" pitchFamily="18" charset="0"/>
              </a:rPr>
            </a:br>
            <a:br>
              <a:rPr lang="en-US" sz="2800" dirty="0">
                <a:solidFill>
                  <a:srgbClr val="0000FF"/>
                </a:solidFill>
                <a:latin typeface="Times New Roman" panose="02020603050405020304" pitchFamily="18" charset="0"/>
                <a:cs typeface="Times New Roman" panose="02020603050405020304" pitchFamily="18" charset="0"/>
              </a:rPr>
            </a:br>
            <a:endParaRPr lang="en-US" sz="2800" dirty="0">
              <a:solidFill>
                <a:srgbClr val="0000FF"/>
              </a:solidFill>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BC15CFDA-A844-66D2-52CE-47DFE03403E0}"/>
              </a:ext>
            </a:extLst>
          </p:cNvPr>
          <p:cNvSpPr>
            <a:spLocks noChangeArrowheads="1"/>
          </p:cNvSpPr>
          <p:nvPr/>
        </p:nvSpPr>
        <p:spPr bwMode="auto">
          <a:xfrm>
            <a:off x="5751196" y="2888801"/>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8" name="Rectangle 3">
            <a:extLst>
              <a:ext uri="{FF2B5EF4-FFF2-40B4-BE49-F238E27FC236}">
                <a16:creationId xmlns:a16="http://schemas.microsoft.com/office/drawing/2014/main" id="{C3416294-4AD4-2BB3-95B5-AD7FBEAEF5E4}"/>
              </a:ext>
            </a:extLst>
          </p:cNvPr>
          <p:cNvSpPr>
            <a:spLocks noChangeArrowheads="1"/>
          </p:cNvSpPr>
          <p:nvPr/>
        </p:nvSpPr>
        <p:spPr bwMode="auto">
          <a:xfrm>
            <a:off x="5751196" y="2970717"/>
            <a:ext cx="221664" cy="77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09728" tIns="54864" rIns="109728" bIns="54864" numCol="1" anchor="ctr" anchorCtr="0" compatLnSpc="1">
            <a:prstTxWarp prst="textNoShape">
              <a:avLst/>
            </a:prstTxWarp>
            <a:spAutoFit/>
          </a:bodyPr>
          <a:lstStyle/>
          <a:p>
            <a:pPr defTabSz="1097280"/>
            <a:br>
              <a:rPr lang="en-US" altLang="en-US" sz="2160">
                <a:latin typeface="Arial" panose="020B0604020202020204" pitchFamily="34" charset="0"/>
              </a:rPr>
            </a:br>
            <a:endParaRPr lang="en-US" altLang="en-US" sz="2160">
              <a:latin typeface="Arial" panose="020B0604020202020204" pitchFamily="34" charset="0"/>
            </a:endParaRPr>
          </a:p>
        </p:txBody>
      </p:sp>
      <p:sp>
        <p:nvSpPr>
          <p:cNvPr id="10" name="Title 1">
            <a:extLst>
              <a:ext uri="{FF2B5EF4-FFF2-40B4-BE49-F238E27FC236}">
                <a16:creationId xmlns:a16="http://schemas.microsoft.com/office/drawing/2014/main" id="{5A2B89C7-D1E9-5EFB-8247-05222BA8B661}"/>
              </a:ext>
            </a:extLst>
          </p:cNvPr>
          <p:cNvSpPr txBox="1">
            <a:spLocks/>
          </p:cNvSpPr>
          <p:nvPr/>
        </p:nvSpPr>
        <p:spPr bwMode="auto">
          <a:xfrm>
            <a:off x="1143000" y="471488"/>
            <a:ext cx="14843126"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5200">
                <a:solidFill>
                  <a:schemeClr val="tx2"/>
                </a:solidFill>
                <a:latin typeface="+mj-lt"/>
                <a:ea typeface="+mj-ea"/>
                <a:cs typeface="+mj-cs"/>
              </a:defRPr>
            </a:lvl1pPr>
            <a:lvl2pPr algn="ctr" rtl="0" eaLnBrk="0" fontAlgn="base" hangingPunct="0">
              <a:spcBef>
                <a:spcPct val="0"/>
              </a:spcBef>
              <a:spcAft>
                <a:spcPct val="0"/>
              </a:spcAft>
              <a:defRPr sz="5200">
                <a:solidFill>
                  <a:schemeClr val="tx2"/>
                </a:solidFill>
                <a:latin typeface="Arial Black" pitchFamily="34" charset="0"/>
              </a:defRPr>
            </a:lvl2pPr>
            <a:lvl3pPr algn="ctr" rtl="0" eaLnBrk="0" fontAlgn="base" hangingPunct="0">
              <a:spcBef>
                <a:spcPct val="0"/>
              </a:spcBef>
              <a:spcAft>
                <a:spcPct val="0"/>
              </a:spcAft>
              <a:defRPr sz="5200">
                <a:solidFill>
                  <a:schemeClr val="tx2"/>
                </a:solidFill>
                <a:latin typeface="Arial Black" pitchFamily="34" charset="0"/>
              </a:defRPr>
            </a:lvl3pPr>
            <a:lvl4pPr algn="ctr" rtl="0" eaLnBrk="0" fontAlgn="base" hangingPunct="0">
              <a:spcBef>
                <a:spcPct val="0"/>
              </a:spcBef>
              <a:spcAft>
                <a:spcPct val="0"/>
              </a:spcAft>
              <a:defRPr sz="5200">
                <a:solidFill>
                  <a:schemeClr val="tx2"/>
                </a:solidFill>
                <a:latin typeface="Arial Black" pitchFamily="34" charset="0"/>
              </a:defRPr>
            </a:lvl4pPr>
            <a:lvl5pPr algn="ctr" rtl="0" eaLnBrk="0" fontAlgn="base" hangingPunct="0">
              <a:spcBef>
                <a:spcPct val="0"/>
              </a:spcBef>
              <a:spcAft>
                <a:spcPct val="0"/>
              </a:spcAft>
              <a:defRPr sz="5200">
                <a:solidFill>
                  <a:schemeClr val="tx2"/>
                </a:solidFill>
                <a:latin typeface="Arial Black" pitchFamily="34" charset="0"/>
              </a:defRPr>
            </a:lvl5pPr>
            <a:lvl6pPr marL="548640" algn="ctr" rtl="0" fontAlgn="base">
              <a:spcBef>
                <a:spcPct val="0"/>
              </a:spcBef>
              <a:spcAft>
                <a:spcPct val="0"/>
              </a:spcAft>
              <a:defRPr sz="5280">
                <a:solidFill>
                  <a:schemeClr val="tx2"/>
                </a:solidFill>
                <a:latin typeface="Arial Black" pitchFamily="34" charset="0"/>
              </a:defRPr>
            </a:lvl6pPr>
            <a:lvl7pPr marL="1097280" algn="ctr" rtl="0" fontAlgn="base">
              <a:spcBef>
                <a:spcPct val="0"/>
              </a:spcBef>
              <a:spcAft>
                <a:spcPct val="0"/>
              </a:spcAft>
              <a:defRPr sz="5280">
                <a:solidFill>
                  <a:schemeClr val="tx2"/>
                </a:solidFill>
                <a:latin typeface="Arial Black" pitchFamily="34" charset="0"/>
              </a:defRPr>
            </a:lvl7pPr>
            <a:lvl8pPr marL="1645920" algn="ctr" rtl="0" fontAlgn="base">
              <a:spcBef>
                <a:spcPct val="0"/>
              </a:spcBef>
              <a:spcAft>
                <a:spcPct val="0"/>
              </a:spcAft>
              <a:defRPr sz="5280">
                <a:solidFill>
                  <a:schemeClr val="tx2"/>
                </a:solidFill>
                <a:latin typeface="Arial Black" pitchFamily="34" charset="0"/>
              </a:defRPr>
            </a:lvl8pPr>
            <a:lvl9pPr marL="2194560" algn="ctr" rtl="0" fontAlgn="base">
              <a:spcBef>
                <a:spcPct val="0"/>
              </a:spcBef>
              <a:spcAft>
                <a:spcPct val="0"/>
              </a:spcAft>
              <a:defRPr sz="5280">
                <a:solidFill>
                  <a:schemeClr val="tx2"/>
                </a:solidFill>
                <a:latin typeface="Arial Black" pitchFamily="34" charset="0"/>
              </a:defRPr>
            </a:lvl9pPr>
          </a:lstStyle>
          <a:p>
            <a:r>
              <a:rPr lang="en-CA" kern="0" dirty="0"/>
              <a:t>Some References on Flowchart</a:t>
            </a:r>
          </a:p>
        </p:txBody>
      </p:sp>
    </p:spTree>
    <p:extLst>
      <p:ext uri="{BB962C8B-B14F-4D97-AF65-F5344CB8AC3E}">
        <p14:creationId xmlns:p14="http://schemas.microsoft.com/office/powerpoint/2010/main" val="28864631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p:cNvSpPr>
            <a:spLocks noGrp="1" noChangeArrowheads="1"/>
          </p:cNvSpPr>
          <p:nvPr>
            <p:ph type="body" idx="1"/>
          </p:nvPr>
        </p:nvSpPr>
        <p:spPr>
          <a:xfrm>
            <a:off x="1235075" y="1828800"/>
            <a:ext cx="13989050" cy="914400"/>
          </a:xfrm>
        </p:spPr>
        <p:txBody>
          <a:bodyPr/>
          <a:lstStyle/>
          <a:p>
            <a:pPr marL="0" indent="0" eaLnBrk="1" hangingPunct="1">
              <a:buFont typeface="Wingdings" panose="05000000000000000000" pitchFamily="2" charset="2"/>
              <a:buNone/>
            </a:pPr>
            <a:r>
              <a:rPr lang="en-US" altLang="en-US" sz="4800" b="1" dirty="0">
                <a:solidFill>
                  <a:srgbClr val="0070C0"/>
                </a:solidFill>
              </a:rPr>
              <a:t>Thanks for attending….</a:t>
            </a:r>
            <a:endParaRPr lang="en-US" altLang="en-US" sz="4400" dirty="0"/>
          </a:p>
        </p:txBody>
      </p:sp>
      <p:grpSp>
        <p:nvGrpSpPr>
          <p:cNvPr id="92164" name="Group 6"/>
          <p:cNvGrpSpPr>
            <a:grpSpLocks/>
          </p:cNvGrpSpPr>
          <p:nvPr/>
        </p:nvGrpSpPr>
        <p:grpSpPr bwMode="auto">
          <a:xfrm>
            <a:off x="8382000" y="2133600"/>
            <a:ext cx="5257800" cy="4953000"/>
            <a:chOff x="432" y="1584"/>
            <a:chExt cx="3072" cy="2426"/>
          </a:xfrm>
        </p:grpSpPr>
        <p:sp>
          <p:nvSpPr>
            <p:cNvPr id="5" name="AutoShape 3"/>
            <p:cNvSpPr>
              <a:spLocks noChangeArrowheads="1"/>
            </p:cNvSpPr>
            <p:nvPr/>
          </p:nvSpPr>
          <p:spPr bwMode="auto">
            <a:xfrm>
              <a:off x="1296" y="1584"/>
              <a:ext cx="2208" cy="816"/>
            </a:xfrm>
            <a:prstGeom prst="cloudCallout">
              <a:avLst>
                <a:gd name="adj1" fmla="val -41574"/>
                <a:gd name="adj2" fmla="val 140565"/>
              </a:avLst>
            </a:prstGeom>
            <a:solidFill>
              <a:schemeClr val="accent3"/>
            </a:solid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defRPr/>
              </a:pPr>
              <a:endParaRPr lang="en-US" altLang="en-US" sz="2800"/>
            </a:p>
          </p:txBody>
        </p:sp>
        <p:pic>
          <p:nvPicPr>
            <p:cNvPr id="92166" name="Picture 4" descr="j03012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 y="2598"/>
              <a:ext cx="1651" cy="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7" name="WordArt 5"/>
            <p:cNvSpPr>
              <a:spLocks noChangeArrowheads="1" noChangeShapeType="1" noTextEdit="1"/>
            </p:cNvSpPr>
            <p:nvPr/>
          </p:nvSpPr>
          <p:spPr bwMode="auto">
            <a:xfrm>
              <a:off x="2083" y="1728"/>
              <a:ext cx="1008" cy="1231"/>
            </a:xfrm>
            <a:prstGeom prst="rect">
              <a:avLst/>
            </a:prstGeom>
          </p:spPr>
          <p:txBody>
            <a:bodyPr wrap="none" fromWordArt="1">
              <a:prstTxWarp prst="textPlain">
                <a:avLst>
                  <a:gd name="adj" fmla="val 50000"/>
                </a:avLst>
              </a:prstTxWarp>
            </a:bodyPr>
            <a:lstStyle/>
            <a:p>
              <a:pPr algn="ctr"/>
              <a:r>
                <a:rPr lang="en-US" sz="5520" kern="10">
                  <a:ln w="9525">
                    <a:solidFill>
                      <a:srgbClr val="60C99C"/>
                    </a:solidFill>
                    <a:round/>
                    <a:headEnd/>
                    <a:tailEnd/>
                  </a:ln>
                  <a:solidFill>
                    <a:srgbClr val="00B050"/>
                  </a:solidFill>
                  <a:latin typeface="Arial Black" panose="020B0A04020102020204" pitchFamily="34" charset="0"/>
                </a:rPr>
                <a:t>?</a:t>
              </a:r>
            </a:p>
          </p:txBody>
        </p:sp>
      </p:grpSp>
    </p:spTree>
  </p:cSld>
  <p:clrMapOvr>
    <a:masterClrMapping/>
  </p:clrMapOvr>
  <p:transition>
    <p:zoom/>
  </p:transition>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12826</TotalTime>
  <Words>7225</Words>
  <Application>Microsoft Office PowerPoint</Application>
  <PresentationFormat>Custom</PresentationFormat>
  <Paragraphs>919</Paragraphs>
  <Slides>55</Slides>
  <Notes>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55</vt:i4>
      </vt:variant>
    </vt:vector>
  </HeadingPairs>
  <TitlesOfParts>
    <vt:vector size="68" baseType="lpstr">
      <vt:lpstr>Agency FB</vt:lpstr>
      <vt:lpstr>Angsana New</vt:lpstr>
      <vt:lpstr>Arial</vt:lpstr>
      <vt:lpstr>Arial Black</vt:lpstr>
      <vt:lpstr>Book Antiqua</vt:lpstr>
      <vt:lpstr>Calibri</vt:lpstr>
      <vt:lpstr>Californian FB</vt:lpstr>
      <vt:lpstr>Courier</vt:lpstr>
      <vt:lpstr>Courier-Bold</vt:lpstr>
      <vt:lpstr>Courier-Oblique</vt:lpstr>
      <vt:lpstr>Times New Roman</vt:lpstr>
      <vt:lpstr>Wingdings</vt:lpstr>
      <vt:lpstr>Default Design</vt:lpstr>
      <vt:lpstr>Lecture # 06M:  Assembly Language Programming for ATmega328P</vt:lpstr>
      <vt:lpstr>Outline</vt:lpstr>
      <vt:lpstr>AVR Architecture of CPU</vt:lpstr>
      <vt:lpstr>Status Register</vt:lpstr>
      <vt:lpstr>Direct Data Register Method</vt:lpstr>
      <vt:lpstr>Examples of Direct Data Register Method</vt:lpstr>
      <vt:lpstr>Instruction Set Summary</vt:lpstr>
      <vt:lpstr>Instruction Set Summary</vt:lpstr>
      <vt:lpstr>Instruction Set Summary</vt:lpstr>
      <vt:lpstr>Instruction Set Summary</vt:lpstr>
      <vt:lpstr>Memory Locations</vt:lpstr>
      <vt:lpstr>Register Contents</vt:lpstr>
      <vt:lpstr>Programming Examples</vt:lpstr>
      <vt:lpstr>Difference Between Assembly and C</vt:lpstr>
      <vt:lpstr>EEPROM Control Register (EECR)</vt:lpstr>
      <vt:lpstr>Difference Between Assembly and C</vt:lpstr>
      <vt:lpstr>The next code examples show assembly and C functions for reading the EEPROM.  The examples assume that interrupts are controlled so that no interrupts will occur during the execution of these functions. </vt:lpstr>
      <vt:lpstr>Bit 0 – IVCE: Interrupt Vector Change Enable The IVCE bit must be written to logic one to enable change of the IVSEL bit. IVCE is cleared by hardware four cycles after it is written or when IVSEL is written. Setting the IVCE bit will disable interrupts, </vt:lpstr>
      <vt:lpstr>The assembly code example returns the TCNT1 value in the R17:R16 register pair. If an interrupt occurs between the two instructions accessing the 16-bit register, the interrupt code Updates the temporary register by accessing the same or any other of the 16-bit Timer Registers; then, the result of the access outside the interrupt will be corrupted. Therefore, when both the main code and the interrupt code update the temporary register, the main code must disable the interrupts during the 16-bit access. </vt:lpstr>
      <vt:lpstr>The following code examples show how to do an atomic read of the TCNT1 Register contents.   Reading any of the OCR1A/B or ICR1 Registers can be done by using the same principle</vt:lpstr>
      <vt:lpstr>The assembly code example returns the TCNT1 value in the R17:R16 register pair.  The following code examples demonstrate how to perform an atomic write to the TCNT1 Register contents.  Writing any of the OCR1A/B or ICR1 Registers can be done by using the same principle  </vt:lpstr>
      <vt:lpstr>The assembly code example requires that the r17:r16 register pair contains the value to be written to TCNT1.</vt:lpstr>
      <vt:lpstr>Difference Between Assembly and C</vt:lpstr>
      <vt:lpstr>Difference Between Assembly and C</vt:lpstr>
      <vt:lpstr>Determine the contents of the memory locations in binary format in Table 1 based on the following assembly language instructions: LDI R17, 0xE6;              STS 0x21FB, R17;        LDI R22, 0xE0;               LDI R30, 0xD2;               ADD R30, R22;              STS 0x21FC, R30;        SUBI R30, 0xA1;           STS 0x21FD, R30;        AND R30, R17;             STS 0x21FE, R30;        OR R30, R17;                STS 0x21FF, R30;</vt:lpstr>
      <vt:lpstr>Answers: LDI R17, 0xE6;             // R17 register gets an immediate value of 0xE6 STS 0x21FB, R17;         // Memory location, 0x21FB gets a value of 0xE6 from the register R17 LDI R22, 0xE0;            // R22 register gets an immediate value of 0xE0   LDI R30, 0xD2;           // R30 register gets an immediate value of 0xD2   ADD R30, R22;            // R30 register gets a value of addition results of R22 and R30 registers’ contents, i.e., R30 = R30 + R22 = 0xD2 + 0xE0 = 0xB2; carry would be neglected STS 0x21FC, R30;       // Memory location, 0x21FC gets a value of 0xB2 from the register R30 SUBI R30, 0xA1;          // R30 register gets a value of subtraction results of 0xA1 from R30 register’s contents, i.e., R30 = R30 – 0xA1 = 0xB2 + 0xA1 = 0x11; borrow won’t be generated STS 0x21FD, R30;       // Memory location, 0x21FD gets a value of 0x11 from the register R30 AND R30, R17;            // R30 register gets a value of logical AND operation results of 0x00 from R30 register’s contents, i.e., R30 = R30 AND R17 = 0x11 AND 0xE6 = 0b00010001 AND 0b11100110 = 0x00 STS 0x21FE, R30;       // Memory location, 0x21FE gets a value of 0x00 from the register R30 OR R30, R17;               // R30 register gets a value of logical OR operation results of 0xE6 from R30 register’s contents, i.e., R30 = R30 OR R17 = 0x00 OR 0xE6 = 0b00000000 OR 0b11100110 = 0xE6 STS 0x21FF, R30;     // Memory location, 0x21FF gets a value of 0xE6 from the register R30 </vt:lpstr>
      <vt:lpstr>PowerPoint Presentation</vt:lpstr>
      <vt:lpstr>Prepare an assembly program to set the Sleep Mode Control Register (SMCR) so that the system remains in power-save mode as a whole and power reduction mode (PRR) for its PRTIM0 and PRSPI.</vt:lpstr>
      <vt:lpstr>Answers: To set the Sleep Mode Control Register (SMCR) in the power save mode, we need to set various bits of SMCR as follows as per the bit setting of the given table (SE bit, i.e. bit 0 must be set to logical HIGH to enable the Sleep Mode): 0000 0111b = 07h   To set the Power Reduction Register (PRR) for saving the power of PRTIM0 and PRSPI, we must enable bit 5 and bit 2 of the PRR register as follows: 0010 0100b = 24h  Therefore, the assembly program should be as follows:  ; Set SMCR to 0x07 LDI R16,0x07;       // Sleep Mode Control Register control data is loaded into the register R16 OUT SMCR, R16;  // R16 sends the control data to the SMCR to set it in power save mode  ; Set PRR to 0x24 LDI R17, 0x24;    // Power Reduction Register (PRR) control data is loaded into the register R17 OUT PRR, R17;  // R17 sends the control data to the PRR to set it in the power reduction modes of Timer0 and SPI </vt:lpstr>
      <vt:lpstr>The word “algorithm” relates to the name of the mathematician Al-Khwarizmi, which means a procedure or a technique. A Software Engineer commonly uses an algorithm for planning and solving problems. An algorithm is a  sequence of steps to solve a particular problem, or an algorithm is an ordered set of unambiguous steps that produces a  result and terminates in a finite time Algorithm has the following characteristics Input: An algorithm may or may not require input Output: Each algorithm is expected to produce at least one result Definiteness: Each instruction must be unambiguous. Finiteness: If the instructions of an algorithm are executed, the algorithm should terminate after a finite number of steps The algorithm and flowchart include the following three types of control structures.</vt:lpstr>
      <vt:lpstr>Sequence: In the sequence structure, statements are placed one after the other, and the execution takes place starting from up to down. Branching (Selection): In branch control, there is a condition, and according to a condition, a decision of either  TRUE or FALSE is achieved. In the case of TRUE, one of the two branches is explored; but in the case of a FALSE  condition, the other alternative branch is taken. Generally, the ‘IF-THEN’ is used to represent branch control. Loop (Repetition): The Loop or Repetition allows a statement(s) to be executed repeatedly based on a certain loop condition, e.g., ‘WHILE’, ‘FOR’, ‘DO’ loops.  1. It is a step-wise representation of a solution to a given problem, which makes it easy to understand. 2. An algorithm uses a definite procedure. 3. It is not dependent on any programming language, so it is easy to understand for anyone, even without programming knowledge. 4. Every step in an algorithm has its logical sequence, so it is easy to debug.</vt:lpstr>
      <vt:lpstr>The first design of flowchart goes back to 1945 which was designed by John Von Neumann. Unlike an algorithm, Flowchart uses different symbols to design a solution to a problem. It is another commonly used programming tool. By looking at a Flowchart, one can understand the operations and sequence of operations performed in a system. A flowchart is often considered a blueprint of a design used for solving a specific problem. A flowchart is a diagrammatic representation of an algorithm. Flowcharts are very helpful in writing programs and explaining programs to others. Though, flowcharts are useful in efficient coding, debugging, and analysis of a program, drawing flowcharts for very complicated in case of complex programs is often ignored. Flowcharts use special shapes to represent different types of actions or steps in a process. Lines and arrows show the sequence of the steps and the relationships among them. These are known as flowchart symbols. So, flowchart symbols are specific shapes used to create a visual representation of a program.</vt:lpstr>
      <vt:lpstr>PowerPoint Presentation</vt:lpstr>
      <vt:lpstr>PowerPoint Presentation</vt:lpstr>
      <vt:lpstr>While creating flowchart, the following mathematical operators are used.</vt:lpstr>
      <vt:lpstr>While creating flowchart, the following relational operators are used.</vt:lpstr>
      <vt:lpstr>While creating flowchart, the following logical operators are used.</vt:lpstr>
      <vt:lpstr>While creating a flowchart, the following symbols are used.</vt:lpstr>
      <vt:lpstr>PowerPoint Presentation</vt:lpstr>
      <vt:lpstr>Draw a flowchart along with its algorithm to add two numbers entered by the user.</vt:lpstr>
      <vt:lpstr>Draw a flowchart along with its algorithm to compare two numbers entered by the user and then find the greater number among the given two.</vt:lpstr>
      <vt:lpstr>Draw a flowchart along with its algorithm to convert temperature from Celsius to Fahrenheit.</vt:lpstr>
      <vt:lpstr>Draw a flowchart along with its algorithm to print numbers from 1 to 20.</vt:lpstr>
      <vt:lpstr>An airport has a conveyer belt to pass the luggage to the passengers. This conveyor belt (C) is operated by a push button (B) and 2 LED lights (GREEN, GL and RED, RL) are fitted in the system. If the button is pressed once, then the belt will circulate in the clockwise direction and the GREEN light will remain ON keeping the RED light OFF. If the button is not pressed then the conveyer belt will not be circulating, and the RED light will remain ON keeping the GREEN light OFF. This entire system is built around an Arduino Uno platform.  Draw a flowchart to operate the lights and conveyor belt through the switch considering the given restraints.</vt:lpstr>
      <vt:lpstr>A vending machine at a university campus offers three different options for cold drinks. This machine can dispense a maximum of 3 drinks at once. The machine has a total of three buttons (button_1 for 1 drink, button_2 for 2 drinks, and button_3 for 3 drinks) to select the number of drinks to be dispensed. After this initial selection, the vending machine waits for 3 s and then displays the options for available drinks. The consumer can use the 3 buttons (button_1 for A drink, button_2 for B drink, and button_3 for C drink) to select their desired drink(s). If only 1 drink is to be dispensed, the consumer should press the relevant button, and the vending machine dispenses the chosen drink after a 3 s delay. If more than 1 drink is to be dispensed, the relevant buttons need to be pressed one after another, and the machine dispenses the drinks one at a time with a 3 s gap between the consecutive drinks. This vending machine is to be built around an Arduino Uno platform. Now, prepare a program to execute the mentioned tasks if the Arduino Uno system is operating at 16 MHz. [For this program, digital I/O pins D0 to D13 can be used.]</vt:lpstr>
      <vt:lpstr>const int button1 = 2; const int button2 = 3; const int button3 = 4;  const int drinkA = 8; const int drinkB = 9; const int drinkC = 10;  int numDrinks = 0; // holds selected drinks // (0=A, 1=B, 2=C) int selectedDrinks[3];  int selectionIndex = 0;</vt:lpstr>
      <vt:lpstr> Serial.print("Number of drinks selected: ");   Serial.println(numDrinks);    delay(3000); // Wait 3 seconds before selecting drink types    Serial.println("Select drink types:");    // Wait for drink type selections   while (selectionIndex &lt; numDrinks) {     if (digitalRead(button1) == LOW) {       selectedDrinks[selectionIndex++] = 0; // Drink A       Serial.println("Selected: Drink A");       delay(500); // Debounce       while (digitalRead(button1) == LOW); // Wait for release     } else if (digitalRead(button2) == LOW) {</vt:lpstr>
      <vt:lpstr>// Dispense drinks with a 3-second delay between   for (int i = 0; i &lt; numDrinks; i++) {     Serial.print("Dispensing drink ");     if (selectedDrinks[i] == 0) {       Serial.println("A");       digitalWrite(drinkA, HIGH);       delay(1000); // Simulate dispensing   digitalWrite(drinkA, LOW);     } else if (selectedDrinks[i] == 1) {       Serial.println("B");       digitalWrite(drinkB, HIGH);       delay(1000);       digitalWrite(drinkB, LOW);     } else if (selectedDrinks[i] == 2) {</vt:lpstr>
      <vt:lpstr>PowerPoint Presentation</vt:lpstr>
      <vt:lpstr>A space research facility is planning to shoot high-powered frequency pulses into space for research. These pulses are to be shot at a 1 µs interval continuously. The facility has an ATmega328P MCU to trigger every 1 µs. For this purpose, it has been decided that the predefined delay function, delay() of the Arduino IDE, will be used.  Prepare a flow chart that sends the pulses.</vt:lpstr>
      <vt:lpstr>A space research facility is planning to shoot high-powered frequency pulses into space for research. These pulses are to be shot at a 1 µs interval. The facility has an ATmega328P MCU to count the time. The MCU will trigger every 1 µs, and a timer interrupt will be shot. Considering the power consumption and necessity, it is decided to use the Timer0 interrupt. The MCU runs at 16 MHz. Prepare a program to trigger the Timer0 interrupt every 1 µs. Prepare a flow chart for this purpose.  [Hint: Bits 0 to 2 of the TCCR0B register must be set. These bits correspond to the pre-scaler to be used. Output Compare Register 0A: OCR0A holds the necessary Timer0 count to achieve the required delay. Bit 1 from TIMSK0 is OCIE0A – this bit must be set to enable comparison match A. Any bits not mentioned here are to be considered as 0. All registers mentioned are 8-bit registers.]</vt:lpstr>
      <vt:lpstr>PowerPoint Presentation</vt:lpstr>
      <vt:lpstr>const int redPin = 12;      // Pin connected to the red LED const int greenPin = 11;   // Pin connected to the green LED const int yellowPin = 10;  // Pin connected to the yellow LED  void setup() {   pinMode(redPin, OUTPUT);   pinMode(yellowPin, OUTPUT);   pinMode(greenPin, OUTPUT);   }  void loop() {   // Red light on for 30 seconds   digitalWrite(redPin, HIGH);   delay(30000);  //IDE’s built-in function   digitalWrite(redPin, LOW);</vt:lpstr>
      <vt:lpstr>http://www.yspuniversity.ac.in/cic/algorithm-manual.pdf  http://programmingposts.com/c-program-converting-celsius-fahrenheit/   https://www.edrawsoft.com/explain-algorithm-flowchart.html  https://www.c-programming-simple-steps.com/flow-chart.html  https://faradars.org/wp-content/uploads/2015/07/Algorithm-and-Flow-Chart.pdf  </vt:lpstr>
      <vt:lpstr>PowerPoint Presentation</vt:lpstr>
    </vt:vector>
  </TitlesOfParts>
  <Company>Harvey Mudd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Harris</dc:creator>
  <cp:lastModifiedBy>Protik Parvez Sheikh</cp:lastModifiedBy>
  <cp:revision>480</cp:revision>
  <dcterms:created xsi:type="dcterms:W3CDTF">2003-12-29T03:13:39Z</dcterms:created>
  <dcterms:modified xsi:type="dcterms:W3CDTF">2026-03-13T18:22:53Z</dcterms:modified>
</cp:coreProperties>
</file>