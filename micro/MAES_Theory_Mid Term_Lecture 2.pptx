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07" r:id="rId2"/>
    <p:sldId id="257" r:id="rId3"/>
    <p:sldId id="258" r:id="rId4"/>
    <p:sldId id="259" r:id="rId5"/>
    <p:sldId id="308" r:id="rId6"/>
    <p:sldId id="295" r:id="rId7"/>
    <p:sldId id="289" r:id="rId8"/>
    <p:sldId id="291" r:id="rId9"/>
    <p:sldId id="290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292" r:id="rId20"/>
    <p:sldId id="293" r:id="rId21"/>
    <p:sldId id="29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tik Parvez Sheikh" userId="980b2c0e-c4be-48b4-89f1-66949b55d700" providerId="ADAL" clId="{7D01EEF0-00B1-4473-9B28-AAC9EF1A89A0}"/>
    <pc:docChg chg="custSel modSld">
      <pc:chgData name="Protik Parvez Sheikh" userId="980b2c0e-c4be-48b4-89f1-66949b55d700" providerId="ADAL" clId="{7D01EEF0-00B1-4473-9B28-AAC9EF1A89A0}" dt="2026-09-28T02:26:33.591" v="4" actId="1076"/>
      <pc:docMkLst>
        <pc:docMk/>
      </pc:docMkLst>
      <pc:sldChg chg="addSp delSp modSp mod">
        <pc:chgData name="Protik Parvez Sheikh" userId="980b2c0e-c4be-48b4-89f1-66949b55d700" providerId="ADAL" clId="{7D01EEF0-00B1-4473-9B28-AAC9EF1A89A0}" dt="2026-09-28T02:26:33.591" v="4" actId="1076"/>
        <pc:sldMkLst>
          <pc:docMk/>
          <pc:sldMk cId="24829895" sldId="292"/>
        </pc:sldMkLst>
        <pc:picChg chg="del">
          <ac:chgData name="Protik Parvez Sheikh" userId="980b2c0e-c4be-48b4-89f1-66949b55d700" providerId="ADAL" clId="{7D01EEF0-00B1-4473-9B28-AAC9EF1A89A0}" dt="2026-09-28T02:26:22.280" v="0" actId="478"/>
          <ac:picMkLst>
            <pc:docMk/>
            <pc:sldMk cId="24829895" sldId="292"/>
            <ac:picMk id="3" creationId="{00000000-0000-0000-0000-000000000000}"/>
          </ac:picMkLst>
        </pc:picChg>
        <pc:picChg chg="add mod">
          <ac:chgData name="Protik Parvez Sheikh" userId="980b2c0e-c4be-48b4-89f1-66949b55d700" providerId="ADAL" clId="{7D01EEF0-00B1-4473-9B28-AAC9EF1A89A0}" dt="2026-09-28T02:26:33.591" v="4" actId="1076"/>
          <ac:picMkLst>
            <pc:docMk/>
            <pc:sldMk cId="24829895" sldId="292"/>
            <ac:picMk id="6" creationId="{FB177E1A-01D8-39DF-CF33-1FA462FD6C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52DEF-F8CE-4790-8851-8509B01D7654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E55C2-9420-4043-A601-E75F1B5C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6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19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426EE-C948-9441-8253-4DCD47D8B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8E3E1-01FB-E5C4-4672-7CEB9ED5C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BADA2-7E31-70D6-B582-4BB368A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E4959-60AE-9CDC-F0DA-9C9A6F7D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CDE87-9C4E-05DB-2219-8A6E6B3F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3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9A7A-3B11-1313-9D47-336F1782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6A04-C506-AEDC-B4D8-6D2DD2EB5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887B2-76E6-9BF0-ED55-78043F5DF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387B0-D112-BC03-4CB9-106A63BD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B2708-D1C5-7D3B-2E43-D800A8CA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8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CE34-0904-5F48-9E7C-4A65B7FC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D5911-D04F-16DE-E9CB-126C80F09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5FB14-D3F5-F173-EF7A-5C404C67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42AB4-260A-57BE-343E-B56B4552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4C04F-B822-C089-2675-38D8C3AA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0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0A8C-F3DB-93AE-2635-CFA3FFE1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29434-598D-7F40-9C5C-FF9615C7D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F7D8F-ABAF-1EB0-57D6-6ADC327D1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9D328-68A5-D6C0-9F76-0F2C0B72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DED5E-C843-FDF7-AFE5-4AB06B38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742F6-A807-1BA2-AA22-CC9F5863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0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B2DD-2069-34D6-F54E-FB3457C8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74FD9-6975-055B-5307-E343E03E7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9C2A0-2F47-54E2-3AE1-CCB279A3E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5A823D-F8F7-0999-7762-ADAEEA96E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40B94B-78EF-9B37-BB71-66B947C21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98ECA6-5A3B-93D4-DAD1-719832FA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CE56A-C30B-52C9-0B66-9E820DFB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AB1528-EDE0-DF54-23E1-C3513675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6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9A07-33CB-9AA6-CD02-4C9A6EFBE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006B4B-81F1-0FB1-C8AC-77A198FC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BEDE4-F7F2-21D7-1F2B-531C6342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52CC7-0C8C-3D02-0453-36546E43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44365-A4EC-7B2F-A389-8A966CDD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58A4B-97D6-4B41-0C3A-EE1043AE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531AD-2AF1-9681-7239-A2B20679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6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FE07-35AC-7081-D3EA-FADF42535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72BA7-6AF3-A809-DDD5-BA2EAE2F2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42529-FE8B-A4CE-23FC-32EB5E4A0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2B596-0680-06B1-AD61-7B285814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80A5D-889D-9E61-E9C8-18198F60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7F477-1924-AA75-C0D2-94847E35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0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FFED-B00E-C700-A798-31E34642D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437814-6249-7B41-00AA-405AF9622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50588-B618-FF52-A8D0-26DEB664A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262C8-080F-90F4-B392-80683124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A3C1C-A51F-09F2-B327-C9B4C73D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AAFF6-3083-1D49-304C-23AECC31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46B1-BC23-9ED5-74A4-623A7A01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56A2E-94DA-9D5B-9A6B-182511305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7E3A1-6860-AD22-988E-1C687890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E031-E700-FB7F-9C6A-9A10C80BB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CBA6C-9A01-2F3E-63FD-E0EFA46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4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B0CF23-3D47-A3B9-633B-24EA648AC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E8D60-B5EE-37A6-F82B-71A73EB28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EA72D-5624-520D-09A2-2650461D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D3129-06B8-B881-9C94-72D4BA3B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E7BC1-3C89-7972-9146-22949137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17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8A20-DCA2-3C8E-2335-C5EE9D26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96C19-AD93-390D-D33E-DCB0C956C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AF0A2-C9C1-7546-91A9-FBAF94392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C2AC1-2E67-4E91-B88F-71F8DEA7F8CD}" type="datetimeFigureOut">
              <a:rPr lang="en-US" smtClean="0"/>
              <a:t>28-Sep-26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E528C-3E18-91CB-EFF4-4889DAB99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3EE2-E4AA-8B93-8F26-F3722FDA2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AE252-01F7-4CE1-9318-51A013077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8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rcuitstoday.com/arduino-uno-pinout-schematic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81347-4BFD-C8B9-B017-580856544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1" dirty="0"/>
              <a:t>Architecture of a Modern  Microcontroller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Course Teacher: Protik Parvez Sheikh</a:t>
            </a:r>
          </a:p>
          <a:p>
            <a:pPr marL="0" indent="0" algn="ctr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463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160" y="984630"/>
            <a:ext cx="11084560" cy="28975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ts val="1825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b="1" spc="-5" dirty="0">
                <a:latin typeface="Arial"/>
                <a:cs typeface="Arial"/>
              </a:rPr>
              <a:t>Consists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of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both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programmable</a:t>
            </a:r>
            <a:r>
              <a:rPr b="1" spc="6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microcontroller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(ATMega328)</a:t>
            </a:r>
            <a:r>
              <a:rPr b="1" spc="6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and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piece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of</a:t>
            </a:r>
            <a:endParaRPr dirty="0">
              <a:latin typeface="Arial"/>
              <a:cs typeface="Arial"/>
            </a:endParaRPr>
          </a:p>
          <a:p>
            <a:pPr marL="299085">
              <a:lnSpc>
                <a:spcPts val="1825"/>
              </a:lnSpc>
            </a:pPr>
            <a:r>
              <a:rPr b="1" dirty="0">
                <a:latin typeface="Arial"/>
                <a:cs typeface="Arial"/>
              </a:rPr>
              <a:t>software,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or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IDE</a:t>
            </a:r>
            <a:endParaRPr lang="en-US" b="1" spc="-5" dirty="0">
              <a:latin typeface="Arial"/>
              <a:cs typeface="Arial"/>
            </a:endParaRPr>
          </a:p>
          <a:p>
            <a:pPr marL="299085">
              <a:lnSpc>
                <a:spcPts val="1825"/>
              </a:lnSpc>
            </a:pPr>
            <a:endParaRPr sz="1600" dirty="0">
              <a:latin typeface="Arial"/>
              <a:cs typeface="Arial"/>
            </a:endParaRPr>
          </a:p>
          <a:p>
            <a:pPr marL="299085" marR="5080" indent="-287020">
              <a:lnSpc>
                <a:spcPts val="173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b="1" spc="-5" dirty="0">
                <a:latin typeface="Arial"/>
                <a:cs typeface="Arial"/>
              </a:rPr>
              <a:t>It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uses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computer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to</a:t>
            </a:r>
            <a:r>
              <a:rPr b="1" spc="5" dirty="0">
                <a:latin typeface="Arial"/>
                <a:cs typeface="Arial"/>
              </a:rPr>
              <a:t> write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and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upload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code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(written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in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the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easier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version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of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C++) </a:t>
            </a:r>
            <a:r>
              <a:rPr b="1" spc="-43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to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the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microcontroller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board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and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doesn’t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need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programmer/burner.</a:t>
            </a:r>
            <a:endParaRPr lang="en-US" b="1" spc="-10" dirty="0">
              <a:latin typeface="Arial"/>
              <a:cs typeface="Arial"/>
            </a:endParaRPr>
          </a:p>
          <a:p>
            <a:pPr marL="299085" marR="5080" indent="-287020">
              <a:lnSpc>
                <a:spcPts val="173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endParaRPr dirty="0">
              <a:latin typeface="Arial"/>
              <a:cs typeface="Arial"/>
            </a:endParaRPr>
          </a:p>
          <a:p>
            <a:pPr marL="299085" indent="-287020">
              <a:lnSpc>
                <a:spcPts val="173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b="1" spc="-5" dirty="0">
                <a:latin typeface="Arial"/>
                <a:cs typeface="Arial"/>
              </a:rPr>
              <a:t>Operating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voltage-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5Volt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(7-12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35" dirty="0">
                <a:latin typeface="Arial"/>
                <a:cs typeface="Arial"/>
              </a:rPr>
              <a:t>Volt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is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recommended).</a:t>
            </a:r>
            <a:endParaRPr lang="en-US" b="1" spc="-5" dirty="0">
              <a:latin typeface="Arial"/>
              <a:cs typeface="Arial"/>
            </a:endParaRPr>
          </a:p>
          <a:p>
            <a:pPr marL="299085" indent="-287020">
              <a:lnSpc>
                <a:spcPts val="173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endParaRPr dirty="0">
              <a:latin typeface="Arial"/>
              <a:cs typeface="Arial"/>
            </a:endParaRPr>
          </a:p>
          <a:p>
            <a:pPr marL="299085" indent="-287020">
              <a:lnSpc>
                <a:spcPts val="173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b="1" spc="-5" dirty="0">
                <a:latin typeface="Arial"/>
                <a:cs typeface="Arial"/>
              </a:rPr>
              <a:t>Digital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pin-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14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(of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which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6 </a:t>
            </a:r>
            <a:r>
              <a:rPr b="1" spc="-10" dirty="0">
                <a:latin typeface="Arial"/>
                <a:cs typeface="Arial"/>
              </a:rPr>
              <a:t>provides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PWM </a:t>
            </a:r>
            <a:r>
              <a:rPr b="1" spc="-10" dirty="0">
                <a:latin typeface="Arial"/>
                <a:cs typeface="Arial"/>
              </a:rPr>
              <a:t>output).</a:t>
            </a:r>
            <a:endParaRPr lang="en-US" b="1" spc="-10" dirty="0">
              <a:latin typeface="Arial"/>
              <a:cs typeface="Arial"/>
            </a:endParaRPr>
          </a:p>
          <a:p>
            <a:pPr marL="299085" indent="-287020">
              <a:lnSpc>
                <a:spcPts val="173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endParaRPr dirty="0">
              <a:latin typeface="Arial"/>
              <a:cs typeface="Arial"/>
            </a:endParaRPr>
          </a:p>
          <a:p>
            <a:pPr marL="299085" indent="-287020">
              <a:lnSpc>
                <a:spcPts val="173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b="1" spc="-10" dirty="0">
                <a:latin typeface="Arial"/>
                <a:cs typeface="Arial"/>
              </a:rPr>
              <a:t>DC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Current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per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I/O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pin=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20mA</a:t>
            </a:r>
            <a:endParaRPr lang="en-US" b="1" spc="-5" dirty="0">
              <a:latin typeface="Arial"/>
              <a:cs typeface="Arial"/>
            </a:endParaRPr>
          </a:p>
          <a:p>
            <a:pPr marL="299085" indent="-287020">
              <a:lnSpc>
                <a:spcPts val="173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endParaRPr dirty="0">
              <a:latin typeface="Arial"/>
              <a:cs typeface="Arial"/>
            </a:endParaRPr>
          </a:p>
          <a:p>
            <a:pPr marL="299085" indent="-287020">
              <a:lnSpc>
                <a:spcPts val="1825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b="1" spc="-5" dirty="0">
                <a:latin typeface="Arial"/>
                <a:cs typeface="Arial"/>
              </a:rPr>
              <a:t>DC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Current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3.3V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pin=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50mA</a:t>
            </a:r>
            <a:endParaRPr lang="en-US" b="1" spc="-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46507" y="208156"/>
            <a:ext cx="7286016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chemeClr val="accent2"/>
                </a:solidFill>
                <a:latin typeface="+mn-lt"/>
              </a:rPr>
              <a:t>Basics</a:t>
            </a:r>
            <a:r>
              <a:rPr sz="3200" b="1" spc="-25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3200" b="1" spc="-5" dirty="0">
                <a:solidFill>
                  <a:schemeClr val="accent2"/>
                </a:solidFill>
                <a:latin typeface="+mn-lt"/>
              </a:rPr>
              <a:t>F</a:t>
            </a:r>
            <a:r>
              <a:rPr sz="3200" b="1" spc="-5" dirty="0">
                <a:solidFill>
                  <a:schemeClr val="accent2"/>
                </a:solidFill>
                <a:latin typeface="+mn-lt"/>
              </a:rPr>
              <a:t>eatures </a:t>
            </a:r>
            <a:r>
              <a:rPr sz="3200" b="1" dirty="0">
                <a:solidFill>
                  <a:schemeClr val="accent2"/>
                </a:solidFill>
                <a:latin typeface="+mn-lt"/>
              </a:rPr>
              <a:t>of</a:t>
            </a:r>
            <a:r>
              <a:rPr sz="3200" b="1" spc="-20" dirty="0">
                <a:solidFill>
                  <a:schemeClr val="accent2"/>
                </a:solidFill>
                <a:latin typeface="+mn-lt"/>
              </a:rPr>
              <a:t> </a:t>
            </a:r>
            <a:r>
              <a:rPr sz="3200" b="1" spc="-5" dirty="0">
                <a:solidFill>
                  <a:schemeClr val="accent2"/>
                </a:solidFill>
                <a:latin typeface="+mn-lt"/>
              </a:rPr>
              <a:t>Arduino</a:t>
            </a:r>
            <a:r>
              <a:rPr sz="3200" b="1" spc="5" dirty="0">
                <a:solidFill>
                  <a:schemeClr val="accent2"/>
                </a:solidFill>
                <a:latin typeface="+mn-lt"/>
              </a:rPr>
              <a:t> </a:t>
            </a:r>
            <a:r>
              <a:rPr sz="3200" b="1" dirty="0">
                <a:solidFill>
                  <a:schemeClr val="accent2"/>
                </a:solidFill>
                <a:latin typeface="+mn-lt"/>
              </a:rPr>
              <a:t>U</a:t>
            </a:r>
            <a:r>
              <a:rPr lang="en-US" sz="3200" b="1" dirty="0">
                <a:solidFill>
                  <a:schemeClr val="accent2"/>
                </a:solidFill>
                <a:latin typeface="+mn-lt"/>
              </a:rPr>
              <a:t>NO</a:t>
            </a:r>
            <a:endParaRPr sz="32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8637" y="3860290"/>
            <a:ext cx="4300727" cy="29977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8000" y="531878"/>
            <a:ext cx="11684000" cy="37401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1.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Power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(USB/Barrel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Jack)</a:t>
            </a:r>
            <a:endParaRPr sz="1400" dirty="0">
              <a:latin typeface="Arial"/>
              <a:cs typeface="Arial"/>
            </a:endParaRPr>
          </a:p>
          <a:p>
            <a:pPr marL="12700" marR="671195"/>
            <a:r>
              <a:rPr sz="1400" spc="-5" dirty="0">
                <a:latin typeface="Arial MT"/>
                <a:cs typeface="Arial MT"/>
              </a:rPr>
              <a:t>Every Arduino </a:t>
            </a:r>
            <a:r>
              <a:rPr sz="1400" dirty="0">
                <a:latin typeface="Arial MT"/>
                <a:cs typeface="Arial MT"/>
              </a:rPr>
              <a:t>board needs a </a:t>
            </a:r>
            <a:r>
              <a:rPr sz="1400" spc="-5" dirty="0">
                <a:latin typeface="Arial MT"/>
                <a:cs typeface="Arial MT"/>
              </a:rPr>
              <a:t>power </a:t>
            </a:r>
            <a:r>
              <a:rPr sz="1400" dirty="0">
                <a:latin typeface="Arial MT"/>
                <a:cs typeface="Arial MT"/>
              </a:rPr>
              <a:t>source through a </a:t>
            </a:r>
            <a:r>
              <a:rPr sz="1400" spc="-5" dirty="0">
                <a:latin typeface="Arial MT"/>
                <a:cs typeface="Arial MT"/>
              </a:rPr>
              <a:t>USB cable </a:t>
            </a:r>
            <a:r>
              <a:rPr sz="1400" dirty="0">
                <a:latin typeface="Arial MT"/>
                <a:cs typeface="Arial MT"/>
              </a:rPr>
              <a:t>coming </a:t>
            </a:r>
            <a:r>
              <a:rPr sz="1400" spc="5" dirty="0">
                <a:latin typeface="Arial MT"/>
                <a:cs typeface="Arial MT"/>
              </a:rPr>
              <a:t>from </a:t>
            </a:r>
            <a:r>
              <a:rPr sz="1400" spc="-5" dirty="0">
                <a:latin typeface="Arial MT"/>
                <a:cs typeface="Arial MT"/>
              </a:rPr>
              <a:t>your </a:t>
            </a:r>
            <a:r>
              <a:rPr sz="1400" dirty="0">
                <a:latin typeface="Arial MT"/>
                <a:cs typeface="Arial MT"/>
              </a:rPr>
              <a:t>computer </a:t>
            </a:r>
            <a:r>
              <a:rPr sz="1400" b="1" dirty="0">
                <a:latin typeface="Arial"/>
                <a:cs typeface="Arial"/>
              </a:rPr>
              <a:t>(1) </a:t>
            </a:r>
            <a:r>
              <a:rPr sz="1400" dirty="0">
                <a:latin typeface="Arial MT"/>
                <a:cs typeface="Arial MT"/>
              </a:rPr>
              <a:t>or a </a:t>
            </a:r>
            <a:r>
              <a:rPr sz="1400" spc="-10" dirty="0">
                <a:latin typeface="Arial MT"/>
                <a:cs typeface="Arial MT"/>
              </a:rPr>
              <a:t>wall </a:t>
            </a:r>
            <a:r>
              <a:rPr sz="1400" spc="-5" dirty="0">
                <a:latin typeface="Arial MT"/>
                <a:cs typeface="Arial MT"/>
              </a:rPr>
              <a:t>power supply </a:t>
            </a:r>
            <a:r>
              <a:rPr sz="1400" dirty="0">
                <a:latin typeface="Arial MT"/>
                <a:cs typeface="Arial MT"/>
              </a:rPr>
              <a:t>that </a:t>
            </a:r>
            <a:r>
              <a:rPr sz="1400" spc="-5" dirty="0">
                <a:latin typeface="Arial MT"/>
                <a:cs typeface="Arial MT"/>
              </a:rPr>
              <a:t>is </a:t>
            </a:r>
            <a:r>
              <a:rPr sz="1400" spc="-2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terminated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</a:t>
            </a:r>
            <a:r>
              <a:rPr sz="1400" dirty="0">
                <a:latin typeface="Arial MT"/>
                <a:cs typeface="Arial MT"/>
              </a:rPr>
              <a:t> a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barrel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jack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(2)</a:t>
            </a:r>
            <a:r>
              <a:rPr sz="1400" dirty="0">
                <a:latin typeface="Arial MT"/>
                <a:cs typeface="Arial MT"/>
              </a:rPr>
              <a:t>.</a:t>
            </a:r>
          </a:p>
          <a:p>
            <a:pPr>
              <a:spcBef>
                <a:spcPts val="50"/>
              </a:spcBef>
            </a:pPr>
            <a:endParaRPr sz="1400" dirty="0">
              <a:latin typeface="Arial MT"/>
              <a:cs typeface="Arial MT"/>
            </a:endParaRPr>
          </a:p>
          <a:p>
            <a:pPr marL="12700"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Pins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(5V,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3.3V,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GND,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Analog,</a:t>
            </a:r>
            <a:r>
              <a:rPr sz="1400" b="1" spc="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Digital,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PWM,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AREF):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50"/>
              </a:spcBef>
            </a:pPr>
            <a:endParaRPr sz="1400" dirty="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GND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(3)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Short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5" dirty="0">
                <a:latin typeface="Arial MT"/>
                <a:cs typeface="Arial MT"/>
              </a:rPr>
              <a:t>for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‘Ground’ and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5V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(4)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3.3V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(5)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</a:t>
            </a:r>
            <a:r>
              <a:rPr sz="1400" spc="3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supplies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5</a:t>
            </a:r>
            <a:r>
              <a:rPr sz="1400" spc="-5" dirty="0">
                <a:latin typeface="Arial MT"/>
                <a:cs typeface="Arial MT"/>
              </a:rPr>
              <a:t> volts</a:t>
            </a:r>
            <a:r>
              <a:rPr sz="1400" dirty="0">
                <a:latin typeface="Arial MT"/>
                <a:cs typeface="Arial MT"/>
              </a:rPr>
              <a:t> 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power,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 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3.3V</a:t>
            </a:r>
            <a:r>
              <a:rPr sz="1400" spc="-5" dirty="0">
                <a:latin typeface="Arial MT"/>
                <a:cs typeface="Arial MT"/>
              </a:rPr>
              <a:t> pin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supplies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3.3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volts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5" dirty="0">
                <a:latin typeface="Arial MT"/>
                <a:cs typeface="Arial MT"/>
              </a:rPr>
              <a:t> power.</a:t>
            </a:r>
            <a:endParaRPr sz="1400" dirty="0">
              <a:latin typeface="Arial MT"/>
              <a:cs typeface="Arial MT"/>
            </a:endParaRPr>
          </a:p>
          <a:p>
            <a:pPr>
              <a:spcBef>
                <a:spcPts val="55"/>
              </a:spcBef>
            </a:pPr>
            <a:endParaRPr sz="1400" dirty="0">
              <a:latin typeface="Arial MT"/>
              <a:cs typeface="Arial MT"/>
            </a:endParaRPr>
          </a:p>
          <a:p>
            <a:pPr marL="12700" marR="306070"/>
            <a:r>
              <a:rPr sz="1400" b="1" spc="-10" dirty="0">
                <a:latin typeface="Arial"/>
                <a:cs typeface="Arial"/>
              </a:rPr>
              <a:t>Analog </a:t>
            </a:r>
            <a:r>
              <a:rPr sz="1400" b="1" dirty="0">
                <a:latin typeface="Arial"/>
                <a:cs typeface="Arial"/>
              </a:rPr>
              <a:t>(6)</a:t>
            </a:r>
            <a:r>
              <a:rPr sz="1400" dirty="0">
                <a:latin typeface="Arial MT"/>
                <a:cs typeface="Arial MT"/>
              </a:rPr>
              <a:t>: The </a:t>
            </a:r>
            <a:r>
              <a:rPr sz="1400" spc="-5" dirty="0">
                <a:latin typeface="Arial MT"/>
                <a:cs typeface="Arial MT"/>
              </a:rPr>
              <a:t>area of pins under </a:t>
            </a:r>
            <a:r>
              <a:rPr sz="1400" dirty="0">
                <a:latin typeface="Arial MT"/>
                <a:cs typeface="Arial MT"/>
              </a:rPr>
              <a:t>the </a:t>
            </a:r>
            <a:r>
              <a:rPr sz="1400" spc="-5" dirty="0">
                <a:latin typeface="Arial MT"/>
                <a:cs typeface="Arial MT"/>
              </a:rPr>
              <a:t>‘Analog In’ label </a:t>
            </a:r>
            <a:r>
              <a:rPr sz="1400" dirty="0">
                <a:latin typeface="Arial MT"/>
                <a:cs typeface="Arial MT"/>
              </a:rPr>
              <a:t>(A0 </a:t>
            </a:r>
            <a:r>
              <a:rPr sz="1400" spc="-5" dirty="0">
                <a:latin typeface="Arial MT"/>
                <a:cs typeface="Arial MT"/>
              </a:rPr>
              <a:t>through A5 on </a:t>
            </a:r>
            <a:r>
              <a:rPr sz="1400" dirty="0">
                <a:latin typeface="Arial MT"/>
                <a:cs typeface="Arial MT"/>
              </a:rPr>
              <a:t>the </a:t>
            </a:r>
            <a:r>
              <a:rPr sz="1400" spc="-5" dirty="0">
                <a:latin typeface="Arial MT"/>
                <a:cs typeface="Arial MT"/>
              </a:rPr>
              <a:t>UNO) are Analog Input pins. </a:t>
            </a:r>
            <a:r>
              <a:rPr sz="1400" dirty="0">
                <a:latin typeface="Arial MT"/>
                <a:cs typeface="Arial MT"/>
              </a:rPr>
              <a:t>These </a:t>
            </a:r>
            <a:r>
              <a:rPr sz="1400" spc="-5" dirty="0">
                <a:latin typeface="Arial MT"/>
                <a:cs typeface="Arial MT"/>
              </a:rPr>
              <a:t>pins </a:t>
            </a:r>
            <a:r>
              <a:rPr sz="1400" dirty="0">
                <a:latin typeface="Arial MT"/>
                <a:cs typeface="Arial MT"/>
              </a:rPr>
              <a:t>can </a:t>
            </a:r>
            <a:r>
              <a:rPr sz="1400" spc="-5" dirty="0">
                <a:latin typeface="Arial MT"/>
                <a:cs typeface="Arial MT"/>
              </a:rPr>
              <a:t>read the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signal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5" dirty="0">
                <a:latin typeface="Arial MT"/>
                <a:cs typeface="Arial MT"/>
              </a:rPr>
              <a:t>from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5" dirty="0">
                <a:latin typeface="Arial MT"/>
                <a:cs typeface="Arial MT"/>
              </a:rPr>
              <a:t> analog</a:t>
            </a:r>
            <a:r>
              <a:rPr sz="1400" dirty="0">
                <a:latin typeface="Arial MT"/>
                <a:cs typeface="Arial MT"/>
              </a:rPr>
              <a:t> sensor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(like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temperature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sensor)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convert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it into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5" dirty="0">
                <a:latin typeface="Arial MT"/>
                <a:cs typeface="Arial MT"/>
              </a:rPr>
              <a:t> digital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value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we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read.</a:t>
            </a:r>
          </a:p>
          <a:p>
            <a:pPr>
              <a:spcBef>
                <a:spcPts val="55"/>
              </a:spcBef>
            </a:pPr>
            <a:endParaRPr sz="1400" dirty="0">
              <a:latin typeface="Arial MT"/>
              <a:cs typeface="Arial MT"/>
            </a:endParaRPr>
          </a:p>
          <a:p>
            <a:pPr marL="12700"/>
            <a:r>
              <a:rPr sz="1400" b="1" dirty="0">
                <a:latin typeface="Arial"/>
                <a:cs typeface="Arial"/>
              </a:rPr>
              <a:t>Digital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(7)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Across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5" dirty="0">
                <a:latin typeface="Arial MT"/>
                <a:cs typeface="Arial MT"/>
              </a:rPr>
              <a:t>from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analog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pins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digital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pins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(0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through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13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UNO).</a:t>
            </a:r>
            <a:endParaRPr sz="1400" dirty="0">
              <a:latin typeface="Arial MT"/>
              <a:cs typeface="Arial MT"/>
            </a:endParaRPr>
          </a:p>
          <a:p>
            <a:pPr>
              <a:spcBef>
                <a:spcPts val="55"/>
              </a:spcBef>
            </a:pPr>
            <a:endParaRPr sz="1400" dirty="0">
              <a:latin typeface="Arial MT"/>
              <a:cs typeface="Arial MT"/>
            </a:endParaRPr>
          </a:p>
          <a:p>
            <a:pPr marL="12700"/>
            <a:r>
              <a:rPr sz="1400" b="1" dirty="0">
                <a:latin typeface="Arial"/>
                <a:cs typeface="Arial"/>
              </a:rPr>
              <a:t>PWM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(8)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have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noticed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tilde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(~)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next</a:t>
            </a:r>
            <a:r>
              <a:rPr sz="1400" dirty="0">
                <a:latin typeface="Arial MT"/>
                <a:cs typeface="Arial MT"/>
              </a:rPr>
              <a:t> 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some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digital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pins </a:t>
            </a:r>
            <a:r>
              <a:rPr sz="1400" dirty="0">
                <a:latin typeface="Arial MT"/>
                <a:cs typeface="Arial MT"/>
              </a:rPr>
              <a:t>(3,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5,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6,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9,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10,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11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UNO).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These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pins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Pulse-</a:t>
            </a:r>
            <a:endParaRPr sz="1400" dirty="0">
              <a:latin typeface="Arial MT"/>
              <a:cs typeface="Arial MT"/>
            </a:endParaRPr>
          </a:p>
          <a:p>
            <a:pPr marL="12700"/>
            <a:r>
              <a:rPr sz="1400" spc="5" dirty="0">
                <a:latin typeface="Arial MT"/>
                <a:cs typeface="Arial MT"/>
              </a:rPr>
              <a:t>Width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Modulation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(PWM,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think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these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pins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being able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simulate</a:t>
            </a:r>
            <a:r>
              <a:rPr sz="1400" spc="-5" dirty="0">
                <a:latin typeface="Arial MT"/>
                <a:cs typeface="Arial MT"/>
              </a:rPr>
              <a:t> analog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output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(like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fading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LED</a:t>
            </a:r>
            <a:r>
              <a:rPr sz="1400" spc="-5" dirty="0">
                <a:latin typeface="Arial MT"/>
                <a:cs typeface="Arial MT"/>
              </a:rPr>
              <a:t> in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out).</a:t>
            </a:r>
          </a:p>
          <a:p>
            <a:pPr>
              <a:lnSpc>
                <a:spcPct val="100000"/>
              </a:lnSpc>
            </a:pPr>
            <a:endParaRPr sz="1400" dirty="0">
              <a:latin typeface="Arial MT"/>
              <a:cs typeface="Arial MT"/>
            </a:endParaRPr>
          </a:p>
          <a:p>
            <a:pPr marL="12700"/>
            <a:r>
              <a:rPr sz="1400" b="1" spc="-15" dirty="0">
                <a:latin typeface="Arial"/>
                <a:cs typeface="Arial"/>
              </a:rPr>
              <a:t>AREF</a:t>
            </a:r>
            <a:r>
              <a:rPr sz="1400" b="1" spc="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(9)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Most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time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you</a:t>
            </a:r>
            <a:r>
              <a:rPr sz="1400" dirty="0">
                <a:latin typeface="Arial MT"/>
                <a:cs typeface="Arial MT"/>
              </a:rPr>
              <a:t> can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leave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this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pin</a:t>
            </a:r>
            <a:r>
              <a:rPr sz="1400" dirty="0">
                <a:latin typeface="Arial MT"/>
                <a:cs typeface="Arial MT"/>
              </a:rPr>
              <a:t> alone.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1681" y="50659"/>
            <a:ext cx="7217923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solidFill>
                  <a:schemeClr val="accent2"/>
                </a:solidFill>
                <a:latin typeface="+mn-lt"/>
              </a:rPr>
              <a:t>Arduino</a:t>
            </a:r>
            <a:r>
              <a:rPr sz="3200" b="1" spc="10" dirty="0">
                <a:solidFill>
                  <a:schemeClr val="accent2"/>
                </a:solidFill>
                <a:latin typeface="+mn-lt"/>
              </a:rPr>
              <a:t> </a:t>
            </a:r>
            <a:r>
              <a:rPr sz="3200" b="1" spc="-5" dirty="0">
                <a:solidFill>
                  <a:schemeClr val="accent2"/>
                </a:solidFill>
                <a:latin typeface="+mn-lt"/>
              </a:rPr>
              <a:t>U</a:t>
            </a:r>
            <a:r>
              <a:rPr lang="en-US" sz="3200" b="1" spc="-5" dirty="0">
                <a:solidFill>
                  <a:schemeClr val="accent2"/>
                </a:solidFill>
                <a:latin typeface="+mn-lt"/>
              </a:rPr>
              <a:t>NO</a:t>
            </a:r>
            <a:r>
              <a:rPr sz="32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3200" b="1" spc="-10" dirty="0">
                <a:solidFill>
                  <a:schemeClr val="accent2"/>
                </a:solidFill>
                <a:latin typeface="+mn-lt"/>
              </a:rPr>
              <a:t>P</a:t>
            </a:r>
            <a:r>
              <a:rPr sz="3200" b="1" spc="-10" dirty="0">
                <a:solidFill>
                  <a:schemeClr val="accent2"/>
                </a:solidFill>
                <a:latin typeface="+mn-lt"/>
              </a:rPr>
              <a:t>in</a:t>
            </a:r>
            <a:r>
              <a:rPr sz="3200" b="1" spc="1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3200" b="1" spc="-10" dirty="0">
                <a:solidFill>
                  <a:schemeClr val="accent2"/>
                </a:solidFill>
                <a:latin typeface="+mn-lt"/>
              </a:rPr>
              <a:t>C</a:t>
            </a:r>
            <a:r>
              <a:rPr sz="3200" b="1" spc="-10" dirty="0">
                <a:solidFill>
                  <a:schemeClr val="accent2"/>
                </a:solidFill>
                <a:latin typeface="+mn-lt"/>
              </a:rPr>
              <a:t>onfiguration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9928" y="3819146"/>
            <a:ext cx="4162552" cy="2988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320" y="711454"/>
            <a:ext cx="11551920" cy="308097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b="1" spc="-5" dirty="0">
                <a:latin typeface="Arial"/>
                <a:cs typeface="Arial"/>
              </a:rPr>
              <a:t>Reset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Button:</a:t>
            </a:r>
            <a:endParaRPr sz="1400" dirty="0">
              <a:latin typeface="Arial"/>
              <a:cs typeface="Arial"/>
            </a:endParaRPr>
          </a:p>
          <a:p>
            <a:pPr marL="12700"/>
            <a:r>
              <a:rPr sz="1400" spc="-5" dirty="0">
                <a:latin typeface="Arial MT"/>
                <a:cs typeface="Arial MT"/>
              </a:rPr>
              <a:t>Pushing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it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will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temporarily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connect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reset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pin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ground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 restart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code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loaded</a:t>
            </a:r>
            <a:r>
              <a:rPr sz="1400" dirty="0">
                <a:latin typeface="Arial MT"/>
                <a:cs typeface="Arial MT"/>
              </a:rPr>
              <a:t> on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Arduino.</a:t>
            </a:r>
            <a:endParaRPr sz="1400" dirty="0">
              <a:latin typeface="Arial MT"/>
              <a:cs typeface="Arial MT"/>
            </a:endParaRPr>
          </a:p>
          <a:p>
            <a:pPr>
              <a:spcBef>
                <a:spcPts val="55"/>
              </a:spcBef>
            </a:pPr>
            <a:endParaRPr sz="1400" dirty="0">
              <a:latin typeface="Arial MT"/>
              <a:cs typeface="Arial MT"/>
            </a:endParaRPr>
          </a:p>
          <a:p>
            <a:pPr marL="12700"/>
            <a:r>
              <a:rPr sz="1400" b="1" spc="5" dirty="0">
                <a:latin typeface="Arial"/>
                <a:cs typeface="Arial"/>
              </a:rPr>
              <a:t>Power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LED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indicator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(11)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: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If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this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light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doesn’t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turn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on, there’s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 good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chance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something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wrong. </a:t>
            </a:r>
            <a:r>
              <a:rPr sz="1400" dirty="0">
                <a:latin typeface="Arial MT"/>
                <a:cs typeface="Arial MT"/>
              </a:rPr>
              <a:t>Time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re-check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your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circuit.</a:t>
            </a:r>
            <a:endParaRPr sz="1400" dirty="0">
              <a:latin typeface="Arial MT"/>
              <a:cs typeface="Arial MT"/>
            </a:endParaRPr>
          </a:p>
          <a:p>
            <a:pPr>
              <a:spcBef>
                <a:spcPts val="55"/>
              </a:spcBef>
            </a:pPr>
            <a:endParaRPr sz="1400" dirty="0">
              <a:latin typeface="Arial MT"/>
              <a:cs typeface="Arial MT"/>
            </a:endParaRPr>
          </a:p>
          <a:p>
            <a:pPr marL="12700" marR="128905"/>
            <a:r>
              <a:rPr sz="1400" b="1" spc="-5" dirty="0">
                <a:latin typeface="Arial"/>
                <a:cs typeface="Arial"/>
              </a:rPr>
              <a:t>TX</a:t>
            </a:r>
            <a:r>
              <a:rPr sz="1400" b="1" spc="1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RX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LEDs(12)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: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These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LEDs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will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give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some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nice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visual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indications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whenever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our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Arduino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receiving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transmitting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(like </a:t>
            </a:r>
            <a:r>
              <a:rPr sz="1400" spc="-29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when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we’re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loading</a:t>
            </a:r>
            <a:r>
              <a:rPr sz="1400" dirty="0">
                <a:latin typeface="Arial MT"/>
                <a:cs typeface="Arial MT"/>
              </a:rPr>
              <a:t> 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new</a:t>
            </a:r>
            <a:r>
              <a:rPr sz="1400" dirty="0">
                <a:latin typeface="Arial MT"/>
                <a:cs typeface="Arial MT"/>
              </a:rPr>
              <a:t> program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onto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board).</a:t>
            </a:r>
            <a:endParaRPr sz="1400" dirty="0">
              <a:latin typeface="Arial MT"/>
              <a:cs typeface="Arial MT"/>
            </a:endParaRPr>
          </a:p>
          <a:p>
            <a:pPr>
              <a:spcBef>
                <a:spcPts val="55"/>
              </a:spcBef>
            </a:pPr>
            <a:endParaRPr sz="1400" dirty="0">
              <a:latin typeface="Arial MT"/>
              <a:cs typeface="Arial MT"/>
            </a:endParaRPr>
          </a:p>
          <a:p>
            <a:pPr marL="12700"/>
            <a:r>
              <a:rPr sz="1400" b="1" dirty="0">
                <a:latin typeface="Arial"/>
                <a:cs typeface="Arial"/>
              </a:rPr>
              <a:t>Main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IC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</a:t>
            </a:r>
            <a:r>
              <a:rPr sz="1400" dirty="0">
                <a:latin typeface="Arial MT"/>
                <a:cs typeface="Arial MT"/>
              </a:rPr>
              <a:t>Integrated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Circuit) </a:t>
            </a:r>
            <a:r>
              <a:rPr sz="1400" b="1" dirty="0">
                <a:latin typeface="Arial"/>
                <a:cs typeface="Arial"/>
              </a:rPr>
              <a:t>(13)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: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spc="5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IC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Arduino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ATmega328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microcontroller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ATMEL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company.,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where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we</a:t>
            </a:r>
            <a:endParaRPr sz="1400" dirty="0">
              <a:latin typeface="Arial MT"/>
              <a:cs typeface="Arial MT"/>
            </a:endParaRPr>
          </a:p>
          <a:p>
            <a:pPr marL="12700">
              <a:spcBef>
                <a:spcPts val="5"/>
              </a:spcBef>
            </a:pPr>
            <a:r>
              <a:rPr sz="1400" spc="-5" dirty="0">
                <a:latin typeface="Arial MT"/>
                <a:cs typeface="Arial MT"/>
              </a:rPr>
              <a:t>have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upload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code.</a:t>
            </a:r>
          </a:p>
          <a:p>
            <a:pPr>
              <a:spcBef>
                <a:spcPts val="50"/>
              </a:spcBef>
            </a:pPr>
            <a:endParaRPr sz="1400" dirty="0">
              <a:latin typeface="Arial MT"/>
              <a:cs typeface="Arial MT"/>
            </a:endParaRPr>
          </a:p>
          <a:p>
            <a:pPr marL="12700"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Voltage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Regulator:</a:t>
            </a:r>
            <a:endParaRPr sz="1400" dirty="0">
              <a:latin typeface="Arial"/>
              <a:cs typeface="Arial"/>
            </a:endParaRPr>
          </a:p>
          <a:p>
            <a:pPr marL="12700" marR="5080"/>
            <a:r>
              <a:rPr sz="1400" dirty="0">
                <a:latin typeface="Arial MT"/>
                <a:cs typeface="Arial MT"/>
              </a:rPr>
              <a:t>The </a:t>
            </a:r>
            <a:r>
              <a:rPr sz="1400" spc="-5" dirty="0">
                <a:latin typeface="Arial MT"/>
                <a:cs typeface="Arial MT"/>
              </a:rPr>
              <a:t>voltage </a:t>
            </a:r>
            <a:r>
              <a:rPr sz="1400" dirty="0">
                <a:latin typeface="Arial MT"/>
                <a:cs typeface="Arial MT"/>
              </a:rPr>
              <a:t>regulator </a:t>
            </a:r>
            <a:r>
              <a:rPr sz="1400" b="1" dirty="0">
                <a:latin typeface="Arial"/>
                <a:cs typeface="Arial"/>
              </a:rPr>
              <a:t>(14) </a:t>
            </a:r>
            <a:r>
              <a:rPr sz="1400" spc="-5" dirty="0">
                <a:latin typeface="Arial MT"/>
                <a:cs typeface="Arial MT"/>
              </a:rPr>
              <a:t>is used </a:t>
            </a:r>
            <a:r>
              <a:rPr sz="1400" dirty="0">
                <a:latin typeface="Arial MT"/>
                <a:cs typeface="Arial MT"/>
              </a:rPr>
              <a:t>to control the </a:t>
            </a:r>
            <a:r>
              <a:rPr sz="1400" spc="-5" dirty="0">
                <a:latin typeface="Arial MT"/>
                <a:cs typeface="Arial MT"/>
              </a:rPr>
              <a:t>amount of voltage that is let into </a:t>
            </a:r>
            <a:r>
              <a:rPr sz="1400" dirty="0">
                <a:latin typeface="Arial MT"/>
                <a:cs typeface="Arial MT"/>
              </a:rPr>
              <a:t>the </a:t>
            </a:r>
            <a:r>
              <a:rPr sz="1400" spc="-5" dirty="0">
                <a:latin typeface="Arial MT"/>
                <a:cs typeface="Arial MT"/>
              </a:rPr>
              <a:t>Arduino board. But don’t hook up your Arduino </a:t>
            </a:r>
            <a:r>
              <a:rPr sz="1400" dirty="0">
                <a:latin typeface="Arial MT"/>
                <a:cs typeface="Arial MT"/>
              </a:rPr>
              <a:t>to </a:t>
            </a:r>
            <a:r>
              <a:rPr sz="1400" spc="-29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anything </a:t>
            </a:r>
            <a:r>
              <a:rPr sz="1400" dirty="0">
                <a:latin typeface="Arial MT"/>
                <a:cs typeface="Arial MT"/>
              </a:rPr>
              <a:t>greater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20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volts.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8387" y="3756997"/>
            <a:ext cx="4125533" cy="3007280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D41D8216-8F8A-4B65-8AC7-34F0428085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6584" y="50901"/>
            <a:ext cx="7120647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solidFill>
                  <a:schemeClr val="accent2"/>
                </a:solidFill>
                <a:latin typeface="+mn-lt"/>
              </a:rPr>
              <a:t>Arduino</a:t>
            </a:r>
            <a:r>
              <a:rPr sz="3200" b="1" spc="10" dirty="0">
                <a:solidFill>
                  <a:schemeClr val="accent2"/>
                </a:solidFill>
                <a:latin typeface="+mn-lt"/>
              </a:rPr>
              <a:t> </a:t>
            </a:r>
            <a:r>
              <a:rPr sz="3200" b="1" spc="-5" dirty="0">
                <a:solidFill>
                  <a:schemeClr val="accent2"/>
                </a:solidFill>
                <a:latin typeface="+mn-lt"/>
              </a:rPr>
              <a:t>U</a:t>
            </a:r>
            <a:r>
              <a:rPr lang="en-US" sz="3200" b="1" spc="-5" dirty="0">
                <a:solidFill>
                  <a:schemeClr val="accent2"/>
                </a:solidFill>
                <a:latin typeface="+mn-lt"/>
              </a:rPr>
              <a:t>NO</a:t>
            </a:r>
            <a:r>
              <a:rPr sz="32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3200" b="1" spc="-10" dirty="0">
                <a:solidFill>
                  <a:schemeClr val="accent2"/>
                </a:solidFill>
                <a:latin typeface="+mn-lt"/>
              </a:rPr>
              <a:t>P</a:t>
            </a:r>
            <a:r>
              <a:rPr sz="3200" b="1" spc="-10" dirty="0">
                <a:solidFill>
                  <a:schemeClr val="accent2"/>
                </a:solidFill>
                <a:latin typeface="+mn-lt"/>
              </a:rPr>
              <a:t>in</a:t>
            </a:r>
            <a:r>
              <a:rPr sz="3200" b="1" spc="1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3200" b="1" spc="-10" dirty="0">
                <a:solidFill>
                  <a:schemeClr val="accent2"/>
                </a:solidFill>
                <a:latin typeface="+mn-lt"/>
              </a:rPr>
              <a:t>C</a:t>
            </a:r>
            <a:r>
              <a:rPr sz="3200" b="1" spc="-10" dirty="0">
                <a:solidFill>
                  <a:schemeClr val="accent2"/>
                </a:solidFill>
                <a:latin typeface="+mn-lt"/>
              </a:rPr>
              <a:t>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7F6215-7263-ACA5-5F47-04A326FBBBDD}"/>
              </a:ext>
            </a:extLst>
          </p:cNvPr>
          <p:cNvSpPr/>
          <p:nvPr/>
        </p:nvSpPr>
        <p:spPr>
          <a:xfrm>
            <a:off x="1485900" y="267646"/>
            <a:ext cx="93698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  <a:ea typeface="Times New Roman"/>
                <a:cs typeface="Times New Roman"/>
              </a:rPr>
              <a:t>Example of a Modern Microcontroller : ATmega328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5D388-2EC6-6812-8E87-EBCEA7049E09}"/>
              </a:ext>
            </a:extLst>
          </p:cNvPr>
          <p:cNvSpPr/>
          <p:nvPr/>
        </p:nvSpPr>
        <p:spPr>
          <a:xfrm>
            <a:off x="741680" y="1317506"/>
            <a:ext cx="11033760" cy="4773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dirty="0">
                <a:ea typeface="Times New Roman"/>
              </a:rPr>
              <a:t> </a:t>
            </a:r>
            <a:r>
              <a:rPr lang="en-US" sz="2000" dirty="0">
                <a:ea typeface="Times New Roman"/>
              </a:rPr>
              <a:t>ATmega-328 is basically an Advanced Virtual RISC (AVR) micro-controller. ATmega-328 has </a:t>
            </a:r>
            <a:r>
              <a:rPr lang="en-US" sz="2000" b="1" dirty="0">
                <a:ea typeface="Times New Roman"/>
              </a:rPr>
              <a:t>32KB internal built in memory</a:t>
            </a:r>
            <a:r>
              <a:rPr lang="en-US" sz="2000" dirty="0">
                <a:ea typeface="Times New Roman"/>
              </a:rPr>
              <a:t>. </a:t>
            </a:r>
          </a:p>
          <a:p>
            <a:pPr lvl="0" algn="just"/>
            <a:endParaRPr lang="en-US" sz="2000" dirty="0">
              <a:ea typeface="Times New Roman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2000" dirty="0">
                <a:ea typeface="Calibri"/>
                <a:cs typeface="Times New Roman"/>
              </a:rPr>
              <a:t>ATmega328 </a:t>
            </a:r>
            <a:r>
              <a:rPr lang="en-US" sz="2000" dirty="0">
                <a:ea typeface="Times New Roman"/>
              </a:rPr>
              <a:t>supports the data up to </a:t>
            </a:r>
            <a:r>
              <a:rPr lang="en-US" sz="2000" b="1" dirty="0">
                <a:ea typeface="Times New Roman"/>
              </a:rPr>
              <a:t>eight (8) bits </a:t>
            </a:r>
            <a:r>
              <a:rPr lang="en-US" sz="2000" b="1" dirty="0">
                <a:ea typeface="Calibri"/>
                <a:cs typeface="Calibri"/>
              </a:rPr>
              <a:t>and have 28 Pins. </a:t>
            </a:r>
            <a:r>
              <a:rPr lang="en-US" sz="2000" dirty="0">
                <a:ea typeface="Calibri"/>
                <a:cs typeface="Calibri"/>
              </a:rPr>
              <a:t>AVR Microcontroller, manufactured by Microchip, follows RISC Architecture and </a:t>
            </a:r>
            <a:r>
              <a:rPr lang="en-US" sz="2000" b="1" dirty="0">
                <a:ea typeface="Calibri"/>
                <a:cs typeface="Calibri"/>
              </a:rPr>
              <a:t>has a flash type program memory of 32KB</a:t>
            </a:r>
            <a:r>
              <a:rPr lang="en-US" sz="2000" dirty="0">
                <a:ea typeface="Calibri"/>
                <a:cs typeface="Calibri"/>
              </a:rPr>
              <a:t>.</a:t>
            </a:r>
            <a:r>
              <a:rPr lang="en-US" sz="2000" dirty="0">
                <a:ea typeface="Times New Roman"/>
              </a:rPr>
              <a:t>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2000" dirty="0">
              <a:ea typeface="Times New Roman"/>
            </a:endParaRPr>
          </a:p>
          <a:p>
            <a:pPr marL="285750" indent="-285750" algn="just">
              <a:lnSpc>
                <a:spcPts val="2100"/>
              </a:lnSpc>
              <a:buFont typeface="Arial" pitchFamily="34" charset="0"/>
              <a:buChar char="•"/>
            </a:pPr>
            <a:r>
              <a:rPr lang="en-US" sz="2000" dirty="0">
                <a:ea typeface="Times New Roman"/>
              </a:rPr>
              <a:t>ATmega328 has </a:t>
            </a:r>
            <a:r>
              <a:rPr lang="en-US" sz="2000" b="1" dirty="0">
                <a:ea typeface="Times New Roman"/>
              </a:rPr>
              <a:t>1KB Electrically Erasable Programmable Read Only Memory (EEPROM)</a:t>
            </a:r>
            <a:r>
              <a:rPr lang="en-US" sz="2000" dirty="0">
                <a:ea typeface="Times New Roman"/>
              </a:rPr>
              <a:t>. For a EEPROM, if the electric supply is removed from the micro-controller it can store the data. After providing electric supply it can provide previous results. </a:t>
            </a:r>
          </a:p>
          <a:p>
            <a:pPr algn="just">
              <a:lnSpc>
                <a:spcPts val="2100"/>
              </a:lnSpc>
              <a:buFont typeface="Arial"/>
              <a:buChar char="•"/>
            </a:pPr>
            <a:endParaRPr lang="en-US" sz="2000" dirty="0">
              <a:ea typeface="Times New Roman"/>
            </a:endParaRPr>
          </a:p>
          <a:p>
            <a:pPr marL="285750" indent="-285750"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 pitchFamily="34" charset="0"/>
              <a:buChar char="•"/>
            </a:pPr>
            <a:r>
              <a:rPr lang="en-US" sz="2000" dirty="0">
                <a:ea typeface="Times New Roman"/>
              </a:rPr>
              <a:t>ATmega328 has </a:t>
            </a:r>
            <a:r>
              <a:rPr lang="en-US" sz="2000" b="1" dirty="0">
                <a:ea typeface="Times New Roman"/>
              </a:rPr>
              <a:t>2KB Static Random Access Memory </a:t>
            </a:r>
            <a:r>
              <a:rPr lang="en-US" sz="2000" dirty="0">
                <a:ea typeface="Times New Roman"/>
              </a:rPr>
              <a:t>(SRAM). </a:t>
            </a: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endParaRPr lang="en-US" sz="2000" dirty="0">
              <a:ea typeface="Calibri"/>
              <a:cs typeface="Times New Roman"/>
            </a:endParaRPr>
          </a:p>
          <a:p>
            <a:pPr marL="285750" indent="-285750"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It has </a:t>
            </a:r>
            <a:r>
              <a:rPr lang="en-US" sz="2000" b="1" dirty="0">
                <a:ea typeface="Calibri"/>
                <a:cs typeface="Calibri"/>
              </a:rPr>
              <a:t>8 Pin for ADC operations</a:t>
            </a:r>
            <a:r>
              <a:rPr lang="en-US" sz="2000" dirty="0">
                <a:ea typeface="Calibri"/>
                <a:cs typeface="Calibri"/>
              </a:rPr>
              <a:t>, which all combines to form Port A ( PA0 – PA7 ).</a:t>
            </a: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endParaRPr lang="en-US" dirty="0">
              <a:ea typeface="Calibri"/>
              <a:cs typeface="Times New Roman"/>
            </a:endParaRPr>
          </a:p>
          <a:p>
            <a:pPr algn="just">
              <a:lnSpc>
                <a:spcPts val="2100"/>
              </a:lnSpc>
              <a:buFont typeface="Arial"/>
              <a:buChar char="•"/>
            </a:pPr>
            <a:endParaRPr lang="en-US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9306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2640" y="556431"/>
            <a:ext cx="10962640" cy="4632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 It also has 3 built in Timers, two of them are 8 Bit timers while the third one is 16-Bit Timer.</a:t>
            </a:r>
            <a:endParaRPr lang="en-US" sz="2000" dirty="0">
              <a:ea typeface="Calibri"/>
              <a:cs typeface="Times New Roman"/>
            </a:endParaRP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 Arduino UNO is based on </a:t>
            </a:r>
            <a:r>
              <a:rPr lang="en-US" sz="2000" b="1" dirty="0">
                <a:ea typeface="Calibri"/>
                <a:cs typeface="Calibri"/>
              </a:rPr>
              <a:t>Atmega328</a:t>
            </a:r>
            <a:r>
              <a:rPr lang="en-US" sz="2000" dirty="0">
                <a:ea typeface="Calibri"/>
                <a:cs typeface="Calibri"/>
              </a:rPr>
              <a:t> Microcontroller. It is UNO’s heart. </a:t>
            </a:r>
            <a:r>
              <a:rPr lang="en-US" sz="2000" dirty="0">
                <a:ea typeface="Calibri"/>
                <a:cs typeface="Times New Roman"/>
              </a:rPr>
              <a:t> </a:t>
            </a: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endParaRPr lang="en-US" sz="2000" dirty="0">
              <a:ea typeface="Calibri"/>
              <a:cs typeface="Times New Roman"/>
            </a:endParaRP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 It operates ranging from </a:t>
            </a:r>
            <a:r>
              <a:rPr lang="en-US" sz="2000" b="1" dirty="0">
                <a:ea typeface="Calibri"/>
                <a:cs typeface="Calibri"/>
              </a:rPr>
              <a:t>3.3V to 5.5V </a:t>
            </a:r>
            <a:r>
              <a:rPr lang="en-US" sz="2000" dirty="0">
                <a:ea typeface="Calibri"/>
                <a:cs typeface="Calibri"/>
              </a:rPr>
              <a:t>but normally we use 5V as a standard.</a:t>
            </a: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endParaRPr lang="en-US" sz="2000" dirty="0">
              <a:ea typeface="Calibri"/>
              <a:cs typeface="Times New Roman"/>
            </a:endParaRP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 Its excellent features include the </a:t>
            </a:r>
            <a:r>
              <a:rPr lang="en-US" sz="2000" b="1" dirty="0">
                <a:ea typeface="Calibri"/>
                <a:cs typeface="Calibri"/>
              </a:rPr>
              <a:t>cost efficiency, low power dissipation, programming lock for security purposes, real timer counter </a:t>
            </a:r>
            <a:r>
              <a:rPr lang="en-US" sz="2000" dirty="0">
                <a:ea typeface="Calibri"/>
                <a:cs typeface="Calibri"/>
              </a:rPr>
              <a:t>with separate oscillator.</a:t>
            </a:r>
          </a:p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Font typeface="Arial"/>
              <a:buChar char="•"/>
            </a:pPr>
            <a:endParaRPr lang="en-US" sz="2000" dirty="0">
              <a:ea typeface="Calibri"/>
              <a:cs typeface="Times New Roman"/>
            </a:endParaRPr>
          </a:p>
          <a:p>
            <a:pPr algn="just">
              <a:lnSpc>
                <a:spcPts val="2100"/>
              </a:lnSpc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 It is normally used in </a:t>
            </a:r>
            <a:r>
              <a:rPr lang="en-US" sz="2000" u="sng" dirty="0">
                <a:ea typeface="Calibri"/>
                <a:cs typeface="Calibri"/>
              </a:rPr>
              <a:t>Embedded</a:t>
            </a:r>
            <a:r>
              <a:rPr lang="en-US" sz="2000" u="sng" dirty="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2000" u="sng" dirty="0">
                <a:ea typeface="Calibri"/>
                <a:cs typeface="Calibri"/>
              </a:rPr>
              <a:t>System applications</a:t>
            </a:r>
            <a:r>
              <a:rPr lang="en-US" sz="2000" dirty="0">
                <a:ea typeface="Calibri"/>
                <a:cs typeface="Calibri"/>
              </a:rPr>
              <a:t>. </a:t>
            </a:r>
          </a:p>
          <a:p>
            <a:pPr algn="just">
              <a:lnSpc>
                <a:spcPts val="2100"/>
              </a:lnSpc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algn="just">
              <a:lnSpc>
                <a:spcPts val="2100"/>
              </a:lnSpc>
              <a:buFont typeface="Arial"/>
              <a:buChar char="•"/>
            </a:pPr>
            <a:r>
              <a:rPr lang="en-US" sz="2000" dirty="0">
                <a:ea typeface="Times New Roman"/>
              </a:rPr>
              <a:t> Moreover, ATmega328 has several different features which makes it the most popular device in today’s market. These features consist of advanced RISC architecture, good performance</a:t>
            </a:r>
            <a:r>
              <a:rPr lang="en-US" sz="2000" b="1" dirty="0">
                <a:ea typeface="Times New Roman"/>
              </a:rPr>
              <a:t>, 6 PWM pins, programmable Serial USART, programming lock for software security, throughput up to 20 MIPS </a:t>
            </a:r>
            <a:r>
              <a:rPr lang="en-US" sz="2000" dirty="0">
                <a:ea typeface="Times New Roman"/>
              </a:rPr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141348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505" y="418783"/>
            <a:ext cx="782955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6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8" y="490538"/>
            <a:ext cx="7896225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1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175" y="131647"/>
            <a:ext cx="8543925" cy="97382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2"/>
                </a:solidFill>
                <a:latin typeface="Cambria"/>
                <a:ea typeface="Times New Roman"/>
                <a:cs typeface="Times New Roman"/>
              </a:rPr>
              <a:t>ATmega328 Pins Description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96704" y="1030768"/>
            <a:ext cx="9198591" cy="4377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Functions associated with the pins must be known in order to use the device appropriately:</a:t>
            </a:r>
          </a:p>
          <a:p>
            <a:pPr marL="342900" indent="-342900" algn="just">
              <a:lnSpc>
                <a:spcPts val="2100"/>
              </a:lnSpc>
              <a:buFont typeface="Arial"/>
              <a:buChar char="•"/>
            </a:pPr>
            <a:endParaRPr lang="en-US" sz="20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 algn="just">
              <a:lnSpc>
                <a:spcPts val="2100"/>
              </a:lnSpc>
              <a:buFont typeface="Arial"/>
              <a:buChar char="•"/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VCC is a digital voltage supply.</a:t>
            </a:r>
            <a:endParaRPr lang="en-US" sz="20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 algn="just">
              <a:lnSpc>
                <a:spcPts val="2100"/>
              </a:lnSpc>
              <a:buFont typeface="Arial"/>
              <a:buChar char="•"/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AVCC is a supply voltage pin for analog to digital converter.</a:t>
            </a:r>
            <a:endParaRPr lang="en-US" sz="20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 algn="just">
              <a:lnSpc>
                <a:spcPts val="2100"/>
              </a:lnSpc>
              <a:buFont typeface="Arial"/>
              <a:buChar char="•"/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GND denotes Ground and it has a 0V. </a:t>
            </a:r>
          </a:p>
          <a:p>
            <a:pPr marL="342900" indent="-342900" algn="just">
              <a:lnSpc>
                <a:spcPts val="2100"/>
              </a:lnSpc>
              <a:buFont typeface="Arial"/>
              <a:buChar char="•"/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ATmega-328 pins are divided into different ports which are given in detail below:</a:t>
            </a:r>
          </a:p>
          <a:p>
            <a:pPr algn="just">
              <a:lnSpc>
                <a:spcPts val="2100"/>
              </a:lnSpc>
            </a:pPr>
            <a:endParaRPr lang="en-US" sz="2000" b="1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 algn="just">
              <a:lnSpc>
                <a:spcPts val="2100"/>
              </a:lnSpc>
              <a:buFont typeface="Wingdings" pitchFamily="2" charset="2"/>
              <a:buChar char="v"/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Port B consists of the pins from PB0 to PB7. This port is an</a:t>
            </a:r>
            <a:r>
              <a:rPr lang="en-US" sz="2000" b="1" dirty="0">
                <a:solidFill>
                  <a:prstClr val="black"/>
                </a:solidFill>
                <a:ea typeface="Calibri"/>
                <a:cs typeface="Calibri"/>
              </a:rPr>
              <a:t> 8 bit bidirectional port having an internal pull-up resistor.</a:t>
            </a:r>
            <a:endParaRPr lang="en-US" sz="2000" b="1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 algn="just">
              <a:lnSpc>
                <a:spcPts val="2100"/>
              </a:lnSpc>
              <a:buFont typeface="Wingdings" pitchFamily="2" charset="2"/>
              <a:buChar char="v"/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Port C consists of the pins from PC0 to PC7. The </a:t>
            </a:r>
            <a:r>
              <a:rPr lang="en-US" sz="2000" b="1" dirty="0">
                <a:solidFill>
                  <a:prstClr val="black"/>
                </a:solidFill>
                <a:ea typeface="Calibri"/>
                <a:cs typeface="Calibri"/>
              </a:rPr>
              <a:t>output buffers of port C has symmetrical drive characteristics with source capability as well high sink.</a:t>
            </a:r>
            <a:endParaRPr lang="en-US" sz="2000" b="1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 algn="just">
              <a:lnSpc>
                <a:spcPts val="2100"/>
              </a:lnSpc>
              <a:buFont typeface="Wingdings" pitchFamily="2" charset="2"/>
              <a:buChar char="v"/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Port D consists of the pins from PD0 to PD7. It is also </a:t>
            </a:r>
            <a:r>
              <a:rPr lang="en-US" sz="2000" b="1" dirty="0">
                <a:solidFill>
                  <a:prstClr val="black"/>
                </a:solidFill>
                <a:ea typeface="Calibri"/>
                <a:cs typeface="Calibri"/>
              </a:rPr>
              <a:t>an 8 bit input/output port having an internal pull-up resistor.</a:t>
            </a:r>
          </a:p>
          <a:p>
            <a:pPr marL="342900" indent="-342900" algn="just">
              <a:lnSpc>
                <a:spcPts val="2100"/>
              </a:lnSpc>
              <a:buFont typeface="Wingdings" pitchFamily="2" charset="2"/>
              <a:buChar char="v"/>
            </a:pPr>
            <a:r>
              <a:rPr lang="en-US" sz="2000" dirty="0">
                <a:solidFill>
                  <a:prstClr val="black"/>
                </a:solidFill>
                <a:ea typeface="Times New Roman"/>
                <a:cs typeface="Calibri"/>
              </a:rPr>
              <a:t>AREF is an </a:t>
            </a:r>
            <a:r>
              <a:rPr lang="en-US" sz="2000" b="1" dirty="0">
                <a:solidFill>
                  <a:prstClr val="black"/>
                </a:solidFill>
                <a:ea typeface="Times New Roman"/>
                <a:cs typeface="Calibri"/>
              </a:rPr>
              <a:t>analog reference pin for analog to digital converter</a:t>
            </a:r>
            <a:r>
              <a:rPr lang="en-US" sz="2000" dirty="0">
                <a:solidFill>
                  <a:prstClr val="black"/>
                </a:solidFill>
                <a:ea typeface="Times New Roman"/>
                <a:cs typeface="Calibri"/>
              </a:rPr>
              <a:t>.</a:t>
            </a:r>
            <a:endParaRPr lang="en-US" sz="20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 algn="just">
              <a:lnSpc>
                <a:spcPts val="2100"/>
              </a:lnSpc>
              <a:buFont typeface="Wingdings" pitchFamily="2" charset="2"/>
              <a:buChar char="v"/>
            </a:pPr>
            <a:endParaRPr lang="en-US" sz="1300" b="1" dirty="0">
              <a:solidFill>
                <a:prstClr val="black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953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81475" y="1104012"/>
            <a:ext cx="6629400" cy="4382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ts val="5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080" algn="just">
              <a:buAutoNum type="arabicPeriod"/>
              <a:tabLst>
                <a:tab pos="2431415" algn="l"/>
              </a:tabLst>
            </a:pPr>
            <a:r>
              <a:rPr lang="en-US"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ATmega328/P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based on the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AVR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RISC (reduced instruction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computer)</a:t>
            </a:r>
            <a:r>
              <a:rPr sz="16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"/>
              </a:spcBef>
              <a:buFont typeface="Arial"/>
              <a:buAutoNum type="arabicPeriod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2995" indent="-222885" algn="just">
              <a:spcBef>
                <a:spcPts val="5"/>
              </a:spcBef>
              <a:buAutoNum type="arabicPeriod"/>
              <a:tabLst>
                <a:tab pos="2373630" algn="l"/>
              </a:tabLst>
            </a:pP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sz="1600" b="1" spc="1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b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</a:t>
            </a:r>
            <a:r>
              <a:rPr sz="1600" b="1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600" b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600" b="1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algn="just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16MHz</a:t>
            </a:r>
            <a:r>
              <a:rPr sz="1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</a:t>
            </a:r>
            <a:r>
              <a:rPr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Oscillator.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080" algn="just">
              <a:buAutoNum type="arabicPeriod" startAt="3"/>
              <a:tabLst>
                <a:tab pos="2378075" algn="l"/>
              </a:tabLst>
            </a:pP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serial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"/>
              </a:spcBef>
              <a:buFont typeface="Arial"/>
              <a:buAutoNum type="arabicPeriod" startAt="3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080" algn="just">
              <a:buClr>
                <a:srgbClr val="000000"/>
              </a:buClr>
              <a:buAutoNum type="arabicPeriod" startAt="3"/>
              <a:tabLst>
                <a:tab pos="2300605" algn="l"/>
              </a:tabLst>
            </a:pPr>
            <a:r>
              <a:rPr lang="en-US" sz="16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decodes</a:t>
            </a:r>
            <a:r>
              <a:rPr sz="16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1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sz="1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"/>
              </a:spcBef>
              <a:buFont typeface="Arial"/>
              <a:buAutoNum type="arabicPeriod" startAt="3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080" algn="just">
              <a:buFont typeface="Arial"/>
              <a:buAutoNum type="arabicPeriod" startAt="3"/>
              <a:tabLst>
                <a:tab pos="238125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16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(used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</a:t>
            </a:r>
            <a:r>
              <a:rPr sz="1600" b="1" spc="-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 and results) but there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(used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counter).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4079" y="901758"/>
            <a:ext cx="4577393" cy="58613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43126" y="-8840"/>
            <a:ext cx="81248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</a:rPr>
              <a:t>Internal Architecture of ATmega328</a:t>
            </a:r>
          </a:p>
        </p:txBody>
      </p:sp>
    </p:spTree>
    <p:extLst>
      <p:ext uri="{BB962C8B-B14F-4D97-AF65-F5344CB8AC3E}">
        <p14:creationId xmlns:p14="http://schemas.microsoft.com/office/powerpoint/2010/main" val="508703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68492" y="3335273"/>
            <a:ext cx="164083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  <a:tabLst>
                <a:tab pos="734695" algn="l"/>
                <a:tab pos="123126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used	</a:t>
            </a:r>
            <a:r>
              <a:rPr sz="1600" b="1" spc="-10" dirty="0">
                <a:latin typeface="Times New Roman"/>
                <a:cs typeface="Times New Roman"/>
              </a:rPr>
              <a:t>t</a:t>
            </a:r>
            <a:r>
              <a:rPr sz="1600" b="1" spc="-5" dirty="0">
                <a:latin typeface="Times New Roman"/>
                <a:cs typeface="Times New Roman"/>
              </a:rPr>
              <a:t>o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5" dirty="0">
                <a:latin typeface="Times New Roman"/>
                <a:cs typeface="Times New Roman"/>
              </a:rPr>
              <a:t>s</a:t>
            </a:r>
            <a:r>
              <a:rPr sz="1600" b="1" spc="-5" dirty="0">
                <a:latin typeface="Times New Roman"/>
                <a:cs typeface="Times New Roman"/>
              </a:rPr>
              <a:t>end  microcontrollers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1845" y="3335273"/>
            <a:ext cx="14484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72390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data	between</a:t>
            </a:r>
            <a:endParaRPr sz="1600" dirty="0">
              <a:latin typeface="Times New Roman"/>
              <a:cs typeface="Times New Roman"/>
            </a:endParaRPr>
          </a:p>
          <a:p>
            <a:pPr marL="76200">
              <a:tabLst>
                <a:tab pos="969644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and	</a:t>
            </a:r>
            <a:r>
              <a:rPr sz="1600" b="1" spc="5" dirty="0">
                <a:latin typeface="Times New Roman"/>
                <a:cs typeface="Times New Roman"/>
              </a:rPr>
              <a:t>s</a:t>
            </a:r>
            <a:r>
              <a:rPr sz="1600" b="1" spc="-15" dirty="0">
                <a:latin typeface="Times New Roman"/>
                <a:cs typeface="Times New Roman"/>
              </a:rPr>
              <a:t>m</a:t>
            </a:r>
            <a:r>
              <a:rPr sz="1600" b="1" spc="10" dirty="0">
                <a:latin typeface="Times New Roman"/>
                <a:cs typeface="Times New Roman"/>
              </a:rPr>
              <a:t>a</a:t>
            </a:r>
            <a:r>
              <a:rPr sz="1600" b="1" spc="-5" dirty="0">
                <a:latin typeface="Times New Roman"/>
                <a:cs typeface="Times New Roman"/>
              </a:rPr>
              <a:t>ll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8492" y="3822955"/>
            <a:ext cx="3394075" cy="20535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peripherals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Camera,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Display,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 cards,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 It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 clock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data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lines, along with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choose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b="1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1730"/>
              </a:lnSpc>
              <a:spcBef>
                <a:spcPts val="1215"/>
              </a:spcBef>
            </a:pP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sz="1600" b="1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Watchdog</a:t>
            </a:r>
            <a:r>
              <a:rPr sz="16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  <a:r>
              <a:rPr sz="1600" b="1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b="1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MCU </a:t>
            </a:r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malfunctioning.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6396" y="542038"/>
            <a:ext cx="5686425" cy="27206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04415" marR="8890" algn="just">
              <a:buClr>
                <a:srgbClr val="000000"/>
              </a:buClr>
              <a:buFont typeface="Arial"/>
              <a:buAutoNum type="arabicPeriod" startAt="6"/>
              <a:tabLst>
                <a:tab pos="2550160" algn="l"/>
              </a:tabLst>
            </a:pPr>
            <a:r>
              <a:rPr lang="en-US"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EEPROM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permanently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  <a:buFont typeface="Arial"/>
              <a:buAutoNum type="arabicPeriod" startAt="6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04415" marR="5080" algn="just">
              <a:buClr>
                <a:srgbClr val="000000"/>
              </a:buClr>
              <a:buFont typeface="Arial"/>
              <a:buAutoNum type="arabicPeriod" startAt="6"/>
              <a:tabLst>
                <a:tab pos="264922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sz="1600" b="1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1600" b="1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interrupt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execution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ISR </a:t>
            </a:r>
            <a:r>
              <a:rPr sz="1600" b="1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(Interrupt</a:t>
            </a:r>
            <a:r>
              <a:rPr sz="16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6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  <a:buFont typeface="Arial"/>
              <a:buAutoNum type="arabicPeriod" startAt="6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8255" indent="-244475" algn="just">
              <a:buClr>
                <a:srgbClr val="000000"/>
              </a:buClr>
              <a:buFont typeface="Arial"/>
              <a:buAutoNum type="arabicPeriod" startAt="6"/>
              <a:tabLst>
                <a:tab pos="2548890" algn="l"/>
              </a:tabLst>
            </a:pP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1600" b="1" spc="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</a:t>
            </a:r>
            <a:r>
              <a:rPr sz="1600" b="1" spc="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1600" b="1" spc="2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(SPI)</a:t>
            </a:r>
            <a:r>
              <a:rPr sz="1600" b="1" spc="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518" y="748561"/>
            <a:ext cx="4795084" cy="57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2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81475" y="161926"/>
            <a:ext cx="6753225" cy="6413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943860" algn="ctr">
              <a:spcBef>
                <a:spcPts val="95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6350" algn="just">
              <a:buClr>
                <a:srgbClr val="000000"/>
              </a:buClr>
              <a:buFont typeface="Arial"/>
              <a:buAutoNum type="arabicPeriod" startAt="10"/>
              <a:tabLst>
                <a:tab pos="2555240" algn="l"/>
              </a:tabLst>
            </a:pPr>
            <a:r>
              <a:rPr lang="en-US"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</a:t>
            </a:r>
            <a:r>
              <a:rPr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values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and negative </a:t>
            </a:r>
            <a:r>
              <a:rPr sz="1600" b="1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pin,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16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600" b="1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sz="1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  <a:buFont typeface="Arial"/>
              <a:buAutoNum type="arabicPeriod" startAt="10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715" algn="just">
              <a:spcBef>
                <a:spcPts val="5"/>
              </a:spcBef>
              <a:buClr>
                <a:srgbClr val="000000"/>
              </a:buClr>
              <a:buFont typeface="Arial"/>
              <a:buAutoNum type="arabicPeriod" startAt="10"/>
              <a:tabLst>
                <a:tab pos="2484755" algn="l"/>
              </a:tabLst>
            </a:pPr>
            <a:r>
              <a:rPr lang="en-US"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and control</a:t>
            </a:r>
            <a:r>
              <a:rPr sz="16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flow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by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other blocks inside the CPU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  <a:r>
              <a:rPr sz="16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  <a:buFont typeface="Arial"/>
              <a:buAutoNum type="arabicPeriod" startAt="10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080" algn="just">
              <a:buClr>
                <a:srgbClr val="000000"/>
              </a:buClr>
              <a:buFont typeface="Arial"/>
              <a:buAutoNum type="arabicPeriod" startAt="10"/>
              <a:tabLst>
                <a:tab pos="2637155" algn="l"/>
              </a:tabLst>
            </a:pPr>
            <a:r>
              <a:rPr lang="en-US" sz="16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(Arithmetic</a:t>
            </a: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</a:t>
            </a:r>
            <a:r>
              <a:rPr sz="1600" b="1" spc="-3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unit)</a:t>
            </a:r>
            <a:r>
              <a:rPr lang="en-US"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AVR</a:t>
            </a:r>
            <a:r>
              <a:rPr sz="16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 </a:t>
            </a:r>
            <a:r>
              <a:rPr sz="1600" b="1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sz="1600" b="1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b="1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purpose</a:t>
            </a:r>
            <a:r>
              <a:rPr sz="1600" b="1" spc="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registers.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cycle,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b/w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executed.</a:t>
            </a:r>
            <a:r>
              <a:rPr sz="1600" b="1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 operations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3 main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– arithmetic, logical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bit- </a:t>
            </a: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US" sz="16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080" algn="just">
              <a:buClr>
                <a:srgbClr val="000000"/>
              </a:buClr>
              <a:buFont typeface="Arial"/>
              <a:buAutoNum type="arabicPeriod" startAt="10"/>
              <a:tabLst>
                <a:tab pos="2637155" algn="l"/>
              </a:tabLst>
            </a:pPr>
            <a:endParaRPr lang="en-US" sz="16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080" algn="just">
              <a:buClr>
                <a:srgbClr val="000000"/>
              </a:buClr>
              <a:buFont typeface="Arial"/>
              <a:buAutoNum type="arabicPeriod" startAt="10"/>
              <a:tabLst>
                <a:tab pos="2637155" algn="l"/>
              </a:tabLst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en-US" sz="1600" b="1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pins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inputs</a:t>
            </a:r>
            <a:r>
              <a:rPr lang="en-US"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(digital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I/O) on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Arduino </a:t>
            </a:r>
            <a:r>
              <a:rPr lang="en-US"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allow you to connect the Arduino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sensors,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actuators,</a:t>
            </a:r>
            <a:r>
              <a:rPr lang="en-US"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ICs. </a:t>
            </a:r>
            <a:r>
              <a:rPr lang="en-US" sz="1600" b="1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how to use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 will allow you </a:t>
            </a:r>
            <a:r>
              <a:rPr lang="en-US" sz="1600" b="1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</a:t>
            </a:r>
            <a:r>
              <a:rPr lang="en-US"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useful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things,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</a:t>
            </a:r>
            <a:r>
              <a:rPr lang="en-US"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inputs,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lighting</a:t>
            </a:r>
            <a:r>
              <a:rPr lang="en-US"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indicators,</a:t>
            </a:r>
            <a:r>
              <a:rPr lang="en-US"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controlling</a:t>
            </a:r>
            <a:r>
              <a:rPr lang="en-US" sz="16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outputs.</a:t>
            </a:r>
          </a:p>
          <a:p>
            <a:pPr marL="2150745" marR="5080" algn="just">
              <a:buClr>
                <a:srgbClr val="000000"/>
              </a:buClr>
              <a:buFont typeface="Arial"/>
              <a:buAutoNum type="arabicPeriod" startAt="10"/>
              <a:tabLst>
                <a:tab pos="2637155" algn="l"/>
              </a:tabLst>
            </a:pPr>
            <a:endParaRPr lang="en-US" sz="16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0745" marR="5080" algn="just">
              <a:buClr>
                <a:srgbClr val="000000"/>
              </a:buClr>
              <a:buFont typeface="Arial"/>
              <a:buAutoNum type="arabicPeriod" startAt="10"/>
              <a:tabLst>
                <a:tab pos="263715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4677" y="701733"/>
            <a:ext cx="4717127" cy="586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9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082" y="707312"/>
            <a:ext cx="7592572" cy="550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5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393" y="557146"/>
            <a:ext cx="8052486" cy="580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43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904" y="765048"/>
            <a:ext cx="7944072" cy="508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15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3021" y="681207"/>
            <a:ext cx="7367423" cy="562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35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1237" y="712991"/>
            <a:ext cx="7560628" cy="5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10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4028" y="764721"/>
            <a:ext cx="7494694" cy="568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10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278" y="162044"/>
            <a:ext cx="8543925" cy="599957"/>
          </a:xfrm>
        </p:spPr>
        <p:txBody>
          <a:bodyPr>
            <a:normAutofit/>
          </a:bodyPr>
          <a:lstStyle/>
          <a:p>
            <a:pPr lvl="0" algn="ctr"/>
            <a:r>
              <a:rPr lang="en-US" sz="3600" b="1" dirty="0">
                <a:solidFill>
                  <a:schemeClr val="accent2"/>
                </a:solidFill>
                <a:latin typeface="+mn-lt"/>
                <a:ea typeface="Times New Roman"/>
                <a:cs typeface="Times New Roman"/>
              </a:rPr>
              <a:t>ATmega328 Memory</a:t>
            </a:r>
            <a:endParaRPr lang="en-US" sz="36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54666" y="954881"/>
            <a:ext cx="4441636" cy="5581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en-US" sz="2000" dirty="0" err="1">
                <a:ea typeface="Calibri"/>
                <a:cs typeface="Calibri"/>
              </a:rPr>
              <a:t>ATmega</a:t>
            </a:r>
            <a:r>
              <a:rPr lang="en-US" sz="2000" dirty="0">
                <a:ea typeface="Calibri"/>
                <a:cs typeface="Calibri"/>
              </a:rPr>
              <a:t> 328 has </a:t>
            </a:r>
            <a:r>
              <a:rPr lang="en-US" sz="2000" b="1" dirty="0">
                <a:ea typeface="Calibri"/>
                <a:cs typeface="Calibri"/>
              </a:rPr>
              <a:t>three types of memories:</a:t>
            </a:r>
            <a:endParaRPr lang="en-US" sz="2000" dirty="0">
              <a:ea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ea typeface="Times New Roman"/>
              </a:rPr>
              <a:t>&gt; </a:t>
            </a:r>
            <a:r>
              <a:rPr lang="en-US" sz="2000" b="1" dirty="0">
                <a:ea typeface="Times New Roman"/>
              </a:rPr>
              <a:t>Flash Memory (Program Memory)</a:t>
            </a:r>
            <a:r>
              <a:rPr lang="en-US" sz="2000" dirty="0">
                <a:ea typeface="Times New Roman"/>
              </a:rPr>
              <a:t> has 32KB capacity. It has an address of 15 bits. It is a non volatile memory. It used for permanent saving program (CODE) being executed. The AVR executes programs stored in program memory only.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2000" dirty="0">
              <a:latin typeface="Times New Roman"/>
              <a:ea typeface="Times New Roman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>
                <a:latin typeface="Times New Roman"/>
                <a:ea typeface="Times New Roman"/>
              </a:rPr>
              <a:t>&gt; </a:t>
            </a:r>
            <a:r>
              <a:rPr lang="en-US" sz="2000" dirty="0">
                <a:ea typeface="Times New Roman"/>
              </a:rPr>
              <a:t>SRAM stands for </a:t>
            </a:r>
            <a:r>
              <a:rPr lang="en-US" sz="2000" b="1" dirty="0">
                <a:ea typeface="Times New Roman"/>
              </a:rPr>
              <a:t>Static Random Access Memory. It is also called Data Memory. It has 2KB capacity. </a:t>
            </a:r>
            <a:r>
              <a:rPr lang="en-US" sz="2000" dirty="0">
                <a:ea typeface="Times New Roman"/>
              </a:rPr>
              <a:t>It is a volatile memory i.e. data will be removed after removing the power supply.</a:t>
            </a:r>
          </a:p>
          <a:p>
            <a:pPr marL="0" algn="just">
              <a:spcBef>
                <a:spcPts val="0"/>
              </a:spcBef>
            </a:pPr>
            <a:endParaRPr lang="en-US" sz="2000" dirty="0">
              <a:latin typeface="Times New Roman"/>
              <a:ea typeface="Times New Roman"/>
            </a:endParaRPr>
          </a:p>
          <a:p>
            <a:pPr marL="0" algn="just">
              <a:spcBef>
                <a:spcPts val="0"/>
              </a:spcBef>
            </a:pPr>
            <a:r>
              <a:rPr lang="en-US" sz="2000" dirty="0">
                <a:ea typeface="Times New Roman"/>
              </a:rPr>
              <a:t>EEPROM stands for Electrically Erasable Programmable Read Only Memory. </a:t>
            </a:r>
            <a:r>
              <a:rPr lang="en-US" sz="2000" b="1" dirty="0">
                <a:ea typeface="Times New Roman"/>
              </a:rPr>
              <a:t>It has 1KB capacity.</a:t>
            </a:r>
            <a:r>
              <a:rPr lang="en-US" sz="2000" dirty="0">
                <a:ea typeface="Times New Roman"/>
              </a:rPr>
              <a:t> </a:t>
            </a:r>
            <a:r>
              <a:rPr lang="en-US" sz="2000" b="1" dirty="0">
                <a:ea typeface="Times New Roman"/>
              </a:rPr>
              <a:t>It has a long term data.</a:t>
            </a:r>
            <a:endParaRPr lang="en-US" sz="2000" b="1" dirty="0">
              <a:latin typeface="Times New Roman"/>
              <a:ea typeface="Times New Roman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77E1A-01D8-39DF-CF33-1FA462FD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89" y="1792574"/>
            <a:ext cx="5864939" cy="439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711" y="126461"/>
            <a:ext cx="10729608" cy="1068117"/>
          </a:xfrm>
        </p:spPr>
        <p:txBody>
          <a:bodyPr>
            <a:normAutofit/>
          </a:bodyPr>
          <a:lstStyle/>
          <a:p>
            <a:pPr lvl="0" algn="ctr"/>
            <a:r>
              <a:rPr lang="en-US" sz="3200" b="1" dirty="0">
                <a:solidFill>
                  <a:schemeClr val="accent2"/>
                </a:solidFill>
                <a:latin typeface="Cambria"/>
                <a:ea typeface="Times New Roman"/>
                <a:cs typeface="Times New Roman"/>
              </a:rPr>
              <a:t>ATmega328 Registers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0" y="1903282"/>
            <a:ext cx="4495800" cy="1832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ATmega-328 has thirty two </a:t>
            </a:r>
            <a:r>
              <a:rPr lang="en-US" sz="2000" b="1" dirty="0">
                <a:solidFill>
                  <a:prstClr val="black"/>
                </a:solidFill>
                <a:ea typeface="Calibri"/>
                <a:cs typeface="Calibri"/>
              </a:rPr>
              <a:t>(32) General Purpose (GP) registers.</a:t>
            </a:r>
            <a:endParaRPr lang="en-US" sz="2000" b="1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 algn="just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prstClr val="black"/>
                </a:solidFill>
                <a:ea typeface="Calibri"/>
                <a:cs typeface="Calibri"/>
              </a:rPr>
              <a:t>All these registers are the </a:t>
            </a:r>
            <a:r>
              <a:rPr lang="en-US" sz="2000" b="1" dirty="0">
                <a:solidFill>
                  <a:prstClr val="black"/>
                </a:solidFill>
                <a:ea typeface="Calibri"/>
                <a:cs typeface="Calibri"/>
              </a:rPr>
              <a:t>part of Static Random Access Memory (SRAM).</a:t>
            </a:r>
            <a:endParaRPr lang="en-US" sz="2000" b="1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1300" b="1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430250"/>
            <a:ext cx="4038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72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4039" y="1798984"/>
            <a:ext cx="8543925" cy="4673401"/>
          </a:xfrm>
        </p:spPr>
        <p:txBody>
          <a:bodyPr/>
          <a:lstStyle/>
          <a:p>
            <a:r>
              <a:rPr lang="en-US" dirty="0">
                <a:hlinkClick r:id="rId2"/>
              </a:rPr>
              <a:t>ATMega328P datasheet</a:t>
            </a:r>
          </a:p>
          <a:p>
            <a:r>
              <a:rPr lang="en-US" dirty="0">
                <a:hlinkClick r:id="rId2"/>
              </a:rPr>
              <a:t>http://www.circuitstoday.com/arduino-uno-pinout-schematics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5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1509</Words>
  <Application>Microsoft Office PowerPoint</Application>
  <PresentationFormat>Widescreen</PresentationFormat>
  <Paragraphs>125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MT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PowerPoint Presentation</vt:lpstr>
      <vt:lpstr>Basics Features of Arduino UNO</vt:lpstr>
      <vt:lpstr>Arduino UNO Pin Configuration</vt:lpstr>
      <vt:lpstr>Arduino UNO Pin Configuration</vt:lpstr>
      <vt:lpstr>PowerPoint Presentation</vt:lpstr>
      <vt:lpstr>PowerPoint Presentation</vt:lpstr>
      <vt:lpstr>PowerPoint Presentation</vt:lpstr>
      <vt:lpstr>PowerPoint Presentation</vt:lpstr>
      <vt:lpstr>ATmega328 Pins Description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ATmega328 Memory</vt:lpstr>
      <vt:lpstr>ATmega328 Registers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of a Modern  Microcontroller</dc:title>
  <dc:creator>Protik Parvez Sheikh</dc:creator>
  <cp:lastModifiedBy>Protik Parvez Sheikh</cp:lastModifiedBy>
  <cp:revision>1</cp:revision>
  <dcterms:created xsi:type="dcterms:W3CDTF">2023-01-29T09:40:41Z</dcterms:created>
  <dcterms:modified xsi:type="dcterms:W3CDTF">2026-09-28T02:26:35Z</dcterms:modified>
</cp:coreProperties>
</file>